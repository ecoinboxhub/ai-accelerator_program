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1932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4651041" y="0"/>
            <a:ext cx="4492959" cy="51435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863" y="576251"/>
            <a:ext cx="3799501" cy="2149804"/>
          </a:xfrm>
        </p:spPr>
        <p:txBody>
          <a:bodyPr anchor="t"/>
          <a:lstStyle>
            <a:lvl1pPr algn="l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3863" y="3212430"/>
            <a:ext cx="3799501" cy="1106383"/>
          </a:xfrm>
        </p:spPr>
        <p:txBody>
          <a:bodyPr anchor="b"/>
          <a:lstStyle>
            <a:lvl1pPr marL="0" indent="0" algn="l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5196" y="342900"/>
            <a:ext cx="2706154" cy="273844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4/6/2026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13001" y="4605814"/>
            <a:ext cx="610362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37995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>
            <a:extLst>
              <a:ext uri="{FF2B5EF4-FFF2-40B4-BE49-F238E27FC236}">
                <a16:creationId xmlns:a16="http://schemas.microsoft.com/office/drawing/2014/main" id="{9E91172A-D17D-C180-F3B1-0141247E2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71781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5377" y="4605814"/>
            <a:ext cx="610362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 up of a logo&#10;&#10;AI-generated content may be incorrect.">
            <a:extLst>
              <a:ext uri="{FF2B5EF4-FFF2-40B4-BE49-F238E27FC236}">
                <a16:creationId xmlns:a16="http://schemas.microsoft.com/office/drawing/2014/main" id="{7EC6D666-5D0B-8C45-3F9D-885CF1083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187" y="342900"/>
            <a:ext cx="637941" cy="460594"/>
          </a:xfrm>
          <a:prstGeom prst="rect">
            <a:avLst/>
          </a:prstGeom>
        </p:spPr>
      </p:pic>
      <p:pic>
        <p:nvPicPr>
          <p:cNvPr id="10" name="Picture 9" descr="A blue and orange lines&#10;&#10;AI-generated content may be incorrect.">
            <a:extLst>
              <a:ext uri="{FF2B5EF4-FFF2-40B4-BE49-F238E27FC236}">
                <a16:creationId xmlns:a16="http://schemas.microsoft.com/office/drawing/2014/main" id="{BB434980-A235-A835-9CA9-3906FF866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>
            <a:fillRect/>
          </a:stretch>
        </p:blipFill>
        <p:spPr>
          <a:xfrm rot="5400000">
            <a:off x="4282916" y="282416"/>
            <a:ext cx="578168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77145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6263"/>
            <a:ext cx="3799501" cy="1751076"/>
          </a:xfrm>
        </p:spPr>
        <p:txBody>
          <a:bodyPr anchor="t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863" y="3191590"/>
            <a:ext cx="3799501" cy="1125140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13001" y="4605814"/>
            <a:ext cx="610362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37995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9497C09-89AE-6371-9DD4-75A5AF8DBC69}"/>
              </a:ext>
            </a:extLst>
          </p:cNvPr>
          <p:cNvGrpSpPr/>
          <p:nvPr/>
        </p:nvGrpSpPr>
        <p:grpSpPr>
          <a:xfrm>
            <a:off x="4651041" y="0"/>
            <a:ext cx="4492959" cy="5143501"/>
            <a:chOff x="6201388" y="0"/>
            <a:chExt cx="5990612" cy="685800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6198FF7-E543-F648-F22D-7A5A5F2906F4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5" name="Freeform 46">
              <a:extLst>
                <a:ext uri="{FF2B5EF4-FFF2-40B4-BE49-F238E27FC236}">
                  <a16:creationId xmlns:a16="http://schemas.microsoft.com/office/drawing/2014/main" id="{07271CCF-0DC3-3BF8-249C-3411FA74D96D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6" name="Freeform 48">
              <a:extLst>
                <a:ext uri="{FF2B5EF4-FFF2-40B4-BE49-F238E27FC236}">
                  <a16:creationId xmlns:a16="http://schemas.microsoft.com/office/drawing/2014/main" id="{CABBBCC2-237F-CBEA-84B0-1079062AC561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6B8E4F2-524D-24A8-86F4-1792F6E50E8B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E0BD260-421F-B483-B4A0-37FEFB3374F9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7D44ADD-B4C5-FBF7-10B0-325421A0D6C9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5" name="Freeform 63">
              <a:extLst>
                <a:ext uri="{FF2B5EF4-FFF2-40B4-BE49-F238E27FC236}">
                  <a16:creationId xmlns:a16="http://schemas.microsoft.com/office/drawing/2014/main" id="{5593C120-03DA-0B74-3A14-C5E66EDC4F9C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66" name="Freeform 64">
              <a:extLst>
                <a:ext uri="{FF2B5EF4-FFF2-40B4-BE49-F238E27FC236}">
                  <a16:creationId xmlns:a16="http://schemas.microsoft.com/office/drawing/2014/main" id="{2E836D48-4A84-EAB5-F726-7655BEFF3EB4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0A3C7E49-0C95-45AB-FF02-F449805F0F82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9F28514-8A8B-6BB2-9BC7-3D9A99443AA9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6FC6122-5293-4627-86DE-6601FA92141B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D443DE6D-7BB4-A4DD-F128-91CF73CEBFBE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DA35F092-ECC3-7737-485B-16E2C5DBBD9C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03BEB774-3617-CD14-3987-72B21781DF42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5958338-951C-A8ED-487F-7A180F97702A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6AAD3E28-B829-0A7D-41FB-9F6EC11DF07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80446E0C-7C6F-48A3-9347-464A70687F1E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3E242CA4-6284-C376-4F9A-836D395DD50F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95B8F67F-0DC3-A4B2-71FF-A3483FA75FC1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290C650-6E01-A169-3427-A0621B17A73B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36D4EC3C-D579-E8BB-FE8E-09E88C14B686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55D23B81-F939-BBDA-DD0D-632F19F07160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80FE3946-719E-8689-941C-2DA992DE45D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10F47F19-AA93-0318-795C-11AA315F23CD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pic>
        <p:nvPicPr>
          <p:cNvPr id="83" name="Picture 82" descr="A close up of a logo&#10;&#10;AI-generated content may be incorrect.">
            <a:extLst>
              <a:ext uri="{FF2B5EF4-FFF2-40B4-BE49-F238E27FC236}">
                <a16:creationId xmlns:a16="http://schemas.microsoft.com/office/drawing/2014/main" id="{5AB071D6-F70F-FC27-1E58-03B4EB9BF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76370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2138" y="1774317"/>
            <a:ext cx="3929634" cy="25466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92229" y="1774317"/>
            <a:ext cx="3929634" cy="25466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>
            <a:extLst>
              <a:ext uri="{FF2B5EF4-FFF2-40B4-BE49-F238E27FC236}">
                <a16:creationId xmlns:a16="http://schemas.microsoft.com/office/drawing/2014/main" id="{17E75DCB-E0A9-8AE4-118D-B64726840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60430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96" y="576072"/>
            <a:ext cx="5500116" cy="9532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1612" y="1774317"/>
            <a:ext cx="3929634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1612" y="2392251"/>
            <a:ext cx="3929634" cy="1928668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87300" y="1774317"/>
            <a:ext cx="3929634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7300" y="2392251"/>
            <a:ext cx="3929634" cy="1928668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lose up of a logo&#10;&#10;AI-generated content may be incorrect.">
            <a:extLst>
              <a:ext uri="{FF2B5EF4-FFF2-40B4-BE49-F238E27FC236}">
                <a16:creationId xmlns:a16="http://schemas.microsoft.com/office/drawing/2014/main" id="{A284F8FC-5CB3-2BD1-2B02-652458337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93147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AI-generated content may be incorrect.">
            <a:extLst>
              <a:ext uri="{FF2B5EF4-FFF2-40B4-BE49-F238E27FC236}">
                <a16:creationId xmlns:a16="http://schemas.microsoft.com/office/drawing/2014/main" id="{46350139-760A-2B49-EEAB-39A916ACA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67651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182C52E2-8AF9-D7F6-D5D6-D023C913E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84464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3730"/>
            <a:ext cx="2707487" cy="1046282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624" y="578167"/>
            <a:ext cx="4584388" cy="360042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2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3863" y="1620012"/>
            <a:ext cx="2707487" cy="2781729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19902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8167"/>
            <a:ext cx="2707487" cy="1041845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917879" y="668113"/>
            <a:ext cx="4545102" cy="365280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3863" y="1620013"/>
            <a:ext cx="2707487" cy="270090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68863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6696396" y="0"/>
            <a:ext cx="2447604" cy="51435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4860" y="4605814"/>
            <a:ext cx="610362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423862" y="4565333"/>
            <a:ext cx="55013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73927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12572" y="732472"/>
            <a:ext cx="1701380" cy="35884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23863" y="732472"/>
            <a:ext cx="6198043" cy="35884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480196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7313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8168"/>
            <a:ext cx="5501876" cy="951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863" y="1620012"/>
            <a:ext cx="5501876" cy="2700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5196" y="342900"/>
            <a:ext cx="27061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4/6/2026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863" y="4605814"/>
            <a:ext cx="27061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07259" y="4605814"/>
            <a:ext cx="61036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838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3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05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91440" cy="2651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777240" y="731520"/>
            <a:ext cx="1188720" cy="365760"/>
          </a:xfrm>
          <a:prstGeom prst="roundRect">
            <a:avLst>
              <a:gd name="adj" fmla="val 1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777240" y="731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2344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&amp;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Segmentation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Bootcamp  ·  4:00 – 6:30 PM  ·  2.5 Hours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132320" y="548640"/>
            <a:ext cx="1828800" cy="18288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7680960" y="2286000"/>
            <a:ext cx="1097280" cy="109728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Shape 10"/>
          <p:cNvSpPr/>
          <p:nvPr/>
        </p:nvSpPr>
        <p:spPr>
          <a:xfrm>
            <a:off x="777240" y="4206240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97480" y="4206240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2697480" y="42062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Segmentation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4206240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4617720" y="42062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537960" y="4206240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6537960" y="42062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148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6400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530352" y="111556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30352" y="15087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Concepts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" y="184708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boxes, IoU, NMS, mAP, and detection architectures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1148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6400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4919472" y="111556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919472" y="150876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Segmentation Techniques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9472" y="184708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vs. instance segmentation, U-Net, Mask R-CNN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41148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6400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530352" y="303580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30352" y="34290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" y="376732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ViT applies transformer architecture to visual data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2926080"/>
            <a:ext cx="41148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64008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4919472" y="303580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919472" y="34290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Application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19472" y="3767328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pretrained models and refine your CV project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Timeline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880360"/>
            <a:ext cx="822960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4:00–4:15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55448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155448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457200" y="1426464"/>
            <a:ext cx="155448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207008" y="2514600"/>
            <a:ext cx="54864" cy="1463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Shape 10"/>
          <p:cNvSpPr/>
          <p:nvPr/>
        </p:nvSpPr>
        <p:spPr>
          <a:xfrm>
            <a:off x="2514600" y="26517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251460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48840" y="1051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4:15–5:15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48840" y="1371600"/>
            <a:ext cx="155448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6" name="Shape 14"/>
          <p:cNvSpPr/>
          <p:nvPr/>
        </p:nvSpPr>
        <p:spPr>
          <a:xfrm>
            <a:off x="2148840" y="1371600"/>
            <a:ext cx="15544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2148840" y="1426464"/>
            <a:ext cx="155448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898648" y="2514600"/>
            <a:ext cx="54864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Shape 17"/>
          <p:cNvSpPr/>
          <p:nvPr/>
        </p:nvSpPr>
        <p:spPr>
          <a:xfrm>
            <a:off x="4206240" y="265176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/>
          <p:nvPr/>
        </p:nvSpPr>
        <p:spPr>
          <a:xfrm>
            <a:off x="420624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40480" y="1051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5:15–6:00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0" y="1371600"/>
            <a:ext cx="155448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3" name="Shape 21"/>
          <p:cNvSpPr/>
          <p:nvPr/>
        </p:nvSpPr>
        <p:spPr>
          <a:xfrm>
            <a:off x="3840480" y="1371600"/>
            <a:ext cx="155448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/>
          <p:nvPr/>
        </p:nvSpPr>
        <p:spPr>
          <a:xfrm>
            <a:off x="3840480" y="1426464"/>
            <a:ext cx="155448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90288" y="2514600"/>
            <a:ext cx="54864" cy="14630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6" name="Shape 24"/>
          <p:cNvSpPr/>
          <p:nvPr/>
        </p:nvSpPr>
        <p:spPr>
          <a:xfrm>
            <a:off x="5897880" y="265176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589788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2120" y="1051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6:00–6:15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532120" y="1371600"/>
            <a:ext cx="155448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0" name="Shape 28"/>
          <p:cNvSpPr/>
          <p:nvPr/>
        </p:nvSpPr>
        <p:spPr>
          <a:xfrm>
            <a:off x="5532120" y="1371600"/>
            <a:ext cx="15544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Text 29"/>
          <p:cNvSpPr/>
          <p:nvPr/>
        </p:nvSpPr>
        <p:spPr>
          <a:xfrm>
            <a:off x="5532120" y="1426464"/>
            <a:ext cx="155448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81928" y="2514600"/>
            <a:ext cx="54864" cy="1463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Shape 31"/>
          <p:cNvSpPr/>
          <p:nvPr/>
        </p:nvSpPr>
        <p:spPr>
          <a:xfrm>
            <a:off x="7589520" y="2651760"/>
            <a:ext cx="457200" cy="4572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4" name="Text 32"/>
          <p:cNvSpPr/>
          <p:nvPr/>
        </p:nvSpPr>
        <p:spPr>
          <a:xfrm>
            <a:off x="758952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223760" y="1051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6:15–6:30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23760" y="1371600"/>
            <a:ext cx="155448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7" name="Shape 35"/>
          <p:cNvSpPr/>
          <p:nvPr/>
        </p:nvSpPr>
        <p:spPr>
          <a:xfrm>
            <a:off x="7223760" y="1371600"/>
            <a:ext cx="155448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8" name="Text 36"/>
          <p:cNvSpPr/>
          <p:nvPr/>
        </p:nvSpPr>
        <p:spPr>
          <a:xfrm>
            <a:off x="7223760" y="1426464"/>
            <a:ext cx="155448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973568" y="2514600"/>
            <a:ext cx="54864" cy="14630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0" name="Text 38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Duration: 2.5 Hours  ·  Mix of theory, demos, and hands-on practice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— Results Debrief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4:00–4:15 PM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1148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well?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148132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749808" y="14173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top layers only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2048256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749808" y="19842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data augmentation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61518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749808" y="25511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scheduling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318211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749808" y="31181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freeze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868680"/>
            <a:ext cx="41148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4800600" y="9601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Recap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73168" y="1481328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4956048" y="14173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frozen backbone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73168" y="201168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4956048" y="19476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unfreezing (ULMFiT style)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73168" y="254203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4956048" y="24780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pretrained weights (ImageNet)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73168" y="307238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4956048" y="300837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validation loss carefully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73168" y="3602736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4956048" y="35387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dropout to prevent overfitting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4:15 PM – 5:15 PM  ·  60 minutes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classifying what's in an image to finding where objects are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0" y="274320"/>
            <a:ext cx="1371600" cy="109728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7315200" y="640080"/>
            <a:ext cx="1280160" cy="91440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6492240" y="2926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Classification: Locating Objects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4:15 PM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196596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Shape 5"/>
          <p:cNvSpPr/>
          <p:nvPr/>
        </p:nvSpPr>
        <p:spPr>
          <a:xfrm>
            <a:off x="320040" y="896112"/>
            <a:ext cx="1965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320040" y="10058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🏷️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cat?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★☆☆☆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896112"/>
            <a:ext cx="196596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2468880" y="896112"/>
            <a:ext cx="19659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2468880" y="10058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📍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560320" y="1691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Localization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2860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the cat?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(single object)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460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★★☆☆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896112"/>
            <a:ext cx="196596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9" name="Shape 17"/>
          <p:cNvSpPr/>
          <p:nvPr/>
        </p:nvSpPr>
        <p:spPr>
          <a:xfrm>
            <a:off x="4617720" y="896112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/>
          <p:nvPr/>
        </p:nvSpPr>
        <p:spPr>
          <a:xfrm>
            <a:off x="4617720" y="10058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709160" y="1691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22860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ALL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objects?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★★★☆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66560" y="896112"/>
            <a:ext cx="196596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5" name="Shape 23"/>
          <p:cNvSpPr/>
          <p:nvPr/>
        </p:nvSpPr>
        <p:spPr>
          <a:xfrm>
            <a:off x="6766560" y="896112"/>
            <a:ext cx="196596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6" name="Text 24"/>
          <p:cNvSpPr/>
          <p:nvPr/>
        </p:nvSpPr>
        <p:spPr>
          <a:xfrm>
            <a:off x="6766560" y="10058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🖌️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858000" y="1691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Segmentation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0" y="22860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Pixel-level mask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object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1228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★★★★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343400"/>
            <a:ext cx="8503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Text 29"/>
          <p:cNvSpPr/>
          <p:nvPr/>
        </p:nvSpPr>
        <p:spPr>
          <a:xfrm>
            <a:off x="411480" y="43891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Object Detection = Classification + Localization (for multiple objects simultaneously)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Approaches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77640" cy="3886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776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DETECTORS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Propose regions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Classify each region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08483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685800" y="2020824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R-CNN (2014) — Selective search + CNN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65176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685800" y="2587752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R-CNN (2015) — Shared CNN features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21868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685800" y="315468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 (2015) — Region Proposal Net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160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Higher accuracy  ✗ Slower inference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914400"/>
            <a:ext cx="3977640" cy="3886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6" name="Shape 14"/>
          <p:cNvSpPr/>
          <p:nvPr/>
        </p:nvSpPr>
        <p:spPr>
          <a:xfrm>
            <a:off x="4800600" y="914400"/>
            <a:ext cx="397764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4892040" y="10058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ONE-STAGE DETECTORS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141732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forward pass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bounding box prediction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208483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/>
          <p:nvPr/>
        </p:nvSpPr>
        <p:spPr>
          <a:xfrm>
            <a:off x="5120640" y="2020824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v1 (2016) — Grid-based detection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265176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5120640" y="2587752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 (2016) — Multi-scale feature maps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3218688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/>
          <p:nvPr/>
        </p:nvSpPr>
        <p:spPr>
          <a:xfrm>
            <a:off x="5120640" y="3154680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v8 (2023) — State-of-the-art speed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4160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Real-time speed  ✗ Slightly lower accuracy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06240" y="2377440"/>
            <a:ext cx="685800" cy="6858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4206240" y="23774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Two-Stage: R-CNN Family Evolution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25880" y="3108960"/>
            <a:ext cx="219456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4114800" y="3108960"/>
            <a:ext cx="219456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1920240" y="2834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↗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2834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↗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256032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9" name="Shape 7"/>
          <p:cNvSpPr/>
          <p:nvPr/>
        </p:nvSpPr>
        <p:spPr>
          <a:xfrm>
            <a:off x="365760" y="914400"/>
            <a:ext cx="256032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457200" y="1005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R-CNN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7373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47 sec/img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057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53.3 mAP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4688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Search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2000 proposals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per region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classifier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914400"/>
            <a:ext cx="256032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6" name="Shape 14"/>
          <p:cNvSpPr/>
          <p:nvPr/>
        </p:nvSpPr>
        <p:spPr>
          <a:xfrm>
            <a:off x="3200400" y="914400"/>
            <a:ext cx="25603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3291840" y="1005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R-CNN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291840" y="1417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17373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0.5 sec/img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2057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66.9 mAP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0" y="24688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CNN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Pooling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914400"/>
            <a:ext cx="256032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3" name="Shape 21"/>
          <p:cNvSpPr/>
          <p:nvPr/>
        </p:nvSpPr>
        <p:spPr>
          <a:xfrm>
            <a:off x="6035040" y="914400"/>
            <a:ext cx="256032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/>
          <p:nvPr/>
        </p:nvSpPr>
        <p:spPr>
          <a:xfrm>
            <a:off x="6126480" y="1005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126480" y="14173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26480" y="173736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0.2 sec/img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2057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73.2 mAP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246888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Proposal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(RPN)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learned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 of Faster R-CNN: The Region Proposal Network (RPN) shares conv features with the detection network — end-to-end training!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One-Stage: YOLO — You Only Look Once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896112"/>
            <a:ext cx="384048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Grid (7×7)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Shape 7"/>
          <p:cNvSpPr/>
          <p:nvPr/>
        </p:nvSpPr>
        <p:spPr>
          <a:xfrm>
            <a:off x="923544" y="1371600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Shape 8"/>
          <p:cNvSpPr/>
          <p:nvPr/>
        </p:nvSpPr>
        <p:spPr>
          <a:xfrm>
            <a:off x="1344168" y="1371600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1764792" y="1371600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Shape 10"/>
          <p:cNvSpPr/>
          <p:nvPr/>
        </p:nvSpPr>
        <p:spPr>
          <a:xfrm>
            <a:off x="2185416" y="1371600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2606040" y="1371600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Shape 12"/>
          <p:cNvSpPr/>
          <p:nvPr/>
        </p:nvSpPr>
        <p:spPr>
          <a:xfrm>
            <a:off x="3026664" y="1371600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Shape 13"/>
          <p:cNvSpPr/>
          <p:nvPr/>
        </p:nvSpPr>
        <p:spPr>
          <a:xfrm>
            <a:off x="502920" y="1792224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Shape 14"/>
          <p:cNvSpPr/>
          <p:nvPr/>
        </p:nvSpPr>
        <p:spPr>
          <a:xfrm>
            <a:off x="923544" y="1792224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Shape 15"/>
          <p:cNvSpPr/>
          <p:nvPr/>
        </p:nvSpPr>
        <p:spPr>
          <a:xfrm>
            <a:off x="1344168" y="1792224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Shape 16"/>
          <p:cNvSpPr/>
          <p:nvPr/>
        </p:nvSpPr>
        <p:spPr>
          <a:xfrm>
            <a:off x="1764792" y="1792224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Shape 17"/>
          <p:cNvSpPr/>
          <p:nvPr/>
        </p:nvSpPr>
        <p:spPr>
          <a:xfrm>
            <a:off x="2185416" y="1792224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Shape 18"/>
          <p:cNvSpPr/>
          <p:nvPr/>
        </p:nvSpPr>
        <p:spPr>
          <a:xfrm>
            <a:off x="2606040" y="1792224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Shape 19"/>
          <p:cNvSpPr/>
          <p:nvPr/>
        </p:nvSpPr>
        <p:spPr>
          <a:xfrm>
            <a:off x="3026664" y="1792224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Shape 20"/>
          <p:cNvSpPr/>
          <p:nvPr/>
        </p:nvSpPr>
        <p:spPr>
          <a:xfrm>
            <a:off x="502920" y="2212848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21"/>
          <p:cNvSpPr/>
          <p:nvPr/>
        </p:nvSpPr>
        <p:spPr>
          <a:xfrm>
            <a:off x="923544" y="2212848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Shape 22"/>
          <p:cNvSpPr/>
          <p:nvPr/>
        </p:nvSpPr>
        <p:spPr>
          <a:xfrm>
            <a:off x="1344168" y="2212848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Shape 23"/>
          <p:cNvSpPr/>
          <p:nvPr/>
        </p:nvSpPr>
        <p:spPr>
          <a:xfrm>
            <a:off x="1764792" y="2212848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6" name="Shape 24"/>
          <p:cNvSpPr/>
          <p:nvPr/>
        </p:nvSpPr>
        <p:spPr>
          <a:xfrm>
            <a:off x="2185416" y="2212848"/>
            <a:ext cx="420624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Shape 25"/>
          <p:cNvSpPr/>
          <p:nvPr/>
        </p:nvSpPr>
        <p:spPr>
          <a:xfrm>
            <a:off x="2606040" y="2212848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Shape 26"/>
          <p:cNvSpPr/>
          <p:nvPr/>
        </p:nvSpPr>
        <p:spPr>
          <a:xfrm>
            <a:off x="3026664" y="2212848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Shape 27"/>
          <p:cNvSpPr/>
          <p:nvPr/>
        </p:nvSpPr>
        <p:spPr>
          <a:xfrm>
            <a:off x="502920" y="2633472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0" name="Shape 28"/>
          <p:cNvSpPr/>
          <p:nvPr/>
        </p:nvSpPr>
        <p:spPr>
          <a:xfrm>
            <a:off x="923544" y="2633472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Shape 29"/>
          <p:cNvSpPr/>
          <p:nvPr/>
        </p:nvSpPr>
        <p:spPr>
          <a:xfrm>
            <a:off x="1344168" y="2633472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2" name="Shape 30"/>
          <p:cNvSpPr/>
          <p:nvPr/>
        </p:nvSpPr>
        <p:spPr>
          <a:xfrm>
            <a:off x="1764792" y="2633472"/>
            <a:ext cx="420624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Shape 31"/>
          <p:cNvSpPr/>
          <p:nvPr/>
        </p:nvSpPr>
        <p:spPr>
          <a:xfrm>
            <a:off x="2185416" y="2633472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4" name="Shape 32"/>
          <p:cNvSpPr/>
          <p:nvPr/>
        </p:nvSpPr>
        <p:spPr>
          <a:xfrm>
            <a:off x="2606040" y="2633472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5" name="Shape 33"/>
          <p:cNvSpPr/>
          <p:nvPr/>
        </p:nvSpPr>
        <p:spPr>
          <a:xfrm>
            <a:off x="3026664" y="2633472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6" name="Shape 34"/>
          <p:cNvSpPr/>
          <p:nvPr/>
        </p:nvSpPr>
        <p:spPr>
          <a:xfrm>
            <a:off x="502920" y="3054096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7" name="Shape 35"/>
          <p:cNvSpPr/>
          <p:nvPr/>
        </p:nvSpPr>
        <p:spPr>
          <a:xfrm>
            <a:off x="923544" y="3054096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8" name="Shape 36"/>
          <p:cNvSpPr/>
          <p:nvPr/>
        </p:nvSpPr>
        <p:spPr>
          <a:xfrm>
            <a:off x="1344168" y="3054096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9" name="Shape 37"/>
          <p:cNvSpPr/>
          <p:nvPr/>
        </p:nvSpPr>
        <p:spPr>
          <a:xfrm>
            <a:off x="1764792" y="3054096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0" name="Shape 38"/>
          <p:cNvSpPr/>
          <p:nvPr/>
        </p:nvSpPr>
        <p:spPr>
          <a:xfrm>
            <a:off x="2185416" y="3054096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1" name="Shape 39"/>
          <p:cNvSpPr/>
          <p:nvPr/>
        </p:nvSpPr>
        <p:spPr>
          <a:xfrm>
            <a:off x="2606040" y="3054096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2" name="Shape 40"/>
          <p:cNvSpPr/>
          <p:nvPr/>
        </p:nvSpPr>
        <p:spPr>
          <a:xfrm>
            <a:off x="3026664" y="3054096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3" name="Shape 41"/>
          <p:cNvSpPr/>
          <p:nvPr/>
        </p:nvSpPr>
        <p:spPr>
          <a:xfrm>
            <a:off x="502920" y="3474720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4" name="Shape 42"/>
          <p:cNvSpPr/>
          <p:nvPr/>
        </p:nvSpPr>
        <p:spPr>
          <a:xfrm>
            <a:off x="923544" y="3474720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5" name="Shape 43"/>
          <p:cNvSpPr/>
          <p:nvPr/>
        </p:nvSpPr>
        <p:spPr>
          <a:xfrm>
            <a:off x="1344168" y="3474720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6" name="Shape 44"/>
          <p:cNvSpPr/>
          <p:nvPr/>
        </p:nvSpPr>
        <p:spPr>
          <a:xfrm>
            <a:off x="1764792" y="3474720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7" name="Shape 45"/>
          <p:cNvSpPr/>
          <p:nvPr/>
        </p:nvSpPr>
        <p:spPr>
          <a:xfrm>
            <a:off x="2185416" y="3474720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8" name="Shape 46"/>
          <p:cNvSpPr/>
          <p:nvPr/>
        </p:nvSpPr>
        <p:spPr>
          <a:xfrm>
            <a:off x="2606040" y="3474720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9" name="Shape 47"/>
          <p:cNvSpPr/>
          <p:nvPr/>
        </p:nvSpPr>
        <p:spPr>
          <a:xfrm>
            <a:off x="3026664" y="3474720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0" name="Shape 48"/>
          <p:cNvSpPr/>
          <p:nvPr/>
        </p:nvSpPr>
        <p:spPr>
          <a:xfrm>
            <a:off x="502920" y="3895344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1" name="Shape 49"/>
          <p:cNvSpPr/>
          <p:nvPr/>
        </p:nvSpPr>
        <p:spPr>
          <a:xfrm>
            <a:off x="923544" y="3895344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2" name="Shape 50"/>
          <p:cNvSpPr/>
          <p:nvPr/>
        </p:nvSpPr>
        <p:spPr>
          <a:xfrm>
            <a:off x="1344168" y="3895344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3" name="Shape 51"/>
          <p:cNvSpPr/>
          <p:nvPr/>
        </p:nvSpPr>
        <p:spPr>
          <a:xfrm>
            <a:off x="1764792" y="3895344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4" name="Shape 52"/>
          <p:cNvSpPr/>
          <p:nvPr/>
        </p:nvSpPr>
        <p:spPr>
          <a:xfrm>
            <a:off x="2185416" y="3895344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5" name="Shape 53"/>
          <p:cNvSpPr/>
          <p:nvPr/>
        </p:nvSpPr>
        <p:spPr>
          <a:xfrm>
            <a:off x="2606040" y="3895344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6" name="Shape 54"/>
          <p:cNvSpPr/>
          <p:nvPr/>
        </p:nvSpPr>
        <p:spPr>
          <a:xfrm>
            <a:off x="3026664" y="3895344"/>
            <a:ext cx="420624" cy="420624"/>
          </a:xfrm>
          <a:prstGeom prst="rect">
            <a:avLst/>
          </a:prstGeom>
          <a:solidFill>
            <a:srgbClr val="0F172A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7" name="Shape 55"/>
          <p:cNvSpPr/>
          <p:nvPr/>
        </p:nvSpPr>
        <p:spPr>
          <a:xfrm>
            <a:off x="1764792" y="2633472"/>
            <a:ext cx="1261872" cy="841248"/>
          </a:xfrm>
          <a:prstGeom prst="rect">
            <a:avLst/>
          </a:prstGeom>
          <a:solidFill>
            <a:srgbClr val="F43F5E">
              <a:alpha val="35000"/>
            </a:srgbClr>
          </a:solidFill>
          <a:ln w="254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8" name="Shape 56"/>
          <p:cNvSpPr/>
          <p:nvPr/>
        </p:nvSpPr>
        <p:spPr>
          <a:xfrm>
            <a:off x="4389120" y="896112"/>
            <a:ext cx="438912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9" name="Shape 57"/>
          <p:cNvSpPr/>
          <p:nvPr/>
        </p:nvSpPr>
        <p:spPr>
          <a:xfrm>
            <a:off x="4389120" y="896112"/>
            <a:ext cx="438912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0" name="Shape 58"/>
          <p:cNvSpPr/>
          <p:nvPr/>
        </p:nvSpPr>
        <p:spPr>
          <a:xfrm>
            <a:off x="4526280" y="1115568"/>
            <a:ext cx="320040" cy="3200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1" name="Text 59"/>
          <p:cNvSpPr/>
          <p:nvPr/>
        </p:nvSpPr>
        <p:spPr>
          <a:xfrm>
            <a:off x="4526280" y="11155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4937760" y="107899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image into S×S grid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4937760" y="134416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is responsible for detecting objects whose center falls within it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526280" y="1920240"/>
            <a:ext cx="320040" cy="3200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5" name="Text 63"/>
          <p:cNvSpPr/>
          <p:nvPr/>
        </p:nvSpPr>
        <p:spPr>
          <a:xfrm>
            <a:off x="4526280" y="1920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4937760" y="1883664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predicts B bounding boxes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937760" y="214884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box: (x, y, w, h, confidence)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4526280" y="2724912"/>
            <a:ext cx="320040" cy="3200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9" name="Text 67"/>
          <p:cNvSpPr/>
          <p:nvPr/>
        </p:nvSpPr>
        <p:spPr>
          <a:xfrm>
            <a:off x="4526280" y="27249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4937760" y="2688336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predicts C class probs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4937760" y="295351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P(class | object)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4526280" y="3529584"/>
            <a:ext cx="320040" cy="3200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3" name="Text 71"/>
          <p:cNvSpPr/>
          <p:nvPr/>
        </p:nvSpPr>
        <p:spPr>
          <a:xfrm>
            <a:off x="4526280" y="35295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4937760" y="349300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output: S×S×(B×5 + C) tensor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4937760" y="375818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7×7×30 for PASCAL VOC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FPS on GPU  ·  155 FPS (Fast YOLO)  ·  Real-time detection!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One-Stage: SSD — Single Shot MultiBox Detector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548640" y="93268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Detect objects at MULTIPLE scales using feature maps from different layers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YOLO v1 which uses a single scale grid, SSD uses multiple convolutional feature maps at different resolutions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3291840"/>
            <a:ext cx="1417320" cy="1097280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38×38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4348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Conv4_3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39696" y="3035808"/>
            <a:ext cx="1417320" cy="1353312"/>
          </a:xfrm>
          <a:prstGeom prst="rect">
            <a:avLst/>
          </a:prstGeom>
          <a:solidFill>
            <a:srgbClr val="0D9488">
              <a:alpha val="5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2139696" y="27157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19×19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39696" y="44348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FC7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22192" y="2779776"/>
            <a:ext cx="1417320" cy="1609344"/>
          </a:xfrm>
          <a:prstGeom prst="rect">
            <a:avLst/>
          </a:prstGeom>
          <a:solidFill>
            <a:srgbClr val="0D9488">
              <a:alpha val="44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3822192" y="245973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10×10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22192" y="44348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Conv6_2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04688" y="2523744"/>
            <a:ext cx="1417320" cy="1865376"/>
          </a:xfrm>
          <a:prstGeom prst="rect">
            <a:avLst/>
          </a:prstGeom>
          <a:solidFill>
            <a:srgbClr val="0D9488">
              <a:alpha val="36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5504688" y="220370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04688" y="44348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Conv7_2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87184" y="2267712"/>
            <a:ext cx="1417320" cy="2121408"/>
          </a:xfrm>
          <a:prstGeom prst="rect">
            <a:avLst/>
          </a:prstGeom>
          <a:solidFill>
            <a:srgbClr val="0D9488">
              <a:alpha val="28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/>
          <p:nvPr/>
        </p:nvSpPr>
        <p:spPr>
          <a:xfrm>
            <a:off x="7187184" y="19476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187184" y="44348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Conv8_2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feature maps → smaller objects  ·  Smaller feature maps → larger objects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 &amp; Anchor Boxes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840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Parameterization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371600"/>
            <a:ext cx="2926080" cy="2286000"/>
          </a:xfrm>
          <a:prstGeom prst="rect">
            <a:avLst/>
          </a:prstGeom>
          <a:solidFill>
            <a:srgbClr val="E0F2FE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Shape 5"/>
          <p:cNvSpPr/>
          <p:nvPr/>
        </p:nvSpPr>
        <p:spPr>
          <a:xfrm>
            <a:off x="1280160" y="1737360"/>
            <a:ext cx="1645920" cy="146304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2020824" y="2386584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2084832" y="23317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(cx, cy)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280160" y="3310128"/>
            <a:ext cx="164592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1920240" y="33375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35808" y="1737360"/>
            <a:ext cx="0" cy="1463040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3090672" y="23774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343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= (cx, cy, w, h) or (x1, y1, x2, y2)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868680"/>
            <a:ext cx="4297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4480560" y="9326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Boxes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80560" y="1325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Pre-defined boxes at each grid cell: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715000" y="2286000"/>
            <a:ext cx="1645920" cy="914400"/>
          </a:xfrm>
          <a:prstGeom prst="rect">
            <a:avLst/>
          </a:prstGeom>
          <a:solidFill>
            <a:srgbClr val="0D9488">
              <a:alpha val="25000"/>
            </a:srgbClr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Shape 17"/>
          <p:cNvSpPr/>
          <p:nvPr/>
        </p:nvSpPr>
        <p:spPr>
          <a:xfrm>
            <a:off x="6080760" y="1920240"/>
            <a:ext cx="914400" cy="1645920"/>
          </a:xfrm>
          <a:prstGeom prst="rect">
            <a:avLst/>
          </a:prstGeom>
          <a:solidFill>
            <a:srgbClr val="F43F5E">
              <a:alpha val="25000"/>
            </a:srgbClr>
          </a:solidFill>
          <a:ln w="254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Shape 18"/>
          <p:cNvSpPr/>
          <p:nvPr/>
        </p:nvSpPr>
        <p:spPr>
          <a:xfrm>
            <a:off x="5897880" y="2103120"/>
            <a:ext cx="1280160" cy="1280160"/>
          </a:xfrm>
          <a:prstGeom prst="rect">
            <a:avLst/>
          </a:prstGeom>
          <a:solidFill>
            <a:srgbClr val="F59E0B">
              <a:alpha val="2500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Shape 19"/>
          <p:cNvSpPr/>
          <p:nvPr/>
        </p:nvSpPr>
        <p:spPr>
          <a:xfrm>
            <a:off x="4480560" y="356616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4663440" y="351129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aspect ratios (1:1, 1:2, 2:1)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80560" y="393192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/>
          <p:nvPr/>
        </p:nvSpPr>
        <p:spPr>
          <a:xfrm>
            <a:off x="4663440" y="38770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scales per cell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80560" y="429768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6" name="Text 24"/>
          <p:cNvSpPr/>
          <p:nvPr/>
        </p:nvSpPr>
        <p:spPr>
          <a:xfrm>
            <a:off x="4663440" y="424281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predicts offset from anchor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480560" y="466344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Text 26"/>
          <p:cNvSpPr/>
          <p:nvPr/>
        </p:nvSpPr>
        <p:spPr>
          <a:xfrm>
            <a:off x="4663440" y="460857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chosen via k-means clustering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over Union (IoU)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41148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Formula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84048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= Area of Intersection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Area of Union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896112"/>
            <a:ext cx="41148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4800600" y="960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Thresholds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00600" y="1353312"/>
            <a:ext cx="3840480" cy="347472"/>
          </a:xfrm>
          <a:prstGeom prst="rect">
            <a:avLst/>
          </a:prstGeom>
          <a:solidFill>
            <a:srgbClr val="F43F5E">
              <a:alpha val="20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4892040" y="137160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&lt; 0.5   →   Poor match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00600" y="1737360"/>
            <a:ext cx="3840480" cy="34747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4892040" y="175564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≤ IoU &lt; 0.75   →   Acceptable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00600" y="2121408"/>
            <a:ext cx="3840480" cy="347472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4892040" y="213969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≥ 0.75   →   Good match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8412480" cy="1965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502920" y="2907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Examples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97280" y="3566160"/>
            <a:ext cx="1005840" cy="822960"/>
          </a:xfrm>
          <a:prstGeom prst="rect">
            <a:avLst/>
          </a:prstGeom>
          <a:solidFill>
            <a:srgbClr val="0D9488">
              <a:alpha val="30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914400" cy="731520"/>
          </a:xfrm>
          <a:prstGeom prst="rect">
            <a:avLst/>
          </a:prstGeom>
          <a:solidFill>
            <a:srgbClr val="F43F5E">
              <a:alpha val="30000"/>
            </a:srgbClr>
          </a:solidFill>
          <a:ln w="19050">
            <a:solidFill>
              <a:srgbClr val="F43F5E"/>
            </a:solidFill>
            <a:prstDash val="dash"/>
          </a:ln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/>
          <p:nvPr/>
        </p:nvSpPr>
        <p:spPr>
          <a:xfrm>
            <a:off x="457200" y="4343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= 0.12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566160" y="3429000"/>
            <a:ext cx="1097280" cy="914400"/>
          </a:xfrm>
          <a:prstGeom prst="rect">
            <a:avLst/>
          </a:prstGeom>
          <a:solidFill>
            <a:srgbClr val="0D9488">
              <a:alpha val="30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Shape 20"/>
          <p:cNvSpPr/>
          <p:nvPr/>
        </p:nvSpPr>
        <p:spPr>
          <a:xfrm>
            <a:off x="3291840" y="3291840"/>
            <a:ext cx="1188720" cy="914400"/>
          </a:xfrm>
          <a:prstGeom prst="rect">
            <a:avLst/>
          </a:prstGeom>
          <a:solidFill>
            <a:srgbClr val="F59E0B">
              <a:alpha val="30000"/>
            </a:srgbClr>
          </a:solidFill>
          <a:ln w="1905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3200400" y="4343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= 0.58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3337560"/>
            <a:ext cx="1051560" cy="868680"/>
          </a:xfrm>
          <a:prstGeom prst="rect">
            <a:avLst/>
          </a:prstGeom>
          <a:solidFill>
            <a:srgbClr val="0D9488">
              <a:alpha val="30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Shape 23"/>
          <p:cNvSpPr/>
          <p:nvPr/>
        </p:nvSpPr>
        <p:spPr>
          <a:xfrm>
            <a:off x="6126480" y="3291840"/>
            <a:ext cx="1097280" cy="914400"/>
          </a:xfrm>
          <a:prstGeom prst="rect">
            <a:avLst/>
          </a:prstGeom>
          <a:solidFill>
            <a:srgbClr val="0D9488">
              <a:alpha val="30000"/>
            </a:srgbClr>
          </a:solidFill>
          <a:ln w="19050">
            <a:solidFill>
              <a:srgbClr val="0D9488"/>
            </a:solidFill>
            <a:prstDash val="dash"/>
          </a:ln>
        </p:spPr>
        <p:txBody>
          <a:bodyPr/>
          <a:lstStyle/>
          <a:p>
            <a:endParaRPr lang="en-NG"/>
          </a:p>
        </p:txBody>
      </p:sp>
      <p:sp>
        <p:nvSpPr>
          <p:cNvPr id="26" name="Text 24"/>
          <p:cNvSpPr/>
          <p:nvPr/>
        </p:nvSpPr>
        <p:spPr>
          <a:xfrm>
            <a:off x="6035040" y="4343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= 0.91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4709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Ground Truth    ▪ - - Prediction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Non-Maximum Suppression (NMS)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Multiple overlapping detections for the same object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60350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6" name="Shape 4"/>
          <p:cNvSpPr/>
          <p:nvPr/>
        </p:nvSpPr>
        <p:spPr>
          <a:xfrm>
            <a:off x="502920" y="1435608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502920" y="14356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3898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Proposals: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51760" y="1389888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all bounding boxes by confidence score (high → low)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8412480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502920" y="2130552"/>
            <a:ext cx="347472" cy="347472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502920" y="21305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08483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Best Box: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51760" y="2084832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box with highest confidence score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688336"/>
            <a:ext cx="8412480" cy="60350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6" name="Shape 14"/>
          <p:cNvSpPr/>
          <p:nvPr/>
        </p:nvSpPr>
        <p:spPr>
          <a:xfrm>
            <a:off x="502920" y="2825496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502920" y="28254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77977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IoU: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51760" y="2779776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IoU between selected box and all remaining boxes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8412480" cy="60350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1" name="Shape 19"/>
          <p:cNvSpPr/>
          <p:nvPr/>
        </p:nvSpPr>
        <p:spPr>
          <a:xfrm>
            <a:off x="502920" y="352044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502920" y="3520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474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 Overlaps: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51760" y="347472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all boxes with IoU &gt; threshold (e.g., 0.5)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078224"/>
            <a:ext cx="8412480" cy="60350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6" name="Shape 24"/>
          <p:cNvSpPr/>
          <p:nvPr/>
        </p:nvSpPr>
        <p:spPr>
          <a:xfrm>
            <a:off x="502920" y="4215384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502920" y="42153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16966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Repeat: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651760" y="4169664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 to step 2 until no boxes remain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One clean detection per object  ·  Threshold is a hyperparameter (typically 0.4–0.5)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Metric: mAP (mean Average Precision)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502920" y="9326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 (TP):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14600" y="1371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detection (IoU ≥ threshold)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(FP):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14600" y="17556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with no matching ground truth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13969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(FN):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21396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ground truth object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52374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252374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 + FP)  →  Accuracy of detections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9077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14600" y="29077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 + FN)  →  Coverage of GT objects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2918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4600" y="32918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Under Precision-Recall Curve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6758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14600" y="36758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AP over all object classes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86868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4800600" y="93268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Curve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1325880"/>
            <a:ext cx="0" cy="237744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21"/>
          <p:cNvSpPr/>
          <p:nvPr/>
        </p:nvSpPr>
        <p:spPr>
          <a:xfrm>
            <a:off x="4937760" y="3703320"/>
            <a:ext cx="3474720" cy="0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/>
          <p:nvPr/>
        </p:nvSpPr>
        <p:spPr>
          <a:xfrm>
            <a:off x="4572000" y="1280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955280" y="3703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→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1417320"/>
            <a:ext cx="274320" cy="27432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Shape 25"/>
          <p:cNvSpPr/>
          <p:nvPr/>
        </p:nvSpPr>
        <p:spPr>
          <a:xfrm>
            <a:off x="5212080" y="1444752"/>
            <a:ext cx="274320" cy="9144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Shape 26"/>
          <p:cNvSpPr/>
          <p:nvPr/>
        </p:nvSpPr>
        <p:spPr>
          <a:xfrm>
            <a:off x="5486400" y="1536192"/>
            <a:ext cx="274320" cy="18288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Shape 27"/>
          <p:cNvSpPr/>
          <p:nvPr/>
        </p:nvSpPr>
        <p:spPr>
          <a:xfrm>
            <a:off x="5760720" y="1719072"/>
            <a:ext cx="274320" cy="292608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0" name="Shape 28"/>
          <p:cNvSpPr/>
          <p:nvPr/>
        </p:nvSpPr>
        <p:spPr>
          <a:xfrm>
            <a:off x="6035040" y="2011680"/>
            <a:ext cx="274320" cy="41148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Shape 29"/>
          <p:cNvSpPr/>
          <p:nvPr/>
        </p:nvSpPr>
        <p:spPr>
          <a:xfrm>
            <a:off x="6309360" y="2423160"/>
            <a:ext cx="274320" cy="5029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2" name="Shape 30"/>
          <p:cNvSpPr/>
          <p:nvPr/>
        </p:nvSpPr>
        <p:spPr>
          <a:xfrm>
            <a:off x="6583680" y="2926080"/>
            <a:ext cx="274320" cy="5029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Shape 31"/>
          <p:cNvSpPr/>
          <p:nvPr/>
        </p:nvSpPr>
        <p:spPr>
          <a:xfrm>
            <a:off x="6858000" y="3429000"/>
            <a:ext cx="274320" cy="2743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4" name="Shape 32"/>
          <p:cNvSpPr/>
          <p:nvPr/>
        </p:nvSpPr>
        <p:spPr>
          <a:xfrm>
            <a:off x="7132320" y="3703320"/>
            <a:ext cx="128016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5" name="Shape 33"/>
          <p:cNvSpPr/>
          <p:nvPr/>
        </p:nvSpPr>
        <p:spPr>
          <a:xfrm>
            <a:off x="4937760" y="1417320"/>
            <a:ext cx="3474720" cy="228600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6" name="Text 34"/>
          <p:cNvSpPr/>
          <p:nvPr/>
        </p:nvSpPr>
        <p:spPr>
          <a:xfrm>
            <a:off x="621792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= Area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curve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" y="49834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mAP@0.5: IoU threshold 0.5  ·  mAP@[.5:.95]: average across IoU thresholds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Hands-On: YOLO in Action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4:45 PM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896112"/>
            <a:ext cx="41148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Shape 5"/>
          <p:cNvSpPr/>
          <p:nvPr/>
        </p:nvSpPr>
        <p:spPr>
          <a:xfrm>
            <a:off x="365760" y="896112"/>
            <a:ext cx="4114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502920" y="9784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Demo: YOLOv8 Pretrained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89888"/>
            <a:ext cx="3840480" cy="2697480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548640" y="1444752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ultralytics import YOLO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cv2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pretrained model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YOLO("yolov8n.pt")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inference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= model("image.jpg")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Visualize results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results[0].show()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Save annotated image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results[0].save("output.jpg")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896112"/>
            <a:ext cx="41148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2" name="Shape 10"/>
          <p:cNvSpPr/>
          <p:nvPr/>
        </p:nvSpPr>
        <p:spPr>
          <a:xfrm>
            <a:off x="4663440" y="896112"/>
            <a:ext cx="41148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4800600" y="9784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Hands-On Tasks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73168" y="1444752"/>
            <a:ext cx="164592" cy="164592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5010912" y="139903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YOLOv8 on a sample image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73168" y="1920240"/>
            <a:ext cx="164592" cy="164592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5010912" y="187452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different model sizes (n/s/m/l/x)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73168" y="2395728"/>
            <a:ext cx="164592" cy="164592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5010912" y="235000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objects in a video stream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73168" y="2871216"/>
            <a:ext cx="164592" cy="164592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5010912" y="282549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detections by class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73168" y="3346704"/>
            <a:ext cx="164592" cy="164592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5010912" y="330098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confidence threshold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73168" y="3822192"/>
            <a:ext cx="164592" cy="164592"/>
          </a:xfrm>
          <a:prstGeom prst="ellipse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5010912" y="377647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objects per class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Discussion: When to use Object Detection vs. Classification?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Use: Detection vs. Classification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148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Use Classification When…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731520" y="14904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dominant object per image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548640" y="210312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731520" y="203911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location not needed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731520" y="25877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task, faster to train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Shape 15"/>
          <p:cNvSpPr/>
          <p:nvPr/>
        </p:nvSpPr>
        <p:spPr>
          <a:xfrm>
            <a:off x="548640" y="320040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731520" y="313639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edge deployment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731520" y="36850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Is this a defective part?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754880" y="868680"/>
            <a:ext cx="411480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3" name="Shape 21"/>
          <p:cNvSpPr/>
          <p:nvPr/>
        </p:nvSpPr>
        <p:spPr>
          <a:xfrm>
            <a:off x="4754880" y="868680"/>
            <a:ext cx="4114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/>
          <p:nvPr/>
        </p:nvSpPr>
        <p:spPr>
          <a:xfrm>
            <a:off x="4892040" y="960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Use Object Detection When…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37760" y="155448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6" name="Shape 24"/>
          <p:cNvSpPr/>
          <p:nvPr/>
        </p:nvSpPr>
        <p:spPr>
          <a:xfrm>
            <a:off x="4937760" y="155448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5120640" y="149047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objects in scene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937760" y="210312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Shape 27"/>
          <p:cNvSpPr/>
          <p:nvPr/>
        </p:nvSpPr>
        <p:spPr>
          <a:xfrm>
            <a:off x="4937760" y="210312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0" name="Text 28"/>
          <p:cNvSpPr/>
          <p:nvPr/>
        </p:nvSpPr>
        <p:spPr>
          <a:xfrm>
            <a:off x="5120640" y="203911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location matters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937760" y="265176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2" name="Shape 30"/>
          <p:cNvSpPr/>
          <p:nvPr/>
        </p:nvSpPr>
        <p:spPr>
          <a:xfrm>
            <a:off x="4937760" y="265176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Text 31"/>
          <p:cNvSpPr/>
          <p:nvPr/>
        </p:nvSpPr>
        <p:spPr>
          <a:xfrm>
            <a:off x="5120640" y="25877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bounding box output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937760" y="320040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5" name="Shape 33"/>
          <p:cNvSpPr/>
          <p:nvPr/>
        </p:nvSpPr>
        <p:spPr>
          <a:xfrm>
            <a:off x="4937760" y="320040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6" name="Text 34"/>
          <p:cNvSpPr/>
          <p:nvPr/>
        </p:nvSpPr>
        <p:spPr>
          <a:xfrm>
            <a:off x="5120640" y="313639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objects required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937760" y="374904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8" name="Shape 36"/>
          <p:cNvSpPr/>
          <p:nvPr/>
        </p:nvSpPr>
        <p:spPr>
          <a:xfrm>
            <a:off x="4937760" y="374904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9" name="Text 37"/>
          <p:cNvSpPr/>
          <p:nvPr/>
        </p:nvSpPr>
        <p:spPr>
          <a:xfrm>
            <a:off x="5120640" y="36850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How many people in frame?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365760" y="4572000"/>
            <a:ext cx="8412480" cy="384048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1" name="Text 39"/>
          <p:cNvSpPr/>
          <p:nvPr/>
        </p:nvSpPr>
        <p:spPr>
          <a:xfrm>
            <a:off x="502920" y="4608576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For your CV project: consider whether location information adds value before switching to detection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Segmentation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5:15 PM – 6:00 PM  ·  45 minutes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Pixel-level understanding of visual scenes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365760"/>
            <a:ext cx="2286000" cy="2286000"/>
          </a:xfrm>
          <a:prstGeom prst="ellipse">
            <a:avLst/>
          </a:prstGeom>
          <a:solidFill>
            <a:srgbClr val="06B6D4">
              <a:alpha val="12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6949440" y="2286000"/>
            <a:ext cx="1463040" cy="146304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vs. Instance Segmentation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5176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320040" y="9326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Segmentation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93852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 class label to every pixel. Objects of the same class share the same color/label.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6974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Per-pixel class labels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Simpler to train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Good for scene understanding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34015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object individuality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Cannot separate same-class instances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4023360"/>
            <a:ext cx="2468880" cy="320040"/>
          </a:xfrm>
          <a:prstGeom prst="rect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411480" y="40416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e.g.: Road, sky, building, tree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72968" y="868680"/>
            <a:ext cx="265176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4" name="Shape 12"/>
          <p:cNvSpPr/>
          <p:nvPr/>
        </p:nvSpPr>
        <p:spPr>
          <a:xfrm>
            <a:off x="3172968" y="868680"/>
            <a:ext cx="265176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3172968" y="9326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🎭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64408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Segmentation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64408" y="193852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and segments each individual object instance with its own unique mask.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64408" y="26974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Individual object masks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Differentiates same-class objects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Rich object information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64408" y="34015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More complex models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Higher computational cost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64408" y="4023360"/>
            <a:ext cx="2468880" cy="320040"/>
          </a:xfrm>
          <a:prstGeom prst="rect">
            <a:avLst/>
          </a:prstGeom>
          <a:solidFill>
            <a:srgbClr val="F43F5E">
              <a:alpha val="18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3264408" y="40416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e.g.: Person 1, Person 2, Person 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25896" y="868680"/>
            <a:ext cx="2651760" cy="4023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3" name="Shape 21"/>
          <p:cNvSpPr/>
          <p:nvPr/>
        </p:nvSpPr>
        <p:spPr>
          <a:xfrm>
            <a:off x="6025896" y="86868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/>
          <p:nvPr/>
        </p:nvSpPr>
        <p:spPr>
          <a:xfrm>
            <a:off x="6025896" y="93268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117336" y="1463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Panoptic Segmentation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17336" y="1938528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semantic + instance — every pixel has a class label AND an instance ID.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17336" y="269748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 scene understanding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Best of both worlds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17336" y="34015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Most complex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Highest compute cost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17336" y="4023360"/>
            <a:ext cx="2468880" cy="320040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0" name="Text 28"/>
          <p:cNvSpPr/>
          <p:nvPr/>
        </p:nvSpPr>
        <p:spPr>
          <a:xfrm>
            <a:off x="6117336" y="40416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e.g.: Unified scene parsing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U-Net: Encoder-Decoder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194560"/>
            <a:ext cx="1280160" cy="731520"/>
          </a:xfrm>
          <a:prstGeom prst="rect">
            <a:avLst/>
          </a:prstGeom>
          <a:solidFill>
            <a:srgbClr val="0D9488">
              <a:alpha val="55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234440" y="2286000"/>
            <a:ext cx="1051560" cy="640080"/>
          </a:xfrm>
          <a:prstGeom prst="rect">
            <a:avLst/>
          </a:prstGeom>
          <a:solidFill>
            <a:srgbClr val="0D9488">
              <a:alpha val="47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1234440" y="228600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11680" y="2377440"/>
            <a:ext cx="822960" cy="548640"/>
          </a:xfrm>
          <a:prstGeom prst="rect">
            <a:avLst/>
          </a:prstGeom>
          <a:solidFill>
            <a:srgbClr val="0D9488">
              <a:alpha val="39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2011680" y="23774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88920" y="2468880"/>
            <a:ext cx="594360" cy="457200"/>
          </a:xfrm>
          <a:prstGeom prst="rect">
            <a:avLst/>
          </a:prstGeom>
          <a:solidFill>
            <a:srgbClr val="0D9488">
              <a:alpha val="31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2788920" y="246888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566160" y="2514600"/>
            <a:ext cx="457200" cy="365760"/>
          </a:xfrm>
          <a:prstGeom prst="rect">
            <a:avLst/>
          </a:prstGeom>
          <a:solidFill>
            <a:srgbClr val="0D9488">
              <a:alpha val="23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3566160" y="2514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(Contracting)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40680" y="2468880"/>
            <a:ext cx="594360" cy="457200"/>
          </a:xfrm>
          <a:prstGeom prst="rect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5440680" y="246888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17920" y="2377440"/>
            <a:ext cx="822960" cy="548640"/>
          </a:xfrm>
          <a:prstGeom prst="rect">
            <a:avLst/>
          </a:prstGeom>
          <a:solidFill>
            <a:srgbClr val="06B6D4">
              <a:alpha val="6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6217920" y="23774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995160" y="2286000"/>
            <a:ext cx="1051560" cy="640080"/>
          </a:xfrm>
          <a:prstGeom prst="rect">
            <a:avLst/>
          </a:prstGeom>
          <a:solidFill>
            <a:srgbClr val="06B6D4">
              <a:alpha val="5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/>
          <p:nvPr/>
        </p:nvSpPr>
        <p:spPr>
          <a:xfrm>
            <a:off x="6995160" y="2286000"/>
            <a:ext cx="1051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772400" y="2194560"/>
            <a:ext cx="1280160" cy="731520"/>
          </a:xfrm>
          <a:prstGeom prst="rect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7772400" y="21945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30352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(Expanding)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737360" y="2560320"/>
            <a:ext cx="374904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NG"/>
          </a:p>
        </p:txBody>
      </p:sp>
      <p:sp>
        <p:nvSpPr>
          <p:cNvPr id="25" name="Shape 23"/>
          <p:cNvSpPr/>
          <p:nvPr/>
        </p:nvSpPr>
        <p:spPr>
          <a:xfrm>
            <a:off x="2286000" y="2606040"/>
            <a:ext cx="397764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NG"/>
          </a:p>
        </p:txBody>
      </p:sp>
      <p:sp>
        <p:nvSpPr>
          <p:cNvPr id="26" name="Shape 24"/>
          <p:cNvSpPr/>
          <p:nvPr/>
        </p:nvSpPr>
        <p:spPr>
          <a:xfrm>
            <a:off x="2834640" y="2651760"/>
            <a:ext cx="420624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NG"/>
          </a:p>
        </p:txBody>
      </p:sp>
      <p:sp>
        <p:nvSpPr>
          <p:cNvPr id="27" name="Shape 25"/>
          <p:cNvSpPr/>
          <p:nvPr/>
        </p:nvSpPr>
        <p:spPr>
          <a:xfrm>
            <a:off x="3383280" y="2697480"/>
            <a:ext cx="443484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NG"/>
          </a:p>
        </p:txBody>
      </p:sp>
      <p:sp>
        <p:nvSpPr>
          <p:cNvPr id="28" name="Text 26"/>
          <p:cNvSpPr/>
          <p:nvPr/>
        </p:nvSpPr>
        <p:spPr>
          <a:xfrm>
            <a:off x="2926080" y="35204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Skip Connections (concatenate) →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023360" y="2542032"/>
            <a:ext cx="1097280" cy="530352"/>
          </a:xfrm>
          <a:prstGeom prst="rect">
            <a:avLst/>
          </a:prstGeom>
          <a:solidFill>
            <a:srgbClr val="F43F5E">
              <a:alpha val="80000"/>
            </a:srgbClr>
          </a:solidFill>
          <a:ln w="254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0" name="Text 28"/>
          <p:cNvSpPr/>
          <p:nvPr/>
        </p:nvSpPr>
        <p:spPr>
          <a:xfrm>
            <a:off x="4023360" y="2542032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ch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5760" y="39776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Input: H×W image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39776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Output: H×W segmentation map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436168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Skip connections preserve spatial detail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436168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⬇️  Encoder: double conv + max pool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" y="47457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  Decoder: up-conv + concatenate + double conv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754880" y="47457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for biomedical image segmentation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U-Net: Key Design Choices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41148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Block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84048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54864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594360" y="14081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3×3 → BN → ReLU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384048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54864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594360" y="204825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3×3 → BN → ReLU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384048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54864" cy="5486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594360" y="268833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 2×2 (downsample)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384048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54864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594360" y="332841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maps: 64→128→256→512→1024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896112"/>
            <a:ext cx="41148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4800600" y="960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Block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1371600"/>
            <a:ext cx="384048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1" name="Shape 19"/>
          <p:cNvSpPr/>
          <p:nvPr/>
        </p:nvSpPr>
        <p:spPr>
          <a:xfrm>
            <a:off x="4754880" y="1371600"/>
            <a:ext cx="54864" cy="548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4892040" y="140817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Up-conv 2×2 (upsample)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011680"/>
            <a:ext cx="384048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4" name="Shape 22"/>
          <p:cNvSpPr/>
          <p:nvPr/>
        </p:nvSpPr>
        <p:spPr>
          <a:xfrm>
            <a:off x="4754880" y="2011680"/>
            <a:ext cx="54864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4892040" y="204825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skip connection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2651760"/>
            <a:ext cx="384048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7" name="Shape 25"/>
          <p:cNvSpPr/>
          <p:nvPr/>
        </p:nvSpPr>
        <p:spPr>
          <a:xfrm>
            <a:off x="4754880" y="2651760"/>
            <a:ext cx="54864" cy="548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Text 26"/>
          <p:cNvSpPr/>
          <p:nvPr/>
        </p:nvSpPr>
        <p:spPr>
          <a:xfrm>
            <a:off x="4892040" y="268833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3×3 → BN → ReLU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291840"/>
            <a:ext cx="384048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0" name="Shape 28"/>
          <p:cNvSpPr/>
          <p:nvPr/>
        </p:nvSpPr>
        <p:spPr>
          <a:xfrm>
            <a:off x="4754880" y="3291840"/>
            <a:ext cx="54864" cy="548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Text 29"/>
          <p:cNvSpPr/>
          <p:nvPr/>
        </p:nvSpPr>
        <p:spPr>
          <a:xfrm>
            <a:off x="4892040" y="332841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3×3 → BN → ReLU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Text 31"/>
          <p:cNvSpPr/>
          <p:nvPr/>
        </p:nvSpPr>
        <p:spPr>
          <a:xfrm>
            <a:off x="502920" y="469087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U-Net works: Skip connections prevent loss of fine spatial details through the bottleneck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R-CNN: Instance Segmentation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Faster R-CNN by adding a mask prediction branch in parallel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155448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1554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320040" y="129844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(ResNet)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74520" y="214884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Shape 8"/>
          <p:cNvSpPr/>
          <p:nvPr/>
        </p:nvSpPr>
        <p:spPr>
          <a:xfrm>
            <a:off x="2057400" y="1234440"/>
            <a:ext cx="155448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2057400" y="1234440"/>
            <a:ext cx="155448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2057400" y="129844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🏔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03120" y="173736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(Feature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11880" y="214884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Shape 13"/>
          <p:cNvSpPr/>
          <p:nvPr/>
        </p:nvSpPr>
        <p:spPr>
          <a:xfrm>
            <a:off x="3794760" y="1234440"/>
            <a:ext cx="155448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6" name="Shape 14"/>
          <p:cNvSpPr/>
          <p:nvPr/>
        </p:nvSpPr>
        <p:spPr>
          <a:xfrm>
            <a:off x="3794760" y="1234440"/>
            <a:ext cx="155448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3794760" y="129844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840480" y="173736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49240" y="214884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Shape 18"/>
          <p:cNvSpPr/>
          <p:nvPr/>
        </p:nvSpPr>
        <p:spPr>
          <a:xfrm>
            <a:off x="5532120" y="1234440"/>
            <a:ext cx="155448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1" name="Shape 19"/>
          <p:cNvSpPr/>
          <p:nvPr/>
        </p:nvSpPr>
        <p:spPr>
          <a:xfrm>
            <a:off x="5532120" y="1234440"/>
            <a:ext cx="15544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5532120" y="129844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77840" y="173736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Align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more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86600" y="214884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Shape 23"/>
          <p:cNvSpPr/>
          <p:nvPr/>
        </p:nvSpPr>
        <p:spPr>
          <a:xfrm>
            <a:off x="7269480" y="1234440"/>
            <a:ext cx="155448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6" name="Shape 24"/>
          <p:cNvSpPr/>
          <p:nvPr/>
        </p:nvSpPr>
        <p:spPr>
          <a:xfrm>
            <a:off x="7269480" y="1234440"/>
            <a:ext cx="1554480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7269480" y="129844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🎭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315200" y="173736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Heads: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+ Box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Mask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246120"/>
            <a:ext cx="841248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0" name="Text 28"/>
          <p:cNvSpPr/>
          <p:nvPr/>
        </p:nvSpPr>
        <p:spPr>
          <a:xfrm>
            <a:off x="502920" y="33101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Parallel Heads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2920" y="3657600"/>
            <a:ext cx="2514600" cy="1005840"/>
          </a:xfrm>
          <a:prstGeom prst="rect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2" name="Text 30"/>
          <p:cNvSpPr/>
          <p:nvPr/>
        </p:nvSpPr>
        <p:spPr>
          <a:xfrm>
            <a:off x="594360" y="369417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Head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94360" y="40416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class label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proposal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91840" y="3657600"/>
            <a:ext cx="2514600" cy="1005840"/>
          </a:xfrm>
          <a:prstGeom prst="rect">
            <a:avLst/>
          </a:prstGeom>
          <a:solidFill>
            <a:srgbClr val="06B6D4">
              <a:alpha val="18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5" name="Text 33"/>
          <p:cNvSpPr/>
          <p:nvPr/>
        </p:nvSpPr>
        <p:spPr>
          <a:xfrm>
            <a:off x="3383280" y="369417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 Head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383280" y="40416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Refines bounding box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(regression)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080760" y="3657600"/>
            <a:ext cx="2514600" cy="1005840"/>
          </a:xfrm>
          <a:prstGeom prst="rect">
            <a:avLst/>
          </a:prstGeom>
          <a:solidFill>
            <a:srgbClr val="F43F5E">
              <a:alpha val="18000"/>
            </a:srgbClr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8" name="Text 36"/>
          <p:cNvSpPr/>
          <p:nvPr/>
        </p:nvSpPr>
        <p:spPr>
          <a:xfrm>
            <a:off x="6172200" y="369417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Head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172200" y="404164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 binary mask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class/instance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Applications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1965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14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Medical Imaging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" y="146304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640080" y="14081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detection &amp; delineation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" y="173736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640080" y="16824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 segmentation for surgery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" y="201168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640080" y="1956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counting in microscopy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" y="228600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640080" y="22311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Retinal vessel segmentation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" y="256032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640080" y="25054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CT/MRI scan analysis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914400"/>
            <a:ext cx="4114800" cy="1965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8" name="Shape 16"/>
          <p:cNvSpPr/>
          <p:nvPr/>
        </p:nvSpPr>
        <p:spPr>
          <a:xfrm>
            <a:off x="4709160" y="914400"/>
            <a:ext cx="41148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Autonomous Driving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73752" y="146304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5029200" y="14081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/ lane segmentation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73752" y="173736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5029200" y="16824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Drivable area detection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73752" y="201168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5029200" y="1956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 &amp; vehicle masks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73752" y="228600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5029200" y="22311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condition parsing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73752" y="2560320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/>
          <p:nvPr/>
        </p:nvSpPr>
        <p:spPr>
          <a:xfrm>
            <a:off x="5029200" y="25054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 map generation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063240"/>
            <a:ext cx="4114800" cy="1965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1" name="Shape 29"/>
          <p:cNvSpPr/>
          <p:nvPr/>
        </p:nvSpPr>
        <p:spPr>
          <a:xfrm>
            <a:off x="320040" y="3063240"/>
            <a:ext cx="41148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2" name="Text 30"/>
          <p:cNvSpPr/>
          <p:nvPr/>
        </p:nvSpPr>
        <p:spPr>
          <a:xfrm>
            <a:off x="457200" y="3154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Agriculture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4632" y="36118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4" name="Text 32"/>
          <p:cNvSpPr/>
          <p:nvPr/>
        </p:nvSpPr>
        <p:spPr>
          <a:xfrm>
            <a:off x="640080" y="35570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health monitoring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" y="38862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6" name="Text 34"/>
          <p:cNvSpPr/>
          <p:nvPr/>
        </p:nvSpPr>
        <p:spPr>
          <a:xfrm>
            <a:off x="640080" y="38313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Weed detection &amp; removal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" y="416052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8" name="Text 36"/>
          <p:cNvSpPr/>
          <p:nvPr/>
        </p:nvSpPr>
        <p:spPr>
          <a:xfrm>
            <a:off x="640080" y="41056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estimation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4632" y="443484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0" name="Text 38"/>
          <p:cNvSpPr/>
          <p:nvPr/>
        </p:nvSpPr>
        <p:spPr>
          <a:xfrm>
            <a:off x="640080" y="43799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spot detection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4632" y="470916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2" name="Text 40"/>
          <p:cNvSpPr/>
          <p:nvPr/>
        </p:nvSpPr>
        <p:spPr>
          <a:xfrm>
            <a:off x="640080" y="46542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planning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09160" y="3063240"/>
            <a:ext cx="4114800" cy="1965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44" name="Shape 42"/>
          <p:cNvSpPr/>
          <p:nvPr/>
        </p:nvSpPr>
        <p:spPr>
          <a:xfrm>
            <a:off x="4709160" y="3063240"/>
            <a:ext cx="4114800" cy="5486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5" name="Text 43"/>
          <p:cNvSpPr/>
          <p:nvPr/>
        </p:nvSpPr>
        <p:spPr>
          <a:xfrm>
            <a:off x="4846320" y="3154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Other Industries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873752" y="3611880"/>
            <a:ext cx="91440" cy="91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7" name="Text 45"/>
          <p:cNvSpPr/>
          <p:nvPr/>
        </p:nvSpPr>
        <p:spPr>
          <a:xfrm>
            <a:off x="5029200" y="35570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imagery analysis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873752" y="3886200"/>
            <a:ext cx="91440" cy="91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9" name="Text 47"/>
          <p:cNvSpPr/>
          <p:nvPr/>
        </p:nvSpPr>
        <p:spPr>
          <a:xfrm>
            <a:off x="5029200" y="38313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defect detection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873752" y="4160520"/>
            <a:ext cx="91440" cy="91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1" name="Text 49"/>
          <p:cNvSpPr/>
          <p:nvPr/>
        </p:nvSpPr>
        <p:spPr>
          <a:xfrm>
            <a:off x="5029200" y="41056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/ virtual try-on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873752" y="4434840"/>
            <a:ext cx="91440" cy="91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3" name="Text 51"/>
          <p:cNvSpPr/>
          <p:nvPr/>
        </p:nvSpPr>
        <p:spPr>
          <a:xfrm>
            <a:off x="5029200" y="43799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surveillance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873752" y="4709160"/>
            <a:ext cx="91440" cy="9144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5" name="Text 53"/>
          <p:cNvSpPr/>
          <p:nvPr/>
        </p:nvSpPr>
        <p:spPr>
          <a:xfrm>
            <a:off x="5029200" y="46542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 &amp; manipulation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Hands-On: Segmentation Models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5:35 PM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896112"/>
            <a:ext cx="41148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Shape 5"/>
          <p:cNvSpPr/>
          <p:nvPr/>
        </p:nvSpPr>
        <p:spPr>
          <a:xfrm>
            <a:off x="365760" y="896112"/>
            <a:ext cx="4114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502920" y="9784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Demo: Semantic Segmentation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1389888"/>
            <a:ext cx="3840480" cy="32918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530352" y="1444752"/>
            <a:ext cx="365760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Using torchvision pretrained model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torchvision import models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torchvision import transforms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PIL import Image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model (DeepLabV3)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models.segmentation.deeplabv3_resnet101(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pretrained=True).eval()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Preprocess image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 = transforms.Compose([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transforms.ToTensor(),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transforms.Normalize(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mean=[0.485,0.456,0.406],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std=[0.229,0.224,0.225])])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= Image.open("image.jpg")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 = transform(img).unsqueeze(0)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torch.no_grad():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= model(inp)["out"][0]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seg_map = out.argmax(0)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896112"/>
            <a:ext cx="41148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2" name="Shape 10"/>
          <p:cNvSpPr/>
          <p:nvPr/>
        </p:nvSpPr>
        <p:spPr>
          <a:xfrm>
            <a:off x="4663440" y="896112"/>
            <a:ext cx="41148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4800600" y="9784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Hands-On &amp; Exercise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773168" y="1444752"/>
            <a:ext cx="640080" cy="310896"/>
          </a:xfrm>
          <a:prstGeom prst="roundRect">
            <a:avLst>
              <a:gd name="adj" fmla="val 11765"/>
            </a:avLst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4773168" y="144475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0" y="1463040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pretrained DeepLabV3 to an image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73168" y="1938528"/>
            <a:ext cx="640080" cy="310896"/>
          </a:xfrm>
          <a:prstGeom prst="roundRect">
            <a:avLst>
              <a:gd name="adj" fmla="val 11765"/>
            </a:avLst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4773168" y="1938528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0" y="1956816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segmentation with color map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773168" y="2432304"/>
            <a:ext cx="640080" cy="310896"/>
          </a:xfrm>
          <a:prstGeom prst="roundRect">
            <a:avLst>
              <a:gd name="adj" fmla="val 11765"/>
            </a:avLst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4773168" y="2432304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0" y="2450592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YOLOv8 for instance segmentation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73168" y="2926080"/>
            <a:ext cx="640080" cy="310896"/>
          </a:xfrm>
          <a:prstGeom prst="roundRect">
            <a:avLst>
              <a:gd name="adj" fmla="val 11765"/>
            </a:avLst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/>
          <p:nvPr/>
        </p:nvSpPr>
        <p:spPr>
          <a:xfrm>
            <a:off x="4773168" y="292608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0" y="2944368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mask on original image (alpha blend)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73168" y="3419856"/>
            <a:ext cx="640080" cy="310896"/>
          </a:xfrm>
          <a:prstGeom prst="roundRect">
            <a:avLst>
              <a:gd name="adj" fmla="val 11765"/>
            </a:avLst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4773168" y="341985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0" y="3438144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pixel-level class distribution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73168" y="3913632"/>
            <a:ext cx="640080" cy="310896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0" name="Text 28"/>
          <p:cNvSpPr/>
          <p:nvPr/>
        </p:nvSpPr>
        <p:spPr>
          <a:xfrm>
            <a:off x="4773168" y="391363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0" y="3931920"/>
            <a:ext cx="31272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&amp; compare semantic vs instance results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Comparison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011680" cy="512064"/>
          </a:xfrm>
          <a:prstGeom prst="rect">
            <a:avLst/>
          </a:prstGeom>
          <a:solidFill>
            <a:srgbClr val="0D9488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393192" y="82296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31720" y="822960"/>
            <a:ext cx="1371600" cy="512064"/>
          </a:xfrm>
          <a:prstGeom prst="rect">
            <a:avLst/>
          </a:prstGeom>
          <a:solidFill>
            <a:srgbClr val="0D9488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2404872" y="822960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03320" y="822960"/>
            <a:ext cx="2103120" cy="512064"/>
          </a:xfrm>
          <a:prstGeom prst="rect">
            <a:avLst/>
          </a:prstGeom>
          <a:solidFill>
            <a:srgbClr val="0D9488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3776472" y="82296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06440" y="822960"/>
            <a:ext cx="1463040" cy="512064"/>
          </a:xfrm>
          <a:prstGeom prst="rect">
            <a:avLst/>
          </a:prstGeom>
          <a:solidFill>
            <a:srgbClr val="0D9488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5879592" y="82296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69480" y="822960"/>
            <a:ext cx="2194560" cy="512064"/>
          </a:xfrm>
          <a:prstGeom prst="rect">
            <a:avLst/>
          </a:prstGeom>
          <a:solidFill>
            <a:srgbClr val="0D9488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7342632" y="82296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1335024"/>
            <a:ext cx="2011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393192" y="1335024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R-CNN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31720" y="1335024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2404872" y="1335024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03320" y="1335024"/>
            <a:ext cx="2103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3776472" y="1335024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⭐☆☆☆☆ (slow)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06440" y="1335024"/>
            <a:ext cx="1463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5879592" y="1335024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⭐⭐⭐⭐☆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269480" y="1335024"/>
            <a:ext cx="2194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7342632" y="1335024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region-based CNN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1847088"/>
            <a:ext cx="201168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393192" y="1847088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R-CNN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331720" y="1847088"/>
            <a:ext cx="137160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2404872" y="1847088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703320" y="1847088"/>
            <a:ext cx="210312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/>
          <p:nvPr/>
        </p:nvSpPr>
        <p:spPr>
          <a:xfrm>
            <a:off x="3776472" y="184708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⭐⭐⭐☆☆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806440" y="1847088"/>
            <a:ext cx="146304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Text 29"/>
          <p:cNvSpPr/>
          <p:nvPr/>
        </p:nvSpPr>
        <p:spPr>
          <a:xfrm>
            <a:off x="5879592" y="1847088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269480" y="1847088"/>
            <a:ext cx="219456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Text 31"/>
          <p:cNvSpPr/>
          <p:nvPr/>
        </p:nvSpPr>
        <p:spPr>
          <a:xfrm>
            <a:off x="7342632" y="184708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RPN + shared features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2359152"/>
            <a:ext cx="2011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5" name="Text 33"/>
          <p:cNvSpPr/>
          <p:nvPr/>
        </p:nvSpPr>
        <p:spPr>
          <a:xfrm>
            <a:off x="393192" y="2359152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331720" y="2359152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7" name="Text 35"/>
          <p:cNvSpPr/>
          <p:nvPr/>
        </p:nvSpPr>
        <p:spPr>
          <a:xfrm>
            <a:off x="2404872" y="2359152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703320" y="2359152"/>
            <a:ext cx="2103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9" name="Text 37"/>
          <p:cNvSpPr/>
          <p:nvPr/>
        </p:nvSpPr>
        <p:spPr>
          <a:xfrm>
            <a:off x="3776472" y="2359152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 (real-time)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806440" y="2359152"/>
            <a:ext cx="1463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1" name="Text 39"/>
          <p:cNvSpPr/>
          <p:nvPr/>
        </p:nvSpPr>
        <p:spPr>
          <a:xfrm>
            <a:off x="5879592" y="2359152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⭐⭐⭐⭐☆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269480" y="2359152"/>
            <a:ext cx="2194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3" name="Text 41"/>
          <p:cNvSpPr/>
          <p:nvPr/>
        </p:nvSpPr>
        <p:spPr>
          <a:xfrm>
            <a:off x="7342632" y="235915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Single-stage, anchor-free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20040" y="2871216"/>
            <a:ext cx="201168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5" name="Text 43"/>
          <p:cNvSpPr/>
          <p:nvPr/>
        </p:nvSpPr>
        <p:spPr>
          <a:xfrm>
            <a:off x="393192" y="2871216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331720" y="2871216"/>
            <a:ext cx="137160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7" name="Text 45"/>
          <p:cNvSpPr/>
          <p:nvPr/>
        </p:nvSpPr>
        <p:spPr>
          <a:xfrm>
            <a:off x="2404872" y="2871216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703320" y="2871216"/>
            <a:ext cx="210312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9" name="Text 47"/>
          <p:cNvSpPr/>
          <p:nvPr/>
        </p:nvSpPr>
        <p:spPr>
          <a:xfrm>
            <a:off x="3776472" y="2871216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⭐⭐⭐⭐☆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806440" y="2871216"/>
            <a:ext cx="146304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1" name="Text 49"/>
          <p:cNvSpPr/>
          <p:nvPr/>
        </p:nvSpPr>
        <p:spPr>
          <a:xfrm>
            <a:off x="5879592" y="2871216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⭐⭐⭐⭐☆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269480" y="2871216"/>
            <a:ext cx="219456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3" name="Text 51"/>
          <p:cNvSpPr/>
          <p:nvPr/>
        </p:nvSpPr>
        <p:spPr>
          <a:xfrm>
            <a:off x="7342632" y="2871216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anchors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320040" y="3383280"/>
            <a:ext cx="2011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5" name="Text 53"/>
          <p:cNvSpPr/>
          <p:nvPr/>
        </p:nvSpPr>
        <p:spPr>
          <a:xfrm>
            <a:off x="393192" y="3383280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331720" y="3383280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7" name="Text 55"/>
          <p:cNvSpPr/>
          <p:nvPr/>
        </p:nvSpPr>
        <p:spPr>
          <a:xfrm>
            <a:off x="2404872" y="3383280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3703320" y="3383280"/>
            <a:ext cx="2103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9" name="Text 57"/>
          <p:cNvSpPr/>
          <p:nvPr/>
        </p:nvSpPr>
        <p:spPr>
          <a:xfrm>
            <a:off x="3776472" y="338328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⭐⭐⭐⭐☆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806440" y="3383280"/>
            <a:ext cx="1463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1" name="Text 59"/>
          <p:cNvSpPr/>
          <p:nvPr/>
        </p:nvSpPr>
        <p:spPr>
          <a:xfrm>
            <a:off x="5879592" y="3383280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269480" y="3383280"/>
            <a:ext cx="2194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3" name="Text 61"/>
          <p:cNvSpPr/>
          <p:nvPr/>
        </p:nvSpPr>
        <p:spPr>
          <a:xfrm>
            <a:off x="7342632" y="338328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320040" y="3895344"/>
            <a:ext cx="201168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5" name="Text 63"/>
          <p:cNvSpPr/>
          <p:nvPr/>
        </p:nvSpPr>
        <p:spPr>
          <a:xfrm>
            <a:off x="393192" y="3895344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331720" y="3895344"/>
            <a:ext cx="137160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7" name="Text 65"/>
          <p:cNvSpPr/>
          <p:nvPr/>
        </p:nvSpPr>
        <p:spPr>
          <a:xfrm>
            <a:off x="2404872" y="3895344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Inst. Seg.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3703320" y="3895344"/>
            <a:ext cx="210312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9" name="Text 67"/>
          <p:cNvSpPr/>
          <p:nvPr/>
        </p:nvSpPr>
        <p:spPr>
          <a:xfrm>
            <a:off x="3776472" y="3895344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⭐⭐⭐☆☆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5806440" y="3895344"/>
            <a:ext cx="146304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1" name="Text 69"/>
          <p:cNvSpPr/>
          <p:nvPr/>
        </p:nvSpPr>
        <p:spPr>
          <a:xfrm>
            <a:off x="5879592" y="3895344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7269480" y="3895344"/>
            <a:ext cx="2194560" cy="512064"/>
          </a:xfrm>
          <a:prstGeom prst="rect">
            <a:avLst/>
          </a:prstGeom>
          <a:solidFill>
            <a:srgbClr val="EFF6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3" name="Text 71"/>
          <p:cNvSpPr/>
          <p:nvPr/>
        </p:nvSpPr>
        <p:spPr>
          <a:xfrm>
            <a:off x="7342632" y="3895344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+ Mask heads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320040" y="4407408"/>
            <a:ext cx="20116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5" name="Text 73"/>
          <p:cNvSpPr/>
          <p:nvPr/>
        </p:nvSpPr>
        <p:spPr>
          <a:xfrm>
            <a:off x="393192" y="4407408"/>
            <a:ext cx="19202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DeepLabV3+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2331720" y="4407408"/>
            <a:ext cx="13716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7" name="Text 75"/>
          <p:cNvSpPr/>
          <p:nvPr/>
        </p:nvSpPr>
        <p:spPr>
          <a:xfrm>
            <a:off x="2404872" y="4407408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Seg.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3703320" y="4407408"/>
            <a:ext cx="21031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9" name="Text 77"/>
          <p:cNvSpPr/>
          <p:nvPr/>
        </p:nvSpPr>
        <p:spPr>
          <a:xfrm>
            <a:off x="3776472" y="4407408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⭐⭐⭐⭐☆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5806440" y="4407408"/>
            <a:ext cx="1463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1" name="Text 79"/>
          <p:cNvSpPr/>
          <p:nvPr/>
        </p:nvSpPr>
        <p:spPr>
          <a:xfrm>
            <a:off x="5879592" y="4407408"/>
            <a:ext cx="1371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⭐⭐⭐⭐⭐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7269480" y="4407408"/>
            <a:ext cx="21945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3" name="Text 81"/>
          <p:cNvSpPr/>
          <p:nvPr/>
        </p:nvSpPr>
        <p:spPr>
          <a:xfrm>
            <a:off x="7342632" y="440740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Atrous convolutions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320040" y="489204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Speed/Accuracy ratings are relative approximations for teaching purposes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 PM – 6:15 PM  ·  15 minutes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power of attention mechanisms to visual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274320"/>
            <a:ext cx="2286000" cy="4114800"/>
          </a:xfrm>
          <a:prstGeom prst="rect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 (ViT): 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6:00 PM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apply the transformer architecture — designed for text sequences — directly to images?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1554480" cy="2148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1554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320040" y="1371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🖼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1901952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74520" y="2395728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Shape 10"/>
          <p:cNvSpPr/>
          <p:nvPr/>
        </p:nvSpPr>
        <p:spPr>
          <a:xfrm>
            <a:off x="2039112" y="1325880"/>
            <a:ext cx="1554480" cy="2148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2039112" y="1325880"/>
            <a:ext cx="155448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2039112" y="1371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🔲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84832" y="1901952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16×16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93592" y="2395728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Shape 15"/>
          <p:cNvSpPr/>
          <p:nvPr/>
        </p:nvSpPr>
        <p:spPr>
          <a:xfrm>
            <a:off x="3758184" y="1325880"/>
            <a:ext cx="1554480" cy="2148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8" name="Shape 16"/>
          <p:cNvSpPr/>
          <p:nvPr/>
        </p:nvSpPr>
        <p:spPr>
          <a:xfrm>
            <a:off x="3758184" y="1325880"/>
            <a:ext cx="155448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3758184" y="1371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📐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803904" y="1901952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Position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12664" y="2395728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Shape 20"/>
          <p:cNvSpPr/>
          <p:nvPr/>
        </p:nvSpPr>
        <p:spPr>
          <a:xfrm>
            <a:off x="5477256" y="1325880"/>
            <a:ext cx="1554480" cy="2148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3" name="Shape 21"/>
          <p:cNvSpPr/>
          <p:nvPr/>
        </p:nvSpPr>
        <p:spPr>
          <a:xfrm>
            <a:off x="5477256" y="1325880"/>
            <a:ext cx="15544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/>
          <p:nvPr/>
        </p:nvSpPr>
        <p:spPr>
          <a:xfrm>
            <a:off x="5477256" y="1371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22976" y="1901952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 blocks)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31736" y="2395728"/>
            <a:ext cx="164592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Shape 25"/>
          <p:cNvSpPr/>
          <p:nvPr/>
        </p:nvSpPr>
        <p:spPr>
          <a:xfrm>
            <a:off x="7196328" y="1325880"/>
            <a:ext cx="1554480" cy="2148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8" name="Shape 26"/>
          <p:cNvSpPr/>
          <p:nvPr/>
        </p:nvSpPr>
        <p:spPr>
          <a:xfrm>
            <a:off x="7196328" y="1325880"/>
            <a:ext cx="1554480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/>
          <p:nvPr/>
        </p:nvSpPr>
        <p:spPr>
          <a:xfrm>
            <a:off x="7196328" y="13716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242048" y="1901952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Class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3657600"/>
            <a:ext cx="8412480" cy="1143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2" name="Shape 30"/>
          <p:cNvSpPr/>
          <p:nvPr/>
        </p:nvSpPr>
        <p:spPr>
          <a:xfrm>
            <a:off x="365760" y="3657600"/>
            <a:ext cx="73152" cy="1143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Text 31"/>
          <p:cNvSpPr/>
          <p:nvPr/>
        </p:nvSpPr>
        <p:spPr>
          <a:xfrm>
            <a:off x="548640" y="37033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404164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an image as a sequence of 196 patches (for 224×224 with 16×16 patch size). Each patch is like a word token in NLP. Self-attention then models relationships between all patches globally — unlike CNN which only sees local neighborhoods.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ViT Works: Patches &amp; Embeddings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148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457200" y="9875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Embedding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H×W×C → divide into n = HW/P² patches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patch P×P flattened to vector P²·C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projection E ∈ ℝ^(P²·C × d)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 n patch tokens ∈ ℝ^d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11480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41148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4846320" y="9875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[CLS] Token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token prepended to the sequence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Accumulates global image information via attention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image representation for classification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 [CLS] token in BERT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20040" y="2834640"/>
            <a:ext cx="411480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320040" y="2834640"/>
            <a:ext cx="41148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457200" y="29077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is permutation-invariant — no spatial sense!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learned positional embeddings to each token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E_pos ∈ ℝ^((n+1) × d)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model to learn patch spatial relationships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709160" y="2834640"/>
            <a:ext cx="411480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7" name="Shape 15"/>
          <p:cNvSpPr/>
          <p:nvPr/>
        </p:nvSpPr>
        <p:spPr>
          <a:xfrm>
            <a:off x="4709160" y="2834640"/>
            <a:ext cx="41148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4846320" y="290779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Encoder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46320" y="329184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identical blocks (e.g., L=12 for ViT-Base)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block: LayerNorm + MHSA + LayerNorm + FFN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patches attend to all other patches (global!)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connections throughout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35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vs CNN: Strengths &amp; Differences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560320" y="868680"/>
            <a:ext cx="2788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2560320" y="86868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868680"/>
            <a:ext cx="3200400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5577840" y="86868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219456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384048" y="1325880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Receptive Field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325880"/>
            <a:ext cx="27889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2633472" y="132588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(grows with depth)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many layers for global view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1325880"/>
            <a:ext cx="3200400" cy="566928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5650992" y="1325880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from layer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patches attend to all others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920240"/>
            <a:ext cx="2194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384048" y="1920240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Bias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60320" y="1920240"/>
            <a:ext cx="2788920" cy="566928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2633472" y="192024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Strong: translation invariance,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locality, weight sharing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1920240"/>
            <a:ext cx="3200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5650992" y="1920240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Weak: minimal built-in priors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from data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514600"/>
            <a:ext cx="219456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384048" y="2514600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Requirement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0" y="2514600"/>
            <a:ext cx="2788920" cy="566928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2633472" y="251460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with small datasets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Generalizes well from limited data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77840" y="2514600"/>
            <a:ext cx="320040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5650992" y="2514600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large datasets to compete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from pretraining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108960"/>
            <a:ext cx="2194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384048" y="3108960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560320" y="3108960"/>
            <a:ext cx="27889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/>
          <p:nvPr/>
        </p:nvSpPr>
        <p:spPr>
          <a:xfrm>
            <a:off x="2633472" y="310896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plateaus at scale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limits scaling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77840" y="3108960"/>
            <a:ext cx="3200400" cy="566928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Text 29"/>
          <p:cNvSpPr/>
          <p:nvPr/>
        </p:nvSpPr>
        <p:spPr>
          <a:xfrm>
            <a:off x="5650992" y="3108960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powerfully with more data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with model size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703320"/>
            <a:ext cx="219456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Text 31"/>
          <p:cNvSpPr/>
          <p:nvPr/>
        </p:nvSpPr>
        <p:spPr>
          <a:xfrm>
            <a:off x="384048" y="3703320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60320" y="3703320"/>
            <a:ext cx="2788920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5" name="Text 33"/>
          <p:cNvSpPr/>
          <p:nvPr/>
        </p:nvSpPr>
        <p:spPr>
          <a:xfrm>
            <a:off x="2633472" y="370332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maps somewhat interpretable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visualization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577840" y="3703320"/>
            <a:ext cx="3200400" cy="566928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7" name="Text 35"/>
          <p:cNvSpPr/>
          <p:nvPr/>
        </p:nvSpPr>
        <p:spPr>
          <a:xfrm>
            <a:off x="5650992" y="3703320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maps show focus regions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Emerges without supervision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297680"/>
            <a:ext cx="2194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9" name="Text 37"/>
          <p:cNvSpPr/>
          <p:nvPr/>
        </p:nvSpPr>
        <p:spPr>
          <a:xfrm>
            <a:off x="384048" y="4297680"/>
            <a:ext cx="20848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(Small)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560320" y="4297680"/>
            <a:ext cx="2788920" cy="566928"/>
          </a:xfrm>
          <a:prstGeom prst="rect">
            <a:avLst/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1" name="Text 39"/>
          <p:cNvSpPr/>
          <p:nvPr/>
        </p:nvSpPr>
        <p:spPr>
          <a:xfrm>
            <a:off x="2633472" y="429768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efficient for small images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ops well-optimized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577840" y="4297680"/>
            <a:ext cx="32004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3" name="Text 41"/>
          <p:cNvSpPr/>
          <p:nvPr/>
        </p:nvSpPr>
        <p:spPr>
          <a:xfrm>
            <a:off x="5650992" y="4297680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 attention expensive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 for high-res images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20040" y="49560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Highlighted = Advantage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Model Variants &amp; Beyond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55448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554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ViT-Tiny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192" y="157276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" y="157276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3192" y="204825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" y="204825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3192" y="252374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4712" y="252374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93192" y="299923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24712" y="2999232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020824" y="914400"/>
            <a:ext cx="155448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6" name="Shape 14"/>
          <p:cNvSpPr/>
          <p:nvPr/>
        </p:nvSpPr>
        <p:spPr>
          <a:xfrm>
            <a:off x="2020824" y="914400"/>
            <a:ext cx="155448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2066544" y="98755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ViT-Small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93976" y="157276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25496" y="157276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093976" y="204825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825496" y="204825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93976" y="252374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825496" y="252374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093976" y="299923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25496" y="2999232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22M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721608" y="914400"/>
            <a:ext cx="155448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7" name="Shape 25"/>
          <p:cNvSpPr/>
          <p:nvPr/>
        </p:nvSpPr>
        <p:spPr>
          <a:xfrm>
            <a:off x="3721608" y="914400"/>
            <a:ext cx="155448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Text 26"/>
          <p:cNvSpPr/>
          <p:nvPr/>
        </p:nvSpPr>
        <p:spPr>
          <a:xfrm>
            <a:off x="3767328" y="98755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ViT-Base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94760" y="157276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26280" y="157276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794760" y="204825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26280" y="204825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794760" y="252374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26280" y="252374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794760" y="299923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26280" y="2999232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86M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22392" y="914400"/>
            <a:ext cx="155448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8" name="Shape 36"/>
          <p:cNvSpPr/>
          <p:nvPr/>
        </p:nvSpPr>
        <p:spPr>
          <a:xfrm>
            <a:off x="5422392" y="914400"/>
            <a:ext cx="155448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9" name="Text 37"/>
          <p:cNvSpPr/>
          <p:nvPr/>
        </p:nvSpPr>
        <p:spPr>
          <a:xfrm>
            <a:off x="5468112" y="98755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ViT-Large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95544" y="157276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27064" y="157276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495544" y="204825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27064" y="204825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495544" y="252374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27064" y="252374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495544" y="299923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227064" y="2999232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307M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123176" y="914400"/>
            <a:ext cx="1554480" cy="2560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49" name="Shape 47"/>
          <p:cNvSpPr/>
          <p:nvPr/>
        </p:nvSpPr>
        <p:spPr>
          <a:xfrm>
            <a:off x="7123176" y="914400"/>
            <a:ext cx="1554480" cy="457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0" name="Text 48"/>
          <p:cNvSpPr/>
          <p:nvPr/>
        </p:nvSpPr>
        <p:spPr>
          <a:xfrm>
            <a:off x="7168896" y="98755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ViT-Huge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196328" y="157276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Blocks: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927848" y="1572768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196328" y="2048256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Dim: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927848" y="204825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196328" y="2523744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Heads: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927848" y="2523744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7196328" y="299923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Params: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927848" y="2999232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632M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320040" y="3657600"/>
            <a:ext cx="8458200" cy="12618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60" name="Text 58"/>
          <p:cNvSpPr/>
          <p:nvPr/>
        </p:nvSpPr>
        <p:spPr>
          <a:xfrm>
            <a:off x="457200" y="37124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Extensions: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57200" y="4078224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2" name="Text 60"/>
          <p:cNvSpPr/>
          <p:nvPr/>
        </p:nvSpPr>
        <p:spPr>
          <a:xfrm>
            <a:off x="457200" y="407822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DeiT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280160" y="4096512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Data-efficient ViT — strong with less data via distillation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273552" y="4078224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5" name="Text 63"/>
          <p:cNvSpPr/>
          <p:nvPr/>
        </p:nvSpPr>
        <p:spPr>
          <a:xfrm>
            <a:off x="3273552" y="407822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096512" y="4096512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+ windowed attention — replaces CNN in many pipelines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089904" y="4078224"/>
            <a:ext cx="777240" cy="274320"/>
          </a:xfrm>
          <a:prstGeom prst="roundRect">
            <a:avLst>
              <a:gd name="adj" fmla="val 13333"/>
            </a:avLst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8" name="Text 66"/>
          <p:cNvSpPr/>
          <p:nvPr/>
        </p:nvSpPr>
        <p:spPr>
          <a:xfrm>
            <a:off x="6089904" y="407822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SegFormer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912864" y="4096512"/>
            <a:ext cx="19019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Multi-scale ViT encoder + lightweight MLP decoder for segmentation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35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ViT + Demo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393192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Use ViT When…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685800" y="139903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labeled dataset available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93852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685800" y="18745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pretraining exists (ImageNet-21K)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414016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685800" y="235000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 is important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88950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685800" y="282549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accuracy needed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36499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685800" y="330098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is not a constraint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84048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685800" y="377647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scenario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80560" y="896112"/>
            <a:ext cx="429768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4617720" y="960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Demo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0" y="1371600"/>
            <a:ext cx="4114800" cy="1234440"/>
          </a:xfrm>
          <a:prstGeom prst="rect">
            <a:avLst/>
          </a:prstGeom>
          <a:solidFill>
            <a:srgbClr val="0D1117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4645152" y="1408176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transformers import ViTForImageClassification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transformers import ViTImageProcessor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PIL import Image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pretrained ViT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ViTForImageClassification.from_pretrained(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"google/vit-base-patch16-224")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processor = ViTImageProcessor.from_pretrained(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"google/vit-base-patch16-224")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 = Image.open("cat.jpg")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 = processor(images=image, return_tensors="pt")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 = model(**inputs)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logits = outputs.logits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predicted_class = logits.argmax(-1).item()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print(model.config.id2label[predicted_class])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4480560" y="2834640"/>
            <a:ext cx="429768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4617720" y="290779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Prefer CNN When…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617720" y="3364992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4800600" y="331012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training dataset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617720" y="3694176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4800600" y="363931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Mobile/edge deployment needed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17720" y="4023360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/>
          <p:nvPr/>
        </p:nvSpPr>
        <p:spPr>
          <a:xfrm>
            <a:off x="4800600" y="396849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 requirements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17720" y="4352544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Text 29"/>
          <p:cNvSpPr/>
          <p:nvPr/>
        </p:nvSpPr>
        <p:spPr>
          <a:xfrm>
            <a:off x="4800600" y="4297680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classification task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617720" y="4681728"/>
            <a:ext cx="109728" cy="109728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Text 31"/>
          <p:cNvSpPr/>
          <p:nvPr/>
        </p:nvSpPr>
        <p:spPr>
          <a:xfrm>
            <a:off x="4800600" y="4626864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budget is limited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35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ViT for Your Task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51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06984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Pretrained ViT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google/vit-base-patch16-224 (ImageNet-21K)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starting point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2968" y="914400"/>
            <a:ext cx="2651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0" name="Shape 8"/>
          <p:cNvSpPr/>
          <p:nvPr/>
        </p:nvSpPr>
        <p:spPr>
          <a:xfrm>
            <a:off x="3310128" y="1051560"/>
            <a:ext cx="45720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3310128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58768" y="106984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Classification Head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1572768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MLP head output size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match your number of classes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25896" y="914400"/>
            <a:ext cx="2651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5" name="Shape 13"/>
          <p:cNvSpPr/>
          <p:nvPr/>
        </p:nvSpPr>
        <p:spPr>
          <a:xfrm>
            <a:off x="6163056" y="105156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6163056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11696" y="106984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Data Pipeline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63056" y="1572768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ViTImageProcessor for correct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resizing, normalization (224×224)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154680"/>
            <a:ext cx="2651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3101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Strategy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813048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A: Freeze encoder, train head only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B: Full fine-tune with low LR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72968" y="3154680"/>
            <a:ext cx="265176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5" name="Shape 23"/>
          <p:cNvSpPr/>
          <p:nvPr/>
        </p:nvSpPr>
        <p:spPr>
          <a:xfrm>
            <a:off x="3310128" y="3291840"/>
            <a:ext cx="457200" cy="4572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6" name="Text 24"/>
          <p:cNvSpPr/>
          <p:nvPr/>
        </p:nvSpPr>
        <p:spPr>
          <a:xfrm>
            <a:off x="3310128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58768" y="3310128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&amp; Evaluate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10128" y="3813048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validation metrics carefully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early stopping + LR scheduling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3154680"/>
            <a:ext cx="2651760" cy="2011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0" name="Shape 28"/>
          <p:cNvSpPr/>
          <p:nvPr/>
        </p:nvSpPr>
        <p:spPr>
          <a:xfrm>
            <a:off x="6035040" y="3154680"/>
            <a:ext cx="265176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Text 29"/>
          <p:cNvSpPr/>
          <p:nvPr/>
        </p:nvSpPr>
        <p:spPr>
          <a:xfrm>
            <a:off x="6172200" y="32186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Pro Tip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3584448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trains well with very small custom datasets (~500-1000 images) when starting from a strong pretrained checkpoint!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35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9144000" cy="1920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Assignment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6:15 PM – 6:30 PM  ·  15 minutes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all together for your Computer Vision project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35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6:15 PM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1148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Object Detection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667512" y="14447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(Faster R-CNN) for accuracy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182880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667512" y="1764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One-stage (YOLO) for real-time speed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14884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667512" y="20848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IoU measures prediction quality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46888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667512" y="24048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evaluates overall performance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914400"/>
            <a:ext cx="41148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4846320" y="10058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🖌️ Image Segmentation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92040" y="150876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5056632" y="14447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Semantic: class label per pixel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92040" y="182880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5056632" y="1764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Instance: individual object masks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92040" y="214884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5056632" y="20848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U-Net: skip connections are key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92040" y="246888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5056632" y="24048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R-CNN extends detection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0040" y="2880360"/>
            <a:ext cx="41148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457200" y="29718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Vision Transformers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" y="347472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/>
          <p:nvPr/>
        </p:nvSpPr>
        <p:spPr>
          <a:xfrm>
            <a:off x="667512" y="34107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→ patch token sequences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2920" y="379476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Text 29"/>
          <p:cNvSpPr/>
          <p:nvPr/>
        </p:nvSpPr>
        <p:spPr>
          <a:xfrm>
            <a:off x="667512" y="37307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attention from first layer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" y="411480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Text 31"/>
          <p:cNvSpPr/>
          <p:nvPr/>
        </p:nvSpPr>
        <p:spPr>
          <a:xfrm>
            <a:off x="667512" y="4050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large data / strong pretrain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02920" y="443484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5" name="Text 33"/>
          <p:cNvSpPr/>
          <p:nvPr/>
        </p:nvSpPr>
        <p:spPr>
          <a:xfrm>
            <a:off x="667512" y="43708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for transfer learning tasks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709160" y="2880360"/>
            <a:ext cx="41148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7" name="Text 35"/>
          <p:cNvSpPr/>
          <p:nvPr/>
        </p:nvSpPr>
        <p:spPr>
          <a:xfrm>
            <a:off x="4846320" y="29718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For Your CV Project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892040" y="347472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9" name="Text 37"/>
          <p:cNvSpPr/>
          <p:nvPr/>
        </p:nvSpPr>
        <p:spPr>
          <a:xfrm>
            <a:off x="5056632" y="34107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task based on your problem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892040" y="379476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1" name="Text 39"/>
          <p:cNvSpPr/>
          <p:nvPr/>
        </p:nvSpPr>
        <p:spPr>
          <a:xfrm>
            <a:off x="5056632" y="37307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pretrained models as starting point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892040" y="411480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3" name="Text 41"/>
          <p:cNvSpPr/>
          <p:nvPr/>
        </p:nvSpPr>
        <p:spPr>
          <a:xfrm>
            <a:off x="5056632" y="4050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Detection/segmentation if location matters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892040" y="443484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5" name="Text 43"/>
          <p:cNvSpPr/>
          <p:nvPr/>
        </p:nvSpPr>
        <p:spPr>
          <a:xfrm>
            <a:off x="5056632" y="437083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your architecture choices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Refine Your CV Project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498080" y="137160"/>
            <a:ext cx="1463040" cy="292608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Text 3"/>
          <p:cNvSpPr/>
          <p:nvPr/>
        </p:nvSpPr>
        <p:spPr>
          <a:xfrm>
            <a:off x="7498080" y="13716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Next Session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41148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1148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320040" y="98755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🔁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154680" y="1024128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3154680" y="10241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78408" y="10058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Based on Learning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481328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your CV project with insights from today: detection, segmentation, or ViT. Document which approach best fits your problem and why.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914400"/>
            <a:ext cx="41148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4" name="Shape 12"/>
          <p:cNvSpPr/>
          <p:nvPr/>
        </p:nvSpPr>
        <p:spPr>
          <a:xfrm>
            <a:off x="4709160" y="914400"/>
            <a:ext cx="41148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4709160" y="98755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543800" y="1024128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06B6D4">
              <a:alpha val="6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7543800" y="10241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67528" y="10058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Detection / Segmentation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1481328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applicable, experiment with a pretrained YOLO or segmentation model on your data. Even negative results are valuable — document your findings.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880360"/>
            <a:ext cx="41148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1" name="Shape 19"/>
          <p:cNvSpPr/>
          <p:nvPr/>
        </p:nvSpPr>
        <p:spPr>
          <a:xfrm>
            <a:off x="320040" y="2880360"/>
            <a:ext cx="411480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320040" y="295351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3154680" y="2990088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/>
          <p:nvPr/>
        </p:nvSpPr>
        <p:spPr>
          <a:xfrm>
            <a:off x="3154680" y="29900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78408" y="29718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MLOps Session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447288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about model optimization basics (quantization, pruning). Think about deployment requirements for your project (speed vs accuracy tradeoff).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2880360"/>
            <a:ext cx="411480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8" name="Shape 26"/>
          <p:cNvSpPr/>
          <p:nvPr/>
        </p:nvSpPr>
        <p:spPr>
          <a:xfrm>
            <a:off x="4709160" y="2880360"/>
            <a:ext cx="41148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/>
          <p:nvPr/>
        </p:nvSpPr>
        <p:spPr>
          <a:xfrm>
            <a:off x="4709160" y="295351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7543800" y="2990088"/>
            <a:ext cx="109728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Text 29"/>
          <p:cNvSpPr/>
          <p:nvPr/>
        </p:nvSpPr>
        <p:spPr>
          <a:xfrm>
            <a:off x="7543800" y="299008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67528" y="29718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Your CV Methodology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3447288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clear section describing your model architecture, training choices, evaluation metrics, and results so far. Peer review-ready format.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35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4SID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4SID" id="{DEF0AA7B-6E7E-4912-A00E-07F85F80C10B}" vid="{46DD517C-2C32-40D0-8335-6C15B7BC7F1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AI4SID</Template>
  <TotalTime>6530</TotalTime>
  <Words>3091</Words>
  <Application>Microsoft Office PowerPoint</Application>
  <PresentationFormat>On-screen Show (16:9)</PresentationFormat>
  <Paragraphs>777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Consolas</vt:lpstr>
      <vt:lpstr>Neue Haas Grotesk Text Pro</vt:lpstr>
      <vt:lpstr>AI4SID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27: Object Detection &amp; Image Segmentation</dc:title>
  <dc:subject>PptxGenJS Presentation</dc:subject>
  <dc:creator>PptxGenJS</dc:creator>
  <cp:lastModifiedBy>Uthman Abdulrahman</cp:lastModifiedBy>
  <cp:revision>2</cp:revision>
  <dcterms:created xsi:type="dcterms:W3CDTF">2026-04-06T19:06:02Z</dcterms:created>
  <dcterms:modified xsi:type="dcterms:W3CDTF">2026-04-11T08:08:57Z</dcterms:modified>
</cp:coreProperties>
</file>