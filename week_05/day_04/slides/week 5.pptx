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2"/>
    <p:sldId id="258" r:id="rId3"/>
    <p:sldId id="261" r:id="rId4"/>
    <p:sldId id="262" r:id="rId5"/>
    <p:sldId id="290" r:id="rId6"/>
    <p:sldId id="291" r:id="rId7"/>
    <p:sldId id="292" r:id="rId8"/>
    <p:sldId id="285" r:id="rId9"/>
    <p:sldId id="265" r:id="rId10"/>
    <p:sldId id="266" r:id="rId11"/>
    <p:sldId id="286" r:id="rId12"/>
    <p:sldId id="267" r:id="rId13"/>
    <p:sldId id="293" r:id="rId14"/>
    <p:sldId id="268" r:id="rId15"/>
    <p:sldId id="294" r:id="rId16"/>
    <p:sldId id="269" r:id="rId17"/>
    <p:sldId id="287" r:id="rId18"/>
    <p:sldId id="270" r:id="rId19"/>
    <p:sldId id="271" r:id="rId20"/>
    <p:sldId id="288" r:id="rId21"/>
    <p:sldId id="289" r:id="rId22"/>
    <p:sldId id="272" r:id="rId23"/>
    <p:sldId id="263" r:id="rId24"/>
    <p:sldId id="264" r:id="rId25"/>
    <p:sldId id="274" r:id="rId26"/>
    <p:sldId id="275" r:id="rId27"/>
    <p:sldId id="276" r:id="rId28"/>
    <p:sldId id="295"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3807F"/>
    <a:srgbClr val="45C2CA"/>
    <a:srgbClr val="48C3CB"/>
    <a:srgbClr val="FBA31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8" d="100"/>
          <a:sy n="68" d="100"/>
        </p:scale>
        <p:origin x="81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43" name="Group 42"/>
          <p:cNvGrpSpPr/>
          <p:nvPr/>
        </p:nvGrpSpPr>
        <p:grpSpPr>
          <a:xfrm>
            <a:off x="6201388" y="0"/>
            <a:ext cx="5990612" cy="6858001"/>
            <a:chOff x="6201388" y="0"/>
            <a:chExt cx="5990612" cy="6858001"/>
          </a:xfrm>
        </p:grpSpPr>
        <p:sp>
          <p:nvSpPr>
            <p:cNvPr id="45" name="Oval 44"/>
            <p:cNvSpPr/>
            <p:nvPr/>
          </p:nvSpPr>
          <p:spPr>
            <a:xfrm>
              <a:off x="6201388"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46"/>
            <p:cNvSpPr/>
            <p:nvPr/>
          </p:nvSpPr>
          <p:spPr>
            <a:xfrm>
              <a:off x="6201389"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2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4" y="565575"/>
                    <a:pt x="565362" y="565575"/>
                  </a:cubicBezTo>
                  <a:cubicBezTo>
                    <a:pt x="253121" y="565575"/>
                    <a:pt x="0" y="312454"/>
                    <a:pt x="0" y="213"/>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9" name="Freeform 48"/>
            <p:cNvSpPr/>
            <p:nvPr/>
          </p:nvSpPr>
          <p:spPr>
            <a:xfrm>
              <a:off x="7564255" y="6292426"/>
              <a:ext cx="1130723" cy="565575"/>
            </a:xfrm>
            <a:custGeom>
              <a:avLst/>
              <a:gdLst>
                <a:gd name="connsiteX0" fmla="*/ 565362 w 1130723"/>
                <a:gd name="connsiteY0" fmla="*/ 0 h 565575"/>
                <a:gd name="connsiteX1" fmla="*/ 1130723 w 1130723"/>
                <a:gd name="connsiteY1" fmla="*/ 565362 h 565575"/>
                <a:gd name="connsiteX2" fmla="*/ 1130702 w 1130723"/>
                <a:gd name="connsiteY2" fmla="*/ 565575 h 565575"/>
                <a:gd name="connsiteX3" fmla="*/ 21 w 1130723"/>
                <a:gd name="connsiteY3" fmla="*/ 565575 h 565575"/>
                <a:gd name="connsiteX4" fmla="*/ 0 w 1130723"/>
                <a:gd name="connsiteY4" fmla="*/ 565362 h 565575"/>
                <a:gd name="connsiteX5" fmla="*/ 565362 w 1130723"/>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3" h="565575">
                  <a:moveTo>
                    <a:pt x="565362" y="0"/>
                  </a:moveTo>
                  <a:cubicBezTo>
                    <a:pt x="877602" y="0"/>
                    <a:pt x="1130723" y="253121"/>
                    <a:pt x="1130723" y="565362"/>
                  </a:cubicBezTo>
                  <a:lnTo>
                    <a:pt x="1130702" y="565575"/>
                  </a:lnTo>
                  <a:lnTo>
                    <a:pt x="21" y="565575"/>
                  </a:lnTo>
                  <a:lnTo>
                    <a:pt x="0" y="565362"/>
                  </a:lnTo>
                  <a:cubicBezTo>
                    <a:pt x="0" y="253121"/>
                    <a:pt x="253120" y="0"/>
                    <a:pt x="565362" y="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1" name="Oval 50"/>
            <p:cNvSpPr/>
            <p:nvPr/>
          </p:nvSpPr>
          <p:spPr>
            <a:xfrm>
              <a:off x="7564253" y="354939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p:cNvSpPr/>
            <p:nvPr/>
          </p:nvSpPr>
          <p:spPr>
            <a:xfrm>
              <a:off x="7564253" y="2177881"/>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p:cNvSpPr/>
            <p:nvPr/>
          </p:nvSpPr>
          <p:spPr>
            <a:xfrm>
              <a:off x="7564253" y="806366"/>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Freeform 63"/>
            <p:cNvSpPr/>
            <p:nvPr/>
          </p:nvSpPr>
          <p:spPr>
            <a:xfrm>
              <a:off x="7564254"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3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3" y="565575"/>
                    <a:pt x="565363" y="565575"/>
                  </a:cubicBezTo>
                  <a:cubicBezTo>
                    <a:pt x="253121" y="565575"/>
                    <a:pt x="0" y="312454"/>
                    <a:pt x="0" y="213"/>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5" name="Freeform 64"/>
            <p:cNvSpPr/>
            <p:nvPr/>
          </p:nvSpPr>
          <p:spPr>
            <a:xfrm>
              <a:off x="8927118"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2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2" y="565575"/>
                  </a:lnTo>
                  <a:lnTo>
                    <a:pt x="0" y="565362"/>
                  </a:lnTo>
                  <a:cubicBezTo>
                    <a:pt x="0" y="253121"/>
                    <a:pt x="253121" y="0"/>
                    <a:pt x="565362" y="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7" name="Oval 66"/>
            <p:cNvSpPr/>
            <p:nvPr/>
          </p:nvSpPr>
          <p:spPr>
            <a:xfrm>
              <a:off x="8927118" y="4920911"/>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p:cNvSpPr/>
            <p:nvPr/>
          </p:nvSpPr>
          <p:spPr>
            <a:xfrm>
              <a:off x="8927118" y="3549396"/>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p:cNvSpPr/>
            <p:nvPr/>
          </p:nvSpPr>
          <p:spPr>
            <a:xfrm>
              <a:off x="8927118" y="2177881"/>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Oval 69"/>
            <p:cNvSpPr/>
            <p:nvPr/>
          </p:nvSpPr>
          <p:spPr>
            <a:xfrm>
              <a:off x="8927118" y="80636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p:cNvSpPr/>
            <p:nvPr/>
          </p:nvSpPr>
          <p:spPr>
            <a:xfrm>
              <a:off x="8927117" y="0"/>
              <a:ext cx="1130726" cy="565576"/>
            </a:xfrm>
            <a:custGeom>
              <a:avLst/>
              <a:gdLst>
                <a:gd name="connsiteX0" fmla="*/ 22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2" y="0"/>
                  </a:moveTo>
                  <a:lnTo>
                    <a:pt x="1130704" y="0"/>
                  </a:lnTo>
                  <a:lnTo>
                    <a:pt x="1130726" y="214"/>
                  </a:lnTo>
                  <a:cubicBezTo>
                    <a:pt x="1130726" y="312455"/>
                    <a:pt x="877604" y="565576"/>
                    <a:pt x="565363" y="565576"/>
                  </a:cubicBezTo>
                  <a:cubicBezTo>
                    <a:pt x="253122" y="565576"/>
                    <a:pt x="0" y="312455"/>
                    <a:pt x="0" y="214"/>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2" name="Freeform 71"/>
            <p:cNvSpPr/>
            <p:nvPr/>
          </p:nvSpPr>
          <p:spPr>
            <a:xfrm>
              <a:off x="10289984"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1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1" y="565575"/>
                  </a:lnTo>
                  <a:lnTo>
                    <a:pt x="0" y="565362"/>
                  </a:lnTo>
                  <a:cubicBezTo>
                    <a:pt x="0" y="253121"/>
                    <a:pt x="253121" y="0"/>
                    <a:pt x="565362" y="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3" name="Oval 72"/>
            <p:cNvSpPr/>
            <p:nvPr/>
          </p:nvSpPr>
          <p:spPr>
            <a:xfrm>
              <a:off x="10289984" y="4920911"/>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p:cNvSpPr/>
            <p:nvPr/>
          </p:nvSpPr>
          <p:spPr>
            <a:xfrm>
              <a:off x="10289984" y="354939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p:cNvSpPr/>
            <p:nvPr/>
          </p:nvSpPr>
          <p:spPr>
            <a:xfrm>
              <a:off x="10289984" y="80636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Freeform 75"/>
            <p:cNvSpPr/>
            <p:nvPr/>
          </p:nvSpPr>
          <p:spPr>
            <a:xfrm>
              <a:off x="10289983" y="0"/>
              <a:ext cx="1130726" cy="565576"/>
            </a:xfrm>
            <a:custGeom>
              <a:avLst/>
              <a:gdLst>
                <a:gd name="connsiteX0" fmla="*/ 21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1" y="0"/>
                  </a:moveTo>
                  <a:lnTo>
                    <a:pt x="1130704" y="0"/>
                  </a:lnTo>
                  <a:lnTo>
                    <a:pt x="1130726" y="214"/>
                  </a:lnTo>
                  <a:cubicBezTo>
                    <a:pt x="1130726" y="312455"/>
                    <a:pt x="877604" y="565576"/>
                    <a:pt x="565363" y="565576"/>
                  </a:cubicBezTo>
                  <a:cubicBezTo>
                    <a:pt x="253122" y="565576"/>
                    <a:pt x="0" y="312455"/>
                    <a:pt x="0" y="214"/>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7" name="Freeform 76"/>
            <p:cNvSpPr/>
            <p:nvPr/>
          </p:nvSpPr>
          <p:spPr>
            <a:xfrm>
              <a:off x="11652854" y="6295069"/>
              <a:ext cx="539146" cy="562931"/>
            </a:xfrm>
            <a:custGeom>
              <a:avLst/>
              <a:gdLst>
                <a:gd name="connsiteX0" fmla="*/ 539146 w 539146"/>
                <a:gd name="connsiteY0" fmla="*/ 0 h 562931"/>
                <a:gd name="connsiteX1" fmla="*/ 539146 w 539146"/>
                <a:gd name="connsiteY1" fmla="*/ 562931 h 562931"/>
                <a:gd name="connsiteX2" fmla="*/ 21 w 539146"/>
                <a:gd name="connsiteY2" fmla="*/ 562931 h 562931"/>
                <a:gd name="connsiteX3" fmla="*/ 0 w 539146"/>
                <a:gd name="connsiteY3" fmla="*/ 562719 h 562931"/>
                <a:gd name="connsiteX4" fmla="*/ 451422 w 539146"/>
                <a:gd name="connsiteY4" fmla="*/ 8843 h 562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6" h="562931">
                  <a:moveTo>
                    <a:pt x="539146" y="0"/>
                  </a:moveTo>
                  <a:lnTo>
                    <a:pt x="539146" y="562931"/>
                  </a:lnTo>
                  <a:lnTo>
                    <a:pt x="21" y="562931"/>
                  </a:lnTo>
                  <a:lnTo>
                    <a:pt x="0" y="562719"/>
                  </a:lnTo>
                  <a:cubicBezTo>
                    <a:pt x="0" y="289508"/>
                    <a:pt x="193796" y="61561"/>
                    <a:pt x="451422"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8" name="Freeform 77"/>
            <p:cNvSpPr/>
            <p:nvPr/>
          </p:nvSpPr>
          <p:spPr>
            <a:xfrm>
              <a:off x="11652853" y="4923555"/>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9" name="Freeform 78"/>
            <p:cNvSpPr/>
            <p:nvPr/>
          </p:nvSpPr>
          <p:spPr>
            <a:xfrm>
              <a:off x="11652853" y="3552039"/>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0" name="Freeform 79"/>
            <p:cNvSpPr/>
            <p:nvPr/>
          </p:nvSpPr>
          <p:spPr>
            <a:xfrm>
              <a:off x="11652853" y="2180524"/>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9"/>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1" name="Freeform 80"/>
            <p:cNvSpPr/>
            <p:nvPr/>
          </p:nvSpPr>
          <p:spPr>
            <a:xfrm>
              <a:off x="11652853" y="809010"/>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2" name="Freeform 81"/>
            <p:cNvSpPr/>
            <p:nvPr/>
          </p:nvSpPr>
          <p:spPr>
            <a:xfrm>
              <a:off x="11652853" y="1"/>
              <a:ext cx="539147" cy="562933"/>
            </a:xfrm>
            <a:custGeom>
              <a:avLst/>
              <a:gdLst>
                <a:gd name="connsiteX0" fmla="*/ 22 w 539147"/>
                <a:gd name="connsiteY0" fmla="*/ 0 h 562933"/>
                <a:gd name="connsiteX1" fmla="*/ 539147 w 539147"/>
                <a:gd name="connsiteY1" fmla="*/ 0 h 562933"/>
                <a:gd name="connsiteX2" fmla="*/ 539147 w 539147"/>
                <a:gd name="connsiteY2" fmla="*/ 562933 h 562933"/>
                <a:gd name="connsiteX3" fmla="*/ 451423 w 539147"/>
                <a:gd name="connsiteY3" fmla="*/ 554090 h 562933"/>
                <a:gd name="connsiteX4" fmla="*/ 0 w 539147"/>
                <a:gd name="connsiteY4" fmla="*/ 214 h 5629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562933">
                  <a:moveTo>
                    <a:pt x="22" y="0"/>
                  </a:moveTo>
                  <a:lnTo>
                    <a:pt x="539147" y="0"/>
                  </a:lnTo>
                  <a:lnTo>
                    <a:pt x="539147" y="562933"/>
                  </a:lnTo>
                  <a:lnTo>
                    <a:pt x="451423" y="554090"/>
                  </a:lnTo>
                  <a:cubicBezTo>
                    <a:pt x="193797" y="501372"/>
                    <a:pt x="0" y="27342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ctrTitle"/>
          </p:nvPr>
        </p:nvSpPr>
        <p:spPr>
          <a:xfrm>
            <a:off x="565150" y="768334"/>
            <a:ext cx="5066001" cy="2866405"/>
          </a:xfrm>
        </p:spPr>
        <p:txBody>
          <a:bodyPr anchor="t"/>
          <a:lstStyle>
            <a:lvl1pPr algn="l">
              <a:defRPr sz="6000"/>
            </a:lvl1pPr>
          </a:lstStyle>
          <a:p>
            <a:r>
              <a:rPr lang="en-US" dirty="0"/>
              <a:t>Click to edit Master title style</a:t>
            </a:r>
          </a:p>
        </p:txBody>
      </p:sp>
      <p:sp>
        <p:nvSpPr>
          <p:cNvPr id="3" name="Subtitle 2"/>
          <p:cNvSpPr>
            <a:spLocks noGrp="1"/>
          </p:cNvSpPr>
          <p:nvPr>
            <p:ph type="subTitle" idx="1"/>
          </p:nvPr>
        </p:nvSpPr>
        <p:spPr>
          <a:xfrm>
            <a:off x="565150" y="4283239"/>
            <a:ext cx="5066001" cy="1475177"/>
          </a:xfrm>
        </p:spPr>
        <p:txBody>
          <a:bodyPr anchor="b"/>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a:xfrm>
            <a:off x="566928" y="457200"/>
            <a:ext cx="3608205" cy="365125"/>
          </a:xfrm>
        </p:spPr>
        <p:txBody>
          <a:bodyPr/>
          <a:lstStyle>
            <a:lvl1pPr algn="l">
              <a:defRPr/>
            </a:lvl1pPr>
          </a:lstStyle>
          <a:p>
            <a:pPr algn="l"/>
            <a:fld id="{A5B0A250-5CC0-1746-B209-08E8B0DAE6AF}" type="datetimeFigureOut">
              <a:rPr lang="en-US" smtClean="0"/>
              <a:t>3/16/2026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4817335" y="6141085"/>
            <a:ext cx="813816" cy="365125"/>
          </a:xfrm>
        </p:spPr>
        <p:txBody>
          <a:bodyPr/>
          <a:lstStyle/>
          <a:p>
            <a:fld id="{49ABCAEC-7D34-E549-A96E-FCEDAADBE4B0}" type="slidenum">
              <a:rPr lang="en-US" smtClean="0"/>
              <a:t>‹#›</a:t>
            </a:fld>
            <a:endParaRPr lang="en-US" dirty="0"/>
          </a:p>
        </p:txBody>
      </p:sp>
      <p:cxnSp>
        <p:nvCxnSpPr>
          <p:cNvPr id="7" name="Straight Connector 6"/>
          <p:cNvCxnSpPr/>
          <p:nvPr/>
        </p:nvCxnSpPr>
        <p:spPr>
          <a:xfrm>
            <a:off x="565150" y="6087110"/>
            <a:ext cx="5066001"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9" name="Picture 8" descr="A close up of a logo&#10;&#10;AI-generated content may be incorrect."/>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5B0A250-5CC0-1746-B209-08E8B0DAE6AF}" type="datetimeFigureOut">
              <a:rPr lang="en-US" smtClean="0"/>
              <a:t>3/16/2026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7087169" y="6141085"/>
            <a:ext cx="813816" cy="365125"/>
          </a:xfrm>
        </p:spPr>
        <p:txBody>
          <a:bodyPr/>
          <a:lstStyle/>
          <a:p>
            <a:fld id="{49ABCAEC-7D34-E549-A96E-FCEDAADBE4B0}" type="slidenum">
              <a:rPr lang="en-US" smtClean="0"/>
              <a:t>‹#›</a:t>
            </a:fld>
            <a:endParaRPr lang="en-US"/>
          </a:p>
        </p:txBody>
      </p:sp>
      <p:pic>
        <p:nvPicPr>
          <p:cNvPr id="8" name="Picture 7" descr="A close up of a logo&#10;&#10;AI-generated content may be incorrect."/>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77582" y="457200"/>
            <a:ext cx="850588" cy="614125"/>
          </a:xfrm>
          <a:prstGeom prst="rect">
            <a:avLst/>
          </a:prstGeom>
        </p:spPr>
      </p:pic>
      <p:pic>
        <p:nvPicPr>
          <p:cNvPr id="10" name="Picture 9" descr="A blue and orange lines&#10;&#10;AI-generated content may be incorrect."/>
          <p:cNvPicPr>
            <a:picLocks noChangeAspect="1"/>
          </p:cNvPicPr>
          <p:nvPr userDrawn="1"/>
        </p:nvPicPr>
        <p:blipFill>
          <a:blip r:embed="rId3">
            <a:extLst>
              <a:ext uri="{28A0092B-C50C-407E-A947-70E740481C1C}">
                <a14:useLocalDpi xmlns:a14="http://schemas.microsoft.com/office/drawing/2010/main" val="0"/>
              </a:ext>
            </a:extLst>
          </a:blip>
          <a:srcRect r="58199"/>
          <a:stretch>
            <a:fillRect/>
          </a:stretch>
        </p:blipFill>
        <p:spPr>
          <a:xfrm rot="5400000">
            <a:off x="5710555" y="376555"/>
            <a:ext cx="770890" cy="121920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65150" y="768351"/>
            <a:ext cx="5066001" cy="2334768"/>
          </a:xfrm>
        </p:spPr>
        <p:txBody>
          <a:bodyPr anchor="t"/>
          <a:lstStyle>
            <a:lvl1pPr>
              <a:defRPr sz="4800"/>
            </a:lvl1pPr>
          </a:lstStyle>
          <a:p>
            <a:r>
              <a:rPr lang="en-US"/>
              <a:t>Click to edit Master title style</a:t>
            </a:r>
            <a:endParaRPr lang="en-US" dirty="0"/>
          </a:p>
        </p:txBody>
      </p:sp>
      <p:sp>
        <p:nvSpPr>
          <p:cNvPr id="3" name="Text Placeholder 2"/>
          <p:cNvSpPr>
            <a:spLocks noGrp="1"/>
          </p:cNvSpPr>
          <p:nvPr>
            <p:ph type="body" idx="1"/>
          </p:nvPr>
        </p:nvSpPr>
        <p:spPr>
          <a:xfrm>
            <a:off x="565150" y="4255453"/>
            <a:ext cx="5066001" cy="1500187"/>
          </a:xfrm>
        </p:spPr>
        <p:txBody>
          <a:bodyPr anchor="b"/>
          <a:lstStyle>
            <a:lvl1pPr marL="0" indent="0">
              <a:buNone/>
              <a:defRPr sz="2400">
                <a:solidFill>
                  <a:schemeClr val="bg1">
                    <a:lumMod val="6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A5B0A250-5CC0-1746-B209-08E8B0DAE6AF}" type="datetimeFigureOut">
              <a:rPr lang="en-US" smtClean="0"/>
              <a:t>3/16/2026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4817335" y="6141085"/>
            <a:ext cx="813816" cy="365125"/>
          </a:xfrm>
        </p:spPr>
        <p:txBody>
          <a:bodyPr/>
          <a:lstStyle/>
          <a:p>
            <a:fld id="{49ABCAEC-7D34-E549-A96E-FCEDAADBE4B0}" type="slidenum">
              <a:rPr lang="en-US" smtClean="0"/>
              <a:t>‹#›</a:t>
            </a:fld>
            <a:endParaRPr lang="en-US" dirty="0"/>
          </a:p>
        </p:txBody>
      </p:sp>
      <p:cxnSp>
        <p:nvCxnSpPr>
          <p:cNvPr id="7" name="Straight Connector 6"/>
          <p:cNvCxnSpPr/>
          <p:nvPr/>
        </p:nvCxnSpPr>
        <p:spPr>
          <a:xfrm>
            <a:off x="565150" y="6087110"/>
            <a:ext cx="5066001"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33" name="Group 32"/>
          <p:cNvGrpSpPr/>
          <p:nvPr userDrawn="1"/>
        </p:nvGrpSpPr>
        <p:grpSpPr>
          <a:xfrm>
            <a:off x="6201388" y="0"/>
            <a:ext cx="5990612" cy="6858001"/>
            <a:chOff x="6201388" y="0"/>
            <a:chExt cx="5990612" cy="6858001"/>
          </a:xfrm>
        </p:grpSpPr>
        <p:sp>
          <p:nvSpPr>
            <p:cNvPr id="34" name="Oval 33"/>
            <p:cNvSpPr/>
            <p:nvPr/>
          </p:nvSpPr>
          <p:spPr>
            <a:xfrm>
              <a:off x="6201388" y="3549396"/>
              <a:ext cx="1130725" cy="1130724"/>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46"/>
            <p:cNvSpPr/>
            <p:nvPr/>
          </p:nvSpPr>
          <p:spPr>
            <a:xfrm>
              <a:off x="6201389"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2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4" y="565575"/>
                    <a:pt x="565362" y="565575"/>
                  </a:cubicBezTo>
                  <a:cubicBezTo>
                    <a:pt x="253121" y="565575"/>
                    <a:pt x="0" y="312454"/>
                    <a:pt x="0" y="213"/>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6" name="Freeform 48"/>
            <p:cNvSpPr/>
            <p:nvPr/>
          </p:nvSpPr>
          <p:spPr>
            <a:xfrm>
              <a:off x="7564255" y="6292426"/>
              <a:ext cx="1130723" cy="565575"/>
            </a:xfrm>
            <a:custGeom>
              <a:avLst/>
              <a:gdLst>
                <a:gd name="connsiteX0" fmla="*/ 565362 w 1130723"/>
                <a:gd name="connsiteY0" fmla="*/ 0 h 565575"/>
                <a:gd name="connsiteX1" fmla="*/ 1130723 w 1130723"/>
                <a:gd name="connsiteY1" fmla="*/ 565362 h 565575"/>
                <a:gd name="connsiteX2" fmla="*/ 1130702 w 1130723"/>
                <a:gd name="connsiteY2" fmla="*/ 565575 h 565575"/>
                <a:gd name="connsiteX3" fmla="*/ 21 w 1130723"/>
                <a:gd name="connsiteY3" fmla="*/ 565575 h 565575"/>
                <a:gd name="connsiteX4" fmla="*/ 0 w 1130723"/>
                <a:gd name="connsiteY4" fmla="*/ 565362 h 565575"/>
                <a:gd name="connsiteX5" fmla="*/ 565362 w 1130723"/>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3" h="565575">
                  <a:moveTo>
                    <a:pt x="565362" y="0"/>
                  </a:moveTo>
                  <a:cubicBezTo>
                    <a:pt x="877602" y="0"/>
                    <a:pt x="1130723" y="253121"/>
                    <a:pt x="1130723" y="565362"/>
                  </a:cubicBezTo>
                  <a:lnTo>
                    <a:pt x="1130702" y="565575"/>
                  </a:lnTo>
                  <a:lnTo>
                    <a:pt x="21" y="565575"/>
                  </a:lnTo>
                  <a:lnTo>
                    <a:pt x="0" y="565362"/>
                  </a:lnTo>
                  <a:cubicBezTo>
                    <a:pt x="0" y="253121"/>
                    <a:pt x="253120" y="0"/>
                    <a:pt x="565362" y="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Oval 36"/>
            <p:cNvSpPr/>
            <p:nvPr/>
          </p:nvSpPr>
          <p:spPr>
            <a:xfrm>
              <a:off x="7564253" y="354939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p:cNvSpPr/>
            <p:nvPr/>
          </p:nvSpPr>
          <p:spPr>
            <a:xfrm>
              <a:off x="7564253" y="2177881"/>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p:cNvSpPr/>
            <p:nvPr/>
          </p:nvSpPr>
          <p:spPr>
            <a:xfrm>
              <a:off x="7564253" y="806366"/>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Freeform 63"/>
            <p:cNvSpPr/>
            <p:nvPr/>
          </p:nvSpPr>
          <p:spPr>
            <a:xfrm>
              <a:off x="7564254" y="1"/>
              <a:ext cx="1130725" cy="565575"/>
            </a:xfrm>
            <a:custGeom>
              <a:avLst/>
              <a:gdLst>
                <a:gd name="connsiteX0" fmla="*/ 21 w 1130725"/>
                <a:gd name="connsiteY0" fmla="*/ 0 h 565575"/>
                <a:gd name="connsiteX1" fmla="*/ 1130704 w 1130725"/>
                <a:gd name="connsiteY1" fmla="*/ 0 h 565575"/>
                <a:gd name="connsiteX2" fmla="*/ 1130725 w 1130725"/>
                <a:gd name="connsiteY2" fmla="*/ 213 h 565575"/>
                <a:gd name="connsiteX3" fmla="*/ 565363 w 1130725"/>
                <a:gd name="connsiteY3" fmla="*/ 565575 h 565575"/>
                <a:gd name="connsiteX4" fmla="*/ 0 w 1130725"/>
                <a:gd name="connsiteY4" fmla="*/ 213 h 565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5" h="565575">
                  <a:moveTo>
                    <a:pt x="21" y="0"/>
                  </a:moveTo>
                  <a:lnTo>
                    <a:pt x="1130704" y="0"/>
                  </a:lnTo>
                  <a:lnTo>
                    <a:pt x="1130725" y="213"/>
                  </a:lnTo>
                  <a:cubicBezTo>
                    <a:pt x="1130725" y="312454"/>
                    <a:pt x="877603" y="565575"/>
                    <a:pt x="565363" y="565575"/>
                  </a:cubicBezTo>
                  <a:cubicBezTo>
                    <a:pt x="253121" y="565575"/>
                    <a:pt x="0" y="312454"/>
                    <a:pt x="0" y="213"/>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6" name="Freeform 64"/>
            <p:cNvSpPr/>
            <p:nvPr/>
          </p:nvSpPr>
          <p:spPr>
            <a:xfrm>
              <a:off x="8927118"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2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2" y="565575"/>
                  </a:lnTo>
                  <a:lnTo>
                    <a:pt x="0" y="565362"/>
                  </a:lnTo>
                  <a:cubicBezTo>
                    <a:pt x="0" y="253121"/>
                    <a:pt x="253121" y="0"/>
                    <a:pt x="565362" y="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7" name="Oval 66"/>
            <p:cNvSpPr/>
            <p:nvPr/>
          </p:nvSpPr>
          <p:spPr>
            <a:xfrm>
              <a:off x="8927118" y="4920911"/>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p:cNvSpPr/>
            <p:nvPr/>
          </p:nvSpPr>
          <p:spPr>
            <a:xfrm>
              <a:off x="8927118" y="3549396"/>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p:cNvSpPr/>
            <p:nvPr/>
          </p:nvSpPr>
          <p:spPr>
            <a:xfrm>
              <a:off x="8927118" y="2177881"/>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Oval 69"/>
            <p:cNvSpPr/>
            <p:nvPr/>
          </p:nvSpPr>
          <p:spPr>
            <a:xfrm>
              <a:off x="8927118" y="80636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p:cNvSpPr/>
            <p:nvPr/>
          </p:nvSpPr>
          <p:spPr>
            <a:xfrm>
              <a:off x="8927117" y="0"/>
              <a:ext cx="1130726" cy="565576"/>
            </a:xfrm>
            <a:custGeom>
              <a:avLst/>
              <a:gdLst>
                <a:gd name="connsiteX0" fmla="*/ 22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2" y="0"/>
                  </a:moveTo>
                  <a:lnTo>
                    <a:pt x="1130704" y="0"/>
                  </a:lnTo>
                  <a:lnTo>
                    <a:pt x="1130726" y="214"/>
                  </a:lnTo>
                  <a:cubicBezTo>
                    <a:pt x="1130726" y="312455"/>
                    <a:pt x="877604" y="565576"/>
                    <a:pt x="565363" y="565576"/>
                  </a:cubicBezTo>
                  <a:cubicBezTo>
                    <a:pt x="253122" y="565576"/>
                    <a:pt x="0" y="312455"/>
                    <a:pt x="0" y="214"/>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2" name="Freeform 71"/>
            <p:cNvSpPr/>
            <p:nvPr/>
          </p:nvSpPr>
          <p:spPr>
            <a:xfrm>
              <a:off x="10289984" y="6292426"/>
              <a:ext cx="1130724" cy="565575"/>
            </a:xfrm>
            <a:custGeom>
              <a:avLst/>
              <a:gdLst>
                <a:gd name="connsiteX0" fmla="*/ 565362 w 1130724"/>
                <a:gd name="connsiteY0" fmla="*/ 0 h 565575"/>
                <a:gd name="connsiteX1" fmla="*/ 1130724 w 1130724"/>
                <a:gd name="connsiteY1" fmla="*/ 565362 h 565575"/>
                <a:gd name="connsiteX2" fmla="*/ 1130703 w 1130724"/>
                <a:gd name="connsiteY2" fmla="*/ 565575 h 565575"/>
                <a:gd name="connsiteX3" fmla="*/ 21 w 1130724"/>
                <a:gd name="connsiteY3" fmla="*/ 565575 h 565575"/>
                <a:gd name="connsiteX4" fmla="*/ 0 w 1130724"/>
                <a:gd name="connsiteY4" fmla="*/ 565362 h 565575"/>
                <a:gd name="connsiteX5" fmla="*/ 565362 w 1130724"/>
                <a:gd name="connsiteY5" fmla="*/ 0 h 565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75">
                  <a:moveTo>
                    <a:pt x="565362" y="0"/>
                  </a:moveTo>
                  <a:cubicBezTo>
                    <a:pt x="877603" y="0"/>
                    <a:pt x="1130724" y="253121"/>
                    <a:pt x="1130724" y="565362"/>
                  </a:cubicBezTo>
                  <a:lnTo>
                    <a:pt x="1130703" y="565575"/>
                  </a:lnTo>
                  <a:lnTo>
                    <a:pt x="21" y="565575"/>
                  </a:lnTo>
                  <a:lnTo>
                    <a:pt x="0" y="565362"/>
                  </a:lnTo>
                  <a:cubicBezTo>
                    <a:pt x="0" y="253121"/>
                    <a:pt x="253121" y="0"/>
                    <a:pt x="565362" y="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3" name="Oval 72"/>
            <p:cNvSpPr/>
            <p:nvPr/>
          </p:nvSpPr>
          <p:spPr>
            <a:xfrm>
              <a:off x="10289984" y="4920911"/>
              <a:ext cx="1130725" cy="1130724"/>
            </a:xfrm>
            <a:prstGeom prst="ellipse">
              <a:avLst/>
            </a:pr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p:cNvSpPr/>
            <p:nvPr/>
          </p:nvSpPr>
          <p:spPr>
            <a:xfrm>
              <a:off x="10289984" y="354939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p:cNvSpPr/>
            <p:nvPr/>
          </p:nvSpPr>
          <p:spPr>
            <a:xfrm>
              <a:off x="10289984" y="806366"/>
              <a:ext cx="1130725" cy="1130724"/>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Freeform 75"/>
            <p:cNvSpPr/>
            <p:nvPr/>
          </p:nvSpPr>
          <p:spPr>
            <a:xfrm>
              <a:off x="10289983" y="0"/>
              <a:ext cx="1130726" cy="565576"/>
            </a:xfrm>
            <a:custGeom>
              <a:avLst/>
              <a:gdLst>
                <a:gd name="connsiteX0" fmla="*/ 21 w 1130726"/>
                <a:gd name="connsiteY0" fmla="*/ 0 h 565576"/>
                <a:gd name="connsiteX1" fmla="*/ 1130704 w 1130726"/>
                <a:gd name="connsiteY1" fmla="*/ 0 h 565576"/>
                <a:gd name="connsiteX2" fmla="*/ 1130726 w 1130726"/>
                <a:gd name="connsiteY2" fmla="*/ 214 h 565576"/>
                <a:gd name="connsiteX3" fmla="*/ 565363 w 1130726"/>
                <a:gd name="connsiteY3" fmla="*/ 565576 h 565576"/>
                <a:gd name="connsiteX4" fmla="*/ 0 w 1130726"/>
                <a:gd name="connsiteY4" fmla="*/ 214 h 565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6" h="565576">
                  <a:moveTo>
                    <a:pt x="21" y="0"/>
                  </a:moveTo>
                  <a:lnTo>
                    <a:pt x="1130704" y="0"/>
                  </a:lnTo>
                  <a:lnTo>
                    <a:pt x="1130726" y="214"/>
                  </a:lnTo>
                  <a:cubicBezTo>
                    <a:pt x="1130726" y="312455"/>
                    <a:pt x="877604" y="565576"/>
                    <a:pt x="565363" y="565576"/>
                  </a:cubicBezTo>
                  <a:cubicBezTo>
                    <a:pt x="253122" y="565576"/>
                    <a:pt x="0" y="312455"/>
                    <a:pt x="0" y="214"/>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7" name="Freeform 76"/>
            <p:cNvSpPr/>
            <p:nvPr/>
          </p:nvSpPr>
          <p:spPr>
            <a:xfrm>
              <a:off x="11652854" y="6295069"/>
              <a:ext cx="539146" cy="562931"/>
            </a:xfrm>
            <a:custGeom>
              <a:avLst/>
              <a:gdLst>
                <a:gd name="connsiteX0" fmla="*/ 539146 w 539146"/>
                <a:gd name="connsiteY0" fmla="*/ 0 h 562931"/>
                <a:gd name="connsiteX1" fmla="*/ 539146 w 539146"/>
                <a:gd name="connsiteY1" fmla="*/ 562931 h 562931"/>
                <a:gd name="connsiteX2" fmla="*/ 21 w 539146"/>
                <a:gd name="connsiteY2" fmla="*/ 562931 h 562931"/>
                <a:gd name="connsiteX3" fmla="*/ 0 w 539146"/>
                <a:gd name="connsiteY3" fmla="*/ 562719 h 562931"/>
                <a:gd name="connsiteX4" fmla="*/ 451422 w 539146"/>
                <a:gd name="connsiteY4" fmla="*/ 8843 h 5629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6" h="562931">
                  <a:moveTo>
                    <a:pt x="539146" y="0"/>
                  </a:moveTo>
                  <a:lnTo>
                    <a:pt x="539146" y="562931"/>
                  </a:lnTo>
                  <a:lnTo>
                    <a:pt x="21" y="562931"/>
                  </a:lnTo>
                  <a:lnTo>
                    <a:pt x="0" y="562719"/>
                  </a:lnTo>
                  <a:cubicBezTo>
                    <a:pt x="0" y="289508"/>
                    <a:pt x="193796" y="61561"/>
                    <a:pt x="451422"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8" name="Freeform 77"/>
            <p:cNvSpPr/>
            <p:nvPr/>
          </p:nvSpPr>
          <p:spPr>
            <a:xfrm>
              <a:off x="11652853" y="4923555"/>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9" name="Freeform 78"/>
            <p:cNvSpPr/>
            <p:nvPr/>
          </p:nvSpPr>
          <p:spPr>
            <a:xfrm>
              <a:off x="11652853" y="3552039"/>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0" name="Freeform 79"/>
            <p:cNvSpPr/>
            <p:nvPr/>
          </p:nvSpPr>
          <p:spPr>
            <a:xfrm>
              <a:off x="11652853" y="2180524"/>
              <a:ext cx="539147" cy="1125438"/>
            </a:xfrm>
            <a:custGeom>
              <a:avLst/>
              <a:gdLst>
                <a:gd name="connsiteX0" fmla="*/ 539147 w 539147"/>
                <a:gd name="connsiteY0" fmla="*/ 0 h 1125438"/>
                <a:gd name="connsiteX1" fmla="*/ 539147 w 539147"/>
                <a:gd name="connsiteY1" fmla="*/ 1125438 h 1125438"/>
                <a:gd name="connsiteX2" fmla="*/ 451423 w 539147"/>
                <a:gd name="connsiteY2" fmla="*/ 1116595 h 1125438"/>
                <a:gd name="connsiteX3" fmla="*/ 0 w 539147"/>
                <a:gd name="connsiteY3" fmla="*/ 562719 h 1125438"/>
                <a:gd name="connsiteX4" fmla="*/ 451423 w 539147"/>
                <a:gd name="connsiteY4" fmla="*/ 8843 h 1125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8">
                  <a:moveTo>
                    <a:pt x="539147" y="0"/>
                  </a:moveTo>
                  <a:lnTo>
                    <a:pt x="539147" y="1125438"/>
                  </a:lnTo>
                  <a:lnTo>
                    <a:pt x="451423" y="1116595"/>
                  </a:lnTo>
                  <a:cubicBezTo>
                    <a:pt x="193797" y="1063877"/>
                    <a:pt x="0" y="835930"/>
                    <a:pt x="0" y="562719"/>
                  </a:cubicBezTo>
                  <a:cubicBezTo>
                    <a:pt x="0" y="289509"/>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1" name="Freeform 80"/>
            <p:cNvSpPr/>
            <p:nvPr/>
          </p:nvSpPr>
          <p:spPr>
            <a:xfrm>
              <a:off x="11652853" y="809010"/>
              <a:ext cx="539147" cy="1125439"/>
            </a:xfrm>
            <a:custGeom>
              <a:avLst/>
              <a:gdLst>
                <a:gd name="connsiteX0" fmla="*/ 539147 w 539147"/>
                <a:gd name="connsiteY0" fmla="*/ 0 h 1125439"/>
                <a:gd name="connsiteX1" fmla="*/ 539147 w 539147"/>
                <a:gd name="connsiteY1" fmla="*/ 1125439 h 1125439"/>
                <a:gd name="connsiteX2" fmla="*/ 451423 w 539147"/>
                <a:gd name="connsiteY2" fmla="*/ 1116595 h 1125439"/>
                <a:gd name="connsiteX3" fmla="*/ 0 w 539147"/>
                <a:gd name="connsiteY3" fmla="*/ 562719 h 1125439"/>
                <a:gd name="connsiteX4" fmla="*/ 451423 w 539147"/>
                <a:gd name="connsiteY4" fmla="*/ 8843 h 1125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1125439">
                  <a:moveTo>
                    <a:pt x="539147" y="0"/>
                  </a:moveTo>
                  <a:lnTo>
                    <a:pt x="539147" y="1125439"/>
                  </a:lnTo>
                  <a:lnTo>
                    <a:pt x="451423" y="1116595"/>
                  </a:lnTo>
                  <a:cubicBezTo>
                    <a:pt x="193797" y="1063877"/>
                    <a:pt x="0" y="835930"/>
                    <a:pt x="0" y="562719"/>
                  </a:cubicBezTo>
                  <a:cubicBezTo>
                    <a:pt x="0" y="289508"/>
                    <a:pt x="193797" y="61561"/>
                    <a:pt x="451423" y="8843"/>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2" name="Freeform 81"/>
            <p:cNvSpPr/>
            <p:nvPr/>
          </p:nvSpPr>
          <p:spPr>
            <a:xfrm>
              <a:off x="11652853" y="1"/>
              <a:ext cx="539147" cy="562933"/>
            </a:xfrm>
            <a:custGeom>
              <a:avLst/>
              <a:gdLst>
                <a:gd name="connsiteX0" fmla="*/ 22 w 539147"/>
                <a:gd name="connsiteY0" fmla="*/ 0 h 562933"/>
                <a:gd name="connsiteX1" fmla="*/ 539147 w 539147"/>
                <a:gd name="connsiteY1" fmla="*/ 0 h 562933"/>
                <a:gd name="connsiteX2" fmla="*/ 539147 w 539147"/>
                <a:gd name="connsiteY2" fmla="*/ 562933 h 562933"/>
                <a:gd name="connsiteX3" fmla="*/ 451423 w 539147"/>
                <a:gd name="connsiteY3" fmla="*/ 554090 h 562933"/>
                <a:gd name="connsiteX4" fmla="*/ 0 w 539147"/>
                <a:gd name="connsiteY4" fmla="*/ 214 h 5629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147" h="562933">
                  <a:moveTo>
                    <a:pt x="22" y="0"/>
                  </a:moveTo>
                  <a:lnTo>
                    <a:pt x="539147" y="0"/>
                  </a:lnTo>
                  <a:lnTo>
                    <a:pt x="539147" y="562933"/>
                  </a:lnTo>
                  <a:lnTo>
                    <a:pt x="451423" y="554090"/>
                  </a:lnTo>
                  <a:cubicBezTo>
                    <a:pt x="193797" y="501372"/>
                    <a:pt x="0" y="273425"/>
                    <a:pt x="0" y="214"/>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pic>
        <p:nvPicPr>
          <p:cNvPr id="83" name="Picture 82" descr="A close up of a logo&#10;&#10;AI-generated content may be incorrect."/>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17" name="Group 16"/>
          <p:cNvGrpSpPr/>
          <p:nvPr/>
        </p:nvGrpSpPr>
        <p:grpSpPr>
          <a:xfrm>
            <a:off x="10290315" y="0"/>
            <a:ext cx="1901686" cy="6858000"/>
            <a:chOff x="10290315" y="0"/>
            <a:chExt cx="1901686" cy="6858000"/>
          </a:xfrm>
        </p:grpSpPr>
        <p:sp>
          <p:nvSpPr>
            <p:cNvPr id="18" name="Oval 17"/>
            <p:cNvSpPr/>
            <p:nvPr/>
          </p:nvSpPr>
          <p:spPr>
            <a:xfrm>
              <a:off x="10290315"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18"/>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22"/>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23"/>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62851" y="2365755"/>
            <a:ext cx="5239512" cy="33954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89638" y="2365755"/>
            <a:ext cx="5239512" cy="33954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5B0A250-5CC0-1746-B209-08E8B0DAE6AF}" type="datetimeFigureOut">
              <a:rPr lang="en-US" smtClean="0"/>
              <a:t>3/16/2026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9ABCAEC-7D34-E549-A96E-FCEDAADBE4B0}" type="slidenum">
              <a:rPr lang="en-US" smtClean="0"/>
              <a:t>‹#›</a:t>
            </a:fld>
            <a:endParaRPr lang="en-US" dirty="0"/>
          </a:p>
        </p:txBody>
      </p:sp>
      <p:cxnSp>
        <p:nvCxnSpPr>
          <p:cNvPr id="8" name="Straight Connector 7"/>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9" name="Picture 8" descr="A close up of a logo&#10;&#10;AI-generated content may be incorrect."/>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19" name="Group 18"/>
          <p:cNvGrpSpPr/>
          <p:nvPr/>
        </p:nvGrpSpPr>
        <p:grpSpPr>
          <a:xfrm>
            <a:off x="10290315" y="0"/>
            <a:ext cx="1901686" cy="6858000"/>
            <a:chOff x="10290315" y="0"/>
            <a:chExt cx="1901686" cy="6858000"/>
          </a:xfrm>
        </p:grpSpPr>
        <p:sp>
          <p:nvSpPr>
            <p:cNvPr id="20" name="Oval 19"/>
            <p:cNvSpPr/>
            <p:nvPr/>
          </p:nvSpPr>
          <p:spPr>
            <a:xfrm>
              <a:off x="10290315" y="806362"/>
              <a:ext cx="1130724" cy="1130723"/>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20"/>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22"/>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23"/>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24"/>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Freeform 25"/>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a:xfrm>
            <a:off x="566928" y="768096"/>
            <a:ext cx="7333488" cy="1271016"/>
          </a:xfrm>
        </p:spPr>
        <p:txBody>
          <a:bodyPr/>
          <a:lstStyle/>
          <a:p>
            <a:r>
              <a:rPr lang="en-US"/>
              <a:t>Click to edit Master title style</a:t>
            </a:r>
            <a:endParaRPr lang="en-US" dirty="0"/>
          </a:p>
        </p:txBody>
      </p:sp>
      <p:sp>
        <p:nvSpPr>
          <p:cNvPr id="3" name="Text Placeholder 2"/>
          <p:cNvSpPr>
            <a:spLocks noGrp="1"/>
          </p:cNvSpPr>
          <p:nvPr>
            <p:ph type="body" idx="1"/>
          </p:nvPr>
        </p:nvSpPr>
        <p:spPr>
          <a:xfrm>
            <a:off x="562149" y="2365756"/>
            <a:ext cx="523951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62149" y="3189668"/>
            <a:ext cx="5239512" cy="2571557"/>
          </a:xfrm>
        </p:spPr>
        <p:txBody>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383066" y="2365756"/>
            <a:ext cx="523951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383066" y="3189668"/>
            <a:ext cx="5239512" cy="2571557"/>
          </a:xfrm>
        </p:spPr>
        <p:txBody>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A5B0A250-5CC0-1746-B209-08E8B0DAE6AF}" type="datetimeFigureOut">
              <a:rPr lang="en-US" smtClean="0"/>
              <a:t>3/16/2026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9ABCAEC-7D34-E549-A96E-FCEDAADBE4B0}" type="slidenum">
              <a:rPr lang="en-US" smtClean="0"/>
              <a:t>‹#›</a:t>
            </a:fld>
            <a:endParaRPr lang="en-US"/>
          </a:p>
        </p:txBody>
      </p:sp>
      <p:cxnSp>
        <p:nvCxnSpPr>
          <p:cNvPr id="10" name="Straight Connector 9"/>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11" name="Picture 10" descr="A close up of a logo&#10;&#10;AI-generated content may be incorrect."/>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15" name="Group 14"/>
          <p:cNvGrpSpPr/>
          <p:nvPr/>
        </p:nvGrpSpPr>
        <p:grpSpPr>
          <a:xfrm>
            <a:off x="10290315" y="0"/>
            <a:ext cx="1901686" cy="6858000"/>
            <a:chOff x="10290315" y="0"/>
            <a:chExt cx="1901686" cy="6858000"/>
          </a:xfrm>
        </p:grpSpPr>
        <p:sp>
          <p:nvSpPr>
            <p:cNvPr id="16" name="Oval 15"/>
            <p:cNvSpPr/>
            <p:nvPr/>
          </p:nvSpPr>
          <p:spPr>
            <a:xfrm>
              <a:off x="10290315" y="806362"/>
              <a:ext cx="1130724" cy="1130723"/>
            </a:xfrm>
            <a:prstGeom prst="ellipse">
              <a:avLst/>
            </a:pr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16"/>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17"/>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Freeform 21"/>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A5B0A250-5CC0-1746-B209-08E8B0DAE6AF}" type="datetimeFigureOut">
              <a:rPr lang="en-US" smtClean="0"/>
              <a:t>3/16/2026</a:t>
            </a:fld>
            <a:endParaRPr lang="en-US" dirty="0"/>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9ABCAEC-7D34-E549-A96E-FCEDAADBE4B0}" type="slidenum">
              <a:rPr lang="en-US" smtClean="0"/>
              <a:t>‹#›</a:t>
            </a:fld>
            <a:endParaRPr lang="en-US"/>
          </a:p>
        </p:txBody>
      </p:sp>
      <p:cxnSp>
        <p:nvCxnSpPr>
          <p:cNvPr id="6" name="Straight Connector 5"/>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7" name="Picture 6" descr="A close up of a logo&#10;&#10;AI-generated content may be incorrect."/>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5B0A250-5CC0-1746-B209-08E8B0DAE6AF}" type="datetimeFigureOut">
              <a:rPr lang="en-US" smtClean="0"/>
              <a:t>3/16/2026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9ABCAEC-7D34-E549-A96E-FCEDAADBE4B0}" type="slidenum">
              <a:rPr lang="en-US" smtClean="0"/>
              <a:t>‹#›</a:t>
            </a:fld>
            <a:endParaRPr lang="en-US" dirty="0"/>
          </a:p>
        </p:txBody>
      </p:sp>
      <p:pic>
        <p:nvPicPr>
          <p:cNvPr id="2" name="Picture 1" descr="A close up of a logo&#10;&#10;AI-generated content may be incorrect."/>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63022" y="5910222"/>
            <a:ext cx="850588" cy="614125"/>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16" name="Group 15"/>
          <p:cNvGrpSpPr/>
          <p:nvPr/>
        </p:nvGrpSpPr>
        <p:grpSpPr>
          <a:xfrm>
            <a:off x="10290315" y="0"/>
            <a:ext cx="1901686" cy="6858000"/>
            <a:chOff x="10290315" y="0"/>
            <a:chExt cx="1901686" cy="6858000"/>
          </a:xfrm>
        </p:grpSpPr>
        <p:sp>
          <p:nvSpPr>
            <p:cNvPr id="18" name="Freeform 17"/>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Freeform 22"/>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rgbClr val="FBA31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a:xfrm>
            <a:off x="565151" y="764973"/>
            <a:ext cx="3609982" cy="1395043"/>
          </a:xfrm>
        </p:spPr>
        <p:txBody>
          <a:bodyPr anchor="t"/>
          <a:lstStyle>
            <a:lvl1pPr>
              <a:defRPr sz="3200"/>
            </a:lvl1pPr>
          </a:lstStyle>
          <a:p>
            <a:r>
              <a:rPr lang="en-US" dirty="0"/>
              <a:t>Click to edit Master title style</a:t>
            </a:r>
          </a:p>
        </p:txBody>
      </p:sp>
      <p:sp>
        <p:nvSpPr>
          <p:cNvPr id="3" name="Content Placeholder 2"/>
          <p:cNvSpPr>
            <a:spLocks noGrp="1"/>
          </p:cNvSpPr>
          <p:nvPr>
            <p:ph idx="1"/>
          </p:nvPr>
        </p:nvSpPr>
        <p:spPr>
          <a:xfrm>
            <a:off x="5104832" y="770890"/>
            <a:ext cx="6112517" cy="4800570"/>
          </a:xfrm>
        </p:spPr>
        <p:txBody>
          <a:bodyPr/>
          <a:lstStyle>
            <a:lvl1pPr>
              <a:defRPr sz="2800"/>
            </a:lvl1pPr>
            <a:lvl2pPr>
              <a:defRPr sz="24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65150" y="2160016"/>
            <a:ext cx="3609983" cy="37089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5B0A250-5CC0-1746-B209-08E8B0DAE6AF}" type="datetimeFigureOut">
              <a:rPr lang="en-US" smtClean="0"/>
              <a:t>3/16/2026</a:t>
            </a:fld>
            <a:endParaRPr lang="en-US" dirty="0"/>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ABCAEC-7D34-E549-A96E-FCEDAADBE4B0}" type="slidenum">
              <a:rPr lang="en-US" smtClean="0"/>
              <a:t>‹#›</a:t>
            </a:fld>
            <a:endParaRPr lang="en-US"/>
          </a:p>
        </p:txBody>
      </p:sp>
      <p:cxnSp>
        <p:nvCxnSpPr>
          <p:cNvPr id="8" name="Straight Connector 7"/>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6" name="Group 15"/>
          <p:cNvGrpSpPr/>
          <p:nvPr/>
        </p:nvGrpSpPr>
        <p:grpSpPr>
          <a:xfrm>
            <a:off x="10290315" y="0"/>
            <a:ext cx="1901686" cy="6858000"/>
            <a:chOff x="10290315" y="0"/>
            <a:chExt cx="1901686" cy="6858000"/>
          </a:xfrm>
        </p:grpSpPr>
        <p:sp>
          <p:nvSpPr>
            <p:cNvPr id="17" name="Oval 16"/>
            <p:cNvSpPr/>
            <p:nvPr/>
          </p:nvSpPr>
          <p:spPr>
            <a:xfrm>
              <a:off x="10290315" y="806362"/>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17"/>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rgbClr val="45C2C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22"/>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a:xfrm>
            <a:off x="565150" y="770889"/>
            <a:ext cx="3609983" cy="1389127"/>
          </a:xfrm>
        </p:spPr>
        <p:txBody>
          <a:bodyPr anchor="t"/>
          <a:lstStyle>
            <a:lvl1pPr>
              <a:defRPr sz="3200"/>
            </a:lvl1pPr>
          </a:lstStyle>
          <a:p>
            <a:r>
              <a:rPr lang="en-US" dirty="0"/>
              <a:t>Click to edit Master title style</a:t>
            </a:r>
          </a:p>
        </p:txBody>
      </p:sp>
      <p:sp>
        <p:nvSpPr>
          <p:cNvPr id="3" name="Picture Placeholder 2"/>
          <p:cNvSpPr>
            <a:spLocks noGrp="1"/>
          </p:cNvSpPr>
          <p:nvPr>
            <p:ph type="pic" idx="1"/>
          </p:nvPr>
        </p:nvSpPr>
        <p:spPr>
          <a:xfrm>
            <a:off x="5223838" y="890816"/>
            <a:ext cx="6060136" cy="4870411"/>
          </a:xfrm>
          <a:solidFill>
            <a:schemeClr val="bg2"/>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565150" y="2160016"/>
            <a:ext cx="3609983" cy="360121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A5B0A250-5CC0-1746-B209-08E8B0DAE6AF}" type="datetimeFigureOut">
              <a:rPr lang="en-US" smtClean="0"/>
              <a:t>3/16/2026</a:t>
            </a:fld>
            <a:endParaRPr lang="en-US" dirty="0"/>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9ABCAEC-7D34-E549-A96E-FCEDAADBE4B0}" type="slidenum">
              <a:rPr lang="en-US" smtClean="0"/>
              <a:t>‹#›</a:t>
            </a:fld>
            <a:endParaRPr lang="en-US"/>
          </a:p>
        </p:txBody>
      </p:sp>
      <p:cxnSp>
        <p:nvCxnSpPr>
          <p:cNvPr id="8" name="Straight Connector 7"/>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22" name="Group 21"/>
          <p:cNvGrpSpPr/>
          <p:nvPr/>
        </p:nvGrpSpPr>
        <p:grpSpPr>
          <a:xfrm>
            <a:off x="8928528" y="0"/>
            <a:ext cx="3263472" cy="6858000"/>
            <a:chOff x="8928528" y="0"/>
            <a:chExt cx="3263472" cy="6858000"/>
          </a:xfrm>
        </p:grpSpPr>
        <p:sp>
          <p:nvSpPr>
            <p:cNvPr id="23" name="Oval 22"/>
            <p:cNvSpPr/>
            <p:nvPr/>
          </p:nvSpPr>
          <p:spPr>
            <a:xfrm>
              <a:off x="8928528" y="4918120"/>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23"/>
            <p:cNvSpPr/>
            <p:nvPr/>
          </p:nvSpPr>
          <p:spPr>
            <a:xfrm>
              <a:off x="8928528" y="0"/>
              <a:ext cx="1130724" cy="565573"/>
            </a:xfrm>
            <a:custGeom>
              <a:avLst/>
              <a:gdLst>
                <a:gd name="connsiteX0" fmla="*/ 22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2"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24"/>
            <p:cNvSpPr/>
            <p:nvPr/>
          </p:nvSpPr>
          <p:spPr>
            <a:xfrm>
              <a:off x="10291391" y="6292417"/>
              <a:ext cx="1130724" cy="565583"/>
            </a:xfrm>
            <a:custGeom>
              <a:avLst/>
              <a:gdLst>
                <a:gd name="connsiteX0" fmla="*/ 565362 w 1130724"/>
                <a:gd name="connsiteY0" fmla="*/ 0 h 565583"/>
                <a:gd name="connsiteX1" fmla="*/ 1130724 w 1130724"/>
                <a:gd name="connsiteY1" fmla="*/ 565362 h 565583"/>
                <a:gd name="connsiteX2" fmla="*/ 1130702 w 1130724"/>
                <a:gd name="connsiteY2" fmla="*/ 565583 h 565583"/>
                <a:gd name="connsiteX3" fmla="*/ 22 w 1130724"/>
                <a:gd name="connsiteY3" fmla="*/ 565583 h 565583"/>
                <a:gd name="connsiteX4" fmla="*/ 0 w 1130724"/>
                <a:gd name="connsiteY4" fmla="*/ 565362 h 565583"/>
                <a:gd name="connsiteX5" fmla="*/ 565362 w 1130724"/>
                <a:gd name="connsiteY5" fmla="*/ 0 h 565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0724" h="565583">
                  <a:moveTo>
                    <a:pt x="565362" y="0"/>
                  </a:moveTo>
                  <a:cubicBezTo>
                    <a:pt x="877603" y="0"/>
                    <a:pt x="1130724" y="253121"/>
                    <a:pt x="1130724" y="565362"/>
                  </a:cubicBezTo>
                  <a:lnTo>
                    <a:pt x="1130702" y="565583"/>
                  </a:lnTo>
                  <a:lnTo>
                    <a:pt x="22" y="565583"/>
                  </a:lnTo>
                  <a:lnTo>
                    <a:pt x="0" y="565362"/>
                  </a:lnTo>
                  <a:cubicBezTo>
                    <a:pt x="0" y="253121"/>
                    <a:pt x="253121" y="0"/>
                    <a:pt x="565362"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Oval 25"/>
            <p:cNvSpPr/>
            <p:nvPr/>
          </p:nvSpPr>
          <p:spPr>
            <a:xfrm>
              <a:off x="10291392" y="3549390"/>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10291392" y="2177876"/>
              <a:ext cx="1130724" cy="113072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10291392" y="806363"/>
              <a:ext cx="1130724" cy="113072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28"/>
            <p:cNvSpPr/>
            <p:nvPr/>
          </p:nvSpPr>
          <p:spPr>
            <a:xfrm>
              <a:off x="10291392"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29"/>
            <p:cNvSpPr/>
            <p:nvPr/>
          </p:nvSpPr>
          <p:spPr>
            <a:xfrm>
              <a:off x="11654256" y="6295201"/>
              <a:ext cx="537744" cy="562799"/>
            </a:xfrm>
            <a:custGeom>
              <a:avLst/>
              <a:gdLst>
                <a:gd name="connsiteX0" fmla="*/ 537744 w 537744"/>
                <a:gd name="connsiteY0" fmla="*/ 0 h 562799"/>
                <a:gd name="connsiteX1" fmla="*/ 537744 w 537744"/>
                <a:gd name="connsiteY1" fmla="*/ 562799 h 562799"/>
                <a:gd name="connsiteX2" fmla="*/ 22 w 537744"/>
                <a:gd name="connsiteY2" fmla="*/ 562799 h 562799"/>
                <a:gd name="connsiteX3" fmla="*/ 0 w 537744"/>
                <a:gd name="connsiteY3" fmla="*/ 562578 h 562799"/>
                <a:gd name="connsiteX4" fmla="*/ 451422 w 537744"/>
                <a:gd name="connsiteY4" fmla="*/ 8702 h 5627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562799">
                  <a:moveTo>
                    <a:pt x="537744" y="0"/>
                  </a:moveTo>
                  <a:lnTo>
                    <a:pt x="537744" y="562799"/>
                  </a:lnTo>
                  <a:lnTo>
                    <a:pt x="22" y="562799"/>
                  </a:lnTo>
                  <a:lnTo>
                    <a:pt x="0" y="562578"/>
                  </a:ln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30"/>
            <p:cNvSpPr/>
            <p:nvPr/>
          </p:nvSpPr>
          <p:spPr>
            <a:xfrm>
              <a:off x="11654256" y="4923687"/>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31"/>
            <p:cNvSpPr/>
            <p:nvPr/>
          </p:nvSpPr>
          <p:spPr>
            <a:xfrm>
              <a:off x="11654256" y="3552173"/>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Freeform 32"/>
            <p:cNvSpPr/>
            <p:nvPr/>
          </p:nvSpPr>
          <p:spPr>
            <a:xfrm>
              <a:off x="11654256" y="2180659"/>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33"/>
            <p:cNvSpPr/>
            <p:nvPr/>
          </p:nvSpPr>
          <p:spPr>
            <a:xfrm>
              <a:off x="11654256" y="809146"/>
              <a:ext cx="537744" cy="1125156"/>
            </a:xfrm>
            <a:custGeom>
              <a:avLst/>
              <a:gdLst>
                <a:gd name="connsiteX0" fmla="*/ 537744 w 537744"/>
                <a:gd name="connsiteY0" fmla="*/ 0 h 1125156"/>
                <a:gd name="connsiteX1" fmla="*/ 537744 w 537744"/>
                <a:gd name="connsiteY1" fmla="*/ 1125156 h 1125156"/>
                <a:gd name="connsiteX2" fmla="*/ 451422 w 537744"/>
                <a:gd name="connsiteY2" fmla="*/ 1116454 h 1125156"/>
                <a:gd name="connsiteX3" fmla="*/ 0 w 537744"/>
                <a:gd name="connsiteY3" fmla="*/ 562578 h 1125156"/>
                <a:gd name="connsiteX4" fmla="*/ 451422 w 537744"/>
                <a:gd name="connsiteY4" fmla="*/ 8702 h 1125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1125156">
                  <a:moveTo>
                    <a:pt x="537744" y="0"/>
                  </a:moveTo>
                  <a:lnTo>
                    <a:pt x="537744" y="1125156"/>
                  </a:lnTo>
                  <a:lnTo>
                    <a:pt x="451422" y="1116454"/>
                  </a:lnTo>
                  <a:cubicBezTo>
                    <a:pt x="193796" y="1063736"/>
                    <a:pt x="0" y="835789"/>
                    <a:pt x="0" y="562578"/>
                  </a:cubicBezTo>
                  <a:cubicBezTo>
                    <a:pt x="0" y="289367"/>
                    <a:pt x="193796" y="61420"/>
                    <a:pt x="451422" y="870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5" name="Freeform 34"/>
            <p:cNvSpPr/>
            <p:nvPr/>
          </p:nvSpPr>
          <p:spPr>
            <a:xfrm>
              <a:off x="11654256" y="0"/>
              <a:ext cx="537744" cy="562788"/>
            </a:xfrm>
            <a:custGeom>
              <a:avLst/>
              <a:gdLst>
                <a:gd name="connsiteX0" fmla="*/ 21 w 537744"/>
                <a:gd name="connsiteY0" fmla="*/ 0 h 562788"/>
                <a:gd name="connsiteX1" fmla="*/ 537744 w 537744"/>
                <a:gd name="connsiteY1" fmla="*/ 0 h 562788"/>
                <a:gd name="connsiteX2" fmla="*/ 537744 w 537744"/>
                <a:gd name="connsiteY2" fmla="*/ 562788 h 562788"/>
                <a:gd name="connsiteX3" fmla="*/ 451422 w 537744"/>
                <a:gd name="connsiteY3" fmla="*/ 554086 h 562788"/>
                <a:gd name="connsiteX4" fmla="*/ 0 w 537744"/>
                <a:gd name="connsiteY4" fmla="*/ 211 h 562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744" h="562788">
                  <a:moveTo>
                    <a:pt x="21" y="0"/>
                  </a:moveTo>
                  <a:lnTo>
                    <a:pt x="537744" y="0"/>
                  </a:lnTo>
                  <a:lnTo>
                    <a:pt x="537744" y="562788"/>
                  </a:lnTo>
                  <a:lnTo>
                    <a:pt x="451422" y="554086"/>
                  </a:lnTo>
                  <a:cubicBezTo>
                    <a:pt x="193796" y="501368"/>
                    <a:pt x="0" y="273421"/>
                    <a:pt x="0" y="21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5B0A250-5CC0-1746-B209-08E8B0DAE6AF}" type="datetimeFigureOut">
              <a:rPr lang="en-US" smtClean="0"/>
              <a:t>3/16/2026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7086480" y="6141085"/>
            <a:ext cx="813816" cy="365125"/>
          </a:xfrm>
        </p:spPr>
        <p:txBody>
          <a:bodyPr/>
          <a:lstStyle/>
          <a:p>
            <a:fld id="{49ABCAEC-7D34-E549-A96E-FCEDAADBE4B0}" type="slidenum">
              <a:rPr lang="en-US" smtClean="0"/>
              <a:t>‹#›</a:t>
            </a:fld>
            <a:endParaRPr lang="en-US"/>
          </a:p>
        </p:txBody>
      </p:sp>
      <p:cxnSp>
        <p:nvCxnSpPr>
          <p:cNvPr id="7" name="Straight Connector 6"/>
          <p:cNvCxnSpPr/>
          <p:nvPr/>
        </p:nvCxnSpPr>
        <p:spPr>
          <a:xfrm>
            <a:off x="565150" y="6087110"/>
            <a:ext cx="7335146"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15" name="Group 14"/>
          <p:cNvGrpSpPr/>
          <p:nvPr/>
        </p:nvGrpSpPr>
        <p:grpSpPr>
          <a:xfrm>
            <a:off x="10290315" y="0"/>
            <a:ext cx="1901686" cy="6858000"/>
            <a:chOff x="10290315" y="0"/>
            <a:chExt cx="1901686" cy="6858000"/>
          </a:xfrm>
        </p:grpSpPr>
        <p:sp>
          <p:nvSpPr>
            <p:cNvPr id="17" name="Freeform 16"/>
            <p:cNvSpPr/>
            <p:nvPr/>
          </p:nvSpPr>
          <p:spPr>
            <a:xfrm>
              <a:off x="10290315" y="0"/>
              <a:ext cx="1130724" cy="565573"/>
            </a:xfrm>
            <a:custGeom>
              <a:avLst/>
              <a:gdLst>
                <a:gd name="connsiteX0" fmla="*/ 21 w 1130724"/>
                <a:gd name="connsiteY0" fmla="*/ 0 h 565573"/>
                <a:gd name="connsiteX1" fmla="*/ 1130703 w 1130724"/>
                <a:gd name="connsiteY1" fmla="*/ 0 h 565573"/>
                <a:gd name="connsiteX2" fmla="*/ 1130724 w 1130724"/>
                <a:gd name="connsiteY2" fmla="*/ 211 h 565573"/>
                <a:gd name="connsiteX3" fmla="*/ 565362 w 1130724"/>
                <a:gd name="connsiteY3" fmla="*/ 565573 h 565573"/>
                <a:gd name="connsiteX4" fmla="*/ 0 w 1130724"/>
                <a:gd name="connsiteY4" fmla="*/ 211 h 565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724" h="565573">
                  <a:moveTo>
                    <a:pt x="21" y="0"/>
                  </a:moveTo>
                  <a:lnTo>
                    <a:pt x="1130703" y="0"/>
                  </a:lnTo>
                  <a:lnTo>
                    <a:pt x="1130724" y="211"/>
                  </a:lnTo>
                  <a:cubicBezTo>
                    <a:pt x="1130724" y="312452"/>
                    <a:pt x="877603" y="565573"/>
                    <a:pt x="565362" y="565573"/>
                  </a:cubicBezTo>
                  <a:cubicBezTo>
                    <a:pt x="253121" y="565573"/>
                    <a:pt x="0" y="31245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17"/>
            <p:cNvSpPr/>
            <p:nvPr/>
          </p:nvSpPr>
          <p:spPr>
            <a:xfrm>
              <a:off x="11653180" y="6295093"/>
              <a:ext cx="538821" cy="562907"/>
            </a:xfrm>
            <a:custGeom>
              <a:avLst/>
              <a:gdLst>
                <a:gd name="connsiteX0" fmla="*/ 538821 w 538821"/>
                <a:gd name="connsiteY0" fmla="*/ 0 h 562907"/>
                <a:gd name="connsiteX1" fmla="*/ 538821 w 538821"/>
                <a:gd name="connsiteY1" fmla="*/ 562907 h 562907"/>
                <a:gd name="connsiteX2" fmla="*/ 22 w 538821"/>
                <a:gd name="connsiteY2" fmla="*/ 562907 h 562907"/>
                <a:gd name="connsiteX3" fmla="*/ 0 w 538821"/>
                <a:gd name="connsiteY3" fmla="*/ 562686 h 562907"/>
                <a:gd name="connsiteX4" fmla="*/ 451422 w 538821"/>
                <a:gd name="connsiteY4" fmla="*/ 8810 h 5629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907">
                  <a:moveTo>
                    <a:pt x="538821" y="0"/>
                  </a:moveTo>
                  <a:lnTo>
                    <a:pt x="538821" y="562907"/>
                  </a:lnTo>
                  <a:lnTo>
                    <a:pt x="22" y="562907"/>
                  </a:lnTo>
                  <a:lnTo>
                    <a:pt x="0" y="562686"/>
                  </a:ln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8"/>
            <p:cNvSpPr/>
            <p:nvPr/>
          </p:nvSpPr>
          <p:spPr>
            <a:xfrm>
              <a:off x="11653180" y="3552066"/>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19"/>
            <p:cNvSpPr/>
            <p:nvPr/>
          </p:nvSpPr>
          <p:spPr>
            <a:xfrm>
              <a:off x="11653180" y="2180552"/>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p:cNvSpPr/>
            <p:nvPr/>
          </p:nvSpPr>
          <p:spPr>
            <a:xfrm>
              <a:off x="11653180" y="809039"/>
              <a:ext cx="538821" cy="1125373"/>
            </a:xfrm>
            <a:custGeom>
              <a:avLst/>
              <a:gdLst>
                <a:gd name="connsiteX0" fmla="*/ 538821 w 538821"/>
                <a:gd name="connsiteY0" fmla="*/ 0 h 1125373"/>
                <a:gd name="connsiteX1" fmla="*/ 538821 w 538821"/>
                <a:gd name="connsiteY1" fmla="*/ 1125373 h 1125373"/>
                <a:gd name="connsiteX2" fmla="*/ 451422 w 538821"/>
                <a:gd name="connsiteY2" fmla="*/ 1116562 h 1125373"/>
                <a:gd name="connsiteX3" fmla="*/ 0 w 538821"/>
                <a:gd name="connsiteY3" fmla="*/ 562686 h 1125373"/>
                <a:gd name="connsiteX4" fmla="*/ 451422 w 538821"/>
                <a:gd name="connsiteY4" fmla="*/ 8810 h 1125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1125373">
                  <a:moveTo>
                    <a:pt x="538821" y="0"/>
                  </a:moveTo>
                  <a:lnTo>
                    <a:pt x="538821" y="1125373"/>
                  </a:lnTo>
                  <a:lnTo>
                    <a:pt x="451422" y="1116562"/>
                  </a:lnTo>
                  <a:cubicBezTo>
                    <a:pt x="193796" y="1063844"/>
                    <a:pt x="0" y="835897"/>
                    <a:pt x="0" y="562686"/>
                  </a:cubicBezTo>
                  <a:cubicBezTo>
                    <a:pt x="0" y="289475"/>
                    <a:pt x="193796" y="61528"/>
                    <a:pt x="451422" y="881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21"/>
            <p:cNvSpPr/>
            <p:nvPr/>
          </p:nvSpPr>
          <p:spPr>
            <a:xfrm>
              <a:off x="11653180" y="0"/>
              <a:ext cx="538821" cy="562898"/>
            </a:xfrm>
            <a:custGeom>
              <a:avLst/>
              <a:gdLst>
                <a:gd name="connsiteX0" fmla="*/ 21 w 538821"/>
                <a:gd name="connsiteY0" fmla="*/ 0 h 562898"/>
                <a:gd name="connsiteX1" fmla="*/ 538821 w 538821"/>
                <a:gd name="connsiteY1" fmla="*/ 0 h 562898"/>
                <a:gd name="connsiteX2" fmla="*/ 538821 w 538821"/>
                <a:gd name="connsiteY2" fmla="*/ 562898 h 562898"/>
                <a:gd name="connsiteX3" fmla="*/ 451422 w 538821"/>
                <a:gd name="connsiteY3" fmla="*/ 554087 h 562898"/>
                <a:gd name="connsiteX4" fmla="*/ 0 w 538821"/>
                <a:gd name="connsiteY4" fmla="*/ 211 h 5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821" h="562898">
                  <a:moveTo>
                    <a:pt x="21" y="0"/>
                  </a:moveTo>
                  <a:lnTo>
                    <a:pt x="538821" y="0"/>
                  </a:lnTo>
                  <a:lnTo>
                    <a:pt x="538821" y="562898"/>
                  </a:lnTo>
                  <a:lnTo>
                    <a:pt x="451422" y="554087"/>
                  </a:lnTo>
                  <a:cubicBezTo>
                    <a:pt x="193796" y="501369"/>
                    <a:pt x="0" y="273422"/>
                    <a:pt x="0" y="211"/>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Vertical Title 1"/>
          <p:cNvSpPr>
            <a:spLocks noGrp="1"/>
          </p:cNvSpPr>
          <p:nvPr>
            <p:ph type="title" orient="vert"/>
          </p:nvPr>
        </p:nvSpPr>
        <p:spPr>
          <a:xfrm>
            <a:off x="8950095" y="976630"/>
            <a:ext cx="2268507" cy="47845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65150" y="976630"/>
            <a:ext cx="8264057" cy="478459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5B0A250-5CC0-1746-B209-08E8B0DAE6AF}"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9ABCAEC-7D34-E549-A96E-FCEDAADBE4B0}" type="slidenum">
              <a:rPr lang="en-US" smtClean="0"/>
              <a:t>‹#›</a:t>
            </a:fld>
            <a:endParaRPr lang="en-US"/>
          </a:p>
        </p:txBody>
      </p:sp>
      <p:cxnSp>
        <p:nvCxnSpPr>
          <p:cNvPr id="7" name="Straight Connector 6"/>
          <p:cNvCxnSpPr/>
          <p:nvPr/>
        </p:nvCxnSpPr>
        <p:spPr>
          <a:xfrm>
            <a:off x="565150" y="6087110"/>
            <a:ext cx="11058344"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65150" y="770890"/>
            <a:ext cx="7335835" cy="1268984"/>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p:cNvSpPr>
            <a:spLocks noGrp="1"/>
          </p:cNvSpPr>
          <p:nvPr>
            <p:ph type="body" idx="1"/>
          </p:nvPr>
        </p:nvSpPr>
        <p:spPr>
          <a:xfrm>
            <a:off x="565150" y="2160016"/>
            <a:ext cx="7335835" cy="360121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566928" y="457200"/>
            <a:ext cx="3608205" cy="365125"/>
          </a:xfrm>
          <a:prstGeom prst="rect">
            <a:avLst/>
          </a:prstGeom>
        </p:spPr>
        <p:txBody>
          <a:bodyPr vert="horz" lIns="91440" tIns="45720" rIns="91440" bIns="45720" rtlCol="0" anchor="ctr"/>
          <a:lstStyle>
            <a:lvl1pPr algn="l">
              <a:defRPr sz="1050" b="0" i="0">
                <a:solidFill>
                  <a:schemeClr val="tx1">
                    <a:tint val="75000"/>
                  </a:schemeClr>
                </a:solidFill>
                <a:latin typeface="+mn-lt"/>
              </a:defRPr>
            </a:lvl1pPr>
          </a:lstStyle>
          <a:p>
            <a:fld id="{A5B0A250-5CC0-1746-B209-08E8B0DAE6AF}" type="datetimeFigureOut">
              <a:rPr lang="en-US" smtClean="0"/>
              <a:t>3/16/2026</a:t>
            </a:fld>
            <a:endParaRPr lang="en-US" dirty="0"/>
          </a:p>
        </p:txBody>
      </p:sp>
      <p:sp>
        <p:nvSpPr>
          <p:cNvPr id="5" name="Footer Placeholder 4"/>
          <p:cNvSpPr>
            <a:spLocks noGrp="1"/>
          </p:cNvSpPr>
          <p:nvPr>
            <p:ph type="ftr" sz="quarter" idx="3"/>
          </p:nvPr>
        </p:nvSpPr>
        <p:spPr>
          <a:xfrm>
            <a:off x="565150" y="6141085"/>
            <a:ext cx="3608205" cy="365125"/>
          </a:xfrm>
          <a:prstGeom prst="rect">
            <a:avLst/>
          </a:prstGeom>
        </p:spPr>
        <p:txBody>
          <a:bodyPr vert="horz" lIns="91440" tIns="45720" rIns="91440" bIns="45720" rtlCol="0" anchor="ctr"/>
          <a:lstStyle>
            <a:lvl1pPr algn="l">
              <a:defRPr sz="1050" b="0" i="0">
                <a:solidFill>
                  <a:schemeClr val="tx1">
                    <a:tint val="75000"/>
                  </a:schemeClr>
                </a:solidFill>
                <a:latin typeface="+mn-lt"/>
              </a:defRPr>
            </a:lvl1pPr>
          </a:lstStyle>
          <a:p>
            <a:endParaRPr lang="en-US" dirty="0"/>
          </a:p>
        </p:txBody>
      </p:sp>
      <p:sp>
        <p:nvSpPr>
          <p:cNvPr id="6" name="Slide Number Placeholder 5"/>
          <p:cNvSpPr>
            <a:spLocks noGrp="1"/>
          </p:cNvSpPr>
          <p:nvPr>
            <p:ph type="sldNum" sz="quarter" idx="4"/>
          </p:nvPr>
        </p:nvSpPr>
        <p:spPr>
          <a:xfrm>
            <a:off x="10809678" y="6141085"/>
            <a:ext cx="813816" cy="365125"/>
          </a:xfrm>
          <a:prstGeom prst="rect">
            <a:avLst/>
          </a:prstGeom>
        </p:spPr>
        <p:txBody>
          <a:bodyPr vert="horz" lIns="91440" tIns="45720" rIns="91440" bIns="45720" rtlCol="0" anchor="ctr"/>
          <a:lstStyle>
            <a:lvl1pPr algn="r">
              <a:defRPr sz="1050" b="0" i="0">
                <a:solidFill>
                  <a:schemeClr val="tx1">
                    <a:tint val="75000"/>
                  </a:schemeClr>
                </a:solidFill>
                <a:latin typeface="+mn-lt"/>
              </a:defRPr>
            </a:lvl1pPr>
          </a:lstStyle>
          <a:p>
            <a:fld id="{49ABCAEC-7D34-E549-A96E-FCEDAADBE4B0}"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100000"/>
        </a:lnSpc>
        <a:spcBef>
          <a:spcPct val="0"/>
        </a:spcBef>
        <a:buNone/>
        <a:defRPr sz="4000" b="1" i="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900"/>
        </a:spcBef>
        <a:buFont typeface="Arial" panose="020B0604020202020204" pitchFamily="34" charset="0"/>
        <a:buChar char="•"/>
        <a:defRPr sz="2400" b="0" i="0" kern="1200">
          <a:solidFill>
            <a:schemeClr val="tx1"/>
          </a:solidFill>
          <a:latin typeface="+mn-lt"/>
          <a:ea typeface="+mn-ea"/>
          <a:cs typeface="+mn-cs"/>
        </a:defRPr>
      </a:lvl1pPr>
      <a:lvl2pPr marL="685800" indent="-228600" algn="l" defTabSz="914400" rtl="0" eaLnBrk="1" latinLnBrk="0" hangingPunct="1">
        <a:lnSpc>
          <a:spcPct val="100000"/>
        </a:lnSpc>
        <a:spcBef>
          <a:spcPts val="900"/>
        </a:spcBef>
        <a:buFont typeface="Arial" panose="020B0604020202020204" pitchFamily="34" charset="0"/>
        <a:buChar char="•"/>
        <a:defRPr sz="2000" b="0" i="0" kern="1200">
          <a:solidFill>
            <a:schemeClr val="tx1"/>
          </a:solidFill>
          <a:latin typeface="+mn-lt"/>
          <a:ea typeface="+mn-ea"/>
          <a:cs typeface="+mn-cs"/>
        </a:defRPr>
      </a:lvl2pPr>
      <a:lvl3pPr marL="1143000" indent="-228600" algn="l" defTabSz="914400" rtl="0" eaLnBrk="1" latinLnBrk="0" hangingPunct="1">
        <a:lnSpc>
          <a:spcPct val="100000"/>
        </a:lnSpc>
        <a:spcBef>
          <a:spcPts val="900"/>
        </a:spcBef>
        <a:buFont typeface="Arial" panose="020B0604020202020204" pitchFamily="34" charset="0"/>
        <a:buChar char="•"/>
        <a:defRPr sz="1800" b="0" i="0" kern="1200">
          <a:solidFill>
            <a:schemeClr val="tx1"/>
          </a:solidFill>
          <a:latin typeface="+mn-lt"/>
          <a:ea typeface="+mn-ea"/>
          <a:cs typeface="+mn-cs"/>
        </a:defRPr>
      </a:lvl3pPr>
      <a:lvl4pPr marL="1600200" indent="-228600" algn="l" defTabSz="914400" rtl="0" eaLnBrk="1" latinLnBrk="0" hangingPunct="1">
        <a:lnSpc>
          <a:spcPct val="100000"/>
        </a:lnSpc>
        <a:spcBef>
          <a:spcPts val="900"/>
        </a:spcBef>
        <a:buFont typeface="Arial" panose="020B0604020202020204" pitchFamily="34" charset="0"/>
        <a:buChar char="•"/>
        <a:defRPr sz="1600" b="0" i="0" kern="1200">
          <a:solidFill>
            <a:schemeClr val="tx1"/>
          </a:solidFill>
          <a:latin typeface="+mn-lt"/>
          <a:ea typeface="+mn-ea"/>
          <a:cs typeface="+mn-cs"/>
        </a:defRPr>
      </a:lvl4pPr>
      <a:lvl5pPr marL="2057400" indent="-228600" algn="l" defTabSz="914400" rtl="0" eaLnBrk="1" latinLnBrk="0" hangingPunct="1">
        <a:lnSpc>
          <a:spcPct val="100000"/>
        </a:lnSpc>
        <a:spcBef>
          <a:spcPts val="9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268535" y="2022914"/>
            <a:ext cx="9141558" cy="1268984"/>
          </a:xfrm>
        </p:spPr>
        <p:txBody>
          <a:bodyPr>
            <a:normAutofit fontScale="90000"/>
          </a:bodyPr>
          <a:lstStyle/>
          <a:p>
            <a:pPr algn="ctr"/>
            <a:r>
              <a:rPr lang="en-US" dirty="0"/>
              <a:t>Feature Engineering &amp; Unsupervised Project Work</a:t>
            </a:r>
            <a:br>
              <a:rPr lang="en-US" dirty="0"/>
            </a:b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4779" y="761726"/>
            <a:ext cx="9057152" cy="634492"/>
          </a:xfrm>
        </p:spPr>
        <p:txBody>
          <a:bodyPr>
            <a:normAutofit fontScale="90000"/>
          </a:bodyPr>
          <a:lstStyle/>
          <a:p>
            <a:r>
              <a:rPr lang="en-US" b="0" dirty="0" smtClean="0"/>
              <a:t>LEARNING OBJECTIVES</a:t>
            </a:r>
            <a:endParaRPr lang="en-US" dirty="0"/>
          </a:p>
        </p:txBody>
      </p:sp>
      <p:sp>
        <p:nvSpPr>
          <p:cNvPr id="3" name="Rectangle 2"/>
          <p:cNvSpPr/>
          <p:nvPr/>
        </p:nvSpPr>
        <p:spPr>
          <a:xfrm>
            <a:off x="501747" y="1667750"/>
            <a:ext cx="9162757" cy="2585323"/>
          </a:xfrm>
          <a:prstGeom prst="rect">
            <a:avLst/>
          </a:prstGeom>
        </p:spPr>
        <p:txBody>
          <a:bodyPr wrap="square">
            <a:spAutoFit/>
          </a:bodyPr>
          <a:lstStyle/>
          <a:p>
            <a:r>
              <a:rPr lang="en-US" dirty="0"/>
              <a:t>By the end of this session, participants will be able to</a:t>
            </a:r>
            <a:r>
              <a:rPr lang="en-US" dirty="0" smtClean="0"/>
              <a:t>:</a:t>
            </a:r>
          </a:p>
          <a:p>
            <a:endParaRPr lang="en-US" dirty="0"/>
          </a:p>
          <a:p>
            <a:pPr>
              <a:buFont typeface="Arial" panose="020B0604020202020204" pitchFamily="34" charset="0"/>
              <a:buChar char="•"/>
            </a:pPr>
            <a:r>
              <a:rPr lang="en-US" dirty="0"/>
              <a:t>Design production-ready features suitable for real-world ML </a:t>
            </a:r>
            <a:r>
              <a:rPr lang="en-US" dirty="0" smtClean="0"/>
              <a:t>systems</a:t>
            </a:r>
          </a:p>
          <a:p>
            <a:endParaRPr lang="en-US" dirty="0"/>
          </a:p>
          <a:p>
            <a:pPr>
              <a:buFont typeface="Arial" panose="020B0604020202020204" pitchFamily="34" charset="0"/>
              <a:buChar char="•"/>
            </a:pPr>
            <a:r>
              <a:rPr lang="en-US" dirty="0"/>
              <a:t>Understand feature stores, including online and offline serving and tools for managing features at </a:t>
            </a:r>
            <a:r>
              <a:rPr lang="en-US" dirty="0" smtClean="0"/>
              <a:t>scale</a:t>
            </a:r>
          </a:p>
          <a:p>
            <a:endParaRPr lang="en-US" dirty="0"/>
          </a:p>
          <a:p>
            <a:pPr>
              <a:buFont typeface="Arial" panose="020B0604020202020204" pitchFamily="34" charset="0"/>
              <a:buChar char="•"/>
            </a:pPr>
            <a:r>
              <a:rPr lang="en-US" dirty="0"/>
              <a:t>Apply unsupervised learning techniques to complete a project and extract actionable insights</a:t>
            </a:r>
          </a:p>
        </p:txBody>
      </p:sp>
    </p:spTree>
    <p:extLst>
      <p:ext uri="{BB962C8B-B14F-4D97-AF65-F5344CB8AC3E}">
        <p14:creationId xmlns:p14="http://schemas.microsoft.com/office/powerpoint/2010/main" val="31810739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9483" y="1938509"/>
            <a:ext cx="8989255" cy="1268984"/>
          </a:xfrm>
        </p:spPr>
        <p:txBody>
          <a:bodyPr>
            <a:normAutofit fontScale="90000"/>
          </a:bodyPr>
          <a:lstStyle/>
          <a:p>
            <a:pPr marL="0" indent="0" algn="ctr"/>
            <a:r>
              <a:rPr lang="en-US" dirty="0"/>
              <a:t>Feature Engineering</a:t>
            </a:r>
            <a:br>
              <a:rPr lang="en-US" dirty="0"/>
            </a:br>
            <a:r>
              <a:rPr lang="en-US" dirty="0"/>
              <a:t>for Production</a:t>
            </a:r>
            <a:br>
              <a:rPr lang="en-US" dirty="0"/>
            </a:br>
            <a:r>
              <a:rPr lang="en-US" dirty="0"/>
              <a:t/>
            </a:r>
            <a:br>
              <a:rPr lang="en-US" dirty="0"/>
            </a:br>
            <a:endParaRPr lang="en-US" dirty="0"/>
          </a:p>
        </p:txBody>
      </p:sp>
    </p:spTree>
    <p:extLst>
      <p:ext uri="{BB962C8B-B14F-4D97-AF65-F5344CB8AC3E}">
        <p14:creationId xmlns:p14="http://schemas.microsoft.com/office/powerpoint/2010/main" val="37936317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770890"/>
            <a:ext cx="9029016" cy="1268984"/>
          </a:xfrm>
        </p:spPr>
        <p:txBody>
          <a:bodyPr>
            <a:normAutofit fontScale="90000"/>
          </a:bodyPr>
          <a:lstStyle/>
          <a:p>
            <a:r>
              <a:rPr lang="en-US" dirty="0"/>
              <a:t>What is Feature Engineering?</a:t>
            </a:r>
            <a:br>
              <a:rPr lang="en-US" dirty="0"/>
            </a:br>
            <a:endParaRPr lang="en-US" dirty="0"/>
          </a:p>
        </p:txBody>
      </p:sp>
      <p:sp>
        <p:nvSpPr>
          <p:cNvPr id="4" name="Rounded Rectangle 3"/>
          <p:cNvSpPr/>
          <p:nvPr/>
        </p:nvSpPr>
        <p:spPr>
          <a:xfrm>
            <a:off x="921434" y="3861582"/>
            <a:ext cx="2286000" cy="1828800"/>
          </a:xfrm>
          <a:prstGeom prst="roundRect">
            <a:avLst/>
          </a:prstGeom>
          <a:solidFill>
            <a:srgbClr val="EFF6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21434" y="3953022"/>
            <a:ext cx="2286000" cy="365760"/>
          </a:xfrm>
          <a:prstGeom prst="rect">
            <a:avLst/>
          </a:prstGeom>
          <a:noFill/>
        </p:spPr>
        <p:txBody>
          <a:bodyPr wrap="none">
            <a:spAutoFit/>
          </a:bodyPr>
          <a:lstStyle/>
          <a:p>
            <a:pPr algn="ctr">
              <a:defRPr sz="1400" b="1">
                <a:solidFill>
                  <a:srgbClr val="2563EB"/>
                </a:solidFill>
              </a:defRPr>
            </a:pPr>
            <a:r>
              <a:t>INPUT</a:t>
            </a:r>
          </a:p>
        </p:txBody>
      </p:sp>
      <p:sp>
        <p:nvSpPr>
          <p:cNvPr id="6" name="TextBox 5"/>
          <p:cNvSpPr txBox="1"/>
          <p:nvPr/>
        </p:nvSpPr>
        <p:spPr>
          <a:xfrm>
            <a:off x="921434" y="4410222"/>
            <a:ext cx="2286000" cy="1097280"/>
          </a:xfrm>
          <a:prstGeom prst="rect">
            <a:avLst/>
          </a:prstGeom>
          <a:noFill/>
        </p:spPr>
        <p:txBody>
          <a:bodyPr wrap="none" anchor="t">
            <a:spAutoFit/>
          </a:bodyPr>
          <a:lstStyle/>
          <a:p>
            <a:pPr algn="ctr">
              <a:defRPr sz="2000" b="1">
                <a:solidFill>
                  <a:srgbClr val="1F2937"/>
                </a:solidFill>
              </a:defRPr>
            </a:pPr>
            <a:r>
              <a:t>Raw Data</a:t>
            </a:r>
          </a:p>
        </p:txBody>
      </p:sp>
      <p:sp>
        <p:nvSpPr>
          <p:cNvPr id="7" name="Right Arrow 6"/>
          <p:cNvSpPr/>
          <p:nvPr/>
        </p:nvSpPr>
        <p:spPr>
          <a:xfrm>
            <a:off x="3298874" y="4593102"/>
            <a:ext cx="548640" cy="365760"/>
          </a:xfrm>
          <a:prstGeom prst="right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664634" y="3861582"/>
            <a:ext cx="2286000" cy="1828800"/>
          </a:xfrm>
          <a:prstGeom prst="roundRect">
            <a:avLst/>
          </a:prstGeom>
          <a:solidFill>
            <a:srgbClr val="DBEAFE"/>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64634" y="3953022"/>
            <a:ext cx="2286000" cy="365760"/>
          </a:xfrm>
          <a:prstGeom prst="rect">
            <a:avLst/>
          </a:prstGeom>
          <a:noFill/>
        </p:spPr>
        <p:txBody>
          <a:bodyPr wrap="none">
            <a:spAutoFit/>
          </a:bodyPr>
          <a:lstStyle/>
          <a:p>
            <a:pPr algn="ctr">
              <a:defRPr sz="1400" b="1">
                <a:solidFill>
                  <a:srgbClr val="2563EB"/>
                </a:solidFill>
              </a:defRPr>
            </a:pPr>
            <a:r>
              <a:t>PROCESS</a:t>
            </a:r>
          </a:p>
        </p:txBody>
      </p:sp>
      <p:sp>
        <p:nvSpPr>
          <p:cNvPr id="10" name="TextBox 9"/>
          <p:cNvSpPr txBox="1"/>
          <p:nvPr/>
        </p:nvSpPr>
        <p:spPr>
          <a:xfrm>
            <a:off x="3664634" y="4410222"/>
            <a:ext cx="2286000" cy="1097280"/>
          </a:xfrm>
          <a:prstGeom prst="rect">
            <a:avLst/>
          </a:prstGeom>
          <a:noFill/>
        </p:spPr>
        <p:txBody>
          <a:bodyPr wrap="none" anchor="t">
            <a:spAutoFit/>
          </a:bodyPr>
          <a:lstStyle/>
          <a:p>
            <a:pPr algn="ctr">
              <a:defRPr sz="2000" b="1">
                <a:solidFill>
                  <a:srgbClr val="1F2937"/>
                </a:solidFill>
              </a:defRPr>
            </a:pPr>
            <a:r>
              <a:t>Transform</a:t>
            </a:r>
          </a:p>
        </p:txBody>
      </p:sp>
      <p:sp>
        <p:nvSpPr>
          <p:cNvPr id="11" name="Right Arrow 10"/>
          <p:cNvSpPr/>
          <p:nvPr/>
        </p:nvSpPr>
        <p:spPr>
          <a:xfrm>
            <a:off x="6042074" y="4593102"/>
            <a:ext cx="548640" cy="365760"/>
          </a:xfrm>
          <a:prstGeom prst="right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407834" y="3861582"/>
            <a:ext cx="2286000" cy="1828800"/>
          </a:xfrm>
          <a:prstGeom prst="roundRect">
            <a:avLst/>
          </a:prstGeom>
          <a:solidFill>
            <a:srgbClr val="BFDBFE"/>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7834" y="3953022"/>
            <a:ext cx="2286000" cy="365760"/>
          </a:xfrm>
          <a:prstGeom prst="rect">
            <a:avLst/>
          </a:prstGeom>
          <a:noFill/>
        </p:spPr>
        <p:txBody>
          <a:bodyPr wrap="none">
            <a:spAutoFit/>
          </a:bodyPr>
          <a:lstStyle/>
          <a:p>
            <a:pPr algn="ctr">
              <a:defRPr sz="1400" b="1">
                <a:solidFill>
                  <a:srgbClr val="2563EB"/>
                </a:solidFill>
              </a:defRPr>
            </a:pPr>
            <a:r>
              <a:t>OUTPUT</a:t>
            </a:r>
          </a:p>
        </p:txBody>
      </p:sp>
      <p:sp>
        <p:nvSpPr>
          <p:cNvPr id="14" name="TextBox 13"/>
          <p:cNvSpPr txBox="1"/>
          <p:nvPr/>
        </p:nvSpPr>
        <p:spPr>
          <a:xfrm>
            <a:off x="6407834" y="4410222"/>
            <a:ext cx="2286000" cy="1097280"/>
          </a:xfrm>
          <a:prstGeom prst="rect">
            <a:avLst/>
          </a:prstGeom>
          <a:noFill/>
        </p:spPr>
        <p:txBody>
          <a:bodyPr wrap="none" anchor="t">
            <a:spAutoFit/>
          </a:bodyPr>
          <a:lstStyle/>
          <a:p>
            <a:pPr algn="ctr">
              <a:defRPr sz="2000" b="1">
                <a:solidFill>
                  <a:srgbClr val="1F2937"/>
                </a:solidFill>
              </a:defRPr>
            </a:pPr>
            <a:r>
              <a:t>Features</a:t>
            </a:r>
          </a:p>
        </p:txBody>
      </p:sp>
      <p:sp>
        <p:nvSpPr>
          <p:cNvPr id="3" name="Rectangle 2"/>
          <p:cNvSpPr/>
          <p:nvPr/>
        </p:nvSpPr>
        <p:spPr>
          <a:xfrm>
            <a:off x="565150" y="1637555"/>
            <a:ext cx="7247206" cy="2031325"/>
          </a:xfrm>
          <a:prstGeom prst="rect">
            <a:avLst/>
          </a:prstGeom>
        </p:spPr>
        <p:txBody>
          <a:bodyPr wrap="square">
            <a:spAutoFit/>
          </a:bodyPr>
          <a:lstStyle/>
          <a:p>
            <a:r>
              <a:rPr lang="en-US" dirty="0"/>
              <a:t>Feature engineering is the process of transforming raw data into meaningful input variables that improve a machine learning model’s ability to learn patterns. It involves selecting, creating, and modifying features so they accurately represent the underlying problem.</a:t>
            </a:r>
          </a:p>
          <a:p>
            <a:r>
              <a:rPr lang="en-US" dirty="0"/>
              <a:t>Well-designed features help models become more accurate, interpretable, and robust, and often have a greater impact on performance than the choice of algorithm itself.</a:t>
            </a:r>
          </a:p>
        </p:txBody>
      </p:sp>
    </p:spTree>
    <p:extLst>
      <p:ext uri="{BB962C8B-B14F-4D97-AF65-F5344CB8AC3E}">
        <p14:creationId xmlns:p14="http://schemas.microsoft.com/office/powerpoint/2010/main" val="22834702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770890"/>
            <a:ext cx="7847330" cy="1268984"/>
          </a:xfrm>
        </p:spPr>
        <p:txBody>
          <a:bodyPr>
            <a:normAutofit fontScale="90000"/>
          </a:bodyPr>
          <a:lstStyle/>
          <a:p>
            <a:r>
              <a:rPr lang="en-US" dirty="0"/>
              <a:t>Why Feature Engineering Matters</a:t>
            </a:r>
          </a:p>
        </p:txBody>
      </p:sp>
      <p:sp>
        <p:nvSpPr>
          <p:cNvPr id="4" name="Rectangle 1"/>
          <p:cNvSpPr>
            <a:spLocks noChangeArrowheads="1"/>
          </p:cNvSpPr>
          <p:nvPr/>
        </p:nvSpPr>
        <p:spPr bwMode="auto">
          <a:xfrm>
            <a:off x="565150" y="1699402"/>
            <a:ext cx="7413674"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Transforms raw data into meaningful inputs that improve model performance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Helps uncover patterns and relationships that are not obvious in the raw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Reduces model complexity by creating informative, concise features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Essential for producing reproducible, scalable features suitable for real-world deployment</a:t>
            </a:r>
          </a:p>
        </p:txBody>
      </p:sp>
    </p:spTree>
    <p:extLst>
      <p:ext uri="{BB962C8B-B14F-4D97-AF65-F5344CB8AC3E}">
        <p14:creationId xmlns:p14="http://schemas.microsoft.com/office/powerpoint/2010/main" val="25326345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49" y="517671"/>
            <a:ext cx="7335835" cy="776557"/>
          </a:xfrm>
        </p:spPr>
        <p:txBody>
          <a:bodyPr/>
          <a:lstStyle/>
          <a:p>
            <a:r>
              <a:rPr lang="en-US" dirty="0"/>
              <a:t>Feature Engineering Process</a:t>
            </a:r>
          </a:p>
        </p:txBody>
      </p:sp>
      <p:sp>
        <p:nvSpPr>
          <p:cNvPr id="4" name="Rectangle 3"/>
          <p:cNvSpPr/>
          <p:nvPr/>
        </p:nvSpPr>
        <p:spPr>
          <a:xfrm>
            <a:off x="797168" y="1294228"/>
            <a:ext cx="7488703" cy="3416320"/>
          </a:xfrm>
          <a:prstGeom prst="rect">
            <a:avLst/>
          </a:prstGeom>
        </p:spPr>
        <p:txBody>
          <a:bodyPr wrap="square">
            <a:spAutoFit/>
          </a:bodyPr>
          <a:lstStyle/>
          <a:p>
            <a:r>
              <a:rPr lang="en-US" dirty="0" smtClean="0"/>
              <a:t>A </a:t>
            </a:r>
            <a:r>
              <a:rPr lang="en-US" dirty="0"/>
              <a:t>structured workflow ensures features are meaningful, reproducible, and ready for production</a:t>
            </a:r>
            <a:r>
              <a:rPr lang="en-US" dirty="0" smtClean="0"/>
              <a:t>.</a:t>
            </a:r>
          </a:p>
          <a:p>
            <a:endParaRPr lang="en-US" dirty="0"/>
          </a:p>
          <a:p>
            <a:r>
              <a:rPr lang="en-US" b="1" dirty="0"/>
              <a:t>Steps:</a:t>
            </a:r>
            <a:endParaRPr lang="en-US" dirty="0"/>
          </a:p>
          <a:p>
            <a:pPr>
              <a:buFont typeface="+mj-lt"/>
              <a:buAutoNum type="arabicPeriod"/>
            </a:pPr>
            <a:r>
              <a:rPr lang="en-US" b="1" dirty="0"/>
              <a:t>Collect &amp; Clean Data</a:t>
            </a:r>
            <a:r>
              <a:rPr lang="en-US" dirty="0"/>
              <a:t> – Gather raw data and handle missing values, outliers, and inconsistencies</a:t>
            </a:r>
          </a:p>
          <a:p>
            <a:pPr>
              <a:buFont typeface="+mj-lt"/>
              <a:buAutoNum type="arabicPeriod"/>
            </a:pPr>
            <a:r>
              <a:rPr lang="en-US" b="1" dirty="0"/>
              <a:t>Transform &amp; Encode Features</a:t>
            </a:r>
            <a:r>
              <a:rPr lang="en-US" dirty="0"/>
              <a:t> – Scale numerical data, encode categorical variables, create derived or aggregated features</a:t>
            </a:r>
          </a:p>
          <a:p>
            <a:pPr>
              <a:buFont typeface="+mj-lt"/>
              <a:buAutoNum type="arabicPeriod"/>
            </a:pPr>
            <a:r>
              <a:rPr lang="en-US" b="1" dirty="0"/>
              <a:t>Select &amp; Evaluate Features</a:t>
            </a:r>
            <a:r>
              <a:rPr lang="en-US" dirty="0"/>
              <a:t> – Identify the most relevant features using statistical methods or model-based importance</a:t>
            </a:r>
          </a:p>
          <a:p>
            <a:pPr>
              <a:buFont typeface="+mj-lt"/>
              <a:buAutoNum type="arabicPeriod"/>
            </a:pPr>
            <a:r>
              <a:rPr lang="en-US" b="1" dirty="0"/>
              <a:t>Deploy in Production</a:t>
            </a:r>
            <a:r>
              <a:rPr lang="en-US" dirty="0"/>
              <a:t> – Ensure features are reproducible, automated, and ready for real-time or batch predictions</a:t>
            </a:r>
          </a:p>
        </p:txBody>
      </p:sp>
    </p:spTree>
    <p:extLst>
      <p:ext uri="{BB962C8B-B14F-4D97-AF65-F5344CB8AC3E}">
        <p14:creationId xmlns:p14="http://schemas.microsoft.com/office/powerpoint/2010/main" val="17786658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52941" y="573942"/>
            <a:ext cx="7335835" cy="593676"/>
          </a:xfrm>
        </p:spPr>
        <p:txBody>
          <a:bodyPr>
            <a:normAutofit fontScale="90000"/>
          </a:bodyPr>
          <a:lstStyle/>
          <a:p>
            <a:r>
              <a:rPr lang="en-US" dirty="0" smtClean="0"/>
              <a:t>Feature engineering methods</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6059" y="1712954"/>
            <a:ext cx="6594895" cy="3958101"/>
          </a:xfrm>
          <a:prstGeom prst="rect">
            <a:avLst/>
          </a:prstGeom>
        </p:spPr>
      </p:pic>
    </p:spTree>
    <p:extLst>
      <p:ext uri="{BB962C8B-B14F-4D97-AF65-F5344CB8AC3E}">
        <p14:creationId xmlns:p14="http://schemas.microsoft.com/office/powerpoint/2010/main" val="7857943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770890"/>
            <a:ext cx="7945804" cy="1268984"/>
          </a:xfrm>
        </p:spPr>
        <p:txBody>
          <a:bodyPr>
            <a:normAutofit fontScale="90000"/>
          </a:bodyPr>
          <a:lstStyle/>
          <a:p>
            <a:pPr algn="ctr"/>
            <a:r>
              <a:rPr lang="en-US" dirty="0"/>
              <a:t>Production vs Development Features</a:t>
            </a:r>
            <a:br>
              <a:rPr lang="en-US" dirty="0"/>
            </a:br>
            <a:endParaRPr lang="en-US" dirty="0"/>
          </a:p>
        </p:txBody>
      </p:sp>
      <p:sp>
        <p:nvSpPr>
          <p:cNvPr id="4" name="Rectangle 3"/>
          <p:cNvSpPr/>
          <p:nvPr/>
        </p:nvSpPr>
        <p:spPr>
          <a:xfrm>
            <a:off x="565150" y="2309506"/>
            <a:ext cx="6750050" cy="2862322"/>
          </a:xfrm>
          <a:prstGeom prst="rect">
            <a:avLst/>
          </a:prstGeom>
        </p:spPr>
        <p:txBody>
          <a:bodyPr wrap="square">
            <a:spAutoFit/>
          </a:bodyPr>
          <a:lstStyle/>
          <a:p>
            <a:r>
              <a:rPr lang="en-US" dirty="0"/>
              <a:t>Development features are created primarily to explore ideas and maximize model accuracy during experimentation. They may rely on manual steps, flexible </a:t>
            </a:r>
            <a:r>
              <a:rPr lang="en-US" dirty="0" err="1"/>
              <a:t>recomputation</a:t>
            </a:r>
            <a:r>
              <a:rPr lang="en-US" dirty="0"/>
              <a:t>, or even future information for analysis purposes</a:t>
            </a:r>
            <a:r>
              <a:rPr lang="en-US" dirty="0" smtClean="0"/>
              <a:t>.</a:t>
            </a:r>
          </a:p>
          <a:p>
            <a:endParaRPr lang="en-US" dirty="0"/>
          </a:p>
          <a:p>
            <a:r>
              <a:rPr lang="en-US" dirty="0"/>
              <a:t>Production features, in contrast, must be fully automated, reproducible, and consistent. They can only use data available at prediction time and must be computed efficiently to support real-time or batch systems. The focus shifts from experimentation to reliability, scalability, and long-term stability.</a:t>
            </a:r>
          </a:p>
        </p:txBody>
      </p:sp>
    </p:spTree>
    <p:extLst>
      <p:ext uri="{BB962C8B-B14F-4D97-AF65-F5344CB8AC3E}">
        <p14:creationId xmlns:p14="http://schemas.microsoft.com/office/powerpoint/2010/main" val="28802334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5163" y="559875"/>
            <a:ext cx="8944610" cy="635879"/>
          </a:xfrm>
        </p:spPr>
        <p:txBody>
          <a:bodyPr>
            <a:normAutofit fontScale="90000"/>
          </a:bodyPr>
          <a:lstStyle/>
          <a:p>
            <a:r>
              <a:rPr lang="en-US" dirty="0"/>
              <a:t>Production vs Development Features</a:t>
            </a:r>
            <a:br>
              <a:rPr lang="en-US" dirty="0"/>
            </a:br>
            <a:endParaRPr lang="en-US" dirty="0"/>
          </a:p>
        </p:txBody>
      </p:sp>
      <p:sp>
        <p:nvSpPr>
          <p:cNvPr id="4" name="Rounded Rectangle 3"/>
          <p:cNvSpPr/>
          <p:nvPr/>
        </p:nvSpPr>
        <p:spPr>
          <a:xfrm>
            <a:off x="865163" y="2335237"/>
            <a:ext cx="4114800" cy="3200400"/>
          </a:xfrm>
          <a:prstGeom prst="roundRect">
            <a:avLst/>
          </a:prstGeom>
          <a:solidFill>
            <a:srgbClr val="FEF3C7"/>
          </a:solidFill>
          <a:ln w="381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5163" y="2426677"/>
            <a:ext cx="4114800" cy="457200"/>
          </a:xfrm>
          <a:prstGeom prst="rect">
            <a:avLst/>
          </a:prstGeom>
          <a:noFill/>
        </p:spPr>
        <p:txBody>
          <a:bodyPr wrap="none">
            <a:spAutoFit/>
          </a:bodyPr>
          <a:lstStyle/>
          <a:p>
            <a:pPr algn="ctr">
              <a:defRPr sz="2000" b="1">
                <a:solidFill>
                  <a:srgbClr val="92400E"/>
                </a:solidFill>
              </a:defRPr>
            </a:pPr>
            <a:r>
              <a:t>DEVELOPMENT</a:t>
            </a:r>
          </a:p>
        </p:txBody>
      </p:sp>
      <p:sp>
        <p:nvSpPr>
          <p:cNvPr id="6" name="TextBox 5"/>
          <p:cNvSpPr txBox="1"/>
          <p:nvPr/>
        </p:nvSpPr>
        <p:spPr>
          <a:xfrm>
            <a:off x="1048043" y="3066757"/>
            <a:ext cx="3749039" cy="2286000"/>
          </a:xfrm>
          <a:prstGeom prst="rect">
            <a:avLst/>
          </a:prstGeom>
          <a:noFill/>
        </p:spPr>
        <p:txBody>
          <a:bodyPr wrap="none">
            <a:spAutoFit/>
          </a:bodyPr>
          <a:lstStyle/>
          <a:p>
            <a:pPr>
              <a:spcAft>
                <a:spcPts val="800"/>
              </a:spcAft>
              <a:defRPr sz="1300">
                <a:solidFill>
                  <a:srgbClr val="374151"/>
                </a:solidFill>
              </a:defRPr>
            </a:pPr>
            <a:r>
              <a:t>✓ Focus on accuracy</a:t>
            </a:r>
          </a:p>
          <a:p>
            <a:pPr>
              <a:spcAft>
                <a:spcPts val="800"/>
              </a:spcAft>
              <a:defRPr sz="1300">
                <a:solidFill>
                  <a:srgbClr val="374151"/>
                </a:solidFill>
              </a:defRPr>
            </a:pPr>
            <a:r>
              <a:t>✓ Can use future data</a:t>
            </a:r>
          </a:p>
          <a:p>
            <a:pPr>
              <a:spcAft>
                <a:spcPts val="800"/>
              </a:spcAft>
              <a:defRPr sz="1300">
                <a:solidFill>
                  <a:srgbClr val="374151"/>
                </a:solidFill>
              </a:defRPr>
            </a:pPr>
            <a:r>
              <a:t>✓ Manual intervention OK</a:t>
            </a:r>
          </a:p>
          <a:p>
            <a:pPr>
              <a:spcAft>
                <a:spcPts val="800"/>
              </a:spcAft>
              <a:defRPr sz="1300">
                <a:solidFill>
                  <a:srgbClr val="374151"/>
                </a:solidFill>
              </a:defRPr>
            </a:pPr>
            <a:r>
              <a:t>✓ Flexible recomputation</a:t>
            </a:r>
          </a:p>
          <a:p>
            <a:pPr>
              <a:spcAft>
                <a:spcPts val="800"/>
              </a:spcAft>
              <a:defRPr sz="1300">
                <a:solidFill>
                  <a:srgbClr val="374151"/>
                </a:solidFill>
              </a:defRPr>
            </a:pPr>
            <a:r>
              <a:t>✓ Resource constraints relaxed</a:t>
            </a:r>
          </a:p>
        </p:txBody>
      </p:sp>
      <p:sp>
        <p:nvSpPr>
          <p:cNvPr id="7" name="Rounded Rectangle 6"/>
          <p:cNvSpPr/>
          <p:nvPr/>
        </p:nvSpPr>
        <p:spPr>
          <a:xfrm>
            <a:off x="5162843" y="2335237"/>
            <a:ext cx="4114800" cy="3200400"/>
          </a:xfrm>
          <a:prstGeom prst="roundRect">
            <a:avLst/>
          </a:prstGeom>
          <a:solidFill>
            <a:srgbClr val="DBEAFE"/>
          </a:solidFill>
          <a:ln w="381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162843" y="2426677"/>
            <a:ext cx="4114800" cy="457200"/>
          </a:xfrm>
          <a:prstGeom prst="rect">
            <a:avLst/>
          </a:prstGeom>
          <a:noFill/>
        </p:spPr>
        <p:txBody>
          <a:bodyPr wrap="none">
            <a:spAutoFit/>
          </a:bodyPr>
          <a:lstStyle/>
          <a:p>
            <a:pPr algn="ctr">
              <a:defRPr sz="2000" b="1">
                <a:solidFill>
                  <a:srgbClr val="1E40AF"/>
                </a:solidFill>
              </a:defRPr>
            </a:pPr>
            <a:r>
              <a:t>PRODUCTION</a:t>
            </a:r>
          </a:p>
        </p:txBody>
      </p:sp>
      <p:sp>
        <p:nvSpPr>
          <p:cNvPr id="9" name="TextBox 8"/>
          <p:cNvSpPr txBox="1"/>
          <p:nvPr/>
        </p:nvSpPr>
        <p:spPr>
          <a:xfrm>
            <a:off x="5345723" y="3066757"/>
            <a:ext cx="3749039" cy="2286000"/>
          </a:xfrm>
          <a:prstGeom prst="rect">
            <a:avLst/>
          </a:prstGeom>
          <a:noFill/>
        </p:spPr>
        <p:txBody>
          <a:bodyPr wrap="none">
            <a:spAutoFit/>
          </a:bodyPr>
          <a:lstStyle/>
          <a:p>
            <a:pPr>
              <a:spcAft>
                <a:spcPts val="800"/>
              </a:spcAft>
              <a:defRPr sz="1300">
                <a:solidFill>
                  <a:srgbClr val="374151"/>
                </a:solidFill>
              </a:defRPr>
            </a:pPr>
            <a:r>
              <a:t>✓ Must be reproducible</a:t>
            </a:r>
          </a:p>
          <a:p>
            <a:pPr>
              <a:spcAft>
                <a:spcPts val="800"/>
              </a:spcAft>
              <a:defRPr sz="1300">
                <a:solidFill>
                  <a:srgbClr val="374151"/>
                </a:solidFill>
              </a:defRPr>
            </a:pPr>
            <a:r>
              <a:t>✓ Only past/current data</a:t>
            </a:r>
          </a:p>
          <a:p>
            <a:pPr>
              <a:spcAft>
                <a:spcPts val="800"/>
              </a:spcAft>
              <a:defRPr sz="1300">
                <a:solidFill>
                  <a:srgbClr val="374151"/>
                </a:solidFill>
              </a:defRPr>
            </a:pPr>
            <a:r>
              <a:t>✓ Fully automated</a:t>
            </a:r>
          </a:p>
          <a:p>
            <a:pPr>
              <a:spcAft>
                <a:spcPts val="800"/>
              </a:spcAft>
              <a:defRPr sz="1300">
                <a:solidFill>
                  <a:srgbClr val="374151"/>
                </a:solidFill>
              </a:defRPr>
            </a:pPr>
            <a:r>
              <a:t>✓ Consistent computation</a:t>
            </a:r>
          </a:p>
          <a:p>
            <a:pPr>
              <a:spcAft>
                <a:spcPts val="800"/>
              </a:spcAft>
              <a:defRPr sz="1300">
                <a:solidFill>
                  <a:srgbClr val="374151"/>
                </a:solidFill>
              </a:defRPr>
            </a:pPr>
            <a:r>
              <a:t>✓ Resource efficient</a:t>
            </a:r>
          </a:p>
        </p:txBody>
      </p:sp>
    </p:spTree>
    <p:extLst>
      <p:ext uri="{BB962C8B-B14F-4D97-AF65-F5344CB8AC3E}">
        <p14:creationId xmlns:p14="http://schemas.microsoft.com/office/powerpoint/2010/main" val="4359693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44991" y="485306"/>
            <a:ext cx="6778185" cy="1153609"/>
          </a:xfrm>
        </p:spPr>
        <p:txBody>
          <a:bodyPr>
            <a:normAutofit fontScale="90000"/>
          </a:bodyPr>
          <a:lstStyle/>
          <a:p>
            <a:r>
              <a:rPr lang="en-US" dirty="0"/>
              <a:t>Understanding Data Leakage</a:t>
            </a:r>
            <a:br>
              <a:rPr lang="en-US" dirty="0"/>
            </a:br>
            <a:endParaRPr lang="en-US" dirty="0"/>
          </a:p>
        </p:txBody>
      </p:sp>
      <p:sp>
        <p:nvSpPr>
          <p:cNvPr id="3" name="Rectangle 2"/>
          <p:cNvSpPr/>
          <p:nvPr/>
        </p:nvSpPr>
        <p:spPr>
          <a:xfrm>
            <a:off x="1037491" y="1188109"/>
            <a:ext cx="7913077" cy="2308324"/>
          </a:xfrm>
          <a:prstGeom prst="rect">
            <a:avLst/>
          </a:prstGeom>
        </p:spPr>
        <p:txBody>
          <a:bodyPr wrap="square">
            <a:spAutoFit/>
          </a:bodyPr>
          <a:lstStyle/>
          <a:p>
            <a:r>
              <a:rPr lang="en-US" dirty="0"/>
              <a:t>Data leakage occurs when a model is trained using information that would not be available at prediction time, leading to unrealistically high performance during evaluation. This often happens unintentionally through feature design, data splitting, or preprocessing steps.</a:t>
            </a:r>
          </a:p>
          <a:p>
            <a:r>
              <a:rPr lang="en-US" dirty="0"/>
              <a:t>Leakage results in models that perform well in testing but fail in real-world deployment, causing poor decisions and loss of trust. Preventing data leakage is critical for building reliable and production-ready machine learning systems.</a:t>
            </a:r>
          </a:p>
        </p:txBody>
      </p:sp>
    </p:spTree>
    <p:extLst>
      <p:ext uri="{BB962C8B-B14F-4D97-AF65-F5344CB8AC3E}">
        <p14:creationId xmlns:p14="http://schemas.microsoft.com/office/powerpoint/2010/main" val="24109292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8468" y="773840"/>
            <a:ext cx="8395970" cy="734353"/>
          </a:xfrm>
        </p:spPr>
        <p:txBody>
          <a:bodyPr>
            <a:normAutofit fontScale="90000"/>
          </a:bodyPr>
          <a:lstStyle/>
          <a:p>
            <a:pPr algn="ctr"/>
            <a:r>
              <a:rPr lang="en-US" dirty="0" smtClean="0"/>
              <a:t>Common causes and Consequences</a:t>
            </a:r>
            <a:endParaRPr lang="en-US" dirty="0"/>
          </a:p>
        </p:txBody>
      </p:sp>
      <p:sp>
        <p:nvSpPr>
          <p:cNvPr id="4" name="Rounded Rectangle 3"/>
          <p:cNvSpPr/>
          <p:nvPr/>
        </p:nvSpPr>
        <p:spPr>
          <a:xfrm>
            <a:off x="837028" y="2039874"/>
            <a:ext cx="4114800" cy="1828800"/>
          </a:xfrm>
          <a:prstGeom prst="roundRect">
            <a:avLst/>
          </a:prstGeom>
          <a:solidFill>
            <a:srgbClr val="FEF3C7"/>
          </a:solidFill>
          <a:ln w="1270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28468" y="2131314"/>
            <a:ext cx="3931920" cy="365760"/>
          </a:xfrm>
          <a:prstGeom prst="rect">
            <a:avLst/>
          </a:prstGeom>
          <a:noFill/>
        </p:spPr>
        <p:txBody>
          <a:bodyPr wrap="none">
            <a:spAutoFit/>
          </a:bodyPr>
          <a:lstStyle/>
          <a:p>
            <a:pPr>
              <a:defRPr sz="1600" b="1">
                <a:solidFill>
                  <a:srgbClr val="1F2937"/>
                </a:solidFill>
              </a:defRPr>
            </a:pPr>
            <a:r>
              <a:t>Common Causes</a:t>
            </a:r>
          </a:p>
        </p:txBody>
      </p:sp>
      <p:sp>
        <p:nvSpPr>
          <p:cNvPr id="6" name="TextBox 5"/>
          <p:cNvSpPr txBox="1"/>
          <p:nvPr/>
        </p:nvSpPr>
        <p:spPr>
          <a:xfrm>
            <a:off x="1019908" y="2588514"/>
            <a:ext cx="3749039" cy="1188720"/>
          </a:xfrm>
          <a:prstGeom prst="rect">
            <a:avLst/>
          </a:prstGeom>
          <a:noFill/>
        </p:spPr>
        <p:txBody>
          <a:bodyPr wrap="none">
            <a:spAutoFit/>
          </a:bodyPr>
          <a:lstStyle/>
          <a:p>
            <a:pPr>
              <a:spcAft>
                <a:spcPts val="400"/>
              </a:spcAft>
              <a:defRPr sz="1200">
                <a:solidFill>
                  <a:srgbClr val="374151"/>
                </a:solidFill>
              </a:defRPr>
            </a:pPr>
            <a:r>
              <a:t>• Using future information</a:t>
            </a:r>
          </a:p>
          <a:p>
            <a:pPr>
              <a:spcAft>
                <a:spcPts val="400"/>
              </a:spcAft>
              <a:defRPr sz="1200">
                <a:solidFill>
                  <a:srgbClr val="374151"/>
                </a:solidFill>
              </a:defRPr>
            </a:pPr>
            <a:r>
              <a:t>• Target variable in features</a:t>
            </a:r>
          </a:p>
          <a:p>
            <a:pPr>
              <a:spcAft>
                <a:spcPts val="400"/>
              </a:spcAft>
              <a:defRPr sz="1200">
                <a:solidFill>
                  <a:srgbClr val="374151"/>
                </a:solidFill>
              </a:defRPr>
            </a:pPr>
            <a:r>
              <a:t>• Test set statistics</a:t>
            </a:r>
          </a:p>
          <a:p>
            <a:pPr>
              <a:spcAft>
                <a:spcPts val="400"/>
              </a:spcAft>
              <a:defRPr sz="1200">
                <a:solidFill>
                  <a:srgbClr val="374151"/>
                </a:solidFill>
              </a:defRPr>
            </a:pPr>
            <a:r>
              <a:t>• Incorrect time splits</a:t>
            </a:r>
          </a:p>
        </p:txBody>
      </p:sp>
      <p:sp>
        <p:nvSpPr>
          <p:cNvPr id="7" name="Rounded Rectangle 6"/>
          <p:cNvSpPr/>
          <p:nvPr/>
        </p:nvSpPr>
        <p:spPr>
          <a:xfrm>
            <a:off x="5226148" y="2039874"/>
            <a:ext cx="4114800" cy="1828800"/>
          </a:xfrm>
          <a:prstGeom prst="roundRect">
            <a:avLst/>
          </a:prstGeom>
          <a:solidFill>
            <a:srgbClr val="FEE2E2"/>
          </a:solidFill>
          <a:ln w="12700">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317587" y="2131314"/>
            <a:ext cx="3931920" cy="365760"/>
          </a:xfrm>
          <a:prstGeom prst="rect">
            <a:avLst/>
          </a:prstGeom>
          <a:noFill/>
        </p:spPr>
        <p:txBody>
          <a:bodyPr wrap="none">
            <a:spAutoFit/>
          </a:bodyPr>
          <a:lstStyle/>
          <a:p>
            <a:pPr>
              <a:defRPr sz="1600" b="1">
                <a:solidFill>
                  <a:srgbClr val="1F2937"/>
                </a:solidFill>
              </a:defRPr>
            </a:pPr>
            <a:r>
              <a:t>Consequences</a:t>
            </a:r>
          </a:p>
        </p:txBody>
      </p:sp>
      <p:sp>
        <p:nvSpPr>
          <p:cNvPr id="9" name="TextBox 8"/>
          <p:cNvSpPr txBox="1"/>
          <p:nvPr/>
        </p:nvSpPr>
        <p:spPr>
          <a:xfrm>
            <a:off x="5409028" y="2588514"/>
            <a:ext cx="3749039" cy="1188720"/>
          </a:xfrm>
          <a:prstGeom prst="rect">
            <a:avLst/>
          </a:prstGeom>
          <a:noFill/>
        </p:spPr>
        <p:txBody>
          <a:bodyPr wrap="none">
            <a:spAutoFit/>
          </a:bodyPr>
          <a:lstStyle/>
          <a:p>
            <a:pPr>
              <a:spcAft>
                <a:spcPts val="400"/>
              </a:spcAft>
              <a:defRPr sz="1200">
                <a:solidFill>
                  <a:srgbClr val="374151"/>
                </a:solidFill>
              </a:defRPr>
            </a:pPr>
            <a:r>
              <a:t>• Inflated performance</a:t>
            </a:r>
          </a:p>
          <a:p>
            <a:pPr>
              <a:spcAft>
                <a:spcPts val="400"/>
              </a:spcAft>
              <a:defRPr sz="1200">
                <a:solidFill>
                  <a:srgbClr val="374151"/>
                </a:solidFill>
              </a:defRPr>
            </a:pPr>
            <a:r>
              <a:t>• Poor production results</a:t>
            </a:r>
          </a:p>
          <a:p>
            <a:pPr>
              <a:spcAft>
                <a:spcPts val="400"/>
              </a:spcAft>
              <a:defRPr sz="1200">
                <a:solidFill>
                  <a:srgbClr val="374151"/>
                </a:solidFill>
              </a:defRPr>
            </a:pPr>
            <a:r>
              <a:t>• Business impact</a:t>
            </a:r>
          </a:p>
          <a:p>
            <a:pPr>
              <a:spcAft>
                <a:spcPts val="400"/>
              </a:spcAft>
              <a:defRPr sz="1200">
                <a:solidFill>
                  <a:srgbClr val="374151"/>
                </a:solidFill>
              </a:defRPr>
            </a:pPr>
            <a:r>
              <a:t>• Loss of trust</a:t>
            </a:r>
          </a:p>
        </p:txBody>
      </p:sp>
    </p:spTree>
    <p:extLst>
      <p:ext uri="{BB962C8B-B14F-4D97-AF65-F5344CB8AC3E}">
        <p14:creationId xmlns:p14="http://schemas.microsoft.com/office/powerpoint/2010/main" val="11625150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770890"/>
            <a:ext cx="9380708" cy="635879"/>
          </a:xfrm>
        </p:spPr>
        <p:txBody>
          <a:bodyPr>
            <a:normAutofit fontScale="90000"/>
          </a:bodyPr>
          <a:lstStyle/>
          <a:p>
            <a:r>
              <a:rPr lang="en-US" dirty="0"/>
              <a:t>Time-Based Features</a:t>
            </a:r>
            <a:br>
              <a:rPr lang="en-US" dirty="0"/>
            </a:br>
            <a:endParaRPr lang="en-US" dirty="0"/>
          </a:p>
        </p:txBody>
      </p:sp>
      <p:sp>
        <p:nvSpPr>
          <p:cNvPr id="3" name="Rectangle 2"/>
          <p:cNvSpPr/>
          <p:nvPr/>
        </p:nvSpPr>
        <p:spPr>
          <a:xfrm>
            <a:off x="565150" y="1603716"/>
            <a:ext cx="7910733" cy="1754326"/>
          </a:xfrm>
          <a:prstGeom prst="rect">
            <a:avLst/>
          </a:prstGeom>
        </p:spPr>
        <p:txBody>
          <a:bodyPr wrap="square">
            <a:spAutoFit/>
          </a:bodyPr>
          <a:lstStyle/>
          <a:p>
            <a:r>
              <a:rPr lang="en-US" dirty="0"/>
              <a:t>Time-based features capture temporal patterns in data by using information such as hours, days, months, or seasons. They help models learn trends, cycles, and changes over time that are not visible in raw values alone.</a:t>
            </a:r>
          </a:p>
          <a:p>
            <a:r>
              <a:rPr lang="en-US" dirty="0"/>
              <a:t>Common examples include lag features, rolling statistics, and time since last event, all of which must be computed using only data available before the prediction time to avoid data leakage.</a:t>
            </a:r>
          </a:p>
        </p:txBody>
      </p:sp>
    </p:spTree>
    <p:extLst>
      <p:ext uri="{BB962C8B-B14F-4D97-AF65-F5344CB8AC3E}">
        <p14:creationId xmlns:p14="http://schemas.microsoft.com/office/powerpoint/2010/main" val="18974662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4048" y="469227"/>
            <a:ext cx="7335835" cy="692150"/>
          </a:xfrm>
        </p:spPr>
        <p:txBody>
          <a:bodyPr>
            <a:normAutofit fontScale="90000"/>
          </a:bodyPr>
          <a:lstStyle/>
          <a:p>
            <a:r>
              <a:rPr lang="en-US" dirty="0"/>
              <a:t>Temporal Patterns</a:t>
            </a:r>
          </a:p>
        </p:txBody>
      </p:sp>
      <p:sp>
        <p:nvSpPr>
          <p:cNvPr id="3" name="Content Placeholder 2"/>
          <p:cNvSpPr>
            <a:spLocks noGrp="1"/>
          </p:cNvSpPr>
          <p:nvPr>
            <p:ph idx="1"/>
          </p:nvPr>
        </p:nvSpPr>
        <p:spPr>
          <a:xfrm>
            <a:off x="544048" y="1375741"/>
            <a:ext cx="9809774" cy="2732532"/>
          </a:xfrm>
        </p:spPr>
        <p:txBody>
          <a:bodyPr>
            <a:normAutofit/>
          </a:bodyPr>
          <a:lstStyle/>
          <a:p>
            <a:r>
              <a:rPr lang="en-US" sz="1800" b="1" dirty="0"/>
              <a:t>Common Types:</a:t>
            </a:r>
            <a:endParaRPr lang="en-US" sz="1800" dirty="0"/>
          </a:p>
          <a:p>
            <a:r>
              <a:rPr lang="en-US" sz="1800" b="1" dirty="0"/>
              <a:t>Hour-of-day / Day-of-week / Month-of-year:</a:t>
            </a:r>
            <a:r>
              <a:rPr lang="en-US" sz="1800" dirty="0"/>
              <a:t> Capture recurring trends (e.g., website traffic peaks, sales seasonality)</a:t>
            </a:r>
          </a:p>
          <a:p>
            <a:r>
              <a:rPr lang="en-US" sz="1800" b="1" dirty="0"/>
              <a:t>Lag Features:</a:t>
            </a:r>
            <a:r>
              <a:rPr lang="en-US" sz="1800" dirty="0"/>
              <a:t> Use past values of a variable as predictors (e.g., previous day’s temperature, last purchase amount)</a:t>
            </a:r>
          </a:p>
          <a:p>
            <a:r>
              <a:rPr lang="en-US" sz="1800" b="1" dirty="0"/>
              <a:t>Rolling / Moving Averages:</a:t>
            </a:r>
            <a:r>
              <a:rPr lang="en-US" sz="1800" dirty="0"/>
              <a:t> Smooth out short-term fluctuations to highlight trends</a:t>
            </a:r>
          </a:p>
          <a:p>
            <a:r>
              <a:rPr lang="en-US" sz="1800" b="1" dirty="0"/>
              <a:t>Time Since Event:</a:t>
            </a:r>
            <a:r>
              <a:rPr lang="en-US" sz="1800" dirty="0"/>
              <a:t> Duration since a key event (e.g., last login, last transaction)</a:t>
            </a:r>
          </a:p>
          <a:p>
            <a:endParaRPr lang="en-US" sz="1800" dirty="0"/>
          </a:p>
        </p:txBody>
      </p:sp>
      <p:grpSp>
        <p:nvGrpSpPr>
          <p:cNvPr id="4" name="Group 3"/>
          <p:cNvGrpSpPr/>
          <p:nvPr/>
        </p:nvGrpSpPr>
        <p:grpSpPr>
          <a:xfrm>
            <a:off x="1174652" y="4108273"/>
            <a:ext cx="6726333" cy="1737360"/>
            <a:chOff x="1174652" y="3010993"/>
            <a:chExt cx="8229600" cy="2834640"/>
          </a:xfrm>
        </p:grpSpPr>
        <p:sp>
          <p:nvSpPr>
            <p:cNvPr id="5" name="Rounded Rectangle 4"/>
            <p:cNvSpPr/>
            <p:nvPr/>
          </p:nvSpPr>
          <p:spPr>
            <a:xfrm>
              <a:off x="3460652" y="3010993"/>
              <a:ext cx="3657600" cy="9144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460652" y="3010993"/>
              <a:ext cx="3657600" cy="914400"/>
            </a:xfrm>
            <a:prstGeom prst="rect">
              <a:avLst/>
            </a:prstGeom>
            <a:noFill/>
          </p:spPr>
          <p:txBody>
            <a:bodyPr wrap="none" anchor="ctr">
              <a:spAutoFit/>
            </a:bodyPr>
            <a:lstStyle/>
            <a:p>
              <a:pPr algn="ctr">
                <a:defRPr sz="2400" b="1">
                  <a:solidFill>
                    <a:srgbClr val="FFFFFF"/>
                  </a:solidFill>
                </a:defRPr>
              </a:pPr>
              <a:r>
                <a:rPr dirty="0"/>
                <a:t>Temporal Patterns</a:t>
              </a:r>
            </a:p>
          </p:txBody>
        </p:sp>
        <p:sp>
          <p:nvSpPr>
            <p:cNvPr id="7" name="Rounded Rectangle 6"/>
            <p:cNvSpPr/>
            <p:nvPr/>
          </p:nvSpPr>
          <p:spPr>
            <a:xfrm>
              <a:off x="1174652" y="4108273"/>
              <a:ext cx="1828800" cy="548640"/>
            </a:xfrm>
            <a:prstGeom prst="roundRect">
              <a:avLst/>
            </a:prstGeom>
            <a:solidFill>
              <a:srgbClr val="DBEAFE"/>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74652" y="4108273"/>
              <a:ext cx="1828800" cy="548640"/>
            </a:xfrm>
            <a:prstGeom prst="rect">
              <a:avLst/>
            </a:prstGeom>
            <a:noFill/>
          </p:spPr>
          <p:txBody>
            <a:bodyPr wrap="none" anchor="ctr">
              <a:spAutoFit/>
            </a:bodyPr>
            <a:lstStyle/>
            <a:p>
              <a:pPr algn="ctr">
                <a:defRPr sz="1400" b="1">
                  <a:solidFill>
                    <a:srgbClr val="1E40AF"/>
                  </a:solidFill>
                </a:defRPr>
              </a:pPr>
              <a:r>
                <a:t>Hour/Day/Month</a:t>
              </a:r>
            </a:p>
          </p:txBody>
        </p:sp>
        <p:sp>
          <p:nvSpPr>
            <p:cNvPr id="9" name="Rounded Rectangle 8"/>
            <p:cNvSpPr/>
            <p:nvPr/>
          </p:nvSpPr>
          <p:spPr>
            <a:xfrm>
              <a:off x="7575452" y="4108273"/>
              <a:ext cx="1828800" cy="548640"/>
            </a:xfrm>
            <a:prstGeom prst="roundRect">
              <a:avLst/>
            </a:prstGeom>
            <a:solidFill>
              <a:srgbClr val="DBEAFE"/>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575452" y="4108273"/>
              <a:ext cx="1828800" cy="548640"/>
            </a:xfrm>
            <a:prstGeom prst="rect">
              <a:avLst/>
            </a:prstGeom>
            <a:noFill/>
          </p:spPr>
          <p:txBody>
            <a:bodyPr wrap="none" anchor="ctr">
              <a:spAutoFit/>
            </a:bodyPr>
            <a:lstStyle/>
            <a:p>
              <a:pPr algn="ctr">
                <a:defRPr sz="1400" b="1">
                  <a:solidFill>
                    <a:srgbClr val="1E40AF"/>
                  </a:solidFill>
                </a:defRPr>
              </a:pPr>
              <a:r>
                <a:t>Rolling Avg</a:t>
              </a:r>
            </a:p>
          </p:txBody>
        </p:sp>
        <p:sp>
          <p:nvSpPr>
            <p:cNvPr id="11" name="Rounded Rectangle 10"/>
            <p:cNvSpPr/>
            <p:nvPr/>
          </p:nvSpPr>
          <p:spPr>
            <a:xfrm>
              <a:off x="2089052" y="5296993"/>
              <a:ext cx="1828800" cy="548640"/>
            </a:xfrm>
            <a:prstGeom prst="roundRect">
              <a:avLst/>
            </a:prstGeom>
            <a:solidFill>
              <a:srgbClr val="DBEAFE"/>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089052" y="5296993"/>
              <a:ext cx="1828800" cy="548640"/>
            </a:xfrm>
            <a:prstGeom prst="rect">
              <a:avLst/>
            </a:prstGeom>
            <a:noFill/>
          </p:spPr>
          <p:txBody>
            <a:bodyPr wrap="none" anchor="ctr">
              <a:spAutoFit/>
            </a:bodyPr>
            <a:lstStyle/>
            <a:p>
              <a:pPr algn="ctr">
                <a:defRPr sz="1400" b="1">
                  <a:solidFill>
                    <a:srgbClr val="1E40AF"/>
                  </a:solidFill>
                </a:defRPr>
              </a:pPr>
              <a:r>
                <a:t>Lag Features</a:t>
              </a:r>
            </a:p>
          </p:txBody>
        </p:sp>
        <p:sp>
          <p:nvSpPr>
            <p:cNvPr id="13" name="Rounded Rectangle 12"/>
            <p:cNvSpPr/>
            <p:nvPr/>
          </p:nvSpPr>
          <p:spPr>
            <a:xfrm>
              <a:off x="6661052" y="5296993"/>
              <a:ext cx="1828800" cy="548640"/>
            </a:xfrm>
            <a:prstGeom prst="roundRect">
              <a:avLst/>
            </a:prstGeom>
            <a:solidFill>
              <a:srgbClr val="DBEAFE"/>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61052" y="5296993"/>
              <a:ext cx="1828800" cy="548640"/>
            </a:xfrm>
            <a:prstGeom prst="rect">
              <a:avLst/>
            </a:prstGeom>
            <a:noFill/>
          </p:spPr>
          <p:txBody>
            <a:bodyPr wrap="none" anchor="ctr">
              <a:spAutoFit/>
            </a:bodyPr>
            <a:lstStyle/>
            <a:p>
              <a:pPr algn="ctr">
                <a:defRPr sz="1400" b="1">
                  <a:solidFill>
                    <a:srgbClr val="1E40AF"/>
                  </a:solidFill>
                </a:defRPr>
              </a:pPr>
              <a:r>
                <a:t>Time Since Event</a:t>
              </a:r>
            </a:p>
          </p:txBody>
        </p:sp>
      </p:grpSp>
    </p:spTree>
    <p:extLst>
      <p:ext uri="{BB962C8B-B14F-4D97-AF65-F5344CB8AC3E}">
        <p14:creationId xmlns:p14="http://schemas.microsoft.com/office/powerpoint/2010/main" val="21521373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475469"/>
            <a:ext cx="9085287" cy="748421"/>
          </a:xfrm>
        </p:spPr>
        <p:txBody>
          <a:bodyPr>
            <a:normAutofit fontScale="90000"/>
          </a:bodyPr>
          <a:lstStyle/>
          <a:p>
            <a:r>
              <a:rPr lang="en-US" dirty="0"/>
              <a:t>Feature Store Architecture</a:t>
            </a:r>
            <a:br>
              <a:rPr lang="en-US" dirty="0"/>
            </a:br>
            <a:endParaRPr lang="en-US" dirty="0"/>
          </a:p>
        </p:txBody>
      </p:sp>
      <p:sp>
        <p:nvSpPr>
          <p:cNvPr id="3" name="Rectangle 2"/>
          <p:cNvSpPr/>
          <p:nvPr/>
        </p:nvSpPr>
        <p:spPr>
          <a:xfrm>
            <a:off x="565150" y="1519311"/>
            <a:ext cx="7207347" cy="2862322"/>
          </a:xfrm>
          <a:prstGeom prst="rect">
            <a:avLst/>
          </a:prstGeom>
        </p:spPr>
        <p:txBody>
          <a:bodyPr wrap="square">
            <a:spAutoFit/>
          </a:bodyPr>
          <a:lstStyle/>
          <a:p>
            <a:pPr algn="just"/>
            <a:r>
              <a:rPr lang="en-US" dirty="0"/>
              <a:t>A feature store is a centralized platform designed to organize, manage, and serve features for machine learning workflows. It provides a structured environment where features are cataloged, versioned, and maintained, ensuring consistency across different models and projects. Feature stores support both offline (batch) and online (real-time) feature serving, allowing teams to use the same features reliably for model training and production inference. By standardizing feature management, feature stores improve reproducibility, scalability, and collaboration across data science and engineering teams.</a:t>
            </a:r>
          </a:p>
        </p:txBody>
      </p:sp>
    </p:spTree>
    <p:extLst>
      <p:ext uri="{BB962C8B-B14F-4D97-AF65-F5344CB8AC3E}">
        <p14:creationId xmlns:p14="http://schemas.microsoft.com/office/powerpoint/2010/main" val="428340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39704" y="827161"/>
            <a:ext cx="7335835" cy="706218"/>
          </a:xfrm>
        </p:spPr>
        <p:txBody>
          <a:bodyPr>
            <a:normAutofit fontScale="90000"/>
          </a:bodyPr>
          <a:lstStyle/>
          <a:p>
            <a:r>
              <a:rPr lang="en-US" dirty="0"/>
              <a:t>Feature Store Architecture</a:t>
            </a:r>
            <a:br>
              <a:rPr lang="en-US" dirty="0"/>
            </a:br>
            <a:endParaRPr lang="en-US" dirty="0"/>
          </a:p>
        </p:txBody>
      </p:sp>
      <p:grpSp>
        <p:nvGrpSpPr>
          <p:cNvPr id="4" name="Group 3"/>
          <p:cNvGrpSpPr/>
          <p:nvPr/>
        </p:nvGrpSpPr>
        <p:grpSpPr>
          <a:xfrm>
            <a:off x="1739704" y="2031825"/>
            <a:ext cx="5486400" cy="3291840"/>
            <a:chOff x="2335237" y="2264898"/>
            <a:chExt cx="5486400" cy="3291840"/>
          </a:xfrm>
        </p:grpSpPr>
        <p:sp>
          <p:nvSpPr>
            <p:cNvPr id="5" name="Rounded Rectangle 4"/>
            <p:cNvSpPr/>
            <p:nvPr/>
          </p:nvSpPr>
          <p:spPr>
            <a:xfrm>
              <a:off x="2335237" y="2264898"/>
              <a:ext cx="5486400" cy="548640"/>
            </a:xfrm>
            <a:prstGeom prst="roundRect">
              <a:avLst/>
            </a:prstGeom>
            <a:solidFill>
              <a:srgbClr val="F3F4F6"/>
            </a:solidFill>
            <a:ln w="1905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335237" y="2264898"/>
              <a:ext cx="5486400" cy="548640"/>
            </a:xfrm>
            <a:prstGeom prst="rect">
              <a:avLst/>
            </a:prstGeom>
            <a:noFill/>
          </p:spPr>
          <p:txBody>
            <a:bodyPr wrap="none" anchor="ctr">
              <a:spAutoFit/>
            </a:bodyPr>
            <a:lstStyle/>
            <a:p>
              <a:pPr algn="ctr">
                <a:defRPr sz="1800" b="1">
                  <a:solidFill>
                    <a:srgbClr val="1F2937"/>
                  </a:solidFill>
                </a:defRPr>
              </a:pPr>
              <a:r>
                <a:t>Data Sources</a:t>
              </a:r>
            </a:p>
          </p:txBody>
        </p:sp>
        <p:sp>
          <p:nvSpPr>
            <p:cNvPr id="7" name="Down Arrow 6"/>
            <p:cNvSpPr/>
            <p:nvPr/>
          </p:nvSpPr>
          <p:spPr>
            <a:xfrm>
              <a:off x="4895557" y="2831826"/>
              <a:ext cx="365760" cy="457200"/>
            </a:xfrm>
            <a:prstGeom prst="down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335237" y="2950698"/>
              <a:ext cx="5486400" cy="548640"/>
            </a:xfrm>
            <a:prstGeom prst="roundRect">
              <a:avLst/>
            </a:prstGeom>
            <a:solidFill>
              <a:srgbClr val="DBEAFE"/>
            </a:solidFill>
            <a:ln w="1905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335237" y="2950698"/>
              <a:ext cx="5486400" cy="548640"/>
            </a:xfrm>
            <a:prstGeom prst="rect">
              <a:avLst/>
            </a:prstGeom>
            <a:noFill/>
          </p:spPr>
          <p:txBody>
            <a:bodyPr wrap="none" anchor="ctr">
              <a:spAutoFit/>
            </a:bodyPr>
            <a:lstStyle/>
            <a:p>
              <a:pPr algn="ctr">
                <a:defRPr sz="1800" b="1">
                  <a:solidFill>
                    <a:srgbClr val="1F2937"/>
                  </a:solidFill>
                </a:defRPr>
              </a:pPr>
              <a:r>
                <a:t>Feature Engineering</a:t>
              </a:r>
            </a:p>
          </p:txBody>
        </p:sp>
        <p:sp>
          <p:nvSpPr>
            <p:cNvPr id="10" name="Down Arrow 9"/>
            <p:cNvSpPr/>
            <p:nvPr/>
          </p:nvSpPr>
          <p:spPr>
            <a:xfrm>
              <a:off x="4895557" y="3517626"/>
              <a:ext cx="365760" cy="457200"/>
            </a:xfrm>
            <a:prstGeom prst="down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2335237" y="3636498"/>
              <a:ext cx="5486400" cy="548640"/>
            </a:xfrm>
            <a:prstGeom prst="roundRect">
              <a:avLst/>
            </a:prstGeom>
            <a:solidFill>
              <a:srgbClr val="EFF6FF"/>
            </a:solidFill>
            <a:ln w="1905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335237" y="3636498"/>
              <a:ext cx="5486400" cy="548640"/>
            </a:xfrm>
            <a:prstGeom prst="rect">
              <a:avLst/>
            </a:prstGeom>
            <a:noFill/>
          </p:spPr>
          <p:txBody>
            <a:bodyPr wrap="none" anchor="ctr">
              <a:spAutoFit/>
            </a:bodyPr>
            <a:lstStyle/>
            <a:p>
              <a:pPr algn="ctr">
                <a:defRPr sz="1800" b="1">
                  <a:solidFill>
                    <a:srgbClr val="1F2937"/>
                  </a:solidFill>
                </a:defRPr>
              </a:pPr>
              <a:r>
                <a:t>Feature Registry</a:t>
              </a:r>
            </a:p>
          </p:txBody>
        </p:sp>
        <p:sp>
          <p:nvSpPr>
            <p:cNvPr id="13" name="Down Arrow 12"/>
            <p:cNvSpPr/>
            <p:nvPr/>
          </p:nvSpPr>
          <p:spPr>
            <a:xfrm>
              <a:off x="4895557" y="4203426"/>
              <a:ext cx="365760" cy="457200"/>
            </a:xfrm>
            <a:prstGeom prst="down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2335237" y="4322298"/>
              <a:ext cx="5486400" cy="548640"/>
            </a:xfrm>
            <a:prstGeom prst="roundRect">
              <a:avLst/>
            </a:prstGeom>
            <a:solidFill>
              <a:srgbClr val="FEF3C7"/>
            </a:solidFill>
            <a:ln w="1905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335237" y="4322298"/>
              <a:ext cx="5486400" cy="548640"/>
            </a:xfrm>
            <a:prstGeom prst="rect">
              <a:avLst/>
            </a:prstGeom>
            <a:noFill/>
          </p:spPr>
          <p:txBody>
            <a:bodyPr wrap="none" anchor="ctr">
              <a:spAutoFit/>
            </a:bodyPr>
            <a:lstStyle/>
            <a:p>
              <a:pPr algn="ctr">
                <a:defRPr sz="1800" b="1">
                  <a:solidFill>
                    <a:srgbClr val="1F2937"/>
                  </a:solidFill>
                </a:defRPr>
              </a:pPr>
              <a:r>
                <a:t>Storage Layer</a:t>
              </a:r>
            </a:p>
          </p:txBody>
        </p:sp>
        <p:sp>
          <p:nvSpPr>
            <p:cNvPr id="16" name="Down Arrow 15"/>
            <p:cNvSpPr/>
            <p:nvPr/>
          </p:nvSpPr>
          <p:spPr>
            <a:xfrm>
              <a:off x="4895557" y="4889226"/>
              <a:ext cx="365760" cy="457200"/>
            </a:xfrm>
            <a:prstGeom prst="down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2335237" y="5008098"/>
              <a:ext cx="5486400" cy="548640"/>
            </a:xfrm>
            <a:prstGeom prst="roundRect">
              <a:avLst/>
            </a:prstGeom>
            <a:solidFill>
              <a:srgbClr val="DCFCE7"/>
            </a:solidFill>
            <a:ln w="19050">
              <a:solidFill>
                <a:srgbClr val="9CA3A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335237" y="5008098"/>
              <a:ext cx="5486400" cy="548640"/>
            </a:xfrm>
            <a:prstGeom prst="rect">
              <a:avLst/>
            </a:prstGeom>
            <a:noFill/>
          </p:spPr>
          <p:txBody>
            <a:bodyPr wrap="none" anchor="ctr">
              <a:spAutoFit/>
            </a:bodyPr>
            <a:lstStyle/>
            <a:p>
              <a:pPr algn="ctr">
                <a:defRPr sz="1800" b="1">
                  <a:solidFill>
                    <a:srgbClr val="1F2937"/>
                  </a:solidFill>
                </a:defRPr>
              </a:pPr>
              <a:r>
                <a:t>Consumption</a:t>
              </a:r>
            </a:p>
          </p:txBody>
        </p:sp>
      </p:grpSp>
    </p:spTree>
    <p:extLst>
      <p:ext uri="{BB962C8B-B14F-4D97-AF65-F5344CB8AC3E}">
        <p14:creationId xmlns:p14="http://schemas.microsoft.com/office/powerpoint/2010/main" val="16647773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09516" y="150364"/>
            <a:ext cx="9352573" cy="749046"/>
          </a:xfrm>
        </p:spPr>
        <p:txBody>
          <a:bodyPr>
            <a:normAutofit fontScale="90000"/>
          </a:bodyPr>
          <a:lstStyle/>
          <a:p>
            <a:r>
              <a:rPr lang="en-US" dirty="0" smtClean="0"/>
              <a:t>Online vs Offline Feature Serving</a:t>
            </a:r>
            <a:br>
              <a:rPr lang="en-US" dirty="0" smtClean="0"/>
            </a:br>
            <a:endParaRPr lang="en-US" dirty="0"/>
          </a:p>
        </p:txBody>
      </p:sp>
      <p:sp>
        <p:nvSpPr>
          <p:cNvPr id="3" name="Rectangle 2"/>
          <p:cNvSpPr/>
          <p:nvPr/>
        </p:nvSpPr>
        <p:spPr>
          <a:xfrm>
            <a:off x="926123" y="1164967"/>
            <a:ext cx="7345680" cy="2308324"/>
          </a:xfrm>
          <a:prstGeom prst="rect">
            <a:avLst/>
          </a:prstGeom>
        </p:spPr>
        <p:txBody>
          <a:bodyPr wrap="square">
            <a:spAutoFit/>
          </a:bodyPr>
          <a:lstStyle/>
          <a:p>
            <a:r>
              <a:rPr lang="en-US" dirty="0"/>
              <a:t>Offline feature serving is designed for batch processing, such as model training and large-scale predictions, where latency is less critical. Features are typically stored in data warehouses and updated on a scheduled basis.</a:t>
            </a:r>
          </a:p>
          <a:p>
            <a:r>
              <a:rPr lang="en-US" dirty="0"/>
              <a:t>Online feature serving supports real-time predictions, where features must be retrieved and computed with very low latency. It is commonly used in production systems that require immediate responses, such as recommendation or fraud detection systems.</a:t>
            </a:r>
          </a:p>
        </p:txBody>
      </p:sp>
    </p:spTree>
    <p:extLst>
      <p:ext uri="{BB962C8B-B14F-4D97-AF65-F5344CB8AC3E}">
        <p14:creationId xmlns:p14="http://schemas.microsoft.com/office/powerpoint/2010/main" val="33036346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471697"/>
            <a:ext cx="8030210" cy="1268984"/>
          </a:xfrm>
        </p:spPr>
        <p:txBody>
          <a:bodyPr>
            <a:normAutofit fontScale="90000"/>
          </a:bodyPr>
          <a:lstStyle/>
          <a:p>
            <a:r>
              <a:rPr lang="en-US" dirty="0"/>
              <a:t>Online vs Offline Feature Serving</a:t>
            </a:r>
            <a:br>
              <a:rPr lang="en-US" dirty="0"/>
            </a:br>
            <a:endParaRPr lang="en-US" dirty="0"/>
          </a:p>
        </p:txBody>
      </p:sp>
      <p:grpSp>
        <p:nvGrpSpPr>
          <p:cNvPr id="3" name="Group 2"/>
          <p:cNvGrpSpPr/>
          <p:nvPr/>
        </p:nvGrpSpPr>
        <p:grpSpPr>
          <a:xfrm>
            <a:off x="1127858" y="1740681"/>
            <a:ext cx="8412480" cy="3474720"/>
            <a:chOff x="565150" y="2329453"/>
            <a:chExt cx="8412480" cy="3474720"/>
          </a:xfrm>
        </p:grpSpPr>
        <p:sp>
          <p:nvSpPr>
            <p:cNvPr id="4" name="Rounded Rectangle 3"/>
            <p:cNvSpPr/>
            <p:nvPr/>
          </p:nvSpPr>
          <p:spPr>
            <a:xfrm>
              <a:off x="565150" y="2329453"/>
              <a:ext cx="4114800" cy="3474720"/>
            </a:xfrm>
            <a:prstGeom prst="roundRect">
              <a:avLst/>
            </a:prstGeom>
            <a:solidFill>
              <a:srgbClr val="DBEAFE"/>
            </a:solidFill>
            <a:ln w="381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5150" y="2420893"/>
              <a:ext cx="4114800" cy="457200"/>
            </a:xfrm>
            <a:prstGeom prst="rect">
              <a:avLst/>
            </a:prstGeom>
            <a:noFill/>
          </p:spPr>
          <p:txBody>
            <a:bodyPr wrap="none">
              <a:spAutoFit/>
            </a:bodyPr>
            <a:lstStyle/>
            <a:p>
              <a:pPr algn="ctr">
                <a:defRPr sz="2000" b="1">
                  <a:solidFill>
                    <a:srgbClr val="1E40AF"/>
                  </a:solidFill>
                </a:defRPr>
              </a:pPr>
              <a:r>
                <a:t>OFFLINE SERVING</a:t>
              </a:r>
            </a:p>
          </p:txBody>
        </p:sp>
        <p:sp>
          <p:nvSpPr>
            <p:cNvPr id="6" name="Rounded Rectangle 5"/>
            <p:cNvSpPr/>
            <p:nvPr/>
          </p:nvSpPr>
          <p:spPr>
            <a:xfrm>
              <a:off x="1753870" y="2969533"/>
              <a:ext cx="1280160" cy="32004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753870" y="2969533"/>
              <a:ext cx="1280160" cy="320040"/>
            </a:xfrm>
            <a:prstGeom prst="rect">
              <a:avLst/>
            </a:prstGeom>
            <a:noFill/>
          </p:spPr>
          <p:txBody>
            <a:bodyPr wrap="none" anchor="ctr">
              <a:spAutoFit/>
            </a:bodyPr>
            <a:lstStyle/>
            <a:p>
              <a:pPr algn="ctr">
                <a:defRPr sz="1200" b="1">
                  <a:solidFill>
                    <a:srgbClr val="FFFFFF"/>
                  </a:solidFill>
                </a:defRPr>
              </a:pPr>
              <a:r>
                <a:t>Batch</a:t>
              </a:r>
            </a:p>
          </p:txBody>
        </p:sp>
        <p:sp>
          <p:nvSpPr>
            <p:cNvPr id="8" name="TextBox 7"/>
            <p:cNvSpPr txBox="1"/>
            <p:nvPr/>
          </p:nvSpPr>
          <p:spPr>
            <a:xfrm>
              <a:off x="748030" y="3518173"/>
              <a:ext cx="3749039" cy="2103120"/>
            </a:xfrm>
            <a:prstGeom prst="rect">
              <a:avLst/>
            </a:prstGeom>
            <a:noFill/>
          </p:spPr>
          <p:txBody>
            <a:bodyPr wrap="none">
              <a:spAutoFit/>
            </a:bodyPr>
            <a:lstStyle/>
            <a:p>
              <a:pPr>
                <a:spcAft>
                  <a:spcPts val="1000"/>
                </a:spcAft>
                <a:defRPr sz="1400">
                  <a:solidFill>
                    <a:srgbClr val="1F2937"/>
                  </a:solidFill>
                </a:defRPr>
              </a:pPr>
              <a:r>
                <a:t>• Model training</a:t>
              </a:r>
            </a:p>
            <a:p>
              <a:pPr>
                <a:spcAft>
                  <a:spcPts val="1000"/>
                </a:spcAft>
                <a:defRPr sz="1400">
                  <a:solidFill>
                    <a:srgbClr val="1F2937"/>
                  </a:solidFill>
                </a:defRPr>
              </a:pPr>
              <a:r>
                <a:t>• Batch predictions</a:t>
              </a:r>
            </a:p>
            <a:p>
              <a:pPr>
                <a:spcAft>
                  <a:spcPts val="1000"/>
                </a:spcAft>
                <a:defRPr sz="1400">
                  <a:solidFill>
                    <a:srgbClr val="1F2937"/>
                  </a:solidFill>
                </a:defRPr>
              </a:pPr>
              <a:r>
                <a:t>• Data warehouses</a:t>
              </a:r>
            </a:p>
            <a:p>
              <a:pPr>
                <a:spcAft>
                  <a:spcPts val="1000"/>
                </a:spcAft>
                <a:defRPr sz="1400">
                  <a:solidFill>
                    <a:srgbClr val="1F2937"/>
                  </a:solidFill>
                </a:defRPr>
              </a:pPr>
              <a:r>
                <a:t>• Latency: Minutes-Hours</a:t>
              </a:r>
            </a:p>
          </p:txBody>
        </p:sp>
        <p:sp>
          <p:nvSpPr>
            <p:cNvPr id="9" name="Rounded Rectangle 8"/>
            <p:cNvSpPr/>
            <p:nvPr/>
          </p:nvSpPr>
          <p:spPr>
            <a:xfrm>
              <a:off x="4862830" y="2329453"/>
              <a:ext cx="4114800" cy="3474720"/>
            </a:xfrm>
            <a:prstGeom prst="roundRect">
              <a:avLst/>
            </a:prstGeom>
            <a:solidFill>
              <a:srgbClr val="FEF3C7"/>
            </a:solidFill>
            <a:ln w="381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862830" y="2420893"/>
              <a:ext cx="4114800" cy="457200"/>
            </a:xfrm>
            <a:prstGeom prst="rect">
              <a:avLst/>
            </a:prstGeom>
            <a:noFill/>
          </p:spPr>
          <p:txBody>
            <a:bodyPr wrap="none">
              <a:spAutoFit/>
            </a:bodyPr>
            <a:lstStyle/>
            <a:p>
              <a:pPr algn="ctr">
                <a:defRPr sz="2000" b="1">
                  <a:solidFill>
                    <a:srgbClr val="92400E"/>
                  </a:solidFill>
                </a:defRPr>
              </a:pPr>
              <a:r>
                <a:t>ONLINE SERVING</a:t>
              </a:r>
            </a:p>
          </p:txBody>
        </p:sp>
        <p:sp>
          <p:nvSpPr>
            <p:cNvPr id="11" name="Rounded Rectangle 10"/>
            <p:cNvSpPr/>
            <p:nvPr/>
          </p:nvSpPr>
          <p:spPr>
            <a:xfrm>
              <a:off x="6051550" y="2969533"/>
              <a:ext cx="1280160" cy="32004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051550" y="2969533"/>
              <a:ext cx="1280160" cy="320040"/>
            </a:xfrm>
            <a:prstGeom prst="rect">
              <a:avLst/>
            </a:prstGeom>
            <a:noFill/>
          </p:spPr>
          <p:txBody>
            <a:bodyPr wrap="none" anchor="ctr">
              <a:spAutoFit/>
            </a:bodyPr>
            <a:lstStyle/>
            <a:p>
              <a:pPr algn="ctr">
                <a:defRPr sz="1200" b="1">
                  <a:solidFill>
                    <a:srgbClr val="FFFFFF"/>
                  </a:solidFill>
                </a:defRPr>
              </a:pPr>
              <a:r>
                <a:t>Real-time</a:t>
              </a:r>
            </a:p>
          </p:txBody>
        </p:sp>
        <p:sp>
          <p:nvSpPr>
            <p:cNvPr id="13" name="TextBox 12"/>
            <p:cNvSpPr txBox="1"/>
            <p:nvPr/>
          </p:nvSpPr>
          <p:spPr>
            <a:xfrm>
              <a:off x="5045710" y="3518173"/>
              <a:ext cx="3749039" cy="2103120"/>
            </a:xfrm>
            <a:prstGeom prst="rect">
              <a:avLst/>
            </a:prstGeom>
            <a:noFill/>
          </p:spPr>
          <p:txBody>
            <a:bodyPr wrap="none">
              <a:spAutoFit/>
            </a:bodyPr>
            <a:lstStyle/>
            <a:p>
              <a:pPr>
                <a:spcAft>
                  <a:spcPts val="1000"/>
                </a:spcAft>
                <a:defRPr sz="1400">
                  <a:solidFill>
                    <a:srgbClr val="1F2937"/>
                  </a:solidFill>
                </a:defRPr>
              </a:pPr>
              <a:r>
                <a:t>• Real-time predictions</a:t>
              </a:r>
            </a:p>
            <a:p>
              <a:pPr>
                <a:spcAft>
                  <a:spcPts val="1000"/>
                </a:spcAft>
                <a:defRPr sz="1400">
                  <a:solidFill>
                    <a:srgbClr val="1F2937"/>
                  </a:solidFill>
                </a:defRPr>
              </a:pPr>
              <a:r>
                <a:t>• Single requests</a:t>
              </a:r>
            </a:p>
            <a:p>
              <a:pPr>
                <a:spcAft>
                  <a:spcPts val="1000"/>
                </a:spcAft>
                <a:defRPr sz="1400">
                  <a:solidFill>
                    <a:srgbClr val="1F2937"/>
                  </a:solidFill>
                </a:defRPr>
              </a:pPr>
              <a:r>
                <a:t>• Key-value stores</a:t>
              </a:r>
            </a:p>
            <a:p>
              <a:pPr>
                <a:spcAft>
                  <a:spcPts val="1000"/>
                </a:spcAft>
                <a:defRPr sz="1400">
                  <a:solidFill>
                    <a:srgbClr val="1F2937"/>
                  </a:solidFill>
                </a:defRPr>
              </a:pPr>
              <a:r>
                <a:t>• Latency: Milliseconds</a:t>
              </a:r>
            </a:p>
          </p:txBody>
        </p:sp>
      </p:grpSp>
    </p:spTree>
    <p:extLst>
      <p:ext uri="{BB962C8B-B14F-4D97-AF65-F5344CB8AC3E}">
        <p14:creationId xmlns:p14="http://schemas.microsoft.com/office/powerpoint/2010/main" val="6112719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9384" y="841228"/>
            <a:ext cx="9296302" cy="593676"/>
          </a:xfrm>
        </p:spPr>
        <p:txBody>
          <a:bodyPr>
            <a:normAutofit fontScale="90000"/>
          </a:bodyPr>
          <a:lstStyle/>
          <a:p>
            <a:r>
              <a:rPr lang="en-US" dirty="0"/>
              <a:t>Feature Store Tools</a:t>
            </a:r>
            <a:br>
              <a:rPr lang="en-US" dirty="0"/>
            </a:br>
            <a:endParaRPr lang="en-US" dirty="0"/>
          </a:p>
        </p:txBody>
      </p:sp>
      <p:sp>
        <p:nvSpPr>
          <p:cNvPr id="3" name="Rectangle 2"/>
          <p:cNvSpPr/>
          <p:nvPr/>
        </p:nvSpPr>
        <p:spPr>
          <a:xfrm>
            <a:off x="1029383" y="1925324"/>
            <a:ext cx="6707847" cy="2585323"/>
          </a:xfrm>
          <a:prstGeom prst="rect">
            <a:avLst/>
          </a:prstGeom>
        </p:spPr>
        <p:txBody>
          <a:bodyPr wrap="square">
            <a:spAutoFit/>
          </a:bodyPr>
          <a:lstStyle/>
          <a:p>
            <a:r>
              <a:rPr lang="en-US" b="1" dirty="0"/>
              <a:t>Purpose:</a:t>
            </a:r>
            <a:r>
              <a:rPr lang="en-US" dirty="0"/>
              <a:t> Manage, store, and serve features consistently for training and production ML systems</a:t>
            </a:r>
          </a:p>
          <a:p>
            <a:r>
              <a:rPr lang="en-US" b="1" dirty="0"/>
              <a:t>Popular Tools:</a:t>
            </a:r>
            <a:endParaRPr lang="en-US" dirty="0"/>
          </a:p>
          <a:p>
            <a:pPr>
              <a:buFont typeface="Arial" panose="020B0604020202020204" pitchFamily="34" charset="0"/>
              <a:buChar char="•"/>
            </a:pPr>
            <a:r>
              <a:rPr lang="en-US" b="1" dirty="0"/>
              <a:t>Feast (Open Source):</a:t>
            </a:r>
            <a:r>
              <a:rPr lang="en-US" dirty="0"/>
              <a:t> Python-first, self-hosted, widely used by Google and </a:t>
            </a:r>
            <a:r>
              <a:rPr lang="en-US" dirty="0" err="1"/>
              <a:t>Gojek</a:t>
            </a:r>
            <a:endParaRPr lang="en-US" dirty="0"/>
          </a:p>
          <a:p>
            <a:pPr>
              <a:buFont typeface="Arial" panose="020B0604020202020204" pitchFamily="34" charset="0"/>
              <a:buChar char="•"/>
            </a:pPr>
            <a:r>
              <a:rPr lang="en-US" b="1" dirty="0" err="1"/>
              <a:t>Tecton</a:t>
            </a:r>
            <a:r>
              <a:rPr lang="en-US" b="1" dirty="0"/>
              <a:t> (Commercial):</a:t>
            </a:r>
            <a:r>
              <a:rPr lang="en-US" dirty="0"/>
              <a:t> Enterprise-grade, fully managed, advanced capabilities</a:t>
            </a:r>
          </a:p>
          <a:p>
            <a:pPr>
              <a:buFont typeface="Arial" panose="020B0604020202020204" pitchFamily="34" charset="0"/>
              <a:buChar char="•"/>
            </a:pPr>
            <a:r>
              <a:rPr lang="en-US" b="1" dirty="0"/>
              <a:t>Others:</a:t>
            </a:r>
            <a:r>
              <a:rPr lang="en-US" dirty="0"/>
              <a:t> </a:t>
            </a:r>
            <a:r>
              <a:rPr lang="en-US" dirty="0" err="1"/>
              <a:t>Hopsworks</a:t>
            </a:r>
            <a:r>
              <a:rPr lang="en-US" dirty="0"/>
              <a:t>, </a:t>
            </a:r>
            <a:r>
              <a:rPr lang="en-US" dirty="0" err="1"/>
              <a:t>SageMaker</a:t>
            </a:r>
            <a:r>
              <a:rPr lang="en-US" dirty="0"/>
              <a:t> Feature Store, </a:t>
            </a:r>
            <a:r>
              <a:rPr lang="en-US" dirty="0" err="1"/>
              <a:t>Databricks</a:t>
            </a:r>
            <a:r>
              <a:rPr lang="en-US" dirty="0"/>
              <a:t> Feature Store</a:t>
            </a:r>
          </a:p>
        </p:txBody>
      </p:sp>
    </p:spTree>
    <p:extLst>
      <p:ext uri="{BB962C8B-B14F-4D97-AF65-F5344CB8AC3E}">
        <p14:creationId xmlns:p14="http://schemas.microsoft.com/office/powerpoint/2010/main" val="262664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4966" y="770890"/>
            <a:ext cx="9324438" cy="566166"/>
          </a:xfrm>
        </p:spPr>
        <p:txBody>
          <a:bodyPr>
            <a:normAutofit fontScale="90000"/>
          </a:bodyPr>
          <a:lstStyle/>
          <a:p>
            <a:r>
              <a:rPr lang="en-US" dirty="0" smtClean="0"/>
              <a:t>Clustering Algorithms</a:t>
            </a:r>
            <a:br>
              <a:rPr lang="en-US" dirty="0" smtClean="0"/>
            </a:br>
            <a:endParaRPr lang="en-US" dirty="0"/>
          </a:p>
        </p:txBody>
      </p:sp>
      <p:sp>
        <p:nvSpPr>
          <p:cNvPr id="3" name="Rectangle 2"/>
          <p:cNvSpPr/>
          <p:nvPr/>
        </p:nvSpPr>
        <p:spPr>
          <a:xfrm>
            <a:off x="754966" y="1732731"/>
            <a:ext cx="7108874" cy="2308324"/>
          </a:xfrm>
          <a:prstGeom prst="rect">
            <a:avLst/>
          </a:prstGeom>
        </p:spPr>
        <p:txBody>
          <a:bodyPr wrap="square">
            <a:spAutoFit/>
          </a:bodyPr>
          <a:lstStyle/>
          <a:p>
            <a:r>
              <a:rPr lang="en-US" dirty="0"/>
              <a:t>Clustering algorithms group data points based on similarity and structure, without using labeled outcomes. Different algorithms are suited to different data shapes, densities, and assumptions.</a:t>
            </a:r>
          </a:p>
          <a:p>
            <a:r>
              <a:rPr lang="en-US" dirty="0"/>
              <a:t>Common approaches include K-Means for compact clusters, Hierarchical clustering for nested relationships, DBSCAN for arbitrary shapes and noise handling, and Gaussian Mixture Models for probabilistic cluster assignment. Selecting the right algorithm depends on the data distribution and business objective.</a:t>
            </a:r>
          </a:p>
        </p:txBody>
      </p:sp>
    </p:spTree>
    <p:extLst>
      <p:ext uri="{BB962C8B-B14F-4D97-AF65-F5344CB8AC3E}">
        <p14:creationId xmlns:p14="http://schemas.microsoft.com/office/powerpoint/2010/main" val="10341698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447959"/>
            <a:ext cx="7335835" cy="635879"/>
          </a:xfrm>
        </p:spPr>
        <p:txBody>
          <a:bodyPr>
            <a:normAutofit fontScale="90000"/>
          </a:bodyPr>
          <a:lstStyle/>
          <a:p>
            <a:r>
              <a:rPr lang="en-US" dirty="0" smtClean="0"/>
              <a:t>Common clustering Algorithms</a:t>
            </a:r>
            <a:endParaRPr lang="en-US" dirty="0"/>
          </a:p>
        </p:txBody>
      </p:sp>
      <p:sp>
        <p:nvSpPr>
          <p:cNvPr id="3" name="Rectangle 2"/>
          <p:cNvSpPr/>
          <p:nvPr/>
        </p:nvSpPr>
        <p:spPr>
          <a:xfrm>
            <a:off x="565149" y="1083838"/>
            <a:ext cx="9746469" cy="4524315"/>
          </a:xfrm>
          <a:prstGeom prst="rect">
            <a:avLst/>
          </a:prstGeom>
        </p:spPr>
        <p:txBody>
          <a:bodyPr wrap="square">
            <a:spAutoFit/>
          </a:bodyPr>
          <a:lstStyle/>
          <a:p>
            <a:r>
              <a:rPr lang="en-US" b="1" dirty="0"/>
              <a:t>K-Means</a:t>
            </a:r>
            <a:endParaRPr lang="en-US" dirty="0"/>
          </a:p>
          <a:p>
            <a:pPr>
              <a:buFont typeface="Arial" panose="020B0604020202020204" pitchFamily="34" charset="0"/>
              <a:buChar char="•"/>
            </a:pPr>
            <a:r>
              <a:rPr lang="en-US" dirty="0"/>
              <a:t>Best for spherical clusters</a:t>
            </a:r>
          </a:p>
          <a:p>
            <a:pPr>
              <a:buFont typeface="Arial" panose="020B0604020202020204" pitchFamily="34" charset="0"/>
              <a:buChar char="•"/>
            </a:pPr>
            <a:r>
              <a:rPr lang="en-US" dirty="0"/>
              <a:t>Fast and simple</a:t>
            </a:r>
          </a:p>
          <a:p>
            <a:pPr>
              <a:buFont typeface="Arial" panose="020B0604020202020204" pitchFamily="34" charset="0"/>
              <a:buChar char="•"/>
            </a:pPr>
            <a:r>
              <a:rPr lang="en-US" dirty="0"/>
              <a:t>Requires specifying number of clusters (k)</a:t>
            </a:r>
          </a:p>
          <a:p>
            <a:r>
              <a:rPr lang="en-US" b="1" dirty="0"/>
              <a:t>Hierarchical Clustering</a:t>
            </a:r>
            <a:endParaRPr lang="en-US" dirty="0"/>
          </a:p>
          <a:p>
            <a:pPr>
              <a:buFont typeface="Arial" panose="020B0604020202020204" pitchFamily="34" charset="0"/>
              <a:buChar char="•"/>
            </a:pPr>
            <a:r>
              <a:rPr lang="en-US" dirty="0"/>
              <a:t>Builds nested clusters</a:t>
            </a:r>
          </a:p>
          <a:p>
            <a:pPr>
              <a:buFont typeface="Arial" panose="020B0604020202020204" pitchFamily="34" charset="0"/>
              <a:buChar char="•"/>
            </a:pPr>
            <a:r>
              <a:rPr lang="en-US" dirty="0"/>
              <a:t>Visualized with </a:t>
            </a:r>
            <a:r>
              <a:rPr lang="en-US" dirty="0" err="1"/>
              <a:t>dendrograms</a:t>
            </a:r>
            <a:endParaRPr lang="en-US" dirty="0"/>
          </a:p>
          <a:p>
            <a:pPr>
              <a:buFont typeface="Arial" panose="020B0604020202020204" pitchFamily="34" charset="0"/>
              <a:buChar char="•"/>
            </a:pPr>
            <a:r>
              <a:rPr lang="en-US" dirty="0"/>
              <a:t>No need to predefine number of clusters</a:t>
            </a:r>
          </a:p>
          <a:p>
            <a:r>
              <a:rPr lang="en-US" b="1" dirty="0"/>
              <a:t>DBSCAN</a:t>
            </a:r>
            <a:endParaRPr lang="en-US" dirty="0"/>
          </a:p>
          <a:p>
            <a:pPr>
              <a:buFont typeface="Arial" panose="020B0604020202020204" pitchFamily="34" charset="0"/>
              <a:buChar char="•"/>
            </a:pPr>
            <a:r>
              <a:rPr lang="en-US" dirty="0"/>
              <a:t>Detects clusters of arbitrary shapes</a:t>
            </a:r>
          </a:p>
          <a:p>
            <a:pPr>
              <a:buFont typeface="Arial" panose="020B0604020202020204" pitchFamily="34" charset="0"/>
              <a:buChar char="•"/>
            </a:pPr>
            <a:r>
              <a:rPr lang="en-US" dirty="0"/>
              <a:t>Identifies noise/outliers automatically</a:t>
            </a:r>
          </a:p>
          <a:p>
            <a:pPr>
              <a:buFont typeface="Arial" panose="020B0604020202020204" pitchFamily="34" charset="0"/>
              <a:buChar char="•"/>
            </a:pPr>
            <a:r>
              <a:rPr lang="en-US" dirty="0"/>
              <a:t>No need to specify number of clusters</a:t>
            </a:r>
          </a:p>
          <a:p>
            <a:r>
              <a:rPr lang="en-US" b="1" dirty="0"/>
              <a:t>Gaussian Mixture Models (GMM)</a:t>
            </a:r>
            <a:endParaRPr lang="en-US" dirty="0"/>
          </a:p>
          <a:p>
            <a:pPr>
              <a:buFont typeface="Arial" panose="020B0604020202020204" pitchFamily="34" charset="0"/>
              <a:buChar char="•"/>
            </a:pPr>
            <a:r>
              <a:rPr lang="en-US" dirty="0"/>
              <a:t>Probabilistic clustering (soft assignments)</a:t>
            </a:r>
          </a:p>
          <a:p>
            <a:pPr>
              <a:buFont typeface="Arial" panose="020B0604020202020204" pitchFamily="34" charset="0"/>
              <a:buChar char="•"/>
            </a:pPr>
            <a:r>
              <a:rPr lang="en-US" dirty="0"/>
              <a:t>Captures overlapping clusters</a:t>
            </a:r>
          </a:p>
          <a:p>
            <a:pPr>
              <a:buFont typeface="Arial" panose="020B0604020202020204" pitchFamily="34" charset="0"/>
              <a:buChar char="•"/>
            </a:pPr>
            <a:r>
              <a:rPr lang="en-US" dirty="0"/>
              <a:t>Assumes data follows Gaussian distributions</a:t>
            </a:r>
          </a:p>
        </p:txBody>
      </p:sp>
    </p:spTree>
    <p:extLst>
      <p:ext uri="{BB962C8B-B14F-4D97-AF65-F5344CB8AC3E}">
        <p14:creationId xmlns:p14="http://schemas.microsoft.com/office/powerpoint/2010/main" val="4051576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770890"/>
            <a:ext cx="7335835" cy="621812"/>
          </a:xfrm>
        </p:spPr>
        <p:txBody>
          <a:bodyPr>
            <a:normAutofit fontScale="90000"/>
          </a:bodyPr>
          <a:lstStyle/>
          <a:p>
            <a:r>
              <a:rPr lang="en-US" dirty="0" smtClean="0"/>
              <a:t>clustering </a:t>
            </a:r>
            <a:r>
              <a:rPr lang="en-US" dirty="0"/>
              <a:t>Algorithms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85524" y="1622431"/>
            <a:ext cx="2770426" cy="2075145"/>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7302" y="2447826"/>
            <a:ext cx="2707792" cy="2499500"/>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35094" y="1875428"/>
            <a:ext cx="4113064" cy="3644296"/>
          </a:xfrm>
          <a:prstGeom prst="rect">
            <a:avLst/>
          </a:prstGeom>
        </p:spPr>
      </p:pic>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69693" y="3697576"/>
            <a:ext cx="2821403" cy="2049004"/>
          </a:xfrm>
          <a:prstGeom prst="rect">
            <a:avLst/>
          </a:prstGeom>
        </p:spPr>
      </p:pic>
    </p:spTree>
    <p:extLst>
      <p:ext uri="{BB962C8B-B14F-4D97-AF65-F5344CB8AC3E}">
        <p14:creationId xmlns:p14="http://schemas.microsoft.com/office/powerpoint/2010/main" val="25516874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770890"/>
            <a:ext cx="9535453" cy="720285"/>
          </a:xfrm>
        </p:spPr>
        <p:txBody>
          <a:bodyPr>
            <a:normAutofit fontScale="90000"/>
          </a:bodyPr>
          <a:lstStyle/>
          <a:p>
            <a:pPr algn="ctr"/>
            <a:r>
              <a:rPr lang="en-US" dirty="0"/>
              <a:t>Dimensionality Reduction Techniques</a:t>
            </a:r>
            <a:br>
              <a:rPr lang="en-US" dirty="0"/>
            </a:br>
            <a:endParaRPr lang="en-US" dirty="0"/>
          </a:p>
        </p:txBody>
      </p:sp>
      <p:sp>
        <p:nvSpPr>
          <p:cNvPr id="3" name="Rectangle 2"/>
          <p:cNvSpPr/>
          <p:nvPr/>
        </p:nvSpPr>
        <p:spPr>
          <a:xfrm>
            <a:off x="1064455" y="1636434"/>
            <a:ext cx="8445305" cy="3139321"/>
          </a:xfrm>
          <a:prstGeom prst="rect">
            <a:avLst/>
          </a:prstGeom>
        </p:spPr>
        <p:txBody>
          <a:bodyPr wrap="square">
            <a:spAutoFit/>
          </a:bodyPr>
          <a:lstStyle/>
          <a:p>
            <a:r>
              <a:rPr lang="en-US" dirty="0"/>
              <a:t>Dimensionality reduction simplifies complex, high-dimensional datasets while retaining important structure. It helps with visualization, noise reduction, and computational efficiency</a:t>
            </a:r>
            <a:r>
              <a:rPr lang="en-US" dirty="0" smtClean="0"/>
              <a:t>.</a:t>
            </a:r>
          </a:p>
          <a:p>
            <a:endParaRPr lang="en-US" dirty="0"/>
          </a:p>
          <a:p>
            <a:pPr>
              <a:buFont typeface="Arial" panose="020B0604020202020204" pitchFamily="34" charset="0"/>
              <a:buChar char="•"/>
            </a:pPr>
            <a:r>
              <a:rPr lang="en-US" b="1" dirty="0"/>
              <a:t>PCA (Linear):</a:t>
            </a:r>
            <a:r>
              <a:rPr lang="en-US" dirty="0"/>
              <a:t> Preserves global variance, ideal for overall structure.</a:t>
            </a:r>
          </a:p>
          <a:p>
            <a:pPr>
              <a:buFont typeface="Arial" panose="020B0604020202020204" pitchFamily="34" charset="0"/>
              <a:buChar char="•"/>
            </a:pPr>
            <a:r>
              <a:rPr lang="en-US" b="1" dirty="0"/>
              <a:t>t-SNE </a:t>
            </a:r>
            <a:r>
              <a:rPr lang="en-US" b="1" dirty="0" smtClean="0"/>
              <a:t>– t-Distributed Stochastic Neighbor (Non-linear</a:t>
            </a:r>
            <a:r>
              <a:rPr lang="en-US" b="1" dirty="0"/>
              <a:t>):</a:t>
            </a:r>
            <a:r>
              <a:rPr lang="en-US" dirty="0"/>
              <a:t> Captures local relationships, best for detailed clustering patterns.</a:t>
            </a:r>
          </a:p>
          <a:p>
            <a:pPr>
              <a:buFont typeface="Arial" panose="020B0604020202020204" pitchFamily="34" charset="0"/>
              <a:buChar char="•"/>
            </a:pPr>
            <a:r>
              <a:rPr lang="en-US" b="1" dirty="0"/>
              <a:t>UMAP </a:t>
            </a:r>
            <a:r>
              <a:rPr lang="en-US" b="1" dirty="0" smtClean="0"/>
              <a:t>– Uniform Manifold Approximation and Projection (Non-linear</a:t>
            </a:r>
            <a:r>
              <a:rPr lang="en-US" b="1" dirty="0"/>
              <a:t>):</a:t>
            </a:r>
            <a:r>
              <a:rPr lang="en-US" dirty="0"/>
              <a:t> Balances local and global structure, useful for both clustering and visualization.</a:t>
            </a:r>
          </a:p>
          <a:p>
            <a:r>
              <a:rPr lang="en-US" dirty="0"/>
              <a:t>These methods are essential for exploratory analysis, feature compression, and improving model interpretability.</a:t>
            </a:r>
          </a:p>
        </p:txBody>
      </p:sp>
    </p:spTree>
    <p:extLst>
      <p:ext uri="{BB962C8B-B14F-4D97-AF65-F5344CB8AC3E}">
        <p14:creationId xmlns:p14="http://schemas.microsoft.com/office/powerpoint/2010/main" val="31927592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770890"/>
            <a:ext cx="9254099" cy="635879"/>
          </a:xfrm>
        </p:spPr>
        <p:txBody>
          <a:bodyPr>
            <a:normAutofit fontScale="90000"/>
          </a:bodyPr>
          <a:lstStyle/>
          <a:p>
            <a:r>
              <a:rPr lang="en-US" dirty="0"/>
              <a:t>Creating Insightful Visualizations</a:t>
            </a:r>
            <a:br>
              <a:rPr lang="en-US" dirty="0"/>
            </a:br>
            <a:endParaRPr lang="en-US" dirty="0"/>
          </a:p>
        </p:txBody>
      </p:sp>
      <p:sp>
        <p:nvSpPr>
          <p:cNvPr id="16" name="Rectangle 15"/>
          <p:cNvSpPr/>
          <p:nvPr/>
        </p:nvSpPr>
        <p:spPr>
          <a:xfrm>
            <a:off x="565149" y="1749531"/>
            <a:ext cx="10126297" cy="2031325"/>
          </a:xfrm>
          <a:prstGeom prst="rect">
            <a:avLst/>
          </a:prstGeom>
        </p:spPr>
        <p:txBody>
          <a:bodyPr wrap="square">
            <a:spAutoFit/>
          </a:bodyPr>
          <a:lstStyle/>
          <a:p>
            <a:r>
              <a:rPr lang="en-US" dirty="0"/>
              <a:t>Visualizations transform data into clear, actionable insights. They reveal patterns, distributions, and relationships that are difficult to see in raw data.</a:t>
            </a:r>
          </a:p>
          <a:p>
            <a:r>
              <a:rPr lang="en-US" b="1" dirty="0"/>
              <a:t>Scatter Plots:</a:t>
            </a:r>
            <a:r>
              <a:rPr lang="en-US" dirty="0"/>
              <a:t> Show relationships and clusters in 2D or 3D space.</a:t>
            </a:r>
          </a:p>
          <a:p>
            <a:r>
              <a:rPr lang="en-US" b="1" dirty="0"/>
              <a:t>Distributions:</a:t>
            </a:r>
            <a:r>
              <a:rPr lang="en-US" dirty="0"/>
              <a:t> Box plots, violin plots, and </a:t>
            </a:r>
            <a:r>
              <a:rPr lang="en-US" dirty="0" err="1"/>
              <a:t>heatmaps</a:t>
            </a:r>
            <a:r>
              <a:rPr lang="en-US" dirty="0"/>
              <a:t> summarize spread, outliers, and correlations.</a:t>
            </a:r>
          </a:p>
          <a:p>
            <a:r>
              <a:rPr lang="en-US" b="1" dirty="0"/>
              <a:t>Profiles:</a:t>
            </a:r>
            <a:r>
              <a:rPr lang="en-US" dirty="0"/>
              <a:t> Radar charts and parallel coordinates highlight multi-dimensional patterns.</a:t>
            </a:r>
          </a:p>
          <a:p>
            <a:r>
              <a:rPr lang="en-US" dirty="0"/>
              <a:t>Choosing the right chart depends on the data type and the insight you want to communicate.</a:t>
            </a:r>
          </a:p>
          <a:p>
            <a:endParaRPr lang="en-US" dirty="0"/>
          </a:p>
        </p:txBody>
      </p:sp>
      <p:pic>
        <p:nvPicPr>
          <p:cNvPr id="17" name="Picture 1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5149" y="3780856"/>
            <a:ext cx="2438400" cy="1876425"/>
          </a:xfrm>
          <a:prstGeom prst="rect">
            <a:avLst/>
          </a:prstGeom>
        </p:spPr>
      </p:pic>
      <p:pic>
        <p:nvPicPr>
          <p:cNvPr id="18" name="Picture 1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31905" y="3876105"/>
            <a:ext cx="2705100" cy="1685925"/>
          </a:xfrm>
          <a:prstGeom prst="rect">
            <a:avLst/>
          </a:prstGeom>
        </p:spPr>
      </p:pic>
      <p:pic>
        <p:nvPicPr>
          <p:cNvPr id="19" name="Picture 1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95321" y="3876105"/>
            <a:ext cx="2609850" cy="1752600"/>
          </a:xfrm>
          <a:prstGeom prst="rect">
            <a:avLst/>
          </a:prstGeom>
        </p:spPr>
      </p:pic>
    </p:spTree>
    <p:extLst>
      <p:ext uri="{BB962C8B-B14F-4D97-AF65-F5344CB8AC3E}">
        <p14:creationId xmlns:p14="http://schemas.microsoft.com/office/powerpoint/2010/main" val="28892342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7858" y="2177659"/>
            <a:ext cx="9225964" cy="1268984"/>
          </a:xfrm>
        </p:spPr>
        <p:txBody>
          <a:bodyPr>
            <a:normAutofit fontScale="90000"/>
          </a:bodyPr>
          <a:lstStyle/>
          <a:p>
            <a:pPr algn="ctr"/>
            <a:r>
              <a:rPr lang="en-US" dirty="0"/>
              <a:t>Unsupervised Learning</a:t>
            </a:r>
            <a:br>
              <a:rPr lang="en-US" dirty="0"/>
            </a:br>
            <a:r>
              <a:rPr lang="en-US" dirty="0"/>
              <a:t>Project Development Sprint</a:t>
            </a:r>
            <a:br>
              <a:rPr lang="en-US" dirty="0"/>
            </a:br>
            <a:endParaRPr lang="en-US" dirty="0"/>
          </a:p>
        </p:txBody>
      </p:sp>
    </p:spTree>
    <p:extLst>
      <p:ext uri="{BB962C8B-B14F-4D97-AF65-F5344CB8AC3E}">
        <p14:creationId xmlns:p14="http://schemas.microsoft.com/office/powerpoint/2010/main" val="41274140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770890"/>
            <a:ext cx="8944610" cy="607744"/>
          </a:xfrm>
        </p:spPr>
        <p:txBody>
          <a:bodyPr>
            <a:normAutofit fontScale="90000"/>
          </a:bodyPr>
          <a:lstStyle/>
          <a:p>
            <a:r>
              <a:rPr lang="en-US" dirty="0"/>
              <a:t>Cluster Interpretation</a:t>
            </a:r>
            <a:br>
              <a:rPr lang="en-US" dirty="0"/>
            </a:br>
            <a:endParaRPr lang="en-US" dirty="0"/>
          </a:p>
        </p:txBody>
      </p:sp>
      <p:sp>
        <p:nvSpPr>
          <p:cNvPr id="3" name="Rectangle 2"/>
          <p:cNvSpPr/>
          <p:nvPr/>
        </p:nvSpPr>
        <p:spPr>
          <a:xfrm>
            <a:off x="565149" y="1941795"/>
            <a:ext cx="7326825" cy="2585323"/>
          </a:xfrm>
          <a:prstGeom prst="rect">
            <a:avLst/>
          </a:prstGeom>
        </p:spPr>
        <p:txBody>
          <a:bodyPr wrap="square">
            <a:spAutoFit/>
          </a:bodyPr>
          <a:lstStyle/>
          <a:p>
            <a:r>
              <a:rPr lang="en-US" dirty="0"/>
              <a:t>Interpreting clusters means giving meaningful, business-relevant labels instead of generic numbers. Analyze feature statistics and patterns within each cluster to understand its characteristics.</a:t>
            </a:r>
          </a:p>
          <a:p>
            <a:pPr>
              <a:buFont typeface="Arial" panose="020B0604020202020204" pitchFamily="34" charset="0"/>
              <a:buChar char="•"/>
            </a:pPr>
            <a:r>
              <a:rPr lang="en-US" dirty="0"/>
              <a:t>Identify key traits, such as spending habits, engagement levels, or risk indicators.</a:t>
            </a:r>
          </a:p>
          <a:p>
            <a:pPr>
              <a:buFont typeface="Arial" panose="020B0604020202020204" pitchFamily="34" charset="0"/>
              <a:buChar char="•"/>
            </a:pPr>
            <a:r>
              <a:rPr lang="en-US" dirty="0"/>
              <a:t>Translate findings into actionable insights, like targeted campaigns, resource allocation, or anomaly detection.</a:t>
            </a:r>
          </a:p>
          <a:p>
            <a:pPr>
              <a:buFont typeface="Arial" panose="020B0604020202020204" pitchFamily="34" charset="0"/>
              <a:buChar char="•"/>
            </a:pPr>
            <a:r>
              <a:rPr lang="en-US" dirty="0"/>
              <a:t>Ensure interpretations are consistent with business objectives and support decision-making.</a:t>
            </a:r>
          </a:p>
        </p:txBody>
      </p:sp>
    </p:spTree>
    <p:extLst>
      <p:ext uri="{BB962C8B-B14F-4D97-AF65-F5344CB8AC3E}">
        <p14:creationId xmlns:p14="http://schemas.microsoft.com/office/powerpoint/2010/main" val="20127975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391063"/>
            <a:ext cx="9338505" cy="706218"/>
          </a:xfrm>
        </p:spPr>
        <p:txBody>
          <a:bodyPr>
            <a:normAutofit fontScale="90000"/>
          </a:bodyPr>
          <a:lstStyle/>
          <a:p>
            <a:r>
              <a:rPr lang="en-US" dirty="0"/>
              <a:t>Actionable Insights</a:t>
            </a:r>
            <a:br>
              <a:rPr lang="en-US" dirty="0"/>
            </a:br>
            <a:endParaRPr lang="en-US" dirty="0"/>
          </a:p>
        </p:txBody>
      </p:sp>
      <p:sp>
        <p:nvSpPr>
          <p:cNvPr id="3" name="Rectangle 2"/>
          <p:cNvSpPr/>
          <p:nvPr/>
        </p:nvSpPr>
        <p:spPr>
          <a:xfrm>
            <a:off x="909711" y="1871230"/>
            <a:ext cx="8993944" cy="3139321"/>
          </a:xfrm>
          <a:prstGeom prst="rect">
            <a:avLst/>
          </a:prstGeom>
        </p:spPr>
        <p:txBody>
          <a:bodyPr wrap="square">
            <a:spAutoFit/>
          </a:bodyPr>
          <a:lstStyle/>
          <a:p>
            <a:r>
              <a:rPr lang="en-US" b="1" dirty="0">
                <a:solidFill>
                  <a:srgbClr val="141413"/>
                </a:solidFill>
                <a:latin typeface="Anthropic Sans"/>
              </a:rPr>
              <a:t>Customer </a:t>
            </a:r>
            <a:r>
              <a:rPr lang="en-US" b="1" dirty="0" smtClean="0">
                <a:solidFill>
                  <a:srgbClr val="141413"/>
                </a:solidFill>
                <a:latin typeface="Anthropic Sans"/>
              </a:rPr>
              <a:t>Segmentation</a:t>
            </a:r>
            <a:r>
              <a:rPr lang="en-US" dirty="0" smtClean="0">
                <a:solidFill>
                  <a:srgbClr val="141413"/>
                </a:solidFill>
                <a:latin typeface="Anthropic Sans"/>
              </a:rPr>
              <a:t>: </a:t>
            </a:r>
            <a:r>
              <a:rPr lang="en-US" dirty="0" smtClean="0">
                <a:solidFill>
                  <a:srgbClr val="3D3D3A"/>
                </a:solidFill>
                <a:latin typeface="Anthropic Sans"/>
              </a:rPr>
              <a:t>Group </a:t>
            </a:r>
            <a:r>
              <a:rPr lang="en-US" dirty="0">
                <a:solidFill>
                  <a:srgbClr val="3D3D3A"/>
                </a:solidFill>
                <a:latin typeface="Anthropic Sans"/>
              </a:rPr>
              <a:t>customers by </a:t>
            </a:r>
            <a:r>
              <a:rPr lang="en-US" dirty="0" err="1">
                <a:solidFill>
                  <a:srgbClr val="3D3D3A"/>
                </a:solidFill>
                <a:latin typeface="Anthropic Sans"/>
              </a:rPr>
              <a:t>behaviour</a:t>
            </a:r>
            <a:r>
              <a:rPr lang="en-US" dirty="0">
                <a:solidFill>
                  <a:srgbClr val="3D3D3A"/>
                </a:solidFill>
                <a:latin typeface="Anthropic Sans"/>
              </a:rPr>
              <a:t>. Create personalized campaigns and retention strategies per group</a:t>
            </a:r>
            <a:r>
              <a:rPr lang="en-US" dirty="0" smtClean="0">
                <a:solidFill>
                  <a:srgbClr val="3D3D3A"/>
                </a:solidFill>
                <a:latin typeface="Anthropic Sans"/>
              </a:rPr>
              <a:t>.</a:t>
            </a:r>
          </a:p>
          <a:p>
            <a:endParaRPr lang="en-US" dirty="0">
              <a:solidFill>
                <a:srgbClr val="3D3D3A"/>
              </a:solidFill>
              <a:latin typeface="Anthropic Sans"/>
            </a:endParaRPr>
          </a:p>
          <a:p>
            <a:r>
              <a:rPr lang="en-US" b="1" dirty="0">
                <a:solidFill>
                  <a:srgbClr val="141413"/>
                </a:solidFill>
                <a:latin typeface="Anthropic Sans"/>
              </a:rPr>
              <a:t>Anomaly </a:t>
            </a:r>
            <a:r>
              <a:rPr lang="en-US" b="1" dirty="0" smtClean="0">
                <a:solidFill>
                  <a:srgbClr val="141413"/>
                </a:solidFill>
                <a:latin typeface="Anthropic Sans"/>
              </a:rPr>
              <a:t>Detection: </a:t>
            </a:r>
            <a:r>
              <a:rPr lang="en-US" dirty="0" smtClean="0">
                <a:solidFill>
                  <a:srgbClr val="3D3D3A"/>
                </a:solidFill>
                <a:latin typeface="Anthropic Sans"/>
              </a:rPr>
              <a:t>DBSCAN </a:t>
            </a:r>
            <a:r>
              <a:rPr lang="en-US" dirty="0">
                <a:solidFill>
                  <a:srgbClr val="3D3D3A"/>
                </a:solidFill>
                <a:latin typeface="Anthropic Sans"/>
              </a:rPr>
              <a:t>noise points = suspicious activity. Use for fraud detection and quality control</a:t>
            </a:r>
            <a:r>
              <a:rPr lang="en-US" dirty="0" smtClean="0">
                <a:solidFill>
                  <a:srgbClr val="3D3D3A"/>
                </a:solidFill>
                <a:latin typeface="Anthropic Sans"/>
              </a:rPr>
              <a:t>.</a:t>
            </a:r>
          </a:p>
          <a:p>
            <a:endParaRPr lang="en-US" dirty="0">
              <a:solidFill>
                <a:srgbClr val="3D3D3A"/>
              </a:solidFill>
              <a:latin typeface="Anthropic Sans"/>
            </a:endParaRPr>
          </a:p>
          <a:p>
            <a:r>
              <a:rPr lang="en-US" b="1" dirty="0">
                <a:solidFill>
                  <a:srgbClr val="141413"/>
                </a:solidFill>
                <a:latin typeface="Anthropic Sans"/>
              </a:rPr>
              <a:t>Resource </a:t>
            </a:r>
            <a:r>
              <a:rPr lang="en-US" b="1" dirty="0" smtClean="0">
                <a:solidFill>
                  <a:srgbClr val="141413"/>
                </a:solidFill>
                <a:latin typeface="Anthropic Sans"/>
              </a:rPr>
              <a:t>Allocation: </a:t>
            </a:r>
            <a:r>
              <a:rPr lang="en-US" dirty="0" smtClean="0">
                <a:solidFill>
                  <a:srgbClr val="3D3D3A"/>
                </a:solidFill>
                <a:latin typeface="Anthropic Sans"/>
              </a:rPr>
              <a:t>Identify </a:t>
            </a:r>
            <a:r>
              <a:rPr lang="en-US" dirty="0">
                <a:solidFill>
                  <a:srgbClr val="3D3D3A"/>
                </a:solidFill>
                <a:latin typeface="Anthropic Sans"/>
              </a:rPr>
              <a:t>your highest-value segments. Direct budget, staff and effort to where it matters most</a:t>
            </a:r>
            <a:r>
              <a:rPr lang="en-US" dirty="0" smtClean="0">
                <a:solidFill>
                  <a:srgbClr val="3D3D3A"/>
                </a:solidFill>
                <a:latin typeface="Anthropic Sans"/>
              </a:rPr>
              <a:t>.</a:t>
            </a:r>
          </a:p>
          <a:p>
            <a:endParaRPr lang="en-US" dirty="0">
              <a:solidFill>
                <a:srgbClr val="3D3D3A"/>
              </a:solidFill>
              <a:latin typeface="Anthropic Sans"/>
            </a:endParaRPr>
          </a:p>
          <a:p>
            <a:r>
              <a:rPr lang="en-US" b="1" dirty="0">
                <a:solidFill>
                  <a:srgbClr val="141413"/>
                </a:solidFill>
                <a:latin typeface="Anthropic Sans"/>
              </a:rPr>
              <a:t>Product </a:t>
            </a:r>
            <a:r>
              <a:rPr lang="en-US" b="1" dirty="0" err="1" smtClean="0">
                <a:solidFill>
                  <a:srgbClr val="141413"/>
                </a:solidFill>
                <a:latin typeface="Anthropic Sans"/>
              </a:rPr>
              <a:t>Recommendations</a:t>
            </a:r>
            <a:r>
              <a:rPr lang="en-US" dirty="0" err="1" smtClean="0">
                <a:solidFill>
                  <a:srgbClr val="141413"/>
                </a:solidFill>
                <a:latin typeface="Anthropic Sans"/>
              </a:rPr>
              <a:t>:</a:t>
            </a:r>
            <a:r>
              <a:rPr lang="en-US" dirty="0" err="1" smtClean="0">
                <a:solidFill>
                  <a:srgbClr val="3D3D3A"/>
                </a:solidFill>
                <a:latin typeface="Anthropic Sans"/>
              </a:rPr>
              <a:t>Users</a:t>
            </a:r>
            <a:r>
              <a:rPr lang="en-US" dirty="0" smtClean="0">
                <a:solidFill>
                  <a:srgbClr val="3D3D3A"/>
                </a:solidFill>
                <a:latin typeface="Anthropic Sans"/>
              </a:rPr>
              <a:t> </a:t>
            </a:r>
            <a:r>
              <a:rPr lang="en-US" dirty="0">
                <a:solidFill>
                  <a:srgbClr val="3D3D3A"/>
                </a:solidFill>
                <a:latin typeface="Anthropic Sans"/>
              </a:rPr>
              <a:t>in the same cluster share similar tastes. Recommend what others in that cluster liked.</a:t>
            </a:r>
            <a:endParaRPr lang="en-US" b="0" i="0" dirty="0">
              <a:solidFill>
                <a:srgbClr val="3D3D3A"/>
              </a:solidFill>
              <a:effectLst/>
              <a:latin typeface="Anthropic Sans"/>
            </a:endParaRPr>
          </a:p>
        </p:txBody>
      </p:sp>
    </p:spTree>
    <p:extLst>
      <p:ext uri="{BB962C8B-B14F-4D97-AF65-F5344CB8AC3E}">
        <p14:creationId xmlns:p14="http://schemas.microsoft.com/office/powerpoint/2010/main" val="9227200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770890"/>
            <a:ext cx="8986813" cy="1268984"/>
          </a:xfrm>
        </p:spPr>
        <p:txBody>
          <a:bodyPr>
            <a:normAutofit fontScale="90000"/>
          </a:bodyPr>
          <a:lstStyle/>
          <a:p>
            <a:r>
              <a:rPr lang="en-US" dirty="0"/>
              <a:t>Documentation Requirements</a:t>
            </a:r>
            <a:br>
              <a:rPr lang="en-US" dirty="0"/>
            </a:br>
            <a:endParaRPr lang="en-US" dirty="0"/>
          </a:p>
        </p:txBody>
      </p:sp>
      <p:sp>
        <p:nvSpPr>
          <p:cNvPr id="3" name="Rectangle 2"/>
          <p:cNvSpPr/>
          <p:nvPr/>
        </p:nvSpPr>
        <p:spPr>
          <a:xfrm>
            <a:off x="994116" y="1580163"/>
            <a:ext cx="10049021" cy="3139321"/>
          </a:xfrm>
          <a:prstGeom prst="rect">
            <a:avLst/>
          </a:prstGeom>
        </p:spPr>
        <p:txBody>
          <a:bodyPr wrap="square">
            <a:spAutoFit/>
          </a:bodyPr>
          <a:lstStyle/>
          <a:p>
            <a:r>
              <a:rPr lang="en-US" b="1" dirty="0" smtClean="0">
                <a:solidFill>
                  <a:srgbClr val="141413"/>
                </a:solidFill>
                <a:latin typeface="Anthropic Sans"/>
              </a:rPr>
              <a:t>Methodology:</a:t>
            </a:r>
            <a:r>
              <a:rPr lang="en-US" dirty="0" smtClean="0">
                <a:solidFill>
                  <a:srgbClr val="141413"/>
                </a:solidFill>
                <a:latin typeface="Anthropic Sans"/>
              </a:rPr>
              <a:t> </a:t>
            </a:r>
            <a:r>
              <a:rPr lang="en-US" dirty="0" smtClean="0">
                <a:solidFill>
                  <a:srgbClr val="3D3D3A"/>
                </a:solidFill>
                <a:latin typeface="Anthropic Sans"/>
              </a:rPr>
              <a:t>What </a:t>
            </a:r>
            <a:r>
              <a:rPr lang="en-US" dirty="0">
                <a:solidFill>
                  <a:srgbClr val="3D3D3A"/>
                </a:solidFill>
                <a:latin typeface="Anthropic Sans"/>
              </a:rPr>
              <a:t>problem are you solving? What data did you use? What features did you engineer? Which algorithm and why</a:t>
            </a:r>
            <a:r>
              <a:rPr lang="en-US" dirty="0" smtClean="0">
                <a:solidFill>
                  <a:srgbClr val="3D3D3A"/>
                </a:solidFill>
                <a:latin typeface="Anthropic Sans"/>
              </a:rPr>
              <a:t>?</a:t>
            </a:r>
          </a:p>
          <a:p>
            <a:endParaRPr lang="en-US" dirty="0">
              <a:solidFill>
                <a:srgbClr val="3D3D3A"/>
              </a:solidFill>
              <a:latin typeface="Anthropic Sans"/>
            </a:endParaRPr>
          </a:p>
          <a:p>
            <a:r>
              <a:rPr lang="en-US" b="1" dirty="0" smtClean="0">
                <a:solidFill>
                  <a:srgbClr val="141413"/>
                </a:solidFill>
                <a:latin typeface="Anthropic Sans"/>
              </a:rPr>
              <a:t>Results:</a:t>
            </a:r>
            <a:r>
              <a:rPr lang="en-US" dirty="0" smtClean="0">
                <a:solidFill>
                  <a:srgbClr val="141413"/>
                </a:solidFill>
                <a:latin typeface="Anthropic Sans"/>
              </a:rPr>
              <a:t> </a:t>
            </a:r>
            <a:r>
              <a:rPr lang="en-US" dirty="0" smtClean="0">
                <a:solidFill>
                  <a:srgbClr val="3D3D3A"/>
                </a:solidFill>
                <a:latin typeface="Anthropic Sans"/>
              </a:rPr>
              <a:t>Cluster </a:t>
            </a:r>
            <a:r>
              <a:rPr lang="en-US" dirty="0">
                <a:solidFill>
                  <a:srgbClr val="3D3D3A"/>
                </a:solidFill>
                <a:latin typeface="Anthropic Sans"/>
              </a:rPr>
              <a:t>profiles — statistics per cluster. Visualizations: scatter plots, </a:t>
            </a:r>
            <a:r>
              <a:rPr lang="en-US" dirty="0" err="1">
                <a:solidFill>
                  <a:srgbClr val="3D3D3A"/>
                </a:solidFill>
                <a:latin typeface="Anthropic Sans"/>
              </a:rPr>
              <a:t>heatmaps</a:t>
            </a:r>
            <a:r>
              <a:rPr lang="en-US" dirty="0">
                <a:solidFill>
                  <a:srgbClr val="3D3D3A"/>
                </a:solidFill>
                <a:latin typeface="Anthropic Sans"/>
              </a:rPr>
              <a:t>, radar charts. Evaluation metrics like silhouette score</a:t>
            </a:r>
            <a:r>
              <a:rPr lang="en-US" dirty="0" smtClean="0">
                <a:solidFill>
                  <a:srgbClr val="3D3D3A"/>
                </a:solidFill>
                <a:latin typeface="Anthropic Sans"/>
              </a:rPr>
              <a:t>.</a:t>
            </a:r>
          </a:p>
          <a:p>
            <a:endParaRPr lang="en-US" dirty="0">
              <a:solidFill>
                <a:srgbClr val="3D3D3A"/>
              </a:solidFill>
              <a:latin typeface="Anthropic Sans"/>
            </a:endParaRPr>
          </a:p>
          <a:p>
            <a:r>
              <a:rPr lang="en-US" b="1" dirty="0" smtClean="0">
                <a:solidFill>
                  <a:srgbClr val="141413"/>
                </a:solidFill>
                <a:latin typeface="Anthropic Sans"/>
              </a:rPr>
              <a:t>Recommendations</a:t>
            </a:r>
            <a:r>
              <a:rPr lang="en-US" dirty="0" smtClean="0">
                <a:solidFill>
                  <a:srgbClr val="141413"/>
                </a:solidFill>
                <a:latin typeface="Anthropic Sans"/>
              </a:rPr>
              <a:t>: </a:t>
            </a:r>
            <a:r>
              <a:rPr lang="en-US" dirty="0" smtClean="0">
                <a:solidFill>
                  <a:srgbClr val="3D3D3A"/>
                </a:solidFill>
                <a:latin typeface="Anthropic Sans"/>
              </a:rPr>
              <a:t>What </a:t>
            </a:r>
            <a:r>
              <a:rPr lang="en-US" dirty="0">
                <a:solidFill>
                  <a:srgbClr val="3D3D3A"/>
                </a:solidFill>
                <a:latin typeface="Anthropic Sans"/>
              </a:rPr>
              <a:t>should the business do with this? Be specific — not "use the clusters" but exactly which action for which cluster</a:t>
            </a:r>
            <a:r>
              <a:rPr lang="en-US" dirty="0" smtClean="0">
                <a:solidFill>
                  <a:srgbClr val="3D3D3A"/>
                </a:solidFill>
                <a:latin typeface="Anthropic Sans"/>
              </a:rPr>
              <a:t>.</a:t>
            </a:r>
          </a:p>
          <a:p>
            <a:endParaRPr lang="en-US" dirty="0">
              <a:solidFill>
                <a:srgbClr val="3D3D3A"/>
              </a:solidFill>
              <a:latin typeface="Anthropic Sans"/>
            </a:endParaRPr>
          </a:p>
          <a:p>
            <a:r>
              <a:rPr lang="en-US" b="1" dirty="0" smtClean="0">
                <a:solidFill>
                  <a:srgbClr val="141413"/>
                </a:solidFill>
                <a:latin typeface="Anthropic Sans"/>
              </a:rPr>
              <a:t>Limitations:</a:t>
            </a:r>
            <a:r>
              <a:rPr lang="en-US" dirty="0" smtClean="0">
                <a:solidFill>
                  <a:srgbClr val="141413"/>
                </a:solidFill>
                <a:latin typeface="Anthropic Sans"/>
              </a:rPr>
              <a:t> </a:t>
            </a:r>
            <a:r>
              <a:rPr lang="en-US" dirty="0" smtClean="0">
                <a:solidFill>
                  <a:srgbClr val="3D3D3A"/>
                </a:solidFill>
                <a:latin typeface="Anthropic Sans"/>
              </a:rPr>
              <a:t>What </a:t>
            </a:r>
            <a:r>
              <a:rPr lang="en-US" dirty="0">
                <a:solidFill>
                  <a:srgbClr val="3D3D3A"/>
                </a:solidFill>
                <a:latin typeface="Anthropic Sans"/>
              </a:rPr>
              <a:t>did not work? What would you improve? What data would make this better? Honest reflection shows maturity.</a:t>
            </a:r>
            <a:endParaRPr lang="en-US" b="0" i="0" dirty="0">
              <a:solidFill>
                <a:srgbClr val="3D3D3A"/>
              </a:solidFill>
              <a:effectLst/>
              <a:latin typeface="Anthropic Sans"/>
            </a:endParaRPr>
          </a:p>
        </p:txBody>
      </p:sp>
    </p:spTree>
    <p:extLst>
      <p:ext uri="{BB962C8B-B14F-4D97-AF65-F5344CB8AC3E}">
        <p14:creationId xmlns:p14="http://schemas.microsoft.com/office/powerpoint/2010/main" val="38327366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50" y="770890"/>
            <a:ext cx="7335835" cy="776556"/>
          </a:xfrm>
        </p:spPr>
        <p:txBody>
          <a:bodyPr/>
          <a:lstStyle/>
          <a:p>
            <a:pPr algn="ctr"/>
            <a:r>
              <a:rPr lang="en-US" dirty="0" smtClean="0"/>
              <a:t>Summary</a:t>
            </a:r>
            <a:endParaRPr lang="en-US" dirty="0"/>
          </a:p>
        </p:txBody>
      </p:sp>
      <p:sp>
        <p:nvSpPr>
          <p:cNvPr id="3" name="Content Placeholder 2"/>
          <p:cNvSpPr>
            <a:spLocks noGrp="1"/>
          </p:cNvSpPr>
          <p:nvPr>
            <p:ph idx="1"/>
          </p:nvPr>
        </p:nvSpPr>
        <p:spPr>
          <a:xfrm>
            <a:off x="565150" y="2160016"/>
            <a:ext cx="9436979" cy="3601212"/>
          </a:xfrm>
        </p:spPr>
        <p:txBody>
          <a:bodyPr>
            <a:normAutofit fontScale="77500" lnSpcReduction="20000"/>
          </a:bodyPr>
          <a:lstStyle/>
          <a:p>
            <a:r>
              <a:rPr lang="en-US" dirty="0"/>
              <a:t>Features beat algorithms. Feature engineering often matters more than your algorithm choice. A simple model with great features almost always beats a complex model with poor </a:t>
            </a:r>
            <a:r>
              <a:rPr lang="en-US" dirty="0" smtClean="0"/>
              <a:t>ones</a:t>
            </a:r>
            <a:r>
              <a:rPr lang="en-US" dirty="0" smtClean="0"/>
              <a:t>.</a:t>
            </a:r>
            <a:endParaRPr lang="en-US" dirty="0"/>
          </a:p>
          <a:p>
            <a:r>
              <a:rPr lang="en-US" dirty="0"/>
              <a:t>Never leak future data. Never let future data leak into your training features. Your model will look perfect in testing and fail completely in production</a:t>
            </a:r>
            <a:r>
              <a:rPr lang="en-US" dirty="0" smtClean="0"/>
              <a:t>.</a:t>
            </a:r>
          </a:p>
          <a:p>
            <a:r>
              <a:rPr lang="en-US" dirty="0"/>
              <a:t>DBSCAN finds noise. K-Means does not. Choosing the wrong algorithm for your data shape gives you meaningless clusters. Know your data before choosing your method</a:t>
            </a:r>
            <a:r>
              <a:rPr lang="en-US" dirty="0" smtClean="0"/>
              <a:t>.</a:t>
            </a:r>
          </a:p>
          <a:p>
            <a:r>
              <a:rPr lang="en-US" dirty="0"/>
              <a:t>Feature stores equal reproducibility at scale. Without a feature store, features drift, break, and become inconsistent between training and </a:t>
            </a:r>
            <a:r>
              <a:rPr lang="en-US" dirty="0" smtClean="0"/>
              <a:t>serving</a:t>
            </a:r>
            <a:r>
              <a:rPr lang="en-US" dirty="0" smtClean="0"/>
              <a:t>.</a:t>
            </a:r>
            <a:endParaRPr lang="en-US" dirty="0"/>
          </a:p>
          <a:p>
            <a:r>
              <a:rPr lang="en-US" dirty="0"/>
              <a:t>A cluster with no interpretation has no value. Always give your clusters a business name and a recommended action. </a:t>
            </a:r>
            <a:r>
              <a:rPr lang="en-US"/>
              <a:t>Turning data into decisions is the whole point.</a:t>
            </a:r>
            <a:r>
              <a:rPr lang="en-US" smtClean="0"/>
              <a:t>.</a:t>
            </a:r>
            <a:endParaRPr lang="en-US" dirty="0"/>
          </a:p>
        </p:txBody>
      </p:sp>
    </p:spTree>
    <p:extLst>
      <p:ext uri="{BB962C8B-B14F-4D97-AF65-F5344CB8AC3E}">
        <p14:creationId xmlns:p14="http://schemas.microsoft.com/office/powerpoint/2010/main" val="3035549525"/>
      </p:ext>
    </p:extLst>
  </p:cSld>
  <p:clrMapOvr>
    <a:masterClrMapping/>
  </p:clrMapOvr>
</p:sld>
</file>

<file path=ppt/theme/theme1.xml><?xml version="1.0" encoding="utf-8"?>
<a:theme xmlns:a="http://schemas.openxmlformats.org/drawingml/2006/main" name="PunchcardVTI">
  <a:themeElements>
    <a:clrScheme name="Punchcard">
      <a:dk1>
        <a:srgbClr val="000000"/>
      </a:dk1>
      <a:lt1>
        <a:srgbClr val="FFFFFF"/>
      </a:lt1>
      <a:dk2>
        <a:srgbClr val="00224B"/>
      </a:dk2>
      <a:lt2>
        <a:srgbClr val="EFF0EF"/>
      </a:lt2>
      <a:accent1>
        <a:srgbClr val="00B2F3"/>
      </a:accent1>
      <a:accent2>
        <a:srgbClr val="0471CC"/>
      </a:accent2>
      <a:accent3>
        <a:srgbClr val="14BBA9"/>
      </a:accent3>
      <a:accent4>
        <a:srgbClr val="8BB93B"/>
      </a:accent4>
      <a:accent5>
        <a:srgbClr val="EC970C"/>
      </a:accent5>
      <a:accent6>
        <a:srgbClr val="F55822"/>
      </a:accent6>
      <a:hlink>
        <a:srgbClr val="008EE6"/>
      </a:hlink>
      <a:folHlink>
        <a:srgbClr val="808C8E"/>
      </a:folHlink>
    </a:clrScheme>
    <a:fontScheme name="Punchcard">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11049</TotalTime>
  <Words>1737</Words>
  <Application>Microsoft Office PowerPoint</Application>
  <PresentationFormat>Widescreen</PresentationFormat>
  <Paragraphs>170</Paragraphs>
  <Slides>28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Anthropic Sans</vt:lpstr>
      <vt:lpstr>Arial</vt:lpstr>
      <vt:lpstr>Neue Haas Grotesk Text Pro</vt:lpstr>
      <vt:lpstr>PunchcardVTI</vt:lpstr>
      <vt:lpstr>Feature Engineering &amp; Unsupervised Project Work </vt:lpstr>
      <vt:lpstr>LEARNING OBJECTIVES</vt:lpstr>
      <vt:lpstr>Feature Engineering for Production  </vt:lpstr>
      <vt:lpstr>What is Feature Engineering? </vt:lpstr>
      <vt:lpstr>Why Feature Engineering Matters</vt:lpstr>
      <vt:lpstr>Feature Engineering Process</vt:lpstr>
      <vt:lpstr>Feature engineering methods</vt:lpstr>
      <vt:lpstr>Production vs Development Features </vt:lpstr>
      <vt:lpstr>Production vs Development Features </vt:lpstr>
      <vt:lpstr>Understanding Data Leakage </vt:lpstr>
      <vt:lpstr>Common causes and Consequences</vt:lpstr>
      <vt:lpstr>Time-Based Features </vt:lpstr>
      <vt:lpstr>Temporal Patterns</vt:lpstr>
      <vt:lpstr>Feature Store Architecture </vt:lpstr>
      <vt:lpstr>Feature Store Architecture </vt:lpstr>
      <vt:lpstr>Online vs Offline Feature Serving </vt:lpstr>
      <vt:lpstr>Online vs Offline Feature Serving </vt:lpstr>
      <vt:lpstr>Feature Store Tools </vt:lpstr>
      <vt:lpstr>Clustering Algorithms </vt:lpstr>
      <vt:lpstr>Common clustering Algorithms</vt:lpstr>
      <vt:lpstr>clustering Algorithms</vt:lpstr>
      <vt:lpstr>Dimensionality Reduction Techniques </vt:lpstr>
      <vt:lpstr>Creating Insightful Visualizations </vt:lpstr>
      <vt:lpstr>Unsupervised Learning Project Development Sprint </vt:lpstr>
      <vt:lpstr>Cluster Interpretation </vt:lpstr>
      <vt:lpstr>Actionable Insights </vt:lpstr>
      <vt:lpstr>Documentation Requirements </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Liberty</dc:creator>
  <cp:lastModifiedBy>USER</cp:lastModifiedBy>
  <cp:revision>40</cp:revision>
  <dcterms:created xsi:type="dcterms:W3CDTF">2025-11-05T12:47:00Z</dcterms:created>
  <dcterms:modified xsi:type="dcterms:W3CDTF">2026-03-16T13:00:53Z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448BF34DDA5D4604A6E5E58B330A1B12_12</vt:lpwstr>
  </property>
  <property fmtid="{D5CDD505-2E9C-101B-9397-08002B2CF9AE}" pid="3" name="KSOProductBuildVer">
    <vt:lpwstr>1033-12.9.0.21549</vt:lpwstr>
  </property>
</Properties>
</file>