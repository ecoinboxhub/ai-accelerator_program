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9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1249" y="1811898"/>
            <a:ext cx="9732401" cy="2999253"/>
          </a:xfrm>
        </p:spPr>
        <p:txBody>
          <a:bodyPr>
            <a:normAutofit/>
          </a:bodyPr>
          <a:lstStyle/>
          <a:p>
            <a:pPr algn="ctr"/>
            <a:r>
              <a:rPr lang="sv-SE" dirty="0"/>
              <a:t>Python Fundamentals II &amp; Problem Framing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71219" cy="1268984"/>
          </a:xfrm>
        </p:spPr>
        <p:txBody>
          <a:bodyPr/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rPr lang="en-US" dirty="0"/>
              <a:t>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2722" y="1898493"/>
            <a:ext cx="8138160" cy="6858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5290" y="1871060"/>
            <a:ext cx="8138160" cy="78638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95290" y="1871061"/>
            <a:ext cx="137160" cy="6858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23890" y="2053941"/>
            <a:ext cx="320040" cy="32004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23890" y="2053941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4010" y="1944213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085"/>
                </a:solidFill>
              </a:defRPr>
            </a:pPr>
            <a:r>
              <a:t>Master Python 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4010" y="219110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Work confidently with Python's core data structures and understand how structure affects performance, clarity, and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2722" y="2812892"/>
            <a:ext cx="8138160" cy="6858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5290" y="2785461"/>
            <a:ext cx="8138160" cy="7955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95290" y="2785461"/>
            <a:ext cx="137160" cy="6858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223890" y="2968341"/>
            <a:ext cx="320040" cy="32004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3890" y="2968341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4010" y="2858613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Make Smart Data Structure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4010" y="310550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Recognize when data should be ordered, immutable, unique, or mapped by keys—decisions that matter in real systems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2722" y="3727292"/>
            <a:ext cx="8138160" cy="6858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95290" y="3699860"/>
            <a:ext cx="8138160" cy="78203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5290" y="3699861"/>
            <a:ext cx="137160" cy="685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223890" y="3882741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23890" y="3882741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84010" y="3773013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39C12"/>
                </a:solidFill>
              </a:defRPr>
            </a:pPr>
            <a:r>
              <a:t>Apply Systems Thinking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84010" y="4019901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Frame problems using systems thinking, identifying stakeholders, incentives, and constraints before introducing AI as a solution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2722" y="4641693"/>
            <a:ext cx="8138160" cy="68580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95290" y="4614260"/>
            <a:ext cx="8138160" cy="844003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95290" y="4614261"/>
            <a:ext cx="137160" cy="6858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223890" y="4797141"/>
            <a:ext cx="320040" cy="3200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223890" y="4797141"/>
            <a:ext cx="320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84010" y="4687413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Create Stakeholder Maps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84010" y="493430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Produce a basic stakeholder map that reflects real-world complexity rather than simplified assumptions</a:t>
            </a:r>
          </a:p>
        </p:txBody>
      </p:sp>
    </p:spTree>
    <p:extLst>
      <p:ext uri="{BB962C8B-B14F-4D97-AF65-F5344CB8AC3E}">
        <p14:creationId xmlns:p14="http://schemas.microsoft.com/office/powerpoint/2010/main" val="2368765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913" y="338407"/>
            <a:ext cx="9296302" cy="1268984"/>
          </a:xfrm>
        </p:spPr>
        <p:txBody>
          <a:bodyPr/>
          <a:lstStyle/>
          <a:p>
            <a:pPr algn="ctr"/>
            <a:r>
              <a:rPr lang="en-US" dirty="0"/>
              <a:t>Data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807" y="1835991"/>
            <a:ext cx="6257827" cy="276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2C3E50"/>
                </a:solidFill>
              </a:defRPr>
            </a:pPr>
            <a:r>
              <a:rPr sz="2800" dirty="0"/>
              <a:t>Data structures are specialized formats for organizing data efficiently. They impact performance, maintainability, and scalability.</a:t>
            </a:r>
          </a:p>
          <a:p>
            <a:endParaRPr sz="2800" dirty="0"/>
          </a:p>
        </p:txBody>
      </p:sp>
      <p:sp>
        <p:nvSpPr>
          <p:cNvPr id="6" name="Rounded Rectangle 5"/>
          <p:cNvSpPr/>
          <p:nvPr/>
        </p:nvSpPr>
        <p:spPr>
          <a:xfrm>
            <a:off x="7774695" y="1835991"/>
            <a:ext cx="3749039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7575" y="1973151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 b="1">
                <a:solidFill>
                  <a:srgbClr val="16A085"/>
                </a:solidFill>
              </a:defRPr>
            </a:pPr>
            <a:r>
              <a:t>Time Complexity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9015" y="247607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2C3E50"/>
                </a:solidFill>
              </a:defRPr>
            </a:pPr>
            <a:r>
              <a:t>List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9015" y="2796111"/>
            <a:ext cx="2926080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66534" y="276867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E74C3C"/>
                </a:solidFill>
              </a:defRPr>
            </a:pPr>
            <a:r>
              <a:t>O(n)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9015" y="325331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2C3E50"/>
                </a:solidFill>
              </a:defRPr>
            </a:pPr>
            <a:r>
              <a:t>Dict Lookup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9015" y="3573351"/>
            <a:ext cx="548640" cy="201168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9094" y="354591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16A085"/>
                </a:solidFill>
              </a:defRPr>
            </a:pPr>
            <a:r>
              <a:t>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9015" y="4030551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2C3E50"/>
                </a:solidFill>
              </a:defRPr>
            </a:pPr>
            <a:r>
              <a:t>Set Member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9015" y="4350591"/>
            <a:ext cx="548640" cy="201168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9094" y="4323159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3498DB"/>
                </a:solidFill>
              </a:defRPr>
            </a:pPr>
            <a: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20715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54099" cy="1268984"/>
          </a:xfrm>
        </p:spPr>
        <p:txBody>
          <a:bodyPr/>
          <a:lstStyle/>
          <a:p>
            <a:r>
              <a:rPr lang="en-US" dirty="0"/>
              <a:t>WHY DATA STRUCTURES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54099" cy="360121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KEY BENEFITS:</a:t>
            </a:r>
          </a:p>
          <a:p>
            <a:endParaRPr lang="en-US" dirty="0"/>
          </a:p>
          <a:p>
            <a:r>
              <a:rPr lang="en-US" dirty="0"/>
              <a:t>Efficiency: Proper structures dramatically reduce execution time. Dictionary lookups run in O(1) time versus O(n) for list searches.</a:t>
            </a:r>
          </a:p>
          <a:p>
            <a:endParaRPr lang="en-US" dirty="0"/>
          </a:p>
          <a:p>
            <a:r>
              <a:rPr lang="en-US" dirty="0"/>
              <a:t>Organization: Logical grouping improves code maintainability and reduces complexity for team collaboration.</a:t>
            </a:r>
          </a:p>
          <a:p>
            <a:endParaRPr lang="en-US" dirty="0"/>
          </a:p>
          <a:p>
            <a:r>
              <a:rPr lang="en-US" dirty="0"/>
              <a:t>Readability: Well-chosen structures make code self-documenting and reduce need for extensive comments.</a:t>
            </a:r>
          </a:p>
          <a:p>
            <a:endParaRPr lang="en-US" dirty="0"/>
          </a:p>
          <a:p>
            <a:r>
              <a:rPr lang="en-US" dirty="0"/>
              <a:t>Scalability: Right choices enable systems to grow from thousands to millions of records seamlessly.</a:t>
            </a:r>
          </a:p>
        </p:txBody>
      </p:sp>
    </p:spTree>
    <p:extLst>
      <p:ext uri="{BB962C8B-B14F-4D97-AF65-F5344CB8AC3E}">
        <p14:creationId xmlns:p14="http://schemas.microsoft.com/office/powerpoint/2010/main" val="2048904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14948" cy="1268984"/>
          </a:xfrm>
        </p:spPr>
        <p:txBody>
          <a:bodyPr/>
          <a:lstStyle/>
          <a:p>
            <a:r>
              <a:rPr lang="en-US" dirty="0"/>
              <a:t>OVERVIEW OF DATA STRUCTURES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06122" y="190271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 b="1">
                <a:solidFill>
                  <a:srgbClr val="16A085"/>
                </a:solidFill>
              </a:defRPr>
            </a:pPr>
            <a:r>
              <a:rPr dirty="0"/>
              <a:t>MEMORY STORAGE PATTERNS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06122" y="226847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b="1">
                <a:solidFill>
                  <a:srgbClr val="2C3E50"/>
                </a:solidFill>
              </a:defRPr>
            </a:pPr>
            <a:r>
              <a:t>Contiguous (Lists)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06122" y="2542794"/>
            <a:ext cx="566928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06122" y="254279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27914" y="2542794"/>
            <a:ext cx="566928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27914" y="254279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49706" y="2542794"/>
            <a:ext cx="566928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49706" y="254279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1498" y="2542794"/>
            <a:ext cx="566928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171498" y="254279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3290" y="2542794"/>
            <a:ext cx="566928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793290" y="254279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06122" y="309143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 b="1">
                <a:solidFill>
                  <a:srgbClr val="2C3E50"/>
                </a:solidFill>
              </a:defRPr>
            </a:pPr>
            <a:r>
              <a:t>Hash Table (Dictionaries)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06122" y="3365754"/>
            <a:ext cx="566928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06122" y="336575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</a:defRPr>
            </a:pPr>
            <a:r>
              <a:t>k0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49706" y="3365754"/>
            <a:ext cx="566928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549706" y="336575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</a:defRPr>
            </a:pPr>
            <a:r>
              <a:t>k1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93290" y="3365754"/>
            <a:ext cx="566928" cy="347472"/>
          </a:xfrm>
          <a:prstGeom prst="rect">
            <a:avLst/>
          </a:prstGeom>
          <a:solidFill>
            <a:srgbClr val="3498DB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93290" y="3365754"/>
            <a:ext cx="56692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000" b="1">
                <a:solidFill>
                  <a:srgbClr val="FFFFFF"/>
                </a:solidFill>
              </a:defRPr>
            </a:pPr>
            <a:r>
              <a:t>k2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30359" y="1849257"/>
            <a:ext cx="3657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2C3E50"/>
                </a:solidFill>
              </a:defRPr>
            </a:pPr>
            <a:r>
              <a:rPr dirty="0"/>
              <a:t>Lists: Sequential memory blocks enable O(1) indexed access.</a:t>
            </a:r>
          </a:p>
          <a:p>
            <a:endParaRPr dirty="0"/>
          </a:p>
          <a:p>
            <a:r>
              <a:rPr dirty="0"/>
              <a:t>Dictionaries: Hash tables provide O(1) average-case lookups through key hashing.</a:t>
            </a:r>
          </a:p>
          <a:p>
            <a:endParaRPr dirty="0"/>
          </a:p>
          <a:p>
            <a:r>
              <a:rPr dirty="0"/>
              <a:t>Tuples: Similar to lists but immutable and slightly faster.</a:t>
            </a:r>
          </a:p>
          <a:p>
            <a:endParaRPr dirty="0"/>
          </a:p>
          <a:p>
            <a:r>
              <a:rPr dirty="0"/>
              <a:t>Sets: Hash-based like </a:t>
            </a:r>
            <a:r>
              <a:rPr dirty="0" err="1"/>
              <a:t>dicts</a:t>
            </a:r>
            <a:r>
              <a:rPr dirty="0"/>
              <a:t>, optimized for O(1) membership testing.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883887" y="1790114"/>
            <a:ext cx="3749039" cy="31089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066767" y="192727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3498DB"/>
                </a:solidFill>
              </a:defRPr>
            </a:pPr>
            <a:r>
              <a:t>Complexity Reference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66767" y="2338754"/>
            <a:ext cx="1005840" cy="2560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66767" y="2338754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900" b="1">
                <a:solidFill>
                  <a:srgbClr val="FFFFFF"/>
                </a:solidFill>
              </a:defRPr>
            </a:pPr>
            <a:r>
              <a:t>Structure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64047" y="2338754"/>
            <a:ext cx="685800" cy="2560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4047" y="233875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900" b="1">
                <a:solidFill>
                  <a:srgbClr val="FFFFFF"/>
                </a:solidFill>
              </a:defRPr>
            </a:pPr>
            <a:r>
              <a:t>Access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41287" y="2338754"/>
            <a:ext cx="685800" cy="2560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941287" y="233875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900" b="1">
                <a:solidFill>
                  <a:srgbClr val="FFFFFF"/>
                </a:solidFill>
              </a:defRPr>
            </a:pPr>
            <a:r>
              <a:t>Search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18527" y="2338754"/>
            <a:ext cx="685800" cy="2560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718527" y="2338754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900" b="1">
                <a:solidFill>
                  <a:srgbClr val="FFFFFF"/>
                </a:solidFill>
              </a:defRPr>
            </a:pPr>
            <a:r>
              <a:t>Insert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66767" y="2640506"/>
            <a:ext cx="100584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066767" y="2640506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List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164047" y="2640506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4047" y="2640506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941287" y="2640506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941287" y="2640506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O(n)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18527" y="2640506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718527" y="2640506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O(n)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66767" y="2987978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Tuple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64047" y="2987978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41287" y="2987978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718527" y="2987978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N/A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66767" y="3335450"/>
            <a:ext cx="100584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066767" y="3335450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Dict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164047" y="3335450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4047" y="3335450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41287" y="3335450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941287" y="3335450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18527" y="3335450"/>
            <a:ext cx="685800" cy="27432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718527" y="3335450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66767" y="3682922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Set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64047" y="368292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N/A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41287" y="368292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718527" y="3682922"/>
            <a:ext cx="685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800">
                <a:solidFill>
                  <a:srgbClr val="2C3E50"/>
                </a:solidFill>
              </a:defRPr>
            </a:pPr>
            <a: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342802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183761" cy="1268984"/>
          </a:xfrm>
        </p:spPr>
        <p:txBody>
          <a:bodyPr/>
          <a:lstStyle/>
          <a:p>
            <a:pPr algn="ctr"/>
            <a:r>
              <a:rPr lang="en-US" dirty="0"/>
              <a:t>INTRODUCTION TO LISTS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01149" y="196497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list is a Python data structure used to hold multiple related items together, similar to how we write items in a shopping list or names in a class register.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149" y="294136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It  </a:t>
            </a:r>
            <a:r>
              <a:rPr lang="en-US" dirty="0"/>
              <a:t>allows us to store and work with multiple related items in Python at the same time, instead of creating many separate variables for each item.</a:t>
            </a:r>
          </a:p>
        </p:txBody>
      </p:sp>
    </p:spTree>
    <p:extLst>
      <p:ext uri="{BB962C8B-B14F-4D97-AF65-F5344CB8AC3E}">
        <p14:creationId xmlns:p14="http://schemas.microsoft.com/office/powerpoint/2010/main" val="172465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380708" cy="1268984"/>
          </a:xfrm>
        </p:spPr>
        <p:txBody>
          <a:bodyPr/>
          <a:lstStyle/>
          <a:p>
            <a:r>
              <a:rPr lang="en-US" dirty="0"/>
              <a:t>Characteristics of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380708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characteristics:</a:t>
            </a:r>
            <a:br>
              <a:rPr lang="en-US" dirty="0"/>
            </a:br>
            <a:r>
              <a:rPr lang="en-US" dirty="0"/>
              <a:t>• Stores items in a specific order</a:t>
            </a:r>
            <a:br>
              <a:rPr lang="en-US" dirty="0"/>
            </a:br>
            <a:r>
              <a:rPr lang="en-US" dirty="0"/>
              <a:t>• Can be modified after creation</a:t>
            </a:r>
            <a:br>
              <a:rPr lang="en-US" dirty="0"/>
            </a:br>
            <a:r>
              <a:rPr lang="en-US" dirty="0"/>
              <a:t>• Can hold multiple data </a:t>
            </a:r>
            <a:r>
              <a:rPr lang="en-US" dirty="0" smtClean="0"/>
              <a:t>types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dirty="0" smtClean="0">
                <a:latin typeface="Arial" panose="020B0604020202020204" pitchFamily="34" charset="0"/>
              </a:rPr>
              <a:t>Each </a:t>
            </a:r>
            <a:r>
              <a:rPr lang="en-US" altLang="en-US" dirty="0">
                <a:latin typeface="Arial" panose="020B0604020202020204" pitchFamily="34" charset="0"/>
              </a:rPr>
              <a:t>item has a position that Python can reference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4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747662" cy="1268984"/>
          </a:xfrm>
        </p:spPr>
        <p:txBody>
          <a:bodyPr/>
          <a:lstStyle/>
          <a:p>
            <a:r>
              <a:rPr lang="en-US" dirty="0"/>
              <a:t>INDEXING IN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1574057"/>
            <a:ext cx="8747662" cy="3601212"/>
          </a:xfrm>
        </p:spPr>
        <p:txBody>
          <a:bodyPr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Positive Indexing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Access elements from the **start** of the list (index 0, 1, 2...)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```python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colors = ['red', 'green', 'blue']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print(colors[0])  # 'red'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print(colors[1])  # 'green'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print(colors[2])  # 'blue'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```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Negative Indexing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Access elements from the **end** of the list (index -1, -2, -3...)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```python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print(colors[-1])  # 'blue' (last)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print(colors[-2])  # 'green'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print(colors[-3])  # 'red' (first)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498" y="3263704"/>
            <a:ext cx="4972484" cy="27428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061" y="1057403"/>
            <a:ext cx="4128422" cy="220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4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874272" cy="12689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LIST SLICING - EXTRACTING SUBLISTS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8874272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Slicing allows us to work with subsets of a list.</a:t>
            </a:r>
          </a:p>
          <a:p>
            <a:r>
              <a:rPr lang="en-US" dirty="0"/>
              <a:t>With slicing, we can:</a:t>
            </a:r>
            <a:br>
              <a:rPr lang="en-US" dirty="0"/>
            </a:br>
            <a:r>
              <a:rPr lang="en-US" dirty="0"/>
              <a:t>• Extract a range of elements</a:t>
            </a:r>
            <a:br>
              <a:rPr lang="en-US" dirty="0"/>
            </a:br>
            <a:r>
              <a:rPr lang="en-US" dirty="0"/>
              <a:t>• Skip elements using steps</a:t>
            </a:r>
            <a:br>
              <a:rPr lang="en-US" dirty="0"/>
            </a:br>
            <a:r>
              <a:rPr lang="en-US" dirty="0"/>
              <a:t>• Reverse the order of a list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4115" y="2672861"/>
            <a:ext cx="4365509" cy="214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6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467" y="252085"/>
            <a:ext cx="9099355" cy="1268984"/>
          </a:xfrm>
        </p:spPr>
        <p:txBody>
          <a:bodyPr/>
          <a:lstStyle/>
          <a:p>
            <a:pPr algn="ctr"/>
            <a:r>
              <a:rPr lang="en-US" dirty="0"/>
              <a:t>COMMON LIST METHODS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45920" y="1188116"/>
            <a:ext cx="7751298" cy="4115404"/>
            <a:chOff x="2785403" y="1269982"/>
            <a:chExt cx="4417256" cy="3816421"/>
          </a:xfrm>
        </p:grpSpPr>
        <p:sp>
          <p:nvSpPr>
            <p:cNvPr id="5" name="Rounded Rectangle 4"/>
            <p:cNvSpPr/>
            <p:nvPr/>
          </p:nvSpPr>
          <p:spPr>
            <a:xfrm>
              <a:off x="2785403" y="1625751"/>
              <a:ext cx="4417256" cy="3460652"/>
            </a:xfrm>
            <a:prstGeom prst="roundRect">
              <a:avLst/>
            </a:prstGeom>
            <a:solidFill>
              <a:srgbClr val="F5F5F5"/>
            </a:solidFill>
            <a:ln w="12700">
              <a:solidFill>
                <a:srgbClr val="16A0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986188" y="1269982"/>
              <a:ext cx="4015687" cy="332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 sz="1200" b="1">
                  <a:solidFill>
                    <a:srgbClr val="16A085"/>
                  </a:solidFill>
                </a:defRPr>
              </a:pPr>
              <a:r>
                <a:rPr dirty="0"/>
                <a:t>Operations Visual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46193" y="1973993"/>
              <a:ext cx="1204706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 b="1">
                  <a:solidFill>
                    <a:srgbClr val="F39C12"/>
                  </a:solidFill>
                </a:defRPr>
              </a:pPr>
              <a:r>
                <a:t>append(4)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328289" y="2201166"/>
              <a:ext cx="1405490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>
                  <a:solidFill>
                    <a:srgbClr val="2C3E50"/>
                  </a:solidFill>
                  <a:latin typeface="Courier New"/>
                </a:defRPr>
              </a:pPr>
              <a:r>
                <a:t>[1, 2, 3]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4793887" y="2213964"/>
              <a:ext cx="351372" cy="162855"/>
            </a:xfrm>
            <a:prstGeom prst="rightArrow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66608" y="2201166"/>
              <a:ext cx="1907451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 b="1">
                  <a:solidFill>
                    <a:srgbClr val="16A085"/>
                  </a:solidFill>
                  <a:latin typeface="Courier New"/>
                </a:defRPr>
              </a:pPr>
              <a:r>
                <a:t>[1, 2, 3, 4]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346193" y="2476913"/>
              <a:ext cx="1204706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 b="1">
                  <a:solidFill>
                    <a:srgbClr val="F39C12"/>
                  </a:solidFill>
                </a:defRPr>
              </a:pPr>
              <a:r>
                <a:t>insert(1, 5)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28289" y="2704086"/>
              <a:ext cx="1405490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>
                  <a:solidFill>
                    <a:srgbClr val="2C3E50"/>
                  </a:solidFill>
                  <a:latin typeface="Courier New"/>
                </a:defRPr>
              </a:pPr>
              <a:r>
                <a:t>[1, 2, 3]</a:t>
              </a:r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4793887" y="2716885"/>
              <a:ext cx="351372" cy="162855"/>
            </a:xfrm>
            <a:prstGeom prst="rightArrow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066608" y="2704086"/>
              <a:ext cx="1907451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 b="1">
                  <a:solidFill>
                    <a:srgbClr val="16A085"/>
                  </a:solidFill>
                  <a:latin typeface="Courier New"/>
                </a:defRPr>
              </a:pPr>
              <a:r>
                <a:t>[1, 5, 2, 3]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346193" y="2979833"/>
              <a:ext cx="1204706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 b="1">
                  <a:solidFill>
                    <a:srgbClr val="F39C12"/>
                  </a:solidFill>
                </a:defRPr>
              </a:pPr>
              <a:r>
                <a:t>remove(2)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328289" y="3207006"/>
              <a:ext cx="1405490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>
                  <a:solidFill>
                    <a:srgbClr val="2C3E50"/>
                  </a:solidFill>
                  <a:latin typeface="Courier New"/>
                </a:defRPr>
              </a:pPr>
              <a:r>
                <a:t>[1, 2, 3]</a:t>
              </a:r>
            </a:p>
          </p:txBody>
        </p:sp>
        <p:sp>
          <p:nvSpPr>
            <p:cNvPr id="17" name="Right Arrow 16"/>
            <p:cNvSpPr/>
            <p:nvPr/>
          </p:nvSpPr>
          <p:spPr>
            <a:xfrm>
              <a:off x="4793887" y="3219805"/>
              <a:ext cx="351372" cy="162855"/>
            </a:xfrm>
            <a:prstGeom prst="rightArrow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66608" y="3207006"/>
              <a:ext cx="1907451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 b="1">
                  <a:solidFill>
                    <a:srgbClr val="16A085"/>
                  </a:solidFill>
                  <a:latin typeface="Courier New"/>
                </a:defRPr>
              </a:pPr>
              <a:r>
                <a:t>[1, 3]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46193" y="3482753"/>
              <a:ext cx="1204706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 b="1">
                  <a:solidFill>
                    <a:srgbClr val="F39C12"/>
                  </a:solidFill>
                </a:defRPr>
              </a:pPr>
              <a:r>
                <a:t>pop()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28289" y="3709926"/>
              <a:ext cx="1405490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>
                  <a:solidFill>
                    <a:srgbClr val="2C3E50"/>
                  </a:solidFill>
                  <a:latin typeface="Courier New"/>
                </a:defRPr>
              </a:pPr>
              <a:r>
                <a:t>[1, 2, 3]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4793887" y="3722725"/>
              <a:ext cx="351372" cy="162855"/>
            </a:xfrm>
            <a:prstGeom prst="rightArrow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066608" y="3709926"/>
              <a:ext cx="1907451" cy="2523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800" b="1">
                  <a:solidFill>
                    <a:srgbClr val="16A085"/>
                  </a:solidFill>
                  <a:latin typeface="Courier New"/>
                </a:defRPr>
              </a:pPr>
              <a:r>
                <a:t>[1, 2]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634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076" y="364148"/>
            <a:ext cx="8834511" cy="838060"/>
          </a:xfrm>
        </p:spPr>
        <p:txBody>
          <a:bodyPr/>
          <a:lstStyle/>
          <a:p>
            <a:pPr algn="ctr"/>
            <a:r>
              <a:rPr lang="en-US" dirty="0"/>
              <a:t>WHEN TO USE LISTS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05243" y="1378633"/>
            <a:ext cx="9073662" cy="4614203"/>
            <a:chOff x="3362178" y="1934366"/>
            <a:chExt cx="4114800" cy="3108960"/>
          </a:xfrm>
        </p:grpSpPr>
        <p:sp>
          <p:nvSpPr>
            <p:cNvPr id="5" name="Rounded Rectangle 4"/>
            <p:cNvSpPr/>
            <p:nvPr/>
          </p:nvSpPr>
          <p:spPr>
            <a:xfrm>
              <a:off x="3362178" y="1934366"/>
              <a:ext cx="4114800" cy="310896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545058" y="2071526"/>
              <a:ext cx="3749039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 sz="1200" b="1">
                  <a:solidFill>
                    <a:srgbClr val="16A085"/>
                  </a:solidFill>
                </a:defRPr>
              </a:pPr>
              <a:r>
                <a:t>Decision Flow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910818" y="2483006"/>
              <a:ext cx="3108960" cy="292608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6A0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02258" y="2483006"/>
              <a:ext cx="29260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16A085"/>
                  </a:solidFill>
                </a:defRPr>
              </a:pPr>
              <a:r>
                <a:t>Does order matter?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282418" y="2812189"/>
              <a:ext cx="4572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1">
                  <a:solidFill>
                    <a:srgbClr val="16A085"/>
                  </a:solidFill>
                </a:defRPr>
              </a:pPr>
              <a:r>
                <a:t>↓ YES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910818" y="3031646"/>
              <a:ext cx="3108960" cy="292608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6A0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02258" y="3031646"/>
              <a:ext cx="29260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16A085"/>
                  </a:solidFill>
                </a:defRPr>
              </a:pPr>
              <a:r>
                <a:rPr dirty="0"/>
                <a:t>Will data change?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82418" y="3360830"/>
              <a:ext cx="4572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1">
                  <a:solidFill>
                    <a:srgbClr val="16A085"/>
                  </a:solidFill>
                </a:defRPr>
              </a:pPr>
              <a:r>
                <a:t>↓ YES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910818" y="3580286"/>
              <a:ext cx="3108960" cy="292608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16A08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02258" y="3580286"/>
              <a:ext cx="2926080" cy="29260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16A085"/>
                  </a:solidFill>
                </a:defRPr>
              </a:pPr>
              <a:r>
                <a:t>Duplicates allowed?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82418" y="3909470"/>
              <a:ext cx="457200" cy="1828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000" b="1">
                  <a:solidFill>
                    <a:srgbClr val="16A085"/>
                  </a:solidFill>
                </a:defRPr>
              </a:pPr>
              <a:r>
                <a:t>↓ YES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4276578" y="4266086"/>
              <a:ext cx="2377440" cy="347472"/>
            </a:xfrm>
            <a:prstGeom prst="roundRect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68018" y="4266086"/>
              <a:ext cx="2194560" cy="34747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200" b="1">
                  <a:solidFill>
                    <a:srgbClr val="FFFFFF"/>
                  </a:solidFill>
                </a:defRPr>
              </a:pPr>
              <a:r>
                <a:rPr dirty="0"/>
                <a:t>✓ USE </a:t>
              </a:r>
              <a:r>
                <a:rPr dirty="0" smtClean="0"/>
                <a:t>LIST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21717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197828" cy="1268984"/>
          </a:xfrm>
        </p:spPr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197828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tuple is similar to a list, but with one key difference.</a:t>
            </a:r>
          </a:p>
          <a:p>
            <a:r>
              <a:rPr lang="en-US" dirty="0"/>
              <a:t>Characteristics:</a:t>
            </a:r>
            <a:br>
              <a:rPr lang="en-US" dirty="0"/>
            </a:br>
            <a:r>
              <a:rPr lang="en-US" dirty="0"/>
              <a:t>• Ordered collection of items</a:t>
            </a:r>
            <a:br>
              <a:rPr lang="en-US" dirty="0"/>
            </a:br>
            <a:r>
              <a:rPr lang="en-US" dirty="0"/>
              <a:t>• Immutable after creation</a:t>
            </a:r>
            <a:br>
              <a:rPr lang="en-US" dirty="0"/>
            </a:br>
            <a:r>
              <a:rPr lang="en-US" dirty="0"/>
              <a:t>• Slightly more memory-efficient than lists</a:t>
            </a:r>
          </a:p>
          <a:p>
            <a:r>
              <a:rPr lang="en-US" dirty="0"/>
              <a:t>Tuples are useful for representing fixed records.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04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54099" cy="1268984"/>
          </a:xfrm>
        </p:spPr>
        <p:txBody>
          <a:bodyPr/>
          <a:lstStyle/>
          <a:p>
            <a:r>
              <a:rPr lang="en-US" dirty="0"/>
              <a:t>WHY TUPLES EXIST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54099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Tuples help enforce data integrity.</a:t>
            </a:r>
          </a:p>
          <a:p>
            <a:r>
              <a:rPr lang="en-US" dirty="0"/>
              <a:t>They are useful when:</a:t>
            </a:r>
            <a:br>
              <a:rPr lang="en-US" dirty="0"/>
            </a:br>
            <a:r>
              <a:rPr lang="en-US" dirty="0"/>
              <a:t>• Values should not be modified</a:t>
            </a:r>
            <a:br>
              <a:rPr lang="en-US" dirty="0"/>
            </a:br>
            <a:r>
              <a:rPr lang="en-US" dirty="0"/>
              <a:t>• Data represents a constant record</a:t>
            </a:r>
            <a:br>
              <a:rPr lang="en-US" dirty="0"/>
            </a:br>
            <a:r>
              <a:rPr lang="en-US" dirty="0"/>
              <a:t>• You want to avoid accidental changes</a:t>
            </a:r>
          </a:p>
          <a:p>
            <a:pPr marL="0" indent="0">
              <a:buNone/>
            </a:pPr>
            <a:r>
              <a:rPr lang="en-US" dirty="0"/>
              <a:t>This makes programs safer and more predictable.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78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517" y="364226"/>
            <a:ext cx="8419514" cy="769523"/>
          </a:xfrm>
        </p:spPr>
        <p:txBody>
          <a:bodyPr/>
          <a:lstStyle/>
          <a:p>
            <a:pPr algn="ctr"/>
            <a:r>
              <a:rPr lang="en-US" dirty="0"/>
              <a:t>LIST VS TUPLE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146517" y="1392702"/>
            <a:ext cx="10234246" cy="4079631"/>
            <a:chOff x="1146517" y="2082018"/>
            <a:chExt cx="8419514" cy="3390315"/>
          </a:xfrm>
        </p:grpSpPr>
        <p:sp>
          <p:nvSpPr>
            <p:cNvPr id="4" name="Rounded Rectangle 3"/>
            <p:cNvSpPr/>
            <p:nvPr/>
          </p:nvSpPr>
          <p:spPr>
            <a:xfrm>
              <a:off x="1146517" y="2082018"/>
              <a:ext cx="8419514" cy="3390315"/>
            </a:xfrm>
            <a:prstGeom prst="roundRect">
              <a:avLst/>
            </a:prstGeom>
            <a:solidFill>
              <a:srgbClr val="ECF0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603717" y="2524548"/>
              <a:ext cx="342654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16A085"/>
                  </a:solidFill>
                </a:defRPr>
              </a:pPr>
              <a:r>
                <a:t>Lists [  ]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78037" y="307861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Mutable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78037" y="344437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Can change values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78037" y="381013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Flexible operations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878037" y="417589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More memory overhead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21236" y="3639964"/>
              <a:ext cx="97901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2800" b="1">
                  <a:solidFill>
                    <a:srgbClr val="F39C12"/>
                  </a:solidFill>
                </a:defRPr>
              </a:pPr>
              <a:r>
                <a:t>VS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09957" y="2524548"/>
              <a:ext cx="3426546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2200" b="1">
                  <a:solidFill>
                    <a:srgbClr val="3498DB"/>
                  </a:solidFill>
                </a:defRPr>
              </a:pPr>
              <a:r>
                <a:t>Tuples (  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84277" y="307861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Immutable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84277" y="344437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Cannot change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084277" y="381013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Data protection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84277" y="4175895"/>
              <a:ext cx="29370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400">
                  <a:solidFill>
                    <a:srgbClr val="2C3E50"/>
                  </a:solidFill>
                </a:defRPr>
              </a:pPr>
              <a:r>
                <a:t>✓ Memory efficient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0613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328324"/>
            <a:ext cx="9057152" cy="740821"/>
          </a:xfrm>
        </p:spPr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338" y="1202640"/>
            <a:ext cx="11139169" cy="251123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dictionary stores data as key-value pairs.</a:t>
            </a:r>
          </a:p>
          <a:p>
            <a:r>
              <a:rPr lang="en-US" dirty="0"/>
              <a:t>Core features:</a:t>
            </a:r>
            <a:br>
              <a:rPr lang="en-US" dirty="0"/>
            </a:br>
            <a:r>
              <a:rPr lang="en-US" dirty="0"/>
              <a:t>• Each key uniquely identifies a value</a:t>
            </a:r>
            <a:br>
              <a:rPr lang="en-US" dirty="0"/>
            </a:br>
            <a:r>
              <a:rPr lang="en-US" dirty="0"/>
              <a:t>• Data is accessed by meaning, not position</a:t>
            </a:r>
            <a:br>
              <a:rPr lang="en-US" dirty="0"/>
            </a:br>
            <a:r>
              <a:rPr lang="en-US" dirty="0"/>
              <a:t>• Highly efficient for lookups</a:t>
            </a:r>
          </a:p>
          <a:p>
            <a:pPr marL="0" indent="0">
              <a:buNone/>
            </a:pPr>
            <a:r>
              <a:rPr lang="en-US" dirty="0"/>
              <a:t>Dictionaries closely resemble real-world data structures.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2" t="28329" r="29511" b="51273"/>
          <a:stretch/>
        </p:blipFill>
        <p:spPr>
          <a:xfrm>
            <a:off x="606075" y="3615398"/>
            <a:ext cx="8017420" cy="217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6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958678" cy="1268984"/>
          </a:xfrm>
        </p:spPr>
        <p:txBody>
          <a:bodyPr/>
          <a:lstStyle/>
          <a:p>
            <a:pPr algn="ctr">
              <a:defRPr sz="3600" b="1">
                <a:solidFill>
                  <a:srgbClr val="16A085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Dictionary Operations Visual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5163" y="2160016"/>
            <a:ext cx="7863840" cy="3200400"/>
          </a:xfrm>
          <a:prstGeom prst="round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48043" y="2342896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A085"/>
                </a:solidFill>
                <a:latin typeface="Courier New"/>
              </a:defRPr>
            </a:pPr>
            <a:r>
              <a:t>student = {'name': 'Alice', 'age': 25, 'grade': 'A'}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3883" y="2982976"/>
            <a:ext cx="1828800" cy="4572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53883" y="298297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'name'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5563" y="3074416"/>
            <a:ext cx="548640" cy="274320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97083" y="2982976"/>
            <a:ext cx="18288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97083" y="298297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'Alice'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3883" y="3714496"/>
            <a:ext cx="1828800" cy="4572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3883" y="371449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'age'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65563" y="3805936"/>
            <a:ext cx="548640" cy="274320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97083" y="3714496"/>
            <a:ext cx="18288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7083" y="371449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3883" y="4446016"/>
            <a:ext cx="1828800" cy="457200"/>
          </a:xfrm>
          <a:prstGeom prst="round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3883" y="444601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'grade'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65563" y="4537456"/>
            <a:ext cx="548640" cy="274320"/>
          </a:xfrm>
          <a:prstGeom prst="rightArrow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97083" y="4446016"/>
            <a:ext cx="1828800" cy="45720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97083" y="4446016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'A'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3883" y="4994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6A085"/>
                </a:solidFill>
              </a:defRPr>
            </a:pPr>
            <a:r>
              <a:t>KEY (identifier)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7083" y="499465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98DB"/>
                </a:solidFill>
              </a:defRPr>
            </a:pPr>
            <a:r>
              <a:t>VALUE (data)</a:t>
            </a:r>
          </a:p>
        </p:txBody>
      </p:sp>
    </p:spTree>
    <p:extLst>
      <p:ext uri="{BB962C8B-B14F-4D97-AF65-F5344CB8AC3E}">
        <p14:creationId xmlns:p14="http://schemas.microsoft.com/office/powerpoint/2010/main" val="210294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68167" cy="1268984"/>
          </a:xfrm>
        </p:spPr>
        <p:txBody>
          <a:bodyPr/>
          <a:lstStyle/>
          <a:p>
            <a:pPr algn="ctr"/>
            <a:r>
              <a:rPr lang="en-US" dirty="0"/>
              <a:t>COMMON DICTIONARY METHODS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311" y="1405382"/>
            <a:ext cx="7765366" cy="4361029"/>
          </a:xfrm>
        </p:spPr>
      </p:pic>
    </p:spTree>
    <p:extLst>
      <p:ext uri="{BB962C8B-B14F-4D97-AF65-F5344CB8AC3E}">
        <p14:creationId xmlns:p14="http://schemas.microsoft.com/office/powerpoint/2010/main" val="1158549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40032" cy="1268984"/>
          </a:xfrm>
        </p:spPr>
        <p:txBody>
          <a:bodyPr/>
          <a:lstStyle/>
          <a:p>
            <a:r>
              <a:rPr lang="en-US" dirty="0"/>
              <a:t>ACCESSING DICTIONARY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40032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Dictionary values are accessed using keys.</a:t>
            </a:r>
          </a:p>
          <a:p>
            <a:pPr marL="0" indent="0">
              <a:buNone/>
            </a:pPr>
            <a:r>
              <a:rPr lang="en-US" dirty="0"/>
              <a:t>This allows:</a:t>
            </a:r>
            <a:br>
              <a:rPr lang="en-US" dirty="0"/>
            </a:br>
            <a:r>
              <a:rPr lang="en-US" dirty="0"/>
              <a:t>• Fast retrieval of information</a:t>
            </a:r>
            <a:br>
              <a:rPr lang="en-US" dirty="0"/>
            </a:br>
            <a:r>
              <a:rPr lang="en-US" dirty="0"/>
              <a:t>• Clear and descriptive data access</a:t>
            </a:r>
            <a:br>
              <a:rPr lang="en-US" dirty="0"/>
            </a:br>
            <a:r>
              <a:rPr lang="en-US" dirty="0"/>
              <a:t>• Reduced dependency on index positions</a:t>
            </a:r>
          </a:p>
          <a:p>
            <a:pPr marL="0" indent="0">
              <a:buNone/>
            </a:pPr>
            <a:r>
              <a:rPr lang="en-US" dirty="0"/>
              <a:t>This is essential in large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1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00881" cy="1268984"/>
          </a:xfrm>
        </p:spPr>
        <p:txBody>
          <a:bodyPr/>
          <a:lstStyle/>
          <a:p>
            <a:r>
              <a:rPr lang="en-US" dirty="0"/>
              <a:t>WHEN TO USE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00881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dictionaries when:</a:t>
            </a:r>
          </a:p>
          <a:p>
            <a:pPr marL="0" indent="0">
              <a:buNone/>
            </a:pPr>
            <a:r>
              <a:rPr lang="en-US" dirty="0"/>
              <a:t>• Data elements have labels or identifiers</a:t>
            </a:r>
            <a:br>
              <a:rPr lang="en-US" dirty="0"/>
            </a:br>
            <a:r>
              <a:rPr lang="en-US" dirty="0"/>
              <a:t>• Fast access to values is required</a:t>
            </a:r>
            <a:br>
              <a:rPr lang="en-US" dirty="0"/>
            </a:br>
            <a:r>
              <a:rPr lang="en-US" dirty="0"/>
              <a:t>• Relationships between data points matter more than order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4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82235" cy="1268984"/>
          </a:xfrm>
        </p:spPr>
        <p:txBody>
          <a:bodyPr/>
          <a:lstStyle/>
          <a:p>
            <a:r>
              <a:rPr lang="en-US" dirty="0"/>
              <a:t>SETS</a:t>
            </a:r>
          </a:p>
        </p:txBody>
      </p:sp>
      <p:sp>
        <p:nvSpPr>
          <p:cNvPr id="4" name="Oval 3"/>
          <p:cNvSpPr/>
          <p:nvPr/>
        </p:nvSpPr>
        <p:spPr>
          <a:xfrm>
            <a:off x="1309467" y="1971294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309467" y="197129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0947" y="192557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2C3E50"/>
                </a:solidFill>
              </a:defRPr>
            </a:pPr>
            <a:r>
              <a:t>Uniqueness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0947" y="217246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</a:defRPr>
            </a:pPr>
            <a:r>
              <a:t>Removes duplicates automatically</a:t>
            </a:r>
          </a:p>
        </p:txBody>
      </p:sp>
      <p:sp>
        <p:nvSpPr>
          <p:cNvPr id="8" name="Oval 7"/>
          <p:cNvSpPr/>
          <p:nvPr/>
        </p:nvSpPr>
        <p:spPr>
          <a:xfrm>
            <a:off x="1309467" y="2611374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309467" y="261137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0947" y="256565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2C3E50"/>
                </a:solidFill>
              </a:defRPr>
            </a:pPr>
            <a:r>
              <a:t>Unordered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0947" y="281254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</a:defRPr>
            </a:pPr>
            <a:r>
              <a:t>No indexing or position-based access</a:t>
            </a:r>
          </a:p>
        </p:txBody>
      </p:sp>
      <p:sp>
        <p:nvSpPr>
          <p:cNvPr id="12" name="Oval 11"/>
          <p:cNvSpPr/>
          <p:nvPr/>
        </p:nvSpPr>
        <p:spPr>
          <a:xfrm>
            <a:off x="1309467" y="3251454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09467" y="325145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0947" y="320573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2C3E50"/>
                </a:solidFill>
              </a:defRPr>
            </a:pPr>
            <a:r>
              <a:t>Mutable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0947" y="345262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</a:defRPr>
            </a:pPr>
            <a:r>
              <a:t>Add/remove elements (elements must be hashable)</a:t>
            </a:r>
          </a:p>
        </p:txBody>
      </p:sp>
      <p:sp>
        <p:nvSpPr>
          <p:cNvPr id="16" name="Oval 15"/>
          <p:cNvSpPr/>
          <p:nvPr/>
        </p:nvSpPr>
        <p:spPr>
          <a:xfrm>
            <a:off x="1309467" y="3891534"/>
            <a:ext cx="274320" cy="27432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309467" y="3891534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0947" y="3845814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300" b="1">
                <a:solidFill>
                  <a:srgbClr val="2C3E50"/>
                </a:solidFill>
              </a:defRPr>
            </a:pPr>
            <a:r>
              <a:t>Fast O(1)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0947" y="409270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</a:defRPr>
            </a:pPr>
            <a:r>
              <a:t>Constant-time membership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09466" y="4623054"/>
            <a:ext cx="5274213" cy="7315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492347" y="4714494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defRPr sz="900">
                <a:solidFill>
                  <a:srgbClr val="2C3E50"/>
                </a:solidFill>
                <a:latin typeface="Courier New" panose="02070309020205020404"/>
              </a:defRPr>
            </a:pPr>
            <a:r>
              <a:rPr dirty="0" err="1"/>
              <a:t>my_set</a:t>
            </a:r>
            <a:r>
              <a:rPr dirty="0"/>
              <a:t> = {1, 2, 3}</a:t>
            </a:r>
          </a:p>
          <a:p>
            <a:r>
              <a:rPr dirty="0" err="1"/>
              <a:t>from_list</a:t>
            </a:r>
            <a:r>
              <a:rPr dirty="0"/>
              <a:t> = set([1, 2, 2, 3])  # removes duplicates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16982" y="192557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 b="1">
                <a:solidFill>
                  <a:srgbClr val="2C3E50"/>
                </a:solidFill>
              </a:defRPr>
            </a:pPr>
            <a:r>
              <a:t>Set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16982" y="2291334"/>
            <a:ext cx="3474720" cy="1463040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482742" y="2519934"/>
            <a:ext cx="1188720" cy="1188720"/>
          </a:xfrm>
          <a:prstGeom prst="ellipse">
            <a:avLst/>
          </a:prstGeom>
          <a:solidFill>
            <a:srgbClr val="16A085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97142" y="2519934"/>
            <a:ext cx="1188720" cy="118872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7619902" y="297713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defRPr sz="900" b="1">
                <a:solidFill>
                  <a:srgbClr val="16A085"/>
                </a:solidFill>
              </a:defRPr>
            </a:pPr>
            <a:r>
              <a:t>A</a:t>
            </a:r>
          </a:p>
          <a:p>
            <a:r>
              <a:t>{1,2,3}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082942" y="2977134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defRPr sz="900" b="1">
                <a:solidFill>
                  <a:srgbClr val="3498DB"/>
                </a:solidFill>
              </a:defRPr>
            </a:pPr>
            <a:r>
              <a:t>B</a:t>
            </a:r>
          </a:p>
          <a:p>
            <a:r>
              <a:t>{3,4,5}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208422" y="3937254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9B59B6"/>
                </a:solidFill>
                <a:latin typeface="Courier New" panose="02070309020205020404"/>
              </a:defRPr>
            </a:pPr>
            <a:r>
              <a:t>a | 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39942" y="3937254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Union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5782" y="3937254"/>
            <a:ext cx="274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>
                <a:solidFill>
                  <a:srgbClr val="969696"/>
                </a:solidFill>
              </a:defRPr>
            </a:pPr>
            <a:r>
              <a:t>→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65822" y="3937254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2C3E50"/>
                </a:solidFill>
                <a:latin typeface="Courier New" panose="02070309020205020404"/>
              </a:defRPr>
            </a:pPr>
            <a:r>
              <a:t>{1, 2, 3, 4, 5}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08422" y="4440174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F39C12"/>
                </a:solidFill>
                <a:latin typeface="Courier New" panose="02070309020205020404"/>
              </a:defRPr>
            </a:pPr>
            <a:r>
              <a:t>a &amp; 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39942" y="4440174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Intersection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45782" y="4440174"/>
            <a:ext cx="274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>
                <a:solidFill>
                  <a:srgbClr val="969696"/>
                </a:solidFill>
              </a:defRPr>
            </a:pPr>
            <a:r>
              <a:t>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65822" y="4440174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2C3E50"/>
                </a:solidFill>
                <a:latin typeface="Courier New" panose="02070309020205020404"/>
              </a:defRPr>
            </a:pPr>
            <a:r>
              <a:t>{3}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208422" y="4943094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 b="1">
                <a:solidFill>
                  <a:srgbClr val="16A085"/>
                </a:solidFill>
                <a:latin typeface="Courier New" panose="02070309020205020404"/>
              </a:defRPr>
            </a:pPr>
            <a:r>
              <a:t>a - b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39942" y="4943094"/>
            <a:ext cx="914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Difference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945782" y="4943094"/>
            <a:ext cx="2743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>
                <a:solidFill>
                  <a:srgbClr val="969696"/>
                </a:solidFill>
              </a:defRPr>
            </a:pPr>
            <a:r>
              <a:t>→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65822" y="4943094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2C3E50"/>
                </a:solidFill>
                <a:latin typeface="Courier New" panose="02070309020205020404"/>
              </a:defRPr>
            </a:pPr>
            <a:r>
              <a:t>{1, 2}</a:t>
            </a:r>
          </a:p>
        </p:txBody>
      </p:sp>
    </p:spTree>
    <p:extLst>
      <p:ext uri="{BB962C8B-B14F-4D97-AF65-F5344CB8AC3E}">
        <p14:creationId xmlns:p14="http://schemas.microsoft.com/office/powerpoint/2010/main" val="2297829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127490" cy="1268984"/>
          </a:xfrm>
        </p:spPr>
        <p:txBody>
          <a:bodyPr/>
          <a:lstStyle/>
          <a:p>
            <a:r>
              <a:rPr lang="en-US" dirty="0"/>
              <a:t>WHY SETS ARE USEFUL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127490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Sets are commonly used to:</a:t>
            </a:r>
          </a:p>
          <a:p>
            <a:pPr marL="0" indent="0">
              <a:buNone/>
            </a:pPr>
            <a:r>
              <a:rPr lang="en-US" dirty="0"/>
              <a:t>• Remove duplicate entries</a:t>
            </a:r>
            <a:br>
              <a:rPr lang="en-US" dirty="0"/>
            </a:br>
            <a:r>
              <a:rPr lang="en-US" dirty="0"/>
              <a:t>• Test whether an item exists in a collection</a:t>
            </a:r>
            <a:br>
              <a:rPr lang="en-US" dirty="0"/>
            </a:br>
            <a:r>
              <a:rPr lang="en-US" dirty="0"/>
              <a:t>• Compare groups of data</a:t>
            </a:r>
            <a:br>
              <a:rPr lang="en-US" dirty="0"/>
            </a:br>
            <a:r>
              <a:rPr lang="en-US" dirty="0"/>
              <a:t>• Perform logical comparisons</a:t>
            </a:r>
          </a:p>
          <a:p>
            <a:pPr marL="0" indent="0">
              <a:buNone/>
            </a:pPr>
            <a:r>
              <a:rPr lang="en-US" dirty="0"/>
              <a:t>They simplify many common data-cleaning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80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99355" cy="1268984"/>
          </a:xfrm>
        </p:spPr>
        <p:txBody>
          <a:bodyPr/>
          <a:lstStyle/>
          <a:p>
            <a:pPr algn="ctr"/>
            <a:r>
              <a:rPr lang="en-US" dirty="0"/>
              <a:t>SET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95864" y="1853419"/>
            <a:ext cx="768096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724464" y="2127739"/>
            <a:ext cx="411480" cy="41148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24464" y="2127739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∪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3104" y="1990579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9B59B6"/>
                </a:solidFill>
              </a:defRPr>
            </a:pPr>
            <a:r>
              <a:t>Union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6183" y="1990579"/>
            <a:ext cx="7315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056183" y="1990579"/>
            <a:ext cx="731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9B59B6"/>
                </a:solidFill>
                <a:latin typeface="Courier New" panose="02070309020205020404"/>
              </a:defRPr>
            </a:pPr>
            <a:r>
              <a:t>a | b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73104" y="2310619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Combining unique values from both sets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73104" y="2511787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  <a:latin typeface="Courier New" panose="02070309020205020404"/>
              </a:defRPr>
            </a:pPr>
            <a:r>
              <a:t>{1, 2, 3} ∪ {3, 4, 5} = {1, 2, 3, 4, 5}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95864" y="3042139"/>
            <a:ext cx="768096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724464" y="3316459"/>
            <a:ext cx="411480" cy="41148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1724464" y="3316459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73104" y="3179299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F39C12"/>
                </a:solidFill>
              </a:defRPr>
            </a:pPr>
            <a:r>
              <a:t>Intersection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56183" y="3179299"/>
            <a:ext cx="7315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056183" y="3179299"/>
            <a:ext cx="731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F39C12"/>
                </a:solidFill>
                <a:latin typeface="Courier New" panose="02070309020205020404"/>
              </a:defRPr>
            </a:pPr>
            <a:r>
              <a:t>a &amp; b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73104" y="3499339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Finding common values in both sets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273104" y="3700507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  <a:latin typeface="Courier New" panose="02070309020205020404"/>
              </a:defRPr>
            </a:pPr>
            <a:r>
              <a:t>{1, 2, 3} ∩ {3, 4, 5} = {3}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5864" y="4230859"/>
            <a:ext cx="7680960" cy="91440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724464" y="4505179"/>
            <a:ext cx="411480" cy="41148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724464" y="4505179"/>
            <a:ext cx="411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273104" y="4368019"/>
            <a:ext cx="1645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 b="1">
                <a:solidFill>
                  <a:srgbClr val="16A085"/>
                </a:solidFill>
              </a:defRPr>
            </a:pPr>
            <a:r>
              <a:t>Difference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56183" y="4368019"/>
            <a:ext cx="7315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056183" y="4368019"/>
            <a:ext cx="7315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16A085"/>
                </a:solidFill>
                <a:latin typeface="Courier New" panose="02070309020205020404"/>
              </a:defRPr>
            </a:pPr>
            <a:r>
              <a:t>a - b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73104" y="4688059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2C3E50"/>
                </a:solidFill>
              </a:defRPr>
            </a:pPr>
            <a:r>
              <a:t>Identifying unique elements in first set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73104" y="4889227"/>
            <a:ext cx="6675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000">
                <a:solidFill>
                  <a:srgbClr val="646464"/>
                </a:solidFill>
                <a:latin typeface="Courier New" panose="02070309020205020404"/>
              </a:defRPr>
            </a:pPr>
            <a:r>
              <a:t>{1, 2, 3} − {3, 4, 5} = {1, 2}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95864" y="528241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 i="1">
                <a:solidFill>
                  <a:srgbClr val="2C3E50"/>
                </a:solidFill>
              </a:defRPr>
            </a:pPr>
            <a:r>
              <a:t>Useful in data analysis, validation, deduplication, and comparison tasks</a:t>
            </a:r>
          </a:p>
        </p:txBody>
      </p:sp>
    </p:spTree>
    <p:extLst>
      <p:ext uri="{BB962C8B-B14F-4D97-AF65-F5344CB8AC3E}">
        <p14:creationId xmlns:p14="http://schemas.microsoft.com/office/powerpoint/2010/main" val="2683409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71219" cy="635879"/>
          </a:xfrm>
        </p:spPr>
        <p:txBody>
          <a:bodyPr>
            <a:normAutofit fontScale="90000"/>
          </a:bodyPr>
          <a:lstStyle/>
          <a:p>
            <a:r>
              <a:rPr lang="en-US" dirty="0"/>
              <a:t>WHEN TO USE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71219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Sets are best used when:</a:t>
            </a:r>
          </a:p>
          <a:p>
            <a:pPr marL="0" indent="0">
              <a:buNone/>
            </a:pPr>
            <a:r>
              <a:rPr lang="en-US" dirty="0"/>
              <a:t>• Uniqueness is required</a:t>
            </a:r>
            <a:br>
              <a:rPr lang="en-US" dirty="0"/>
            </a:br>
            <a:r>
              <a:rPr lang="en-US" dirty="0"/>
              <a:t>• Order is irrelevant</a:t>
            </a:r>
            <a:br>
              <a:rPr lang="en-US" dirty="0"/>
            </a:br>
            <a:r>
              <a:rPr lang="en-US" dirty="0"/>
              <a:t>• Comparison between groups is needed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52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57152" cy="12689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CHOOSING THE RIGHT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57152" cy="21869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Before choosing a data structure, ask:</a:t>
            </a:r>
          </a:p>
          <a:p>
            <a:pPr marL="0" indent="0">
              <a:buNone/>
            </a:pPr>
            <a:r>
              <a:rPr lang="en-US" dirty="0"/>
              <a:t>• Does the order of elements matter</a:t>
            </a:r>
            <a:br>
              <a:rPr lang="en-US" dirty="0"/>
            </a:br>
            <a:r>
              <a:rPr lang="en-US" dirty="0"/>
              <a:t>• Will the data change over time</a:t>
            </a:r>
            <a:br>
              <a:rPr lang="en-US" dirty="0"/>
            </a:br>
            <a:r>
              <a:rPr lang="en-US" dirty="0"/>
              <a:t>• Are duplicate values allowed</a:t>
            </a:r>
            <a:br>
              <a:rPr lang="en-US" dirty="0"/>
            </a:br>
            <a:r>
              <a:rPr lang="en-US" dirty="0"/>
              <a:t>• Is fast lookup required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18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14948" cy="1268984"/>
          </a:xfrm>
        </p:spPr>
        <p:txBody>
          <a:bodyPr/>
          <a:lstStyle/>
          <a:p>
            <a:r>
              <a:rPr lang="en-US" dirty="0"/>
              <a:t>LIVE CODING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14948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During this session, we will:</a:t>
            </a:r>
          </a:p>
          <a:p>
            <a:pPr marL="0" indent="0">
              <a:buNone/>
            </a:pPr>
            <a:r>
              <a:rPr lang="en-US" dirty="0"/>
              <a:t>• Create and manipulate each data structure</a:t>
            </a:r>
            <a:br>
              <a:rPr lang="en-US" dirty="0"/>
            </a:br>
            <a:r>
              <a:rPr lang="en-US" dirty="0"/>
              <a:t>• Observe differences in behavior</a:t>
            </a:r>
            <a:br>
              <a:rPr lang="en-US" dirty="0"/>
            </a:br>
            <a:r>
              <a:rPr lang="en-US" dirty="0"/>
              <a:t>• Apply operations in simple scenarios</a:t>
            </a:r>
          </a:p>
          <a:p>
            <a:pPr marL="0" indent="0">
              <a:buNone/>
            </a:pPr>
            <a:r>
              <a:rPr lang="en-US" dirty="0"/>
              <a:t>Focus is on understanding concepts, not speed.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6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14948" cy="1268984"/>
          </a:xfrm>
        </p:spPr>
        <p:txBody>
          <a:bodyPr/>
          <a:lstStyle/>
          <a:p>
            <a:r>
              <a:rPr lang="en-US" dirty="0"/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14948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Participants will:</a:t>
            </a:r>
          </a:p>
          <a:p>
            <a:pPr marL="0" indent="0">
              <a:buNone/>
            </a:pPr>
            <a:r>
              <a:rPr lang="en-US" dirty="0"/>
              <a:t>• Analyze a short real-world problem</a:t>
            </a:r>
            <a:br>
              <a:rPr lang="en-US" dirty="0"/>
            </a:br>
            <a:r>
              <a:rPr lang="en-US" dirty="0"/>
              <a:t>• Select an appropriate data structure</a:t>
            </a:r>
            <a:br>
              <a:rPr lang="en-US" dirty="0"/>
            </a:br>
            <a:r>
              <a:rPr lang="en-US" dirty="0"/>
              <a:t>• Justify their choice</a:t>
            </a:r>
            <a:br>
              <a:rPr lang="en-US" dirty="0"/>
            </a:br>
            <a:r>
              <a:rPr lang="en-US" dirty="0"/>
              <a:t>• Implement a simple solution</a:t>
            </a:r>
          </a:p>
          <a:p>
            <a:pPr marL="0" indent="0">
              <a:buNone/>
            </a:pPr>
            <a:r>
              <a:rPr lang="en-US" dirty="0"/>
              <a:t>This reinforces conceptual understanding.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0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7008" y="2022914"/>
            <a:ext cx="8522579" cy="12689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SYSTEMS THINKING </a:t>
            </a:r>
            <a:r>
              <a:rPr lang="en-US" dirty="0" smtClean="0"/>
              <a:t>&amp; PROBLEM FRAMING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7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166" y="468376"/>
            <a:ext cx="8972745" cy="1268984"/>
          </a:xfrm>
        </p:spPr>
        <p:txBody>
          <a:bodyPr/>
          <a:lstStyle/>
          <a:p>
            <a:pPr>
              <a:defRPr sz="3600" b="1">
                <a:solidFill>
                  <a:srgbClr val="16A085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 to Systems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79" y="1188720"/>
            <a:ext cx="7005712" cy="4170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2C3E50"/>
                </a:solidFill>
              </a:defRPr>
            </a:pPr>
            <a:r>
              <a:rPr dirty="0"/>
              <a:t>CORE PRINCIPLES</a:t>
            </a:r>
          </a:p>
          <a:p>
            <a:endParaRPr dirty="0"/>
          </a:p>
          <a:p>
            <a:r>
              <a:rPr dirty="0"/>
              <a:t>Systems thinking examines interconnections, feedback loops, and emergent behaviors rather than isolated components.</a:t>
            </a:r>
          </a:p>
          <a:p>
            <a:endParaRPr dirty="0"/>
          </a:p>
          <a:p>
            <a:r>
              <a:rPr dirty="0"/>
              <a:t>Interconnectedness: Everything affects everything else. Changes ripple throughout the system.</a:t>
            </a:r>
          </a:p>
          <a:p>
            <a:endParaRPr dirty="0"/>
          </a:p>
          <a:p>
            <a:r>
              <a:rPr dirty="0"/>
              <a:t>Feedback Loops: Reinforcing loops amplify changes. Balancing loops resist changes.</a:t>
            </a:r>
          </a:p>
          <a:p>
            <a:endParaRPr dirty="0"/>
          </a:p>
          <a:p>
            <a:r>
              <a:rPr dirty="0"/>
              <a:t>Emergence: System behavior emerges from interactions, not individual parts.</a:t>
            </a:r>
          </a:p>
          <a:p>
            <a:endParaRPr dirty="0"/>
          </a:p>
          <a:p>
            <a:endParaRPr dirty="0"/>
          </a:p>
        </p:txBody>
      </p:sp>
      <p:grpSp>
        <p:nvGrpSpPr>
          <p:cNvPr id="3" name="Group 2"/>
          <p:cNvGrpSpPr/>
          <p:nvPr/>
        </p:nvGrpSpPr>
        <p:grpSpPr>
          <a:xfrm>
            <a:off x="7645791" y="1188720"/>
            <a:ext cx="4297680" cy="3108960"/>
            <a:chOff x="7645791" y="1188720"/>
            <a:chExt cx="4297680" cy="3108960"/>
          </a:xfrm>
        </p:grpSpPr>
        <p:sp>
          <p:nvSpPr>
            <p:cNvPr id="5" name="Rounded Rectangle 4"/>
            <p:cNvSpPr/>
            <p:nvPr/>
          </p:nvSpPr>
          <p:spPr>
            <a:xfrm>
              <a:off x="7645791" y="1188720"/>
              <a:ext cx="3840480" cy="3108960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Oval 5"/>
            <p:cNvSpPr/>
            <p:nvPr/>
          </p:nvSpPr>
          <p:spPr>
            <a:xfrm>
              <a:off x="8651631" y="2103120"/>
              <a:ext cx="1828800" cy="128016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34511" y="2468880"/>
              <a:ext cx="1463040" cy="54864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600" b="1">
                  <a:solidFill>
                    <a:srgbClr val="FFFFFF"/>
                  </a:solidFill>
                </a:defRPr>
              </a:pPr>
              <a:r>
                <a:t>SYSTEM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920111" y="2468880"/>
              <a:ext cx="1097280" cy="365760"/>
            </a:xfrm>
            <a:prstGeom prst="roundRect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20111" y="2468880"/>
              <a:ext cx="10972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100" b="1">
                  <a:solidFill>
                    <a:srgbClr val="FFFFFF"/>
                  </a:solidFill>
                </a:defRPr>
              </a:pPr>
              <a:r>
                <a:rPr dirty="0"/>
                <a:t>Inputs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846191" y="2468880"/>
              <a:ext cx="1097280" cy="365760"/>
            </a:xfrm>
            <a:prstGeom prst="roundRect">
              <a:avLst/>
            </a:prstGeom>
            <a:solidFill>
              <a:srgbClr val="F39C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46191" y="2468880"/>
              <a:ext cx="10972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100" b="1">
                  <a:solidFill>
                    <a:srgbClr val="FFFFFF"/>
                  </a:solidFill>
                </a:defRPr>
              </a:pPr>
              <a:r>
                <a:t>Outputs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9291711" y="3749039"/>
              <a:ext cx="1097280" cy="365760"/>
            </a:xfrm>
            <a:prstGeom prst="roundRect">
              <a:avLst/>
            </a:prstGeom>
            <a:solidFill>
              <a:srgbClr val="9B59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291711" y="3749039"/>
              <a:ext cx="1097280" cy="36576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100" b="1">
                  <a:solidFill>
                    <a:srgbClr val="FFFFFF"/>
                  </a:solidFill>
                </a:defRPr>
              </a:pPr>
              <a:r>
                <a:t>Feedback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789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54099" cy="1268984"/>
          </a:xfrm>
        </p:spPr>
        <p:txBody>
          <a:bodyPr>
            <a:normAutofit/>
          </a:bodyPr>
          <a:lstStyle/>
          <a:p>
            <a:pPr algn="ctr">
              <a:defRPr sz="3600" b="1">
                <a:solidFill>
                  <a:srgbClr val="16A085"/>
                </a:solidFill>
              </a:defRPr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Systems Thinking Framework</a:t>
            </a:r>
          </a:p>
        </p:txBody>
      </p:sp>
      <p:sp>
        <p:nvSpPr>
          <p:cNvPr id="4" name="Oval 3"/>
          <p:cNvSpPr/>
          <p:nvPr/>
        </p:nvSpPr>
        <p:spPr>
          <a:xfrm>
            <a:off x="4079630" y="2497074"/>
            <a:ext cx="3291840" cy="1828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35723" y="2954274"/>
            <a:ext cx="177965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SYSTEMS</a:t>
            </a:r>
          </a:p>
          <a:p>
            <a:pPr algn="ctr"/>
            <a:r>
              <a:rPr dirty="0"/>
              <a:t>THINKING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5070" y="2039874"/>
            <a:ext cx="1828800" cy="8229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67950" y="2177034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6A085"/>
                </a:solidFill>
              </a:defRPr>
            </a:pPr>
            <a:r>
              <a:t>Interconnections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85070" y="3685794"/>
            <a:ext cx="1828800" cy="8229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67950" y="3822953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Feedback</a:t>
            </a:r>
          </a:p>
          <a:p>
            <a:r>
              <a:t>Loops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54350" y="2039874"/>
            <a:ext cx="1828800" cy="8229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37230" y="2177034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9B59B6"/>
                </a:solidFill>
              </a:defRPr>
            </a:pPr>
            <a:r>
              <a:t>Long-term</a:t>
            </a:r>
          </a:p>
          <a:p>
            <a:r>
              <a:t>Consequences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54350" y="3685794"/>
            <a:ext cx="1828800" cy="822960"/>
          </a:xfrm>
          <a:prstGeom prst="roundRect">
            <a:avLst/>
          </a:prstGeom>
          <a:solidFill>
            <a:srgbClr val="ECF0F1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37230" y="3822953"/>
            <a:ext cx="14630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Emergent</a:t>
            </a:r>
          </a:p>
          <a:p>
            <a:r>
              <a:t>Behavior</a:t>
            </a:r>
          </a:p>
        </p:txBody>
      </p:sp>
    </p:spTree>
    <p:extLst>
      <p:ext uri="{BB962C8B-B14F-4D97-AF65-F5344CB8AC3E}">
        <p14:creationId xmlns:p14="http://schemas.microsoft.com/office/powerpoint/2010/main" val="3429011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25964" cy="1268984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DEFINITION VS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25964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common mistake is starting with a solution.</a:t>
            </a:r>
          </a:p>
          <a:p>
            <a:r>
              <a:rPr lang="en-US" dirty="0"/>
              <a:t>Effective approach:</a:t>
            </a:r>
            <a:br>
              <a:rPr lang="en-US" dirty="0"/>
            </a:br>
            <a:r>
              <a:rPr lang="en-US" dirty="0"/>
              <a:t>• Clearly define the problem</a:t>
            </a:r>
            <a:br>
              <a:rPr lang="en-US" dirty="0"/>
            </a:br>
            <a:r>
              <a:rPr lang="en-US" dirty="0"/>
              <a:t>• Understand constraints</a:t>
            </a:r>
            <a:br>
              <a:rPr lang="en-US" dirty="0"/>
            </a:br>
            <a:r>
              <a:rPr lang="en-US" dirty="0"/>
              <a:t>• Identify objectives</a:t>
            </a:r>
          </a:p>
          <a:p>
            <a:pPr marL="0" indent="0">
              <a:buNone/>
            </a:pPr>
            <a:r>
              <a:rPr lang="en-US" dirty="0"/>
              <a:t>A well-defined problem simplifies the solution.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3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40032" cy="1268984"/>
          </a:xfrm>
        </p:spPr>
        <p:txBody>
          <a:bodyPr/>
          <a:lstStyle/>
          <a:p>
            <a:r>
              <a:rPr lang="en-US" dirty="0"/>
              <a:t>PROBLEM SCOPING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40032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strong problem definition answers:</a:t>
            </a:r>
          </a:p>
          <a:p>
            <a:pPr marL="0" indent="0">
              <a:buNone/>
            </a:pPr>
            <a:r>
              <a:rPr lang="en-US" dirty="0"/>
              <a:t>• What exactly is the problem</a:t>
            </a:r>
            <a:br>
              <a:rPr lang="en-US" dirty="0"/>
            </a:br>
            <a:r>
              <a:rPr lang="en-US" dirty="0"/>
              <a:t>• Who is affected by it</a:t>
            </a:r>
            <a:br>
              <a:rPr lang="en-US" dirty="0"/>
            </a:br>
            <a:r>
              <a:rPr lang="en-US" dirty="0"/>
              <a:t>• Why it matters now</a:t>
            </a:r>
            <a:br>
              <a:rPr lang="en-US" dirty="0"/>
            </a:br>
            <a:r>
              <a:rPr lang="en-US" dirty="0"/>
              <a:t>• How success will be measured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6316394" y="1561514"/>
            <a:ext cx="5697414" cy="3932428"/>
            <a:chOff x="6900203" y="1628393"/>
            <a:chExt cx="4930725" cy="4132835"/>
          </a:xfrm>
        </p:grpSpPr>
        <p:sp>
          <p:nvSpPr>
            <p:cNvPr id="4" name="Rounded Rectangle 3"/>
            <p:cNvSpPr/>
            <p:nvPr/>
          </p:nvSpPr>
          <p:spPr>
            <a:xfrm>
              <a:off x="6900203" y="1628393"/>
              <a:ext cx="4930725" cy="4132835"/>
            </a:xfrm>
            <a:prstGeom prst="roundRect">
              <a:avLst/>
            </a:prstGeom>
            <a:solidFill>
              <a:srgbClr val="F5F5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83083" y="1765554"/>
              <a:ext cx="4461132" cy="3323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30000"/>
                </a:lnSpc>
                <a:defRPr sz="1200" b="1">
                  <a:solidFill>
                    <a:srgbClr val="16A085"/>
                  </a:solidFill>
                </a:defRPr>
              </a:pPr>
              <a:r>
                <a:t>5W + 1H Framework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7265963" y="2184066"/>
              <a:ext cx="586991" cy="534604"/>
            </a:xfrm>
            <a:prstGeom prst="ellipse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265963" y="2205558"/>
              <a:ext cx="586991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t>WHAT?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814604" y="2275505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The problem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265963" y="2725674"/>
              <a:ext cx="586991" cy="534604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65963" y="2847193"/>
              <a:ext cx="586991" cy="2923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t>WHO?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14604" y="2817113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Affected parties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65963" y="3253214"/>
              <a:ext cx="586991" cy="534604"/>
            </a:xfrm>
            <a:prstGeom prst="ellipse">
              <a:avLst/>
            </a:prstGeom>
            <a:solidFill>
              <a:srgbClr val="F39C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265963" y="3374733"/>
              <a:ext cx="586991" cy="2923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rPr dirty="0"/>
                <a:t>WHY?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14604" y="3344653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Why it matters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265963" y="3766684"/>
              <a:ext cx="586991" cy="534604"/>
            </a:xfrm>
            <a:prstGeom prst="ellipse">
              <a:avLst/>
            </a:prstGeom>
            <a:solidFill>
              <a:srgbClr val="9B59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265963" y="3788176"/>
              <a:ext cx="586991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t>WHERE?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814604" y="3858123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Boundaries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265963" y="4336430"/>
              <a:ext cx="586991" cy="534604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265963" y="4357922"/>
              <a:ext cx="586991" cy="492443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t>WHEN?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14604" y="4427868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Timing patterns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7265963" y="4892099"/>
              <a:ext cx="586991" cy="534604"/>
            </a:xfrm>
            <a:prstGeom prst="ellipse">
              <a:avLst/>
            </a:prstGeom>
            <a:solidFill>
              <a:srgbClr val="16A08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265963" y="5013618"/>
              <a:ext cx="586991" cy="292388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lnSpc>
                  <a:spcPct val="130000"/>
                </a:lnSpc>
                <a:defRPr sz="1000" b="1">
                  <a:solidFill>
                    <a:srgbClr val="FFFFFF"/>
                  </a:solidFill>
                </a:defRPr>
              </a:pPr>
              <a:r>
                <a:t>HOW?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814604" y="4983538"/>
              <a:ext cx="3287150" cy="2723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  <a:defRPr sz="900">
                  <a:solidFill>
                    <a:srgbClr val="2C3E50"/>
                  </a:solidFill>
                </a:defRPr>
              </a:pPr>
              <a:r>
                <a:t>Success metrics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712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447" y="559875"/>
            <a:ext cx="7335835" cy="1268984"/>
          </a:xfrm>
        </p:spPr>
        <p:txBody>
          <a:bodyPr/>
          <a:lstStyle/>
          <a:p>
            <a:pPr algn="ctr"/>
            <a:r>
              <a:rPr lang="en-US" dirty="0" smtClean="0"/>
              <a:t>Moscow Prioritization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447" y="1405382"/>
            <a:ext cx="8141005" cy="444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64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071219" cy="1268984"/>
          </a:xfrm>
        </p:spPr>
        <p:txBody>
          <a:bodyPr/>
          <a:lstStyle/>
          <a:p>
            <a:pPr algn="ctr"/>
            <a:r>
              <a:rPr lang="en-US" dirty="0"/>
              <a:t>WHEN AI IS NOT 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071219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 may not be appropriate when:</a:t>
            </a:r>
          </a:p>
          <a:p>
            <a:pPr marL="0" indent="0">
              <a:buNone/>
            </a:pPr>
            <a:r>
              <a:rPr lang="en-US" dirty="0"/>
              <a:t>• The problem is vague</a:t>
            </a:r>
            <a:br>
              <a:rPr lang="en-US" dirty="0"/>
            </a:br>
            <a:r>
              <a:rPr lang="en-US" dirty="0"/>
              <a:t>• There is insufficient data</a:t>
            </a:r>
            <a:br>
              <a:rPr lang="en-US" dirty="0"/>
            </a:br>
            <a:r>
              <a:rPr lang="en-US" dirty="0"/>
              <a:t>• Simple logic can solve it</a:t>
            </a:r>
            <a:br>
              <a:rPr lang="en-US" dirty="0"/>
            </a:br>
            <a:r>
              <a:rPr lang="en-US" dirty="0"/>
              <a:t>• Human judgment is critical</a:t>
            </a:r>
          </a:p>
          <a:p>
            <a:pPr marL="0" indent="0">
              <a:buNone/>
            </a:pPr>
            <a:r>
              <a:rPr lang="en-US" dirty="0"/>
              <a:t>Not every problem requires AI.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125286" y="2022856"/>
            <a:ext cx="3840480" cy="3108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08166" y="21600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200" b="1">
                <a:solidFill>
                  <a:srgbClr val="E74C3C"/>
                </a:solidFill>
              </a:defRPr>
            </a:pPr>
            <a:r>
              <a:t>AI Suitability 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2486" y="2617216"/>
            <a:ext cx="292608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73926" y="261721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E74C3C"/>
                </a:solidFill>
              </a:defRPr>
            </a:pPr>
            <a:r>
              <a:t>Clear problem?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2646" y="290982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74C3C"/>
                </a:solidFill>
              </a:defRPr>
            </a:pPr>
            <a:r>
              <a:t>↓ 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2486" y="3120136"/>
            <a:ext cx="292608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73926" y="312013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E74C3C"/>
                </a:solidFill>
              </a:defRPr>
            </a:pPr>
            <a:r>
              <a:t>Sufficient data?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2646" y="3412744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74C3C"/>
                </a:solidFill>
              </a:defRPr>
            </a:pPr>
            <a:r>
              <a:t>↓ 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2486" y="3623056"/>
            <a:ext cx="292608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73926" y="362305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E74C3C"/>
                </a:solidFill>
              </a:defRPr>
            </a:pPr>
            <a:r>
              <a:t>Cost justified?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2646" y="3915663"/>
            <a:ext cx="36576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E74C3C"/>
                </a:solidFill>
              </a:defRPr>
            </a:pPr>
            <a:r>
              <a:t>↓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2486" y="4125976"/>
            <a:ext cx="2926080" cy="274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73926" y="4125976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30000"/>
              </a:lnSpc>
              <a:defRPr sz="900" b="1">
                <a:solidFill>
                  <a:srgbClr val="E74C3C"/>
                </a:solidFill>
              </a:defRPr>
            </a:pPr>
            <a:r>
              <a:t>Interpretable OK?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686" y="4628896"/>
            <a:ext cx="2011680" cy="32004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1126" y="462889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defRPr sz="1100" b="1">
                <a:solidFill>
                  <a:srgbClr val="FFFFFF"/>
                </a:solidFill>
              </a:defRPr>
            </a:pPr>
            <a:r>
              <a:t>⚠ DON'T USE AI</a:t>
            </a:r>
          </a:p>
        </p:txBody>
      </p:sp>
    </p:spTree>
    <p:extLst>
      <p:ext uri="{BB962C8B-B14F-4D97-AF65-F5344CB8AC3E}">
        <p14:creationId xmlns:p14="http://schemas.microsoft.com/office/powerpoint/2010/main" val="77167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169693" cy="1268984"/>
          </a:xfrm>
        </p:spPr>
        <p:txBody>
          <a:bodyPr/>
          <a:lstStyle/>
          <a:p>
            <a:r>
              <a:rPr lang="en-US" dirty="0"/>
              <a:t>DEFINING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169693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success metrics are:</a:t>
            </a:r>
          </a:p>
          <a:p>
            <a:pPr marL="0" indent="0">
              <a:buNone/>
            </a:pPr>
            <a:r>
              <a:rPr lang="en-US" dirty="0"/>
              <a:t>• Clearly measurable</a:t>
            </a:r>
            <a:br>
              <a:rPr lang="en-US" dirty="0"/>
            </a:br>
            <a:r>
              <a:rPr lang="en-US" dirty="0"/>
              <a:t>• Aligned with stakeholder goals</a:t>
            </a:r>
            <a:br>
              <a:rPr lang="en-US" dirty="0"/>
            </a:br>
            <a:r>
              <a:rPr lang="en-US" dirty="0"/>
              <a:t>• Interpretable by non-technical users</a:t>
            </a:r>
            <a:br>
              <a:rPr lang="en-US" dirty="0"/>
            </a:br>
            <a:r>
              <a:rPr lang="en-US" dirty="0"/>
              <a:t>• Linked to real-world impact</a:t>
            </a:r>
          </a:p>
          <a:p>
            <a:pPr marL="0" indent="0">
              <a:buNone/>
            </a:pPr>
            <a:r>
              <a:rPr lang="en-US" dirty="0"/>
              <a:t>Accuracy alone is rarely sufficient.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06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986813" cy="1268984"/>
          </a:xfrm>
        </p:spPr>
        <p:txBody>
          <a:bodyPr/>
          <a:lstStyle/>
          <a:p>
            <a:r>
              <a:rPr lang="en-US" dirty="0"/>
              <a:t>STAKEHOLDER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8986813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A STAKEHOLDER</a:t>
            </a:r>
          </a:p>
          <a:p>
            <a:pPr marL="0" indent="0">
              <a:buNone/>
            </a:pPr>
            <a:r>
              <a:rPr lang="en-US" dirty="0"/>
              <a:t>A stakeholder is any individual or group that:</a:t>
            </a:r>
          </a:p>
          <a:p>
            <a:pPr marL="0" indent="0">
              <a:buNone/>
            </a:pPr>
            <a:r>
              <a:rPr lang="en-US" dirty="0"/>
              <a:t>• Is affected by the problem</a:t>
            </a:r>
            <a:br>
              <a:rPr lang="en-US" dirty="0"/>
            </a:br>
            <a:r>
              <a:rPr lang="en-US" dirty="0"/>
              <a:t>• Has influence over the system</a:t>
            </a:r>
            <a:br>
              <a:rPr lang="en-US" dirty="0"/>
            </a:br>
            <a:r>
              <a:rPr lang="en-US" dirty="0"/>
              <a:t>• Gains or loses from outcomes</a:t>
            </a:r>
          </a:p>
          <a:p>
            <a:pPr marL="0" indent="0">
              <a:buNone/>
            </a:pPr>
            <a:r>
              <a:rPr lang="en-US" dirty="0"/>
              <a:t>Ignoring stakeholders leads to failure.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4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733595" cy="1268984"/>
          </a:xfrm>
        </p:spPr>
        <p:txBody>
          <a:bodyPr/>
          <a:lstStyle/>
          <a:p>
            <a:pPr algn="ctr"/>
            <a:r>
              <a:rPr lang="en-US" dirty="0"/>
              <a:t>TYPES OF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6" y="1871003"/>
            <a:ext cx="9031459" cy="3890225"/>
          </a:xfrm>
        </p:spPr>
        <p:txBody>
          <a:bodyPr/>
          <a:lstStyle/>
          <a:p>
            <a:r>
              <a:rPr lang="en-US" dirty="0" smtClean="0"/>
              <a:t>Stakeholders may include:</a:t>
            </a:r>
          </a:p>
          <a:p>
            <a:r>
              <a:rPr lang="en-US" dirty="0" smtClean="0"/>
              <a:t> End users</a:t>
            </a:r>
            <a:br>
              <a:rPr lang="en-US" dirty="0" smtClean="0"/>
            </a:br>
            <a:r>
              <a:rPr lang="en-US" dirty="0" smtClean="0"/>
              <a:t>• Decision makers</a:t>
            </a:r>
            <a:br>
              <a:rPr lang="en-US" dirty="0" smtClean="0"/>
            </a:br>
            <a:r>
              <a:rPr lang="en-US" dirty="0" smtClean="0"/>
              <a:t>• Implementers</a:t>
            </a:r>
            <a:br>
              <a:rPr lang="en-US" dirty="0" smtClean="0"/>
            </a:br>
            <a:r>
              <a:rPr lang="en-US" dirty="0" smtClean="0"/>
              <a:t>• Regulators</a:t>
            </a:r>
            <a:br>
              <a:rPr lang="en-US" dirty="0" smtClean="0"/>
            </a:br>
            <a:r>
              <a:rPr lang="en-US" dirty="0" smtClean="0"/>
              <a:t>• Indirectly affected groups</a:t>
            </a:r>
          </a:p>
          <a:p>
            <a:pPr marL="0" indent="0">
              <a:buNone/>
            </a:pPr>
            <a:r>
              <a:rPr lang="en-US" dirty="0" smtClean="0"/>
              <a:t>Each has different priorities.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5380892" y="2039874"/>
            <a:ext cx="6400800" cy="2926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97680" y="3348736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POWER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4092" y="524027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INTEREST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80892" y="3502914"/>
            <a:ext cx="6400800" cy="182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81292" y="2039874"/>
            <a:ext cx="18288" cy="2926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55612" y="222275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Manage Closely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5612" y="2542793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C3E50"/>
                </a:solidFill>
              </a:defRPr>
            </a:pPr>
            <a:r>
              <a:t>Executives</a:t>
            </a:r>
          </a:p>
          <a:p>
            <a:r>
              <a:t>Key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55212" y="222275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Keep Satisfied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5212" y="2542793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C3E50"/>
                </a:solidFill>
              </a:defRPr>
            </a:pPr>
            <a:r>
              <a:t>Senior Mgmt</a:t>
            </a:r>
          </a:p>
          <a:p>
            <a:r>
              <a:t>Regulators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5612" y="368579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6A085"/>
                </a:solidFill>
              </a:defRPr>
            </a:pPr>
            <a:r>
              <a:t>Keep Informed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5612" y="4005834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C3E50"/>
                </a:solidFill>
              </a:defRPr>
            </a:pPr>
            <a:r>
              <a:t>Front-line Staff</a:t>
            </a:r>
          </a:p>
          <a:p>
            <a:r>
              <a:t>Advocates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5212" y="368579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t>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55212" y="4005834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100">
                <a:solidFill>
                  <a:srgbClr val="2C3E50"/>
                </a:solidFill>
              </a:defRPr>
            </a:pPr>
            <a:r>
              <a:t>General Public</a:t>
            </a:r>
          </a:p>
          <a:p>
            <a:r>
              <a:t>Tangential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0812" y="222275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40812" y="460019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63772" y="514883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07371" y="514883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High</a:t>
            </a:r>
          </a:p>
        </p:txBody>
      </p:sp>
    </p:spTree>
    <p:extLst>
      <p:ext uri="{BB962C8B-B14F-4D97-AF65-F5344CB8AC3E}">
        <p14:creationId xmlns:p14="http://schemas.microsoft.com/office/powerpoint/2010/main" val="185970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240032" cy="1268984"/>
          </a:xfrm>
        </p:spPr>
        <p:txBody>
          <a:bodyPr/>
          <a:lstStyle/>
          <a:p>
            <a:r>
              <a:rPr lang="en-US" dirty="0"/>
              <a:t>WHAT IS A STAKEHOLDER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240032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stakeholder map is a visual representation of:</a:t>
            </a:r>
          </a:p>
          <a:p>
            <a:pPr marL="0" indent="0">
              <a:buNone/>
            </a:pPr>
            <a:r>
              <a:rPr lang="en-US" dirty="0"/>
              <a:t>• Key stakeholders</a:t>
            </a:r>
            <a:br>
              <a:rPr lang="en-US" dirty="0"/>
            </a:br>
            <a:r>
              <a:rPr lang="en-US" dirty="0"/>
              <a:t>• Their influence and interest</a:t>
            </a:r>
            <a:br>
              <a:rPr lang="en-US" dirty="0"/>
            </a:br>
            <a:r>
              <a:rPr lang="en-US" dirty="0"/>
              <a:t>• Relationships and dependencies</a:t>
            </a:r>
          </a:p>
          <a:p>
            <a:pPr marL="0" indent="0">
              <a:buNone/>
            </a:pPr>
            <a:r>
              <a:rPr lang="en-US" dirty="0"/>
              <a:t>It provides clarity and alignment.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443" y="2607568"/>
            <a:ext cx="5442794" cy="311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6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127490" cy="1268984"/>
          </a:xfrm>
        </p:spPr>
        <p:txBody>
          <a:bodyPr>
            <a:normAutofit fontScale="90000"/>
          </a:bodyPr>
          <a:lstStyle/>
          <a:p>
            <a:r>
              <a:rPr lang="en-US" dirty="0"/>
              <a:t>WHY STAKEHOLDER MAPS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127490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Stakeholder maps help to:</a:t>
            </a:r>
          </a:p>
          <a:p>
            <a:pPr marL="0" indent="0">
              <a:buNone/>
            </a:pPr>
            <a:r>
              <a:rPr lang="en-US" dirty="0"/>
              <a:t>• Identify hidden risks</a:t>
            </a:r>
            <a:br>
              <a:rPr lang="en-US" dirty="0"/>
            </a:br>
            <a:r>
              <a:rPr lang="en-US" dirty="0"/>
              <a:t>• Align technical solutions with reality</a:t>
            </a:r>
            <a:br>
              <a:rPr lang="en-US" dirty="0"/>
            </a:br>
            <a:r>
              <a:rPr lang="en-US" dirty="0"/>
              <a:t>• Improve communication and trust</a:t>
            </a:r>
          </a:p>
        </p:txBody>
      </p:sp>
    </p:spTree>
    <p:extLst>
      <p:ext uri="{BB962C8B-B14F-4D97-AF65-F5344CB8AC3E}">
        <p14:creationId xmlns:p14="http://schemas.microsoft.com/office/powerpoint/2010/main" val="11531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761730" cy="1268984"/>
          </a:xfrm>
        </p:spPr>
        <p:txBody>
          <a:bodyPr/>
          <a:lstStyle/>
          <a:p>
            <a:r>
              <a:rPr lang="en-US" dirty="0"/>
              <a:t>BUILDING A STAKEHOLDER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8761730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Basic steps include:</a:t>
            </a:r>
          </a:p>
          <a:p>
            <a:pPr marL="0" indent="0">
              <a:buNone/>
            </a:pPr>
            <a:r>
              <a:rPr lang="en-US" dirty="0"/>
              <a:t>• Identifying all relevant stakeholders</a:t>
            </a:r>
            <a:br>
              <a:rPr lang="en-US" dirty="0"/>
            </a:br>
            <a:r>
              <a:rPr lang="en-US" dirty="0"/>
              <a:t>• Grouping them logically</a:t>
            </a:r>
            <a:br>
              <a:rPr lang="en-US" dirty="0"/>
            </a:br>
            <a:r>
              <a:rPr lang="en-US" dirty="0"/>
              <a:t>• Assessing influence and interest</a:t>
            </a:r>
            <a:br>
              <a:rPr lang="en-US" dirty="0"/>
            </a:br>
            <a:r>
              <a:rPr lang="en-US" dirty="0"/>
              <a:t>• Mapping interactions</a:t>
            </a:r>
          </a:p>
        </p:txBody>
      </p:sp>
    </p:spTree>
    <p:extLst>
      <p:ext uri="{BB962C8B-B14F-4D97-AF65-F5344CB8AC3E}">
        <p14:creationId xmlns:p14="http://schemas.microsoft.com/office/powerpoint/2010/main" val="252698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9394776" cy="1268984"/>
          </a:xfrm>
        </p:spPr>
        <p:txBody>
          <a:bodyPr/>
          <a:lstStyle/>
          <a:p>
            <a:r>
              <a:rPr lang="en-US" dirty="0"/>
              <a:t>WORKSHOP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9394776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Participants will:</a:t>
            </a:r>
          </a:p>
          <a:p>
            <a:pPr marL="0" indent="0">
              <a:buNone/>
            </a:pPr>
            <a:r>
              <a:rPr lang="en-US" dirty="0"/>
              <a:t>• Select a real-world problem</a:t>
            </a:r>
            <a:br>
              <a:rPr lang="en-US" dirty="0"/>
            </a:br>
            <a:r>
              <a:rPr lang="en-US" dirty="0"/>
              <a:t>• Identify key stakeholders</a:t>
            </a:r>
            <a:br>
              <a:rPr lang="en-US" dirty="0"/>
            </a:br>
            <a:r>
              <a:rPr lang="en-US" dirty="0"/>
              <a:t>• Create a simple stakeholder map</a:t>
            </a:r>
            <a:br>
              <a:rPr lang="en-US" dirty="0"/>
            </a:br>
            <a:r>
              <a:rPr lang="en-US" dirty="0"/>
              <a:t>• Prepare a brief explanation</a:t>
            </a:r>
          </a:p>
        </p:txBody>
      </p:sp>
    </p:spTree>
    <p:extLst>
      <p:ext uri="{BB962C8B-B14F-4D97-AF65-F5344CB8AC3E}">
        <p14:creationId xmlns:p14="http://schemas.microsoft.com/office/powerpoint/2010/main" val="110351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8986813" cy="1268984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CASE </a:t>
            </a:r>
            <a:r>
              <a:rPr lang="en-US" dirty="0"/>
              <a:t>STUDY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150" y="2160016"/>
            <a:ext cx="8986813" cy="36012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Case Study:</a:t>
            </a:r>
            <a:br>
              <a:rPr lang="en-US" dirty="0"/>
            </a:br>
            <a:r>
              <a:rPr lang="en-US" dirty="0"/>
              <a:t>Currency Converter for Nigerian Naira</a:t>
            </a:r>
          </a:p>
          <a:p>
            <a:pPr marL="0" indent="0">
              <a:buNone/>
            </a:pPr>
            <a:r>
              <a:rPr lang="en-US" dirty="0"/>
              <a:t>Focus areas:</a:t>
            </a:r>
            <a:br>
              <a:rPr lang="en-US" dirty="0"/>
            </a:br>
            <a:r>
              <a:rPr lang="en-US" dirty="0"/>
              <a:t>• Problem framing</a:t>
            </a:r>
            <a:br>
              <a:rPr lang="en-US" dirty="0"/>
            </a:br>
            <a:r>
              <a:rPr lang="en-US" dirty="0"/>
              <a:t>• Stakeholder identification</a:t>
            </a:r>
            <a:br>
              <a:rPr lang="en-US" dirty="0"/>
            </a:br>
            <a:r>
              <a:rPr lang="en-US" dirty="0"/>
              <a:t>• Python functions and logic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13627</TotalTime>
  <Words>1869</Words>
  <Application>Microsoft Office PowerPoint</Application>
  <PresentationFormat>Widescreen</PresentationFormat>
  <Paragraphs>322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Courier New</vt:lpstr>
      <vt:lpstr>Neue Haas Grotesk Text Pro</vt:lpstr>
      <vt:lpstr>Wingdings</vt:lpstr>
      <vt:lpstr>PunchcardVTI</vt:lpstr>
      <vt:lpstr>Python Fundamentals II &amp; Problem Framing</vt:lpstr>
      <vt:lpstr>Learning Objectives</vt:lpstr>
      <vt:lpstr>Data Structures</vt:lpstr>
      <vt:lpstr>WHY DATA STRUCTURES MATTER</vt:lpstr>
      <vt:lpstr>OVERVIEW OF DATA STRUCTURES</vt:lpstr>
      <vt:lpstr>INTRODUCTION TO LISTS</vt:lpstr>
      <vt:lpstr>Characteristics of list</vt:lpstr>
      <vt:lpstr>INDEXING IN LISTS</vt:lpstr>
      <vt:lpstr>LIST SLICING - EXTRACTING SUBLISTS</vt:lpstr>
      <vt:lpstr>COMMON LIST METHODS</vt:lpstr>
      <vt:lpstr>WHEN TO USE LISTS</vt:lpstr>
      <vt:lpstr>TUPLES</vt:lpstr>
      <vt:lpstr>WHY TUPLES EXIST</vt:lpstr>
      <vt:lpstr>LIST VS TUPLE</vt:lpstr>
      <vt:lpstr>DICTIONARIES</vt:lpstr>
      <vt:lpstr>Dictionary Operations Visual</vt:lpstr>
      <vt:lpstr>COMMON DICTIONARY METHODS</vt:lpstr>
      <vt:lpstr>ACCESSING DICTIONARY VALUES</vt:lpstr>
      <vt:lpstr>WHEN TO USE DICTIONARIES</vt:lpstr>
      <vt:lpstr>SETS</vt:lpstr>
      <vt:lpstr>WHY SETS ARE USEFUL</vt:lpstr>
      <vt:lpstr>SET OPERATIONS</vt:lpstr>
      <vt:lpstr>WHEN TO USE SETS</vt:lpstr>
      <vt:lpstr>CHOOSING THE RIGHT DATA STRUCTURE</vt:lpstr>
      <vt:lpstr>LIVE CODING SESSION</vt:lpstr>
      <vt:lpstr>PRACTICE EXERCISE</vt:lpstr>
      <vt:lpstr>SYSTEMS THINKING &amp; PROBLEM FRAMING</vt:lpstr>
      <vt:lpstr>Introduction to Systems Thinking</vt:lpstr>
      <vt:lpstr>Systems Thinking Framework</vt:lpstr>
      <vt:lpstr>PROBLEM DEFINITION VS SOLUTION</vt:lpstr>
      <vt:lpstr>PROBLEM SCOPING FRAMEWORK</vt:lpstr>
      <vt:lpstr>Moscow Prioritization </vt:lpstr>
      <vt:lpstr>WHEN AI IS NOT THE ANSWER</vt:lpstr>
      <vt:lpstr>DEFINING SUCCESS METRICS</vt:lpstr>
      <vt:lpstr>STAKEHOLDER MAPPING</vt:lpstr>
      <vt:lpstr>TYPES OF STAKEHOLDERS</vt:lpstr>
      <vt:lpstr>WHAT IS A STAKEHOLDER MAP</vt:lpstr>
      <vt:lpstr>WHY STAKEHOLDER MAPS MATTER</vt:lpstr>
      <vt:lpstr>BUILDING A STAKEHOLDER MAP</vt:lpstr>
      <vt:lpstr>WORKSHOP INSTRUCTIONS</vt:lpstr>
      <vt:lpstr>CASE STUDY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II &amp; Problem Framing</dc:title>
  <dc:creator>Liberty</dc:creator>
  <cp:lastModifiedBy>USER</cp:lastModifiedBy>
  <cp:revision>36</cp:revision>
  <dcterms:created xsi:type="dcterms:W3CDTF">2025-11-05T12:47:00Z</dcterms:created>
  <dcterms:modified xsi:type="dcterms:W3CDTF">2026-02-18T22:29:37Z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