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9" r:id="rId3"/>
    <p:sldId id="260" r:id="rId4"/>
    <p:sldId id="261" r:id="rId5"/>
    <p:sldId id="262" r:id="rId6"/>
    <p:sldId id="263" r:id="rId7"/>
    <p:sldId id="304" r:id="rId8"/>
    <p:sldId id="265" r:id="rId9"/>
    <p:sldId id="266" r:id="rId10"/>
    <p:sldId id="267" r:id="rId11"/>
    <p:sldId id="268" r:id="rId12"/>
    <p:sldId id="271" r:id="rId13"/>
    <p:sldId id="269" r:id="rId14"/>
    <p:sldId id="274" r:id="rId15"/>
    <p:sldId id="305" r:id="rId16"/>
    <p:sldId id="275" r:id="rId17"/>
    <p:sldId id="306" r:id="rId18"/>
    <p:sldId id="277" r:id="rId19"/>
    <p:sldId id="278" r:id="rId20"/>
    <p:sldId id="281" r:id="rId21"/>
    <p:sldId id="280" r:id="rId22"/>
    <p:sldId id="282" r:id="rId23"/>
    <p:sldId id="283" r:id="rId24"/>
    <p:sldId id="284" r:id="rId25"/>
    <p:sldId id="285" r:id="rId26"/>
    <p:sldId id="286" r:id="rId27"/>
    <p:sldId id="287" r:id="rId28"/>
    <p:sldId id="289" r:id="rId29"/>
    <p:sldId id="290" r:id="rId30"/>
    <p:sldId id="307" r:id="rId31"/>
    <p:sldId id="308" r:id="rId32"/>
    <p:sldId id="309" r:id="rId33"/>
    <p:sldId id="310" r:id="rId34"/>
    <p:sldId id="31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2/18/2026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658289" y="1377242"/>
            <a:ext cx="6247067" cy="990600"/>
          </a:xfrm>
          <a:prstGeom prst="rect">
            <a:avLst/>
          </a:prstGeom>
          <a:noFill/>
          <a:ln/>
        </p:spPr>
        <p:txBody>
          <a:bodyPr wrap="square" lIns="0" tIns="0" rIns="0" bIns="0" rtlCol="0" anchor="t"/>
          <a:lstStyle/>
          <a:p>
            <a:pPr marL="0" indent="0" algn="ctr">
              <a:lnSpc>
                <a:spcPts val="3900"/>
              </a:lnSpc>
              <a:spcAft>
                <a:spcPts val="1125"/>
              </a:spcAft>
              <a:buNone/>
            </a:pPr>
            <a:r>
              <a:rPr lang="en-US" sz="3900" b="1" dirty="0">
                <a:solidFill>
                  <a:srgbClr val="F97316"/>
                </a:solidFill>
                <a:latin typeface="Segoe UI" pitchFamily="34" charset="0"/>
                <a:ea typeface="Segoe UI" pitchFamily="34" charset="-122"/>
                <a:cs typeface="Segoe UI" pitchFamily="34" charset="-120"/>
              </a:rPr>
              <a:t>Data Visualization &amp; Exploratory Data Analysis</a:t>
            </a:r>
            <a:endParaRPr lang="en-US" sz="3900" dirty="0"/>
          </a:p>
        </p:txBody>
      </p:sp>
      <p:sp>
        <p:nvSpPr>
          <p:cNvPr id="3" name="Text 1"/>
          <p:cNvSpPr/>
          <p:nvPr/>
        </p:nvSpPr>
        <p:spPr>
          <a:xfrm>
            <a:off x="3595684" y="2586917"/>
            <a:ext cx="4372127" cy="342900"/>
          </a:xfrm>
          <a:prstGeom prst="rect">
            <a:avLst/>
          </a:prstGeom>
          <a:noFill/>
          <a:ln/>
        </p:spPr>
        <p:txBody>
          <a:bodyPr wrap="square" lIns="0" tIns="0" rIns="0" bIns="0" rtlCol="0" anchor="t"/>
          <a:lstStyle/>
          <a:p>
            <a:pPr marL="0" indent="0" algn="ctr">
              <a:lnSpc>
                <a:spcPts val="2700"/>
              </a:lnSpc>
              <a:spcBef>
                <a:spcPts val="600"/>
              </a:spcBef>
              <a:spcAft>
                <a:spcPts val="600"/>
              </a:spcAft>
              <a:buNone/>
            </a:pPr>
            <a:r>
              <a:rPr lang="en-US" sz="1800" dirty="0">
                <a:solidFill>
                  <a:schemeClr val="tx1">
                    <a:lumMod val="85000"/>
                    <a:lumOff val="15000"/>
                  </a:schemeClr>
                </a:solidFill>
                <a:latin typeface="Arial" pitchFamily="34" charset="0"/>
                <a:ea typeface="Arial" pitchFamily="34" charset="-122"/>
                <a:cs typeface="Arial" pitchFamily="34" charset="-120"/>
              </a:rPr>
              <a:t>Transforming Data into Actionable Insights</a:t>
            </a:r>
            <a:endParaRPr lang="en-US" sz="1800" dirty="0">
              <a:solidFill>
                <a:schemeClr val="tx1">
                  <a:lumMod val="85000"/>
                  <a:lumOff val="1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213192" y="488119"/>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Learning Objectives</a:t>
            </a:r>
            <a:endParaRPr lang="en-US" sz="2850" dirty="0"/>
          </a:p>
        </p:txBody>
      </p:sp>
      <p:sp>
        <p:nvSpPr>
          <p:cNvPr id="4" name="Text 1"/>
          <p:cNvSpPr/>
          <p:nvPr/>
        </p:nvSpPr>
        <p:spPr>
          <a:xfrm>
            <a:off x="594213" y="1469780"/>
            <a:ext cx="6735055" cy="3299168"/>
          </a:xfrm>
          <a:prstGeom prst="rect">
            <a:avLst/>
          </a:prstGeom>
          <a:noFill/>
          <a:ln/>
        </p:spPr>
        <p:txBody>
          <a:bodyPr wrap="square" lIns="133350" tIns="0" rIns="0" bIns="0" rtlCol="0" anchor="t"/>
          <a:lstStyle/>
          <a:p>
            <a:pPr>
              <a:lnSpc>
                <a:spcPts val="2025"/>
              </a:lnSpc>
              <a:spcAft>
                <a:spcPts val="600"/>
              </a:spcAft>
              <a:buSzPct val="100000"/>
            </a:pPr>
            <a:r>
              <a:rPr lang="en-US" sz="1600" dirty="0"/>
              <a:t>By the end of this session, participants will be able to</a:t>
            </a:r>
            <a:r>
              <a:rPr lang="en-US" sz="1600" dirty="0" smtClean="0"/>
              <a:t>:</a:t>
            </a:r>
          </a:p>
          <a:p>
            <a:pPr>
              <a:lnSpc>
                <a:spcPts val="2025"/>
              </a:lnSpc>
              <a:spcAft>
                <a:spcPts val="600"/>
              </a:spcAft>
              <a:buSzPct val="100000"/>
            </a:pPr>
            <a:r>
              <a:rPr lang="en-US" sz="1600" dirty="0"/>
              <a:t/>
            </a:r>
            <a:br>
              <a:rPr lang="en-US" sz="1600" dirty="0"/>
            </a:br>
            <a:r>
              <a:rPr lang="en-US" sz="1600" dirty="0"/>
              <a:t>• Create effective visualizations using </a:t>
            </a:r>
            <a:r>
              <a:rPr lang="en-US" sz="1600" dirty="0" err="1"/>
              <a:t>Matplotlib</a:t>
            </a:r>
            <a:r>
              <a:rPr lang="en-US" sz="1600" dirty="0"/>
              <a:t> and </a:t>
            </a:r>
            <a:r>
              <a:rPr lang="en-US" sz="1600" dirty="0" err="1"/>
              <a:t>Seaborn</a:t>
            </a:r>
            <a:r>
              <a:rPr lang="en-US" sz="1600" dirty="0"/>
              <a:t/>
            </a:r>
            <a:br>
              <a:rPr lang="en-US" sz="1600" dirty="0"/>
            </a:br>
            <a:r>
              <a:rPr lang="en-US" sz="1600" dirty="0"/>
              <a:t>• Conduct exploratory data analysis (EDA) to understand datasets</a:t>
            </a:r>
            <a:br>
              <a:rPr lang="en-US" sz="1600" dirty="0"/>
            </a:br>
            <a:r>
              <a:rPr lang="en-US" sz="1600" dirty="0"/>
              <a:t>• Summarize data using descriptive statistics and distributions</a:t>
            </a:r>
            <a:br>
              <a:rPr lang="en-US" sz="1600" dirty="0"/>
            </a:br>
            <a:r>
              <a:rPr lang="en-US" sz="1600" dirty="0"/>
              <a:t>• Identify patterns, correlations, and outliers in data</a:t>
            </a:r>
            <a:br>
              <a:rPr lang="en-US" sz="1600" dirty="0"/>
            </a:br>
            <a:r>
              <a:rPr lang="en-US" sz="1600" dirty="0"/>
              <a:t>• Communicate insights clearly through charts, graphs, and plots</a:t>
            </a:r>
            <a:br>
              <a:rPr lang="en-US" sz="1600" dirty="0"/>
            </a:br>
            <a:r>
              <a:rPr lang="en-US" sz="1600" dirty="0"/>
              <a:t>• Apply EDA techniques to real-world datasets such as market or public health data</a:t>
            </a:r>
            <a:endParaRPr lang="en-US" sz="1600" dirty="0">
              <a:solidFill>
                <a:schemeClr val="tx1">
                  <a:lumMod val="85000"/>
                  <a:lumOff val="1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35705" y="1793337"/>
            <a:ext cx="3678888" cy="16885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8" name="Title 1"/>
          <p:cNvSpPr txBox="1"/>
          <p:nvPr/>
        </p:nvSpPr>
        <p:spPr>
          <a:xfrm>
            <a:off x="1096092" y="1928724"/>
            <a:ext cx="6888960" cy="3345597"/>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endParaRPr lang="en-GB" sz="1600" b="0" dirty="0">
              <a:latin typeface="Arial" panose="020B0604020202020204" pitchFamily="34" charset="0"/>
              <a:cs typeface="Arial" panose="020B0604020202020204" pitchFamily="34" charset="0"/>
            </a:endParaRPr>
          </a:p>
        </p:txBody>
      </p:sp>
      <p:sp>
        <p:nvSpPr>
          <p:cNvPr id="11" name="Title 1"/>
          <p:cNvSpPr txBox="1"/>
          <p:nvPr/>
        </p:nvSpPr>
        <p:spPr>
          <a:xfrm>
            <a:off x="1096092" y="896033"/>
            <a:ext cx="6258438" cy="50856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sp>
        <p:nvSpPr>
          <p:cNvPr id="5" name="Text 0"/>
          <p:cNvSpPr/>
          <p:nvPr/>
        </p:nvSpPr>
        <p:spPr>
          <a:xfrm>
            <a:off x="523875" y="333375"/>
            <a:ext cx="519779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Data Cleaning - Quick Review</a:t>
            </a:r>
            <a:endParaRPr lang="en-US" sz="2850" dirty="0"/>
          </a:p>
        </p:txBody>
      </p:sp>
      <p:sp>
        <p:nvSpPr>
          <p:cNvPr id="6" name="Text 1"/>
          <p:cNvSpPr/>
          <p:nvPr/>
        </p:nvSpPr>
        <p:spPr>
          <a:xfrm>
            <a:off x="523875" y="990600"/>
            <a:ext cx="8258175"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b="1" dirty="0">
                <a:solidFill>
                  <a:srgbClr val="F97316"/>
                </a:solidFill>
                <a:latin typeface="Arial" pitchFamily="34" charset="0"/>
                <a:ea typeface="Arial" pitchFamily="34" charset="-122"/>
                <a:cs typeface="Arial" pitchFamily="34" charset="-120"/>
              </a:rPr>
              <a:t>Common Challenges:</a:t>
            </a:r>
            <a:endParaRPr lang="en-US" sz="1350" dirty="0"/>
          </a:p>
        </p:txBody>
      </p:sp>
      <p:sp>
        <p:nvSpPr>
          <p:cNvPr id="3" name="Rectangle 2"/>
          <p:cNvSpPr>
            <a:spLocks noChangeArrowheads="1"/>
          </p:cNvSpPr>
          <p:nvPr/>
        </p:nvSpPr>
        <p:spPr bwMode="auto">
          <a:xfrm>
            <a:off x="523875" y="1348557"/>
            <a:ext cx="9492322"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1" i="0" u="none" strike="noStrike" cap="none" normalizeH="0" baseline="0" dirty="0" smtClean="0">
                <a:ln>
                  <a:noFill/>
                </a:ln>
                <a:solidFill>
                  <a:schemeClr val="tx1"/>
                </a:solidFill>
                <a:effectLst/>
                <a:latin typeface="Arial" panose="020B0604020202020204" pitchFamily="34" charset="0"/>
              </a:rPr>
              <a:t>1. Missing Values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Handle with </a:t>
            </a:r>
            <a:r>
              <a:rPr kumimoji="0" lang="en-US" altLang="en-US" sz="1000" b="0" i="0" u="none" strike="noStrike" cap="none" normalizeH="0" baseline="0" dirty="0" err="1" smtClean="0">
                <a:ln>
                  <a:noFill/>
                </a:ln>
                <a:solidFill>
                  <a:schemeClr val="tx1"/>
                </a:solidFill>
                <a:effectLst/>
                <a:latin typeface="Arial Unicode MS"/>
              </a:rPr>
              <a:t>fillna</a:t>
            </a:r>
            <a:r>
              <a:rPr kumimoji="0" lang="en-US" altLang="en-US" sz="1000" b="0" i="0" u="none" strike="noStrike" cap="none" normalizeH="0" baseline="0" dirty="0" smtClean="0">
                <a:ln>
                  <a:noFill/>
                </a:ln>
                <a:solidFill>
                  <a:schemeClr val="tx1"/>
                </a:solidFill>
                <a:effectLst/>
                <a:latin typeface="Arial Unicode MS"/>
              </a:rPr>
              <a:t>()</a:t>
            </a:r>
            <a:r>
              <a:rPr kumimoji="0" lang="en-US" altLang="en-US" sz="1100" b="0" i="0" u="none" strike="noStrike" cap="none" normalizeH="0" baseline="0" dirty="0" smtClean="0">
                <a:ln>
                  <a:noFill/>
                </a:ln>
                <a:solidFill>
                  <a:schemeClr val="tx1"/>
                </a:solidFill>
                <a:effectLst/>
              </a:rPr>
              <a:t>, </a:t>
            </a:r>
            <a:r>
              <a:rPr kumimoji="0" lang="en-US" altLang="en-US" sz="1000" b="0" i="0" u="none" strike="noStrike" cap="none" normalizeH="0" baseline="0" dirty="0" err="1" smtClean="0">
                <a:ln>
                  <a:noFill/>
                </a:ln>
                <a:solidFill>
                  <a:schemeClr val="tx1"/>
                </a:solidFill>
                <a:effectLst/>
                <a:latin typeface="Arial Unicode MS"/>
              </a:rPr>
              <a:t>dropna</a:t>
            </a:r>
            <a:r>
              <a:rPr kumimoji="0" lang="en-US" altLang="en-US" sz="1000" b="0" i="0" u="none" strike="noStrike" cap="none" normalizeH="0" baseline="0" dirty="0" smtClean="0">
                <a:ln>
                  <a:noFill/>
                </a:ln>
                <a:solidFill>
                  <a:schemeClr val="tx1"/>
                </a:solidFill>
                <a:effectLst/>
                <a:latin typeface="Arial Unicode MS"/>
              </a:rPr>
              <a:t>()</a:t>
            </a:r>
            <a:r>
              <a:rPr kumimoji="0" lang="en-US" altLang="en-US" sz="1100" b="0" i="0" u="none" strike="noStrike" cap="none" normalizeH="0" baseline="0" dirty="0" smtClean="0">
                <a:ln>
                  <a:noFill/>
                </a:ln>
                <a:solidFill>
                  <a:schemeClr val="tx1"/>
                </a:solidFill>
                <a:effectLst/>
              </a:rPr>
              <a:t>, or interpolation</a:t>
            </a:r>
            <a:br>
              <a:rPr kumimoji="0" lang="en-US" altLang="en-US" sz="1100" b="0" i="0" u="none" strike="noStrike" cap="none" normalizeH="0" baseline="0" dirty="0" smtClean="0">
                <a:ln>
                  <a:noFill/>
                </a:ln>
                <a:solidFill>
                  <a:schemeClr val="tx1"/>
                </a:solidFill>
                <a:effectLst/>
              </a:rPr>
            </a:br>
            <a:r>
              <a:rPr kumimoji="0" lang="en-US" altLang="en-US" sz="1100" b="0" i="0" u="none" strike="noStrike" cap="none" normalizeH="0" baseline="0" dirty="0" smtClean="0">
                <a:ln>
                  <a:noFill/>
                </a:ln>
                <a:solidFill>
                  <a:schemeClr val="tx1"/>
                </a:solidFill>
                <a:effectLst/>
              </a:rPr>
              <a:t>• Choose strategy based on context and impact on analysis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2. Data Types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Convert with </a:t>
            </a:r>
            <a:r>
              <a:rPr kumimoji="0" lang="en-US" altLang="en-US" sz="1000" b="0" i="0" u="none" strike="noStrike" cap="none" normalizeH="0" baseline="0" dirty="0" err="1" smtClean="0">
                <a:ln>
                  <a:noFill/>
                </a:ln>
                <a:solidFill>
                  <a:schemeClr val="tx1"/>
                </a:solidFill>
                <a:effectLst/>
                <a:latin typeface="Arial Unicode MS"/>
              </a:rPr>
              <a:t>astype</a:t>
            </a:r>
            <a:r>
              <a:rPr kumimoji="0" lang="en-US" altLang="en-US" sz="1000" b="0" i="0" u="none" strike="noStrike" cap="none" normalizeH="0" baseline="0" dirty="0" smtClean="0">
                <a:ln>
                  <a:noFill/>
                </a:ln>
                <a:solidFill>
                  <a:schemeClr val="tx1"/>
                </a:solidFill>
                <a:effectLst/>
                <a:latin typeface="Arial Unicode MS"/>
              </a:rPr>
              <a:t>()</a:t>
            </a:r>
            <a:r>
              <a:rPr kumimoji="0" lang="en-US" altLang="en-US" sz="1100" b="0" i="0" u="none" strike="noStrike" cap="none" normalizeH="0" baseline="0" dirty="0" smtClean="0">
                <a:ln>
                  <a:noFill/>
                </a:ln>
                <a:solidFill>
                  <a:schemeClr val="tx1"/>
                </a:solidFill>
                <a:effectLst/>
              </a:rPr>
              <a:t> while managing errors</a:t>
            </a:r>
            <a:br>
              <a:rPr kumimoji="0" lang="en-US" altLang="en-US" sz="1100" b="0" i="0" u="none" strike="noStrike" cap="none" normalizeH="0" baseline="0" dirty="0" smtClean="0">
                <a:ln>
                  <a:noFill/>
                </a:ln>
                <a:solidFill>
                  <a:schemeClr val="tx1"/>
                </a:solidFill>
                <a:effectLst/>
              </a:rPr>
            </a:br>
            <a:r>
              <a:rPr kumimoji="0" lang="en-US" altLang="en-US" sz="1100" b="0" i="0" u="none" strike="noStrike" cap="none" normalizeH="0" baseline="0" dirty="0" smtClean="0">
                <a:ln>
                  <a:noFill/>
                </a:ln>
                <a:solidFill>
                  <a:schemeClr val="tx1"/>
                </a:solidFill>
                <a:effectLst/>
              </a:rPr>
              <a:t>• Ensure consistency for calculations and visualizations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3. Duplicates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Remove using </a:t>
            </a:r>
            <a:r>
              <a:rPr kumimoji="0" lang="en-US" altLang="en-US" sz="1000" b="0" i="0" u="none" strike="noStrike" cap="none" normalizeH="0" baseline="0" dirty="0" err="1" smtClean="0">
                <a:ln>
                  <a:noFill/>
                </a:ln>
                <a:solidFill>
                  <a:schemeClr val="tx1"/>
                </a:solidFill>
                <a:effectLst/>
                <a:latin typeface="Arial Unicode MS"/>
              </a:rPr>
              <a:t>drop_duplicates</a:t>
            </a:r>
            <a:r>
              <a:rPr kumimoji="0" lang="en-US" altLang="en-US" sz="1000" b="0" i="0" u="none" strike="noStrike" cap="none" normalizeH="0" baseline="0" dirty="0" smtClean="0">
                <a:ln>
                  <a:noFill/>
                </a:ln>
                <a:solidFill>
                  <a:schemeClr val="tx1"/>
                </a:solidFill>
                <a:effectLst/>
                <a:latin typeface="Arial Unicode MS"/>
              </a:rPr>
              <a:t>()</a:t>
            </a:r>
            <a:r>
              <a:rPr kumimoji="0" lang="en-US" altLang="en-US" sz="1100" b="0" i="0" u="none" strike="noStrike" cap="none" normalizeH="0" baseline="0" dirty="0" smtClean="0">
                <a:ln>
                  <a:noFill/>
                </a:ln>
                <a:solidFill>
                  <a:schemeClr val="tx1"/>
                </a:solidFill>
                <a:effectLst/>
              </a:rPr>
              <a:t/>
            </a:r>
            <a:br>
              <a:rPr kumimoji="0" lang="en-US" altLang="en-US" sz="1100" b="0" i="0" u="none" strike="noStrike" cap="none" normalizeH="0" baseline="0" dirty="0" smtClean="0">
                <a:ln>
                  <a:noFill/>
                </a:ln>
                <a:solidFill>
                  <a:schemeClr val="tx1"/>
                </a:solidFill>
                <a:effectLst/>
              </a:rPr>
            </a:br>
            <a:r>
              <a:rPr kumimoji="0" lang="en-US" altLang="en-US" sz="1100" b="0" i="0" u="none" strike="noStrike" cap="none" normalizeH="0" baseline="0" dirty="0" smtClean="0">
                <a:ln>
                  <a:noFill/>
                </a:ln>
                <a:solidFill>
                  <a:schemeClr val="tx1"/>
                </a:solidFill>
                <a:effectLst/>
              </a:rPr>
              <a:t>• Optionally specify subset of columns to focus on relevant duplicates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4. Outliers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Detect with </a:t>
            </a:r>
            <a:r>
              <a:rPr kumimoji="0" lang="en-US" altLang="en-US" sz="1800" b="1" i="0" u="none" strike="noStrike" cap="none" normalizeH="0" baseline="0" dirty="0" smtClean="0">
                <a:ln>
                  <a:noFill/>
                </a:ln>
                <a:solidFill>
                  <a:schemeClr val="tx1"/>
                </a:solidFill>
                <a:effectLst/>
                <a:latin typeface="Arial" panose="020B0604020202020204" pitchFamily="34" charset="0"/>
              </a:rPr>
              <a:t>Z-score</a:t>
            </a:r>
            <a:r>
              <a:rPr kumimoji="0" lang="en-US" altLang="en-US" sz="1800" b="0" i="0" u="none" strike="noStrike" cap="none" normalizeH="0" baseline="0" dirty="0" smtClean="0">
                <a:ln>
                  <a:noFill/>
                </a:ln>
                <a:solidFill>
                  <a:schemeClr val="tx1"/>
                </a:solidFill>
                <a:effectLst/>
                <a:latin typeface="Arial" panose="020B0604020202020204" pitchFamily="34" charset="0"/>
              </a:rPr>
              <a:t> or </a:t>
            </a:r>
            <a:r>
              <a:rPr kumimoji="0" lang="en-US" altLang="en-US" sz="1800" b="1" i="0" u="none" strike="noStrike" cap="none" normalizeH="0" baseline="0" dirty="0" smtClean="0">
                <a:ln>
                  <a:noFill/>
                </a:ln>
                <a:solidFill>
                  <a:schemeClr val="tx1"/>
                </a:solidFill>
                <a:effectLst/>
                <a:latin typeface="Arial" panose="020B0604020202020204" pitchFamily="34" charset="0"/>
              </a:rPr>
              <a:t>IQR methods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Decide whether to remove, cap, or analyze separately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5. Formatting Issues</a:t>
            </a:r>
            <a:r>
              <a:rPr kumimoji="0" lang="en-US" altLang="en-US" sz="1800" b="0" i="0" u="none" strike="noStrike" cap="none" normalizeH="0" baseline="0" dirty="0" smtClean="0">
                <a:ln>
                  <a:noFill/>
                </a:ln>
                <a:solidFill>
                  <a:schemeClr val="tx1"/>
                </a:solidFill>
                <a:effectLst/>
                <a:latin typeface="Arial" panose="020B0604020202020204" pitchFamily="34" charset="0"/>
              </a:rPr>
              <a:t/>
            </a:r>
            <a:br>
              <a:rPr kumimoji="0" lang="en-US" altLang="en-US" sz="1800" b="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Standardize strings using </a:t>
            </a:r>
            <a:r>
              <a:rPr kumimoji="0" lang="en-US" altLang="en-US" sz="1800" i="0" u="none" strike="noStrike" cap="none" normalizeH="0" baseline="0" dirty="0" smtClean="0">
                <a:ln>
                  <a:noFill/>
                </a:ln>
                <a:solidFill>
                  <a:schemeClr val="tx1"/>
                </a:solidFill>
                <a:effectLst/>
                <a:latin typeface="Arial" panose="020B0604020202020204" pitchFamily="34" charset="0"/>
              </a:rPr>
              <a:t>string methods </a:t>
            </a:r>
            <a:r>
              <a:rPr kumimoji="0" lang="en-US" altLang="en-US" sz="1800" b="0" i="0" u="none" strike="noStrike" cap="none" normalizeH="0" baseline="0" dirty="0" smtClean="0">
                <a:ln>
                  <a:noFill/>
                </a:ln>
                <a:solidFill>
                  <a:schemeClr val="tx1"/>
                </a:solidFill>
                <a:effectLst/>
                <a:latin typeface="Arial" panose="020B0604020202020204" pitchFamily="34" charset="0"/>
              </a:rPr>
              <a:t>or </a:t>
            </a:r>
            <a:r>
              <a:rPr kumimoji="0" lang="en-US" altLang="en-US" sz="1800" i="0" u="none" strike="noStrike" cap="none" normalizeH="0" baseline="0" dirty="0" smtClean="0">
                <a:ln>
                  <a:noFill/>
                </a:ln>
                <a:solidFill>
                  <a:schemeClr val="tx1"/>
                </a:solidFill>
                <a:effectLst/>
                <a:latin typeface="Arial" panose="020B0604020202020204" pitchFamily="34" charset="0"/>
              </a:rPr>
              <a:t>regex patterns</a:t>
            </a:r>
            <a:br>
              <a:rPr kumimoji="0" lang="en-US" altLang="en-US" sz="1800" i="0" u="none" strike="noStrike" cap="none" normalizeH="0" baseline="0" dirty="0" smtClean="0">
                <a:ln>
                  <a:noFill/>
                </a:ln>
                <a:solidFill>
                  <a:schemeClr val="tx1"/>
                </a:solidFill>
                <a:effectLst/>
                <a:latin typeface="Arial" panose="020B0604020202020204" pitchFamily="34" charset="0"/>
              </a:rPr>
            </a:br>
            <a:r>
              <a:rPr kumimoji="0" lang="en-US" altLang="en-US" sz="1800" b="0" i="0" u="none" strike="noStrike" cap="none" normalizeH="0" baseline="0" dirty="0" smtClean="0">
                <a:ln>
                  <a:noFill/>
                </a:ln>
                <a:solidFill>
                  <a:schemeClr val="tx1"/>
                </a:solidFill>
                <a:effectLst/>
                <a:latin typeface="Arial" panose="020B0604020202020204" pitchFamily="34" charset="0"/>
              </a:rPr>
              <a:t>• Maintain uniform formats for easier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912944"/>
            <a:ext cx="6888960" cy="52032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sp>
        <p:nvSpPr>
          <p:cNvPr id="4" name="Text 0"/>
          <p:cNvSpPr/>
          <p:nvPr/>
        </p:nvSpPr>
        <p:spPr>
          <a:xfrm>
            <a:off x="1177053" y="912944"/>
            <a:ext cx="5450396"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Why Data Visualization Matters</a:t>
            </a:r>
            <a:endParaRPr lang="en-US" sz="2850" dirty="0"/>
          </a:p>
        </p:txBody>
      </p:sp>
      <p:sp>
        <p:nvSpPr>
          <p:cNvPr id="2" name="Rectangle 1"/>
          <p:cNvSpPr/>
          <p:nvPr/>
        </p:nvSpPr>
        <p:spPr>
          <a:xfrm>
            <a:off x="1096091" y="1568930"/>
            <a:ext cx="6096000" cy="2862322"/>
          </a:xfrm>
          <a:prstGeom prst="rect">
            <a:avLst/>
          </a:prstGeom>
        </p:spPr>
        <p:txBody>
          <a:bodyPr>
            <a:spAutoFit/>
          </a:bodyPr>
          <a:lstStyle/>
          <a:p>
            <a:r>
              <a:rPr lang="en-US" dirty="0"/>
              <a:t>• </a:t>
            </a:r>
            <a:r>
              <a:rPr lang="en-US" b="1" dirty="0"/>
              <a:t>Communicates insights clearly:</a:t>
            </a:r>
            <a:r>
              <a:rPr lang="en-US" dirty="0"/>
              <a:t> Transforms complex data into understandable visuals</a:t>
            </a:r>
            <a:br>
              <a:rPr lang="en-US" dirty="0"/>
            </a:br>
            <a:r>
              <a:rPr lang="en-US" dirty="0"/>
              <a:t>• </a:t>
            </a:r>
            <a:r>
              <a:rPr lang="en-US" b="1" dirty="0"/>
              <a:t>Reveals patterns and trends:</a:t>
            </a:r>
            <a:r>
              <a:rPr lang="en-US" dirty="0"/>
              <a:t> Identifies relationships, anomalies, and correlations quickly</a:t>
            </a:r>
            <a:br>
              <a:rPr lang="en-US" dirty="0"/>
            </a:br>
            <a:r>
              <a:rPr lang="en-US" dirty="0"/>
              <a:t>• </a:t>
            </a:r>
            <a:r>
              <a:rPr lang="en-US" b="1" dirty="0"/>
              <a:t>Supports decision-making:</a:t>
            </a:r>
            <a:r>
              <a:rPr lang="en-US" dirty="0"/>
              <a:t> Visual evidence strengthens arguments and strategy</a:t>
            </a:r>
            <a:br>
              <a:rPr lang="en-US" dirty="0"/>
            </a:br>
            <a:r>
              <a:rPr lang="en-US" dirty="0"/>
              <a:t>• </a:t>
            </a:r>
            <a:r>
              <a:rPr lang="en-US" b="1" dirty="0"/>
              <a:t>Highlights outliers and errors:</a:t>
            </a:r>
            <a:r>
              <a:rPr lang="en-US" dirty="0"/>
              <a:t> Helps detect issues that may be hidden in raw data</a:t>
            </a:r>
            <a:br>
              <a:rPr lang="en-US" dirty="0"/>
            </a:br>
            <a:r>
              <a:rPr lang="en-US" dirty="0"/>
              <a:t>• </a:t>
            </a:r>
            <a:r>
              <a:rPr lang="en-US" b="1" dirty="0"/>
              <a:t>Engages stakeholders:</a:t>
            </a:r>
            <a:r>
              <a:rPr lang="en-US" dirty="0"/>
              <a:t> Well-crafted visuals are easier to interpret than tables of numbers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788608"/>
            <a:ext cx="6888960" cy="57235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sp>
        <p:nvSpPr>
          <p:cNvPr id="3" name="Text 0"/>
          <p:cNvSpPr/>
          <p:nvPr/>
        </p:nvSpPr>
        <p:spPr>
          <a:xfrm>
            <a:off x="959973" y="788608"/>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Real-World Impact</a:t>
            </a:r>
            <a:endParaRPr lang="en-US" sz="2850" dirty="0">
              <a:solidFill>
                <a:schemeClr val="tx1">
                  <a:lumMod val="85000"/>
                  <a:lumOff val="15000"/>
                </a:schemeClr>
              </a:solidFill>
            </a:endParaRPr>
          </a:p>
        </p:txBody>
      </p:sp>
      <p:sp>
        <p:nvSpPr>
          <p:cNvPr id="4" name="Text 1"/>
          <p:cNvSpPr/>
          <p:nvPr/>
        </p:nvSpPr>
        <p:spPr>
          <a:xfrm>
            <a:off x="959973" y="1531558"/>
            <a:ext cx="1991677"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Business</a:t>
            </a:r>
            <a:endParaRPr lang="en-US" sz="2100" dirty="0">
              <a:solidFill>
                <a:schemeClr val="tx1">
                  <a:lumMod val="85000"/>
                  <a:lumOff val="15000"/>
                </a:schemeClr>
              </a:solidFill>
            </a:endParaRPr>
          </a:p>
        </p:txBody>
      </p:sp>
      <p:sp>
        <p:nvSpPr>
          <p:cNvPr id="5" name="Text 2"/>
          <p:cNvSpPr/>
          <p:nvPr/>
        </p:nvSpPr>
        <p:spPr>
          <a:xfrm>
            <a:off x="959973" y="1942175"/>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Spot sales trends instantly</a:t>
            </a:r>
            <a:endParaRPr lang="en-US" sz="1350" dirty="0">
              <a:solidFill>
                <a:schemeClr val="tx1">
                  <a:lumMod val="85000"/>
                  <a:lumOff val="15000"/>
                </a:schemeClr>
              </a:solidFill>
            </a:endParaRPr>
          </a:p>
        </p:txBody>
      </p:sp>
      <p:sp>
        <p:nvSpPr>
          <p:cNvPr id="6" name="Text 3"/>
          <p:cNvSpPr/>
          <p:nvPr/>
        </p:nvSpPr>
        <p:spPr>
          <a:xfrm>
            <a:off x="959973" y="2256500"/>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Identify customer patterns</a:t>
            </a:r>
            <a:endParaRPr lang="en-US" sz="1350" dirty="0">
              <a:solidFill>
                <a:schemeClr val="tx1">
                  <a:lumMod val="85000"/>
                  <a:lumOff val="15000"/>
                </a:schemeClr>
              </a:solidFill>
            </a:endParaRPr>
          </a:p>
        </p:txBody>
      </p:sp>
      <p:sp>
        <p:nvSpPr>
          <p:cNvPr id="8" name="Text 4"/>
          <p:cNvSpPr/>
          <p:nvPr/>
        </p:nvSpPr>
        <p:spPr>
          <a:xfrm>
            <a:off x="5174786" y="1531558"/>
            <a:ext cx="1991677"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Healthcare</a:t>
            </a:r>
            <a:endParaRPr lang="en-US" sz="2100" dirty="0">
              <a:solidFill>
                <a:schemeClr val="tx1">
                  <a:lumMod val="85000"/>
                  <a:lumOff val="15000"/>
                </a:schemeClr>
              </a:solidFill>
            </a:endParaRPr>
          </a:p>
        </p:txBody>
      </p:sp>
      <p:sp>
        <p:nvSpPr>
          <p:cNvPr id="9" name="Text 5"/>
          <p:cNvSpPr/>
          <p:nvPr/>
        </p:nvSpPr>
        <p:spPr>
          <a:xfrm>
            <a:off x="5174786" y="1942175"/>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Track disease outbreaks</a:t>
            </a:r>
            <a:endParaRPr lang="en-US" sz="1350" dirty="0">
              <a:solidFill>
                <a:schemeClr val="tx1">
                  <a:lumMod val="85000"/>
                  <a:lumOff val="15000"/>
                </a:schemeClr>
              </a:solidFill>
            </a:endParaRPr>
          </a:p>
        </p:txBody>
      </p:sp>
      <p:sp>
        <p:nvSpPr>
          <p:cNvPr id="10" name="Text 6"/>
          <p:cNvSpPr/>
          <p:nvPr/>
        </p:nvSpPr>
        <p:spPr>
          <a:xfrm>
            <a:off x="5174786" y="2256500"/>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Monitor treatment effectiveness</a:t>
            </a:r>
            <a:endParaRPr lang="en-US" sz="1350" dirty="0">
              <a:solidFill>
                <a:schemeClr val="tx1">
                  <a:lumMod val="85000"/>
                  <a:lumOff val="15000"/>
                </a:schemeClr>
              </a:solidFill>
            </a:endParaRPr>
          </a:p>
        </p:txBody>
      </p:sp>
      <p:sp>
        <p:nvSpPr>
          <p:cNvPr id="11" name="Text 7"/>
          <p:cNvSpPr/>
          <p:nvPr/>
        </p:nvSpPr>
        <p:spPr>
          <a:xfrm>
            <a:off x="959973" y="2894219"/>
            <a:ext cx="1991677"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Research</a:t>
            </a:r>
            <a:endParaRPr lang="en-US" sz="2100" dirty="0">
              <a:solidFill>
                <a:schemeClr val="tx1">
                  <a:lumMod val="85000"/>
                  <a:lumOff val="15000"/>
                </a:schemeClr>
              </a:solidFill>
            </a:endParaRPr>
          </a:p>
        </p:txBody>
      </p:sp>
      <p:sp>
        <p:nvSpPr>
          <p:cNvPr id="12" name="Text 8"/>
          <p:cNvSpPr/>
          <p:nvPr/>
        </p:nvSpPr>
        <p:spPr>
          <a:xfrm>
            <a:off x="959973" y="3304836"/>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Find complex correlations</a:t>
            </a:r>
            <a:endParaRPr lang="en-US" sz="1350" dirty="0">
              <a:solidFill>
                <a:schemeClr val="tx1">
                  <a:lumMod val="85000"/>
                  <a:lumOff val="15000"/>
                </a:schemeClr>
              </a:solidFill>
            </a:endParaRPr>
          </a:p>
        </p:txBody>
      </p:sp>
      <p:sp>
        <p:nvSpPr>
          <p:cNvPr id="13" name="Text 9"/>
          <p:cNvSpPr/>
          <p:nvPr/>
        </p:nvSpPr>
        <p:spPr>
          <a:xfrm>
            <a:off x="5174786" y="2894219"/>
            <a:ext cx="1991677"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Policy</a:t>
            </a:r>
            <a:endParaRPr lang="en-US" sz="2100" dirty="0">
              <a:solidFill>
                <a:schemeClr val="tx1">
                  <a:lumMod val="85000"/>
                  <a:lumOff val="15000"/>
                </a:schemeClr>
              </a:solidFill>
            </a:endParaRPr>
          </a:p>
        </p:txBody>
      </p:sp>
      <p:sp>
        <p:nvSpPr>
          <p:cNvPr id="14" name="Text 10"/>
          <p:cNvSpPr/>
          <p:nvPr/>
        </p:nvSpPr>
        <p:spPr>
          <a:xfrm>
            <a:off x="5174786" y="3304836"/>
            <a:ext cx="3959066"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dirty="0">
                <a:solidFill>
                  <a:schemeClr val="tx1">
                    <a:lumMod val="85000"/>
                    <a:lumOff val="15000"/>
                  </a:schemeClr>
                </a:solidFill>
                <a:latin typeface="Arial" pitchFamily="34" charset="0"/>
                <a:ea typeface="Arial" pitchFamily="34" charset="-122"/>
                <a:cs typeface="Arial" pitchFamily="34" charset="-120"/>
              </a:rPr>
              <a:t>Data-driven decisions</a:t>
            </a:r>
            <a:endParaRPr lang="en-US" sz="1350" dirty="0">
              <a:solidFill>
                <a:schemeClr val="tx1">
                  <a:lumMod val="85000"/>
                  <a:lumOff val="15000"/>
                </a:schemeClr>
              </a:solidFill>
            </a:endParaRPr>
          </a:p>
        </p:txBody>
      </p:sp>
      <p:sp>
        <p:nvSpPr>
          <p:cNvPr id="2" name="Rectangle 1"/>
          <p:cNvSpPr/>
          <p:nvPr/>
        </p:nvSpPr>
        <p:spPr>
          <a:xfrm>
            <a:off x="959973" y="3599755"/>
            <a:ext cx="6096000" cy="2308324"/>
          </a:xfrm>
          <a:prstGeom prst="rect">
            <a:avLst/>
          </a:prstGeom>
        </p:spPr>
        <p:txBody>
          <a:bodyPr>
            <a:spAutoFit/>
          </a:bodyPr>
          <a:lstStyle/>
          <a:p>
            <a:r>
              <a:rPr lang="en-US" dirty="0"/>
              <a:t/>
            </a:r>
            <a:br>
              <a:rPr lang="en-US" dirty="0"/>
            </a:br>
            <a:r>
              <a:rPr lang="en-US" dirty="0"/>
              <a:t>• </a:t>
            </a:r>
            <a:r>
              <a:rPr lang="en-US" b="1" dirty="0"/>
              <a:t>In Public Health:</a:t>
            </a:r>
            <a:r>
              <a:rPr lang="en-US" dirty="0"/>
              <a:t> Track disease outbreaks, vaccination coverage, and health trends</a:t>
            </a:r>
            <a:br>
              <a:rPr lang="en-US" dirty="0"/>
            </a:br>
            <a:r>
              <a:rPr lang="en-US" dirty="0"/>
              <a:t>• </a:t>
            </a:r>
            <a:r>
              <a:rPr lang="en-US" b="1" dirty="0"/>
              <a:t>In Finance:</a:t>
            </a:r>
            <a:r>
              <a:rPr lang="en-US" dirty="0"/>
              <a:t> Spot market patterns, detect anomalies, and manage risk effectively</a:t>
            </a:r>
            <a:br>
              <a:rPr lang="en-US" dirty="0"/>
            </a:br>
            <a:r>
              <a:rPr lang="en-US" dirty="0"/>
              <a:t>• </a:t>
            </a:r>
            <a:r>
              <a:rPr lang="en-US" b="1" dirty="0"/>
              <a:t>In Education:</a:t>
            </a:r>
            <a:r>
              <a:rPr lang="en-US" dirty="0"/>
              <a:t> Analyze student performance, engagement, and resource allocation</a:t>
            </a:r>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66595" y="611626"/>
            <a:ext cx="7713612" cy="10500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3200" dirty="0">
              <a:solidFill>
                <a:srgbClr val="45C2CA"/>
              </a:solidFill>
              <a:latin typeface="Arial" panose="020B0604020202020204" pitchFamily="34" charset="0"/>
              <a:cs typeface="Arial" panose="020B0604020202020204" pitchFamily="34" charset="0"/>
            </a:endParaRPr>
          </a:p>
        </p:txBody>
      </p:sp>
      <p:sp>
        <p:nvSpPr>
          <p:cNvPr id="4" name="Text 0"/>
          <p:cNvSpPr/>
          <p:nvPr/>
        </p:nvSpPr>
        <p:spPr>
          <a:xfrm>
            <a:off x="1832171" y="710394"/>
            <a:ext cx="6566241" cy="651218"/>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Introduction to Matplotlib</a:t>
            </a:r>
            <a:endParaRPr lang="en-US" sz="2850" dirty="0"/>
          </a:p>
        </p:txBody>
      </p:sp>
      <p:sp>
        <p:nvSpPr>
          <p:cNvPr id="6" name="Text 1"/>
          <p:cNvSpPr/>
          <p:nvPr/>
        </p:nvSpPr>
        <p:spPr>
          <a:xfrm>
            <a:off x="1255395" y="1533062"/>
            <a:ext cx="8258175"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b="1" dirty="0">
                <a:solidFill>
                  <a:srgbClr val="F97316"/>
                </a:solidFill>
                <a:latin typeface="Arial" pitchFamily="34" charset="0"/>
                <a:ea typeface="Arial" pitchFamily="34" charset="-122"/>
                <a:cs typeface="Arial" pitchFamily="34" charset="-120"/>
              </a:rPr>
              <a:t>The Foundation of Python Visualization</a:t>
            </a:r>
            <a:endParaRPr lang="en-US" sz="1350" dirty="0"/>
          </a:p>
        </p:txBody>
      </p:sp>
      <p:sp>
        <p:nvSpPr>
          <p:cNvPr id="2" name="Rectangle 1"/>
          <p:cNvSpPr/>
          <p:nvPr/>
        </p:nvSpPr>
        <p:spPr>
          <a:xfrm>
            <a:off x="1255394" y="1961687"/>
            <a:ext cx="6509971" cy="3416320"/>
          </a:xfrm>
          <a:prstGeom prst="rect">
            <a:avLst/>
          </a:prstGeom>
        </p:spPr>
        <p:txBody>
          <a:bodyPr wrap="square">
            <a:spAutoFit/>
          </a:bodyPr>
          <a:lstStyle/>
          <a:p>
            <a:r>
              <a:rPr lang="en-US" dirty="0" err="1"/>
              <a:t>Matplotlib</a:t>
            </a:r>
            <a:r>
              <a:rPr lang="en-US" dirty="0"/>
              <a:t> is one of the most widely used data visualization libraries in Python. It was created by John Hunter, who was a neurobiologist and was working on analyzing </a:t>
            </a:r>
            <a:r>
              <a:rPr lang="en-US" dirty="0" err="1"/>
              <a:t>Electrocorticography</a:t>
            </a:r>
            <a:r>
              <a:rPr lang="en-US" dirty="0"/>
              <a:t> signals. His team had access to a licensed version of proprietary software for the analysis and was able to use it in turns only. To avoid this limitation, John developed a MATLAB based version which in the later stages was equipped with a scripting interface for quick and easy generation of graphics, currently known as </a:t>
            </a:r>
            <a:r>
              <a:rPr lang="en-US" dirty="0" err="1"/>
              <a:t>matplotlib</a:t>
            </a:r>
            <a:r>
              <a:rPr lang="en-US" dirty="0"/>
              <a:t>.</a:t>
            </a:r>
          </a:p>
          <a:p>
            <a:r>
              <a:rPr lang="en-US" dirty="0"/>
              <a:t/>
            </a:r>
            <a:br>
              <a:rPr lang="en-US" dirty="0"/>
            </a:br>
            <a:r>
              <a:rPr lang="en-US" dirty="0" err="1"/>
              <a:t>Matplotlib</a:t>
            </a:r>
            <a:r>
              <a:rPr lang="en-US" dirty="0"/>
              <a:t> operates on a three-layer architecture system, The Backend Layer, Artist Layer &amp; Scripting Layer.</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0713" y="1651663"/>
            <a:ext cx="4285714" cy="23809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04762" y="585540"/>
            <a:ext cx="2864887" cy="369332"/>
          </a:xfrm>
          <a:prstGeom prst="rect">
            <a:avLst/>
          </a:prstGeom>
        </p:spPr>
        <p:txBody>
          <a:bodyPr wrap="none">
            <a:spAutoFit/>
          </a:bodyPr>
          <a:lstStyle/>
          <a:p>
            <a:r>
              <a:rPr lang="en-US" dirty="0"/>
              <a:t>Key Features of </a:t>
            </a:r>
            <a:r>
              <a:rPr lang="en-US" dirty="0" err="1"/>
              <a:t>Matplotlib</a:t>
            </a:r>
            <a:endParaRPr lang="en-US" dirty="0"/>
          </a:p>
        </p:txBody>
      </p:sp>
      <p:sp>
        <p:nvSpPr>
          <p:cNvPr id="6" name="Rectangle 5"/>
          <p:cNvSpPr/>
          <p:nvPr/>
        </p:nvSpPr>
        <p:spPr>
          <a:xfrm>
            <a:off x="1430214" y="1425418"/>
            <a:ext cx="7221417" cy="3139321"/>
          </a:xfrm>
          <a:prstGeom prst="rect">
            <a:avLst/>
          </a:prstGeom>
        </p:spPr>
        <p:txBody>
          <a:bodyPr wrap="square">
            <a:spAutoFit/>
          </a:bodyPr>
          <a:lstStyle/>
          <a:p>
            <a:r>
              <a:rPr lang="en-US" dirty="0"/>
              <a:t>• Create static, interactive, and animated visualizations</a:t>
            </a:r>
            <a:br>
              <a:rPr lang="en-US" dirty="0"/>
            </a:br>
            <a:r>
              <a:rPr lang="en-US" dirty="0"/>
              <a:t>• Fine-grained control over plot elements: figures, axes, and components</a:t>
            </a:r>
            <a:br>
              <a:rPr lang="en-US" dirty="0"/>
            </a:br>
            <a:r>
              <a:rPr lang="en-US" dirty="0"/>
              <a:t>• Supports a wide range of plot types: line, bar, scatter, histogram, and more</a:t>
            </a:r>
            <a:br>
              <a:rPr lang="en-US" dirty="0"/>
            </a:br>
            <a:r>
              <a:rPr lang="en-US" dirty="0"/>
              <a:t>• Fully customizable: titles, labels, legends, colors, and layout adjustments</a:t>
            </a:r>
            <a:br>
              <a:rPr lang="en-US" dirty="0"/>
            </a:br>
            <a:r>
              <a:rPr lang="en-US" dirty="0"/>
              <a:t>• Foundation for other libraries like </a:t>
            </a:r>
            <a:r>
              <a:rPr lang="en-US" dirty="0" err="1"/>
              <a:t>Seaborn</a:t>
            </a:r>
            <a:r>
              <a:rPr lang="en-US" dirty="0"/>
              <a:t>, enabling advanced statistical plots</a:t>
            </a:r>
            <a:br>
              <a:rPr lang="en-US" dirty="0"/>
            </a:br>
            <a:r>
              <a:rPr lang="en-US" dirty="0"/>
              <a:t>• Essential for exploratory data analysis and presentation-ready graphics</a:t>
            </a:r>
          </a:p>
        </p:txBody>
      </p:sp>
    </p:spTree>
    <p:extLst>
      <p:ext uri="{BB962C8B-B14F-4D97-AF65-F5344CB8AC3E}">
        <p14:creationId xmlns:p14="http://schemas.microsoft.com/office/powerpoint/2010/main" val="3076525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18524" y="150495"/>
            <a:ext cx="4138803" cy="361950"/>
          </a:xfrm>
          <a:prstGeom prst="rect">
            <a:avLst/>
          </a:prstGeom>
          <a:noFill/>
          <a:ln/>
        </p:spPr>
        <p:txBody>
          <a:bodyPr wrap="square" lIns="0" tIns="0" rIns="0" bIns="0" rtlCol="0" anchor="t"/>
          <a:lstStyle/>
          <a:p>
            <a:pPr marL="0" indent="0" algn="ctr">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Matplotlib Architecture</a:t>
            </a:r>
            <a:endParaRPr lang="en-US" sz="2850" dirty="0">
              <a:solidFill>
                <a:schemeClr val="tx1">
                  <a:lumMod val="85000"/>
                  <a:lumOff val="15000"/>
                </a:schemeClr>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8635" y="695325"/>
            <a:ext cx="8018583" cy="3257697"/>
          </a:xfrm>
          <a:prstGeom prst="rect">
            <a:avLst/>
          </a:prstGeom>
        </p:spPr>
      </p:pic>
      <p:sp>
        <p:nvSpPr>
          <p:cNvPr id="5" name="Rectangle 4"/>
          <p:cNvSpPr/>
          <p:nvPr/>
        </p:nvSpPr>
        <p:spPr>
          <a:xfrm>
            <a:off x="2593276" y="3938955"/>
            <a:ext cx="6096000" cy="2031325"/>
          </a:xfrm>
          <a:prstGeom prst="rect">
            <a:avLst/>
          </a:prstGeom>
        </p:spPr>
        <p:txBody>
          <a:bodyPr>
            <a:spAutoFit/>
          </a:bodyPr>
          <a:lstStyle/>
          <a:p>
            <a:r>
              <a:rPr lang="en-US" dirty="0"/>
              <a:t>• </a:t>
            </a:r>
            <a:r>
              <a:rPr lang="en-US" b="1" dirty="0"/>
              <a:t>Backend Layer</a:t>
            </a:r>
            <a:r>
              <a:rPr lang="en-US" dirty="0"/>
              <a:t> – Handles rendering and output of plots to the screen or files; manages different output formats (e.g., PNG, PDF, interactive GUI)</a:t>
            </a:r>
            <a:br>
              <a:rPr lang="en-US" dirty="0"/>
            </a:br>
            <a:r>
              <a:rPr lang="en-US" dirty="0"/>
              <a:t>• </a:t>
            </a:r>
            <a:r>
              <a:rPr lang="en-US" b="1" dirty="0"/>
              <a:t>Artist Layer</a:t>
            </a:r>
            <a:r>
              <a:rPr lang="en-US" dirty="0"/>
              <a:t> – Contains all visual elements (lines, text, shapes); everything you see on a plot is an “artist”</a:t>
            </a:r>
            <a:br>
              <a:rPr lang="en-US" dirty="0"/>
            </a:br>
            <a:r>
              <a:rPr lang="en-US" dirty="0"/>
              <a:t>• </a:t>
            </a:r>
            <a:r>
              <a:rPr lang="en-US" b="1" dirty="0"/>
              <a:t>Scripting Layer</a:t>
            </a:r>
            <a:r>
              <a:rPr lang="en-US" dirty="0"/>
              <a:t> – User-facing layer; provides the API to create plots, add labels, and control visual elements easily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83530" y="1078963"/>
            <a:ext cx="5207508"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Line Plots - Trends Over Time</a:t>
            </a:r>
            <a:endParaRPr lang="en-US" sz="2850" dirty="0">
              <a:solidFill>
                <a:schemeClr val="tx1">
                  <a:lumMod val="85000"/>
                  <a:lumOff val="15000"/>
                </a:schemeClr>
              </a:solidFill>
            </a:endParaRPr>
          </a:p>
        </p:txBody>
      </p:sp>
      <p:pic>
        <p:nvPicPr>
          <p:cNvPr id="3" name="Image 0" descr="/tmp/rasterized-svg-27b68d2a.png"/>
          <p:cNvPicPr>
            <a:picLocks noChangeAspect="1"/>
          </p:cNvPicPr>
          <p:nvPr/>
        </p:nvPicPr>
        <p:blipFill>
          <a:blip r:embed="rId2"/>
          <a:stretch>
            <a:fillRect/>
          </a:stretch>
        </p:blipFill>
        <p:spPr>
          <a:xfrm>
            <a:off x="6328703" y="1774288"/>
            <a:ext cx="5715000" cy="2314575"/>
          </a:xfrm>
          <a:prstGeom prst="rect">
            <a:avLst/>
          </a:prstGeom>
        </p:spPr>
      </p:pic>
      <p:sp>
        <p:nvSpPr>
          <p:cNvPr id="5" name="Rectangle 4"/>
          <p:cNvSpPr/>
          <p:nvPr/>
        </p:nvSpPr>
        <p:spPr>
          <a:xfrm>
            <a:off x="656492" y="1890656"/>
            <a:ext cx="6096000" cy="1754326"/>
          </a:xfrm>
          <a:prstGeom prst="rect">
            <a:avLst/>
          </a:prstGeom>
        </p:spPr>
        <p:txBody>
          <a:bodyPr>
            <a:spAutoFit/>
          </a:bodyPr>
          <a:lstStyle/>
          <a:p>
            <a:r>
              <a:rPr lang="en-US" dirty="0"/>
              <a:t>Line plots connect data points with lines to show trends over time, making them ideal for time series or sequential data. They typically include an x-axis, y-axis, labels, and legends, and can display multiple series for comparison. Line style, color, and markers can be customized to improve clarity.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705561" y="811676"/>
            <a:ext cx="6072188"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Bar Charts - Category Comparison</a:t>
            </a:r>
            <a:endParaRPr lang="en-US" sz="2850" dirty="0">
              <a:solidFill>
                <a:schemeClr val="tx1">
                  <a:lumMod val="85000"/>
                  <a:lumOff val="15000"/>
                </a:schemeClr>
              </a:solidFill>
            </a:endParaRPr>
          </a:p>
        </p:txBody>
      </p:sp>
      <p:sp>
        <p:nvSpPr>
          <p:cNvPr id="4" name="Text 1"/>
          <p:cNvSpPr/>
          <p:nvPr/>
        </p:nvSpPr>
        <p:spPr>
          <a:xfrm>
            <a:off x="1818103" y="5590149"/>
            <a:ext cx="8258175"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b="1" dirty="0">
                <a:solidFill>
                  <a:schemeClr val="tx1">
                    <a:lumMod val="85000"/>
                    <a:lumOff val="15000"/>
                  </a:schemeClr>
                </a:solidFill>
                <a:latin typeface="Arial" pitchFamily="34" charset="0"/>
                <a:ea typeface="Arial" pitchFamily="34" charset="-122"/>
                <a:cs typeface="Arial" pitchFamily="34" charset="-120"/>
              </a:rPr>
              <a:t>Types: Vertical, Horizontal, Grouped, Stacked</a:t>
            </a:r>
            <a:endParaRPr lang="en-US" sz="1350" dirty="0">
              <a:solidFill>
                <a:schemeClr val="tx1">
                  <a:lumMod val="85000"/>
                  <a:lumOff val="15000"/>
                </a:schemeClr>
              </a:solidFill>
            </a:endParaRPr>
          </a:p>
        </p:txBody>
      </p:sp>
      <p:sp>
        <p:nvSpPr>
          <p:cNvPr id="5" name="Rectangle 4"/>
          <p:cNvSpPr/>
          <p:nvPr/>
        </p:nvSpPr>
        <p:spPr>
          <a:xfrm>
            <a:off x="853440" y="1880942"/>
            <a:ext cx="6096000" cy="2031325"/>
          </a:xfrm>
          <a:prstGeom prst="rect">
            <a:avLst/>
          </a:prstGeom>
        </p:spPr>
        <p:txBody>
          <a:bodyPr>
            <a:spAutoFit/>
          </a:bodyPr>
          <a:lstStyle/>
          <a:p>
            <a:r>
              <a:rPr lang="en-US" dirty="0"/>
              <a:t>• Use rectangular bars to represent values for each category</a:t>
            </a:r>
            <a:br>
              <a:rPr lang="en-US" dirty="0"/>
            </a:br>
            <a:r>
              <a:rPr lang="en-US" dirty="0"/>
              <a:t>• Ideal for comparing groups or categories visually</a:t>
            </a:r>
            <a:br>
              <a:rPr lang="en-US" dirty="0"/>
            </a:br>
            <a:r>
              <a:rPr lang="en-US" dirty="0"/>
              <a:t>• Bars can be vertical or horizontal</a:t>
            </a:r>
            <a:br>
              <a:rPr lang="en-US" dirty="0"/>
            </a:br>
            <a:r>
              <a:rPr lang="en-US" dirty="0"/>
              <a:t>• Multiple series can be shown side by side for comparison</a:t>
            </a:r>
            <a:br>
              <a:rPr lang="en-US" dirty="0"/>
            </a:br>
            <a:r>
              <a:rPr lang="en-US" dirty="0"/>
              <a:t>• Customizable with colors, labels, and legends for clarity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0786" y="1373295"/>
            <a:ext cx="4083095" cy="30466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410139" y="685067"/>
            <a:ext cx="5013198"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Scatter Plots - Relationships</a:t>
            </a:r>
            <a:endParaRPr lang="en-US" sz="2850" dirty="0">
              <a:solidFill>
                <a:schemeClr val="tx1">
                  <a:lumMod val="85000"/>
                  <a:lumOff val="1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31803" y="1589648"/>
            <a:ext cx="5123706" cy="2892092"/>
          </a:xfrm>
          <a:prstGeom prst="rect">
            <a:avLst/>
          </a:prstGeom>
        </p:spPr>
      </p:pic>
      <p:sp>
        <p:nvSpPr>
          <p:cNvPr id="6" name="Rectangle 5"/>
          <p:cNvSpPr/>
          <p:nvPr/>
        </p:nvSpPr>
        <p:spPr>
          <a:xfrm>
            <a:off x="535803" y="1589648"/>
            <a:ext cx="6096000" cy="2031325"/>
          </a:xfrm>
          <a:prstGeom prst="rect">
            <a:avLst/>
          </a:prstGeom>
        </p:spPr>
        <p:txBody>
          <a:bodyPr>
            <a:spAutoFit/>
          </a:bodyPr>
          <a:lstStyle/>
          <a:p>
            <a:r>
              <a:rPr lang="en-US" dirty="0"/>
              <a:t>• Show relationships between variables</a:t>
            </a:r>
            <a:br>
              <a:rPr lang="en-US" dirty="0"/>
            </a:br>
            <a:r>
              <a:rPr lang="en-US" dirty="0"/>
              <a:t>• Example: Scatter plot of CPU load vs response time with regression line</a:t>
            </a:r>
            <a:br>
              <a:rPr lang="en-US" dirty="0"/>
            </a:br>
            <a:r>
              <a:rPr lang="en-US" dirty="0"/>
              <a:t>• Useful for detecting linear/non-linear trends</a:t>
            </a:r>
            <a:br>
              <a:rPr lang="en-US" dirty="0"/>
            </a:br>
            <a:r>
              <a:rPr lang="en-US" dirty="0"/>
              <a:t>• Can help identify clusters or patterns within the data</a:t>
            </a:r>
            <a:br>
              <a:rPr lang="en-US" dirty="0"/>
            </a:br>
            <a:r>
              <a:rPr lang="en-US" dirty="0"/>
              <a:t>• Helps detect outliers or anomalies that may affect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663358" y="910150"/>
            <a:ext cx="4644009"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Histograms - Distributions</a:t>
            </a:r>
            <a:endParaRPr lang="en-US" sz="2850" dirty="0">
              <a:solidFill>
                <a:schemeClr val="tx1">
                  <a:lumMod val="85000"/>
                  <a:lumOff val="1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91797" y="1091125"/>
            <a:ext cx="5478283" cy="4705909"/>
          </a:xfrm>
          <a:prstGeom prst="rect">
            <a:avLst/>
          </a:prstGeom>
        </p:spPr>
      </p:pic>
      <p:sp>
        <p:nvSpPr>
          <p:cNvPr id="6" name="Rectangle 5"/>
          <p:cNvSpPr/>
          <p:nvPr/>
        </p:nvSpPr>
        <p:spPr>
          <a:xfrm>
            <a:off x="937362" y="2117916"/>
            <a:ext cx="6096000" cy="2031325"/>
          </a:xfrm>
          <a:prstGeom prst="rect">
            <a:avLst/>
          </a:prstGeom>
        </p:spPr>
        <p:txBody>
          <a:bodyPr>
            <a:spAutoFit/>
          </a:bodyPr>
          <a:lstStyle/>
          <a:p>
            <a:r>
              <a:rPr lang="en-US" dirty="0"/>
              <a:t>• Show distribution of data</a:t>
            </a:r>
            <a:br>
              <a:rPr lang="en-US" dirty="0"/>
            </a:br>
            <a:r>
              <a:rPr lang="en-US" dirty="0"/>
              <a:t>• Example: Histogram of login times for an authentication system</a:t>
            </a:r>
            <a:br>
              <a:rPr lang="en-US" dirty="0"/>
            </a:br>
            <a:r>
              <a:rPr lang="en-US" dirty="0"/>
              <a:t>• Helps identify normality, skewness, or unusual peaks</a:t>
            </a:r>
            <a:br>
              <a:rPr lang="en-US" dirty="0"/>
            </a:br>
            <a:r>
              <a:rPr lang="en-US" dirty="0"/>
              <a:t>• Useful for detecting outliers or extreme values</a:t>
            </a:r>
            <a:br>
              <a:rPr lang="en-US" dirty="0"/>
            </a:br>
            <a:r>
              <a:rPr lang="en-US" dirty="0"/>
              <a:t>• Can guide bin selection and data preprocessing for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99124" y="867947"/>
            <a:ext cx="5566982"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Box Plots - Statistical Summary</a:t>
            </a:r>
            <a:endParaRPr lang="en-US" sz="2850" dirty="0">
              <a:solidFill>
                <a:schemeClr val="tx1">
                  <a:lumMod val="85000"/>
                  <a:lumOff val="15000"/>
                </a:schemeClr>
              </a:solidFill>
            </a:endParaRPr>
          </a:p>
        </p:txBody>
      </p:sp>
      <p:pic>
        <p:nvPicPr>
          <p:cNvPr id="3" name="Image 0" descr="/tmp/rasterized-svg-3a483c02.png"/>
          <p:cNvPicPr>
            <a:picLocks noChangeAspect="1"/>
          </p:cNvPicPr>
          <p:nvPr/>
        </p:nvPicPr>
        <p:blipFill>
          <a:blip r:embed="rId2"/>
          <a:stretch>
            <a:fillRect/>
          </a:stretch>
        </p:blipFill>
        <p:spPr>
          <a:xfrm>
            <a:off x="5721741" y="1585985"/>
            <a:ext cx="6572556" cy="3154827"/>
          </a:xfrm>
          <a:prstGeom prst="rect">
            <a:avLst/>
          </a:prstGeom>
        </p:spPr>
      </p:pic>
      <p:sp>
        <p:nvSpPr>
          <p:cNvPr id="4" name="Rectangle 3"/>
          <p:cNvSpPr/>
          <p:nvPr/>
        </p:nvSpPr>
        <p:spPr>
          <a:xfrm>
            <a:off x="934615" y="2017265"/>
            <a:ext cx="6096000" cy="1477328"/>
          </a:xfrm>
          <a:prstGeom prst="rect">
            <a:avLst/>
          </a:prstGeom>
        </p:spPr>
        <p:txBody>
          <a:bodyPr>
            <a:spAutoFit/>
          </a:bodyPr>
          <a:lstStyle/>
          <a:p>
            <a:r>
              <a:rPr lang="en-US" dirty="0"/>
              <a:t>• </a:t>
            </a:r>
            <a:r>
              <a:rPr lang="en-US" dirty="0" err="1"/>
              <a:t>Summarise</a:t>
            </a:r>
            <a:r>
              <a:rPr lang="en-US" dirty="0"/>
              <a:t> data distribution: median, quartiles, </a:t>
            </a:r>
            <a:r>
              <a:rPr lang="en-US" dirty="0" smtClean="0"/>
              <a:t>outliers</a:t>
            </a:r>
            <a:r>
              <a:rPr lang="en-US" dirty="0"/>
              <a:t/>
            </a:r>
            <a:br>
              <a:rPr lang="en-US" dirty="0"/>
            </a:br>
            <a:r>
              <a:rPr lang="en-US" dirty="0"/>
              <a:t>• Example: </a:t>
            </a:r>
            <a:r>
              <a:rPr lang="en-US" dirty="0" err="1"/>
              <a:t>Visualising</a:t>
            </a:r>
            <a:r>
              <a:rPr lang="en-US" dirty="0"/>
              <a:t> variance in daily bandwidth usage</a:t>
            </a:r>
            <a:br>
              <a:rPr lang="en-US" dirty="0"/>
            </a:br>
            <a:r>
              <a:rPr lang="en-US" dirty="0"/>
              <a:t>• Helps detect anomalies quickly</a:t>
            </a:r>
            <a:br>
              <a:rPr lang="en-US" dirty="0"/>
            </a:br>
            <a:r>
              <a:rPr lang="en-US" dirty="0"/>
              <a:t>• Useful for comparing distributions across multiple groups</a:t>
            </a:r>
            <a:br>
              <a:rPr lang="en-US" dirty="0"/>
            </a:br>
            <a:r>
              <a:rPr lang="en-US" dirty="0"/>
              <a:t>• Highlights skewness and spread of the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564884" y="924219"/>
            <a:ext cx="5275517"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Plot Customization Essentials</a:t>
            </a:r>
            <a:endParaRPr lang="en-US" sz="2850" dirty="0">
              <a:solidFill>
                <a:schemeClr val="tx1">
                  <a:lumMod val="85000"/>
                  <a:lumOff val="15000"/>
                </a:schemeClr>
              </a:solidFill>
            </a:endParaRPr>
          </a:p>
        </p:txBody>
      </p:sp>
      <p:sp>
        <p:nvSpPr>
          <p:cNvPr id="3" name="Text 1"/>
          <p:cNvSpPr/>
          <p:nvPr/>
        </p:nvSpPr>
        <p:spPr>
          <a:xfrm>
            <a:off x="1564884" y="2088759"/>
            <a:ext cx="8096250" cy="264795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Titles:</a:t>
            </a:r>
            <a:r>
              <a:rPr lang="en-US" sz="2000" dirty="0">
                <a:solidFill>
                  <a:schemeClr val="tx1">
                    <a:lumMod val="85000"/>
                    <a:lumOff val="15000"/>
                  </a:schemeClr>
                </a:solidFill>
                <a:latin typeface="Arial" pitchFamily="34" charset="0"/>
                <a:ea typeface="Arial" pitchFamily="34" charset="-122"/>
                <a:cs typeface="Arial" pitchFamily="34" charset="-120"/>
              </a:rPr>
              <a:t> Clear, descriptive, actionable</a:t>
            </a:r>
            <a:endParaRPr lang="en-US" sz="2000" dirty="0">
              <a:solidFill>
                <a:schemeClr val="tx1">
                  <a:lumMod val="85000"/>
                  <a:lumOff val="15000"/>
                </a:schemeClr>
              </a:solidFill>
            </a:endParaRPr>
          </a:p>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Axis Labels:</a:t>
            </a:r>
            <a:r>
              <a:rPr lang="en-US" sz="2000" dirty="0">
                <a:solidFill>
                  <a:schemeClr val="tx1">
                    <a:lumMod val="85000"/>
                    <a:lumOff val="15000"/>
                  </a:schemeClr>
                </a:solidFill>
                <a:latin typeface="Arial" pitchFamily="34" charset="0"/>
                <a:ea typeface="Arial" pitchFamily="34" charset="-122"/>
                <a:cs typeface="Arial" pitchFamily="34" charset="-120"/>
              </a:rPr>
              <a:t> Include units of measurement</a:t>
            </a:r>
            <a:endParaRPr lang="en-US" sz="2000" dirty="0">
              <a:solidFill>
                <a:schemeClr val="tx1">
                  <a:lumMod val="85000"/>
                  <a:lumOff val="15000"/>
                </a:schemeClr>
              </a:solidFill>
            </a:endParaRPr>
          </a:p>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Legends:</a:t>
            </a:r>
            <a:r>
              <a:rPr lang="en-US" sz="2000" dirty="0">
                <a:solidFill>
                  <a:schemeClr val="tx1">
                    <a:lumMod val="85000"/>
                    <a:lumOff val="15000"/>
                  </a:schemeClr>
                </a:solidFill>
                <a:latin typeface="Arial" pitchFamily="34" charset="0"/>
                <a:ea typeface="Arial" pitchFamily="34" charset="-122"/>
                <a:cs typeface="Arial" pitchFamily="34" charset="-120"/>
              </a:rPr>
              <a:t> Strategic position, don't obstruct</a:t>
            </a:r>
            <a:endParaRPr lang="en-US" sz="2000" dirty="0">
              <a:solidFill>
                <a:schemeClr val="tx1">
                  <a:lumMod val="85000"/>
                  <a:lumOff val="15000"/>
                </a:schemeClr>
              </a:solidFill>
            </a:endParaRPr>
          </a:p>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Colors:</a:t>
            </a:r>
            <a:r>
              <a:rPr lang="en-US" sz="2000" dirty="0">
                <a:solidFill>
                  <a:schemeClr val="tx1">
                    <a:lumMod val="85000"/>
                    <a:lumOff val="15000"/>
                  </a:schemeClr>
                </a:solidFill>
                <a:latin typeface="Arial" pitchFamily="34" charset="0"/>
                <a:ea typeface="Arial" pitchFamily="34" charset="-122"/>
                <a:cs typeface="Arial" pitchFamily="34" charset="-120"/>
              </a:rPr>
              <a:t> Colorblind-friendly palettes</a:t>
            </a:r>
            <a:endParaRPr lang="en-US" sz="2000" dirty="0">
              <a:solidFill>
                <a:schemeClr val="tx1">
                  <a:lumMod val="85000"/>
                  <a:lumOff val="15000"/>
                </a:schemeClr>
              </a:solidFill>
            </a:endParaRPr>
          </a:p>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Grid Lines:</a:t>
            </a:r>
            <a:r>
              <a:rPr lang="en-US" sz="2000" dirty="0">
                <a:solidFill>
                  <a:schemeClr val="tx1">
                    <a:lumMod val="85000"/>
                    <a:lumOff val="15000"/>
                  </a:schemeClr>
                </a:solidFill>
                <a:latin typeface="Arial" pitchFamily="34" charset="0"/>
                <a:ea typeface="Arial" pitchFamily="34" charset="-122"/>
                <a:cs typeface="Arial" pitchFamily="34" charset="-120"/>
              </a:rPr>
              <a:t> Aid reading without distraction</a:t>
            </a:r>
            <a:endParaRPr lang="en-US" sz="2000" dirty="0">
              <a:solidFill>
                <a:schemeClr val="tx1">
                  <a:lumMod val="85000"/>
                  <a:lumOff val="15000"/>
                </a:schemeClr>
              </a:solidFill>
            </a:endParaRPr>
          </a:p>
          <a:p>
            <a:pPr marL="133350" indent="-133350" algn="l">
              <a:lnSpc>
                <a:spcPts val="2025"/>
              </a:lnSpc>
              <a:spcAft>
                <a:spcPts val="600"/>
              </a:spcAft>
              <a:buSzPct val="100000"/>
              <a:buChar char="•"/>
            </a:pPr>
            <a:r>
              <a:rPr lang="en-US" sz="2000" b="1" dirty="0">
                <a:solidFill>
                  <a:schemeClr val="tx1">
                    <a:lumMod val="85000"/>
                    <a:lumOff val="15000"/>
                  </a:schemeClr>
                </a:solidFill>
                <a:latin typeface="Arial" pitchFamily="34" charset="0"/>
                <a:ea typeface="Arial" pitchFamily="34" charset="-122"/>
                <a:cs typeface="Arial" pitchFamily="34" charset="-120"/>
              </a:rPr>
              <a:t>Font Sizes:</a:t>
            </a:r>
            <a:r>
              <a:rPr lang="en-US" sz="2000" dirty="0">
                <a:solidFill>
                  <a:schemeClr val="tx1">
                    <a:lumMod val="85000"/>
                    <a:lumOff val="15000"/>
                  </a:schemeClr>
                </a:solidFill>
                <a:latin typeface="Arial" pitchFamily="34" charset="0"/>
                <a:ea typeface="Arial" pitchFamily="34" charset="-122"/>
                <a:cs typeface="Arial" pitchFamily="34" charset="-120"/>
              </a:rPr>
              <a:t> Large enough for presentations</a:t>
            </a:r>
            <a:endParaRPr lang="en-US" sz="2000" dirty="0">
              <a:solidFill>
                <a:schemeClr val="tx1">
                  <a:lumMod val="85000"/>
                  <a:lumOff val="1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Best Practices in </a:t>
            </a:r>
            <a:r>
              <a:rPr lang="en-US" dirty="0" err="1"/>
              <a:t>Visualisation</a:t>
            </a:r>
            <a:endParaRPr lang="en-US" dirty="0"/>
          </a:p>
        </p:txBody>
      </p:sp>
      <p:sp>
        <p:nvSpPr>
          <p:cNvPr id="4" name="Rectangle 3"/>
          <p:cNvSpPr/>
          <p:nvPr/>
        </p:nvSpPr>
        <p:spPr>
          <a:xfrm>
            <a:off x="1185067" y="1815962"/>
            <a:ext cx="6096000" cy="3139321"/>
          </a:xfrm>
          <a:prstGeom prst="rect">
            <a:avLst/>
          </a:prstGeom>
        </p:spPr>
        <p:txBody>
          <a:bodyPr>
            <a:spAutoFit/>
          </a:bodyPr>
          <a:lstStyle/>
          <a:p>
            <a:r>
              <a:rPr lang="en-US" dirty="0"/>
              <a:t>• Clarity: Avoid clutter</a:t>
            </a:r>
            <a:br>
              <a:rPr lang="en-US" dirty="0"/>
            </a:br>
            <a:r>
              <a:rPr lang="en-US" dirty="0"/>
              <a:t>• Accuracy: Represent data honestly (no misleading scales)</a:t>
            </a:r>
            <a:br>
              <a:rPr lang="en-US" dirty="0"/>
            </a:br>
            <a:r>
              <a:rPr lang="en-US" dirty="0"/>
              <a:t>• Relevance: Choose a chart type that matches the analysis goal</a:t>
            </a:r>
            <a:br>
              <a:rPr lang="en-US" dirty="0"/>
            </a:br>
            <a:r>
              <a:rPr lang="en-US" dirty="0"/>
              <a:t>• Accessibility: Ensure </a:t>
            </a:r>
            <a:r>
              <a:rPr lang="en-US" dirty="0" err="1"/>
              <a:t>colour</a:t>
            </a:r>
            <a:r>
              <a:rPr lang="en-US" dirty="0"/>
              <a:t> schemes are clear to all users</a:t>
            </a:r>
            <a:br>
              <a:rPr lang="en-US" dirty="0"/>
            </a:br>
            <a:r>
              <a:rPr lang="en-US" dirty="0"/>
              <a:t>• Consistency: Use uniform styles, colors, and fonts across plots</a:t>
            </a:r>
            <a:br>
              <a:rPr lang="en-US" dirty="0"/>
            </a:br>
            <a:r>
              <a:rPr lang="en-US" dirty="0"/>
              <a:t>• Context: Provide labels, captions, or notes so viewers understand the story</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08009" y="1213340"/>
            <a:ext cx="3241713" cy="4344564"/>
          </a:xfrm>
          <a:prstGeom prst="rect">
            <a:avLst/>
          </a:prstGeom>
        </p:spPr>
      </p:pic>
    </p:spTree>
    <p:extLst>
      <p:ext uri="{BB962C8B-B14F-4D97-AF65-F5344CB8AC3E}">
        <p14:creationId xmlns:p14="http://schemas.microsoft.com/office/powerpoint/2010/main" val="1076352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60305" y="1135234"/>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Color Psychology</a:t>
            </a:r>
            <a:endParaRPr lang="en-US" sz="285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3569" y="1497184"/>
            <a:ext cx="3810074" cy="3810074"/>
          </a:xfrm>
          <a:prstGeom prst="rect">
            <a:avLst/>
          </a:prstGeom>
        </p:spPr>
      </p:pic>
      <p:sp>
        <p:nvSpPr>
          <p:cNvPr id="5" name="Rectangle 4"/>
          <p:cNvSpPr/>
          <p:nvPr/>
        </p:nvSpPr>
        <p:spPr>
          <a:xfrm>
            <a:off x="1205132" y="1995562"/>
            <a:ext cx="6096000" cy="2585323"/>
          </a:xfrm>
          <a:prstGeom prst="rect">
            <a:avLst/>
          </a:prstGeom>
        </p:spPr>
        <p:txBody>
          <a:bodyPr>
            <a:spAutoFit/>
          </a:bodyPr>
          <a:lstStyle/>
          <a:p>
            <a:r>
              <a:rPr lang="en-US" dirty="0"/>
              <a:t>• Colors influence perception and interpretation of data</a:t>
            </a:r>
            <a:br>
              <a:rPr lang="en-US" dirty="0"/>
            </a:br>
            <a:r>
              <a:rPr lang="en-US" dirty="0"/>
              <a:t>• Red: Often signals danger, alert, or important points</a:t>
            </a:r>
            <a:br>
              <a:rPr lang="en-US" dirty="0"/>
            </a:br>
            <a:r>
              <a:rPr lang="en-US" dirty="0"/>
              <a:t>• Green: Suggests growth, success, or positive outcomes</a:t>
            </a:r>
            <a:br>
              <a:rPr lang="en-US" dirty="0"/>
            </a:br>
            <a:r>
              <a:rPr lang="en-US" dirty="0"/>
              <a:t>• Blue: Conveys trust, stability, and calm</a:t>
            </a:r>
            <a:br>
              <a:rPr lang="en-US" dirty="0"/>
            </a:br>
            <a:r>
              <a:rPr lang="en-US" dirty="0"/>
              <a:t>• Orange/Yellow: Draw attention, highlight warnings or trends</a:t>
            </a:r>
            <a:br>
              <a:rPr lang="en-US" dirty="0"/>
            </a:br>
            <a:r>
              <a:rPr lang="en-US" dirty="0"/>
              <a:t>• Use color consistently to represent categories or ranges</a:t>
            </a:r>
            <a:br>
              <a:rPr lang="en-US" dirty="0"/>
            </a:br>
            <a:r>
              <a:rPr lang="en-US" dirty="0"/>
              <a:t>• Ensure accessibility: choose color schemes friendly to color-blind </a:t>
            </a:r>
            <a:r>
              <a:rPr lang="en-US" dirty="0" smtClean="0"/>
              <a:t>users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209" y="278520"/>
            <a:ext cx="7335835" cy="1268984"/>
          </a:xfrm>
        </p:spPr>
        <p:txBody>
          <a:bodyPr>
            <a:normAutofit fontScale="90000"/>
          </a:bodyPr>
          <a:lstStyle/>
          <a:p>
            <a:r>
              <a:rPr lang="en-US" dirty="0"/>
              <a:t>The chart selection framework</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143" y="1055077"/>
            <a:ext cx="8752446" cy="4950601"/>
          </a:xfrm>
          <a:prstGeom prst="rect">
            <a:avLst/>
          </a:prstGeom>
        </p:spPr>
      </p:pic>
    </p:spTree>
    <p:extLst>
      <p:ext uri="{BB962C8B-B14F-4D97-AF65-F5344CB8AC3E}">
        <p14:creationId xmlns:p14="http://schemas.microsoft.com/office/powerpoint/2010/main" val="1811986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1128785" y="558458"/>
            <a:ext cx="4449699"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Subplots - Multiple Views</a:t>
            </a:r>
            <a:endParaRPr lang="en-US" sz="2850" dirty="0"/>
          </a:p>
        </p:txBody>
      </p:sp>
      <p:sp>
        <p:nvSpPr>
          <p:cNvPr id="2" name="Rectangle 1"/>
          <p:cNvSpPr/>
          <p:nvPr/>
        </p:nvSpPr>
        <p:spPr>
          <a:xfrm>
            <a:off x="380123" y="1198158"/>
            <a:ext cx="6096000" cy="3139321"/>
          </a:xfrm>
          <a:prstGeom prst="rect">
            <a:avLst/>
          </a:prstGeom>
        </p:spPr>
        <p:txBody>
          <a:bodyPr>
            <a:spAutoFit/>
          </a:bodyPr>
          <a:lstStyle/>
          <a:p>
            <a:r>
              <a:rPr lang="en-US" dirty="0"/>
              <a:t>• Allow multiple plots in a single figure for easy comparison</a:t>
            </a:r>
            <a:br>
              <a:rPr lang="en-US" dirty="0"/>
            </a:br>
            <a:r>
              <a:rPr lang="en-US" dirty="0"/>
              <a:t>• Each subplot can have its own axes, labels, and scales</a:t>
            </a:r>
            <a:br>
              <a:rPr lang="en-US" dirty="0"/>
            </a:br>
            <a:r>
              <a:rPr lang="en-US" dirty="0"/>
              <a:t>• Useful for analyzing different aspects of the same dataset simultaneously</a:t>
            </a:r>
            <a:br>
              <a:rPr lang="en-US" dirty="0"/>
            </a:br>
            <a:r>
              <a:rPr lang="en-US" dirty="0"/>
              <a:t>• Helps in spotting patterns, trends, and anomalies across variables</a:t>
            </a:r>
            <a:br>
              <a:rPr lang="en-US" dirty="0"/>
            </a:br>
            <a:r>
              <a:rPr lang="en-US" dirty="0"/>
              <a:t>• Supports shared axes or independent axes depending on analysis needs</a:t>
            </a:r>
            <a:br>
              <a:rPr lang="en-US" dirty="0"/>
            </a:br>
            <a:r>
              <a:rPr lang="en-US" dirty="0"/>
              <a:t>• Improves presentation clarity by consolidating related visualizations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6123" y="1198158"/>
            <a:ext cx="5457824" cy="33059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3875" y="474051"/>
            <a:ext cx="4187381"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Introduction to Seaborn</a:t>
            </a:r>
            <a:endParaRPr lang="en-US" sz="2850" dirty="0">
              <a:solidFill>
                <a:schemeClr val="tx1">
                  <a:lumMod val="85000"/>
                  <a:lumOff val="15000"/>
                </a:schemeClr>
              </a:solidFill>
            </a:endParaRPr>
          </a:p>
        </p:txBody>
      </p:sp>
      <p:sp>
        <p:nvSpPr>
          <p:cNvPr id="4" name="Text 2"/>
          <p:cNvSpPr/>
          <p:nvPr/>
        </p:nvSpPr>
        <p:spPr>
          <a:xfrm>
            <a:off x="523875" y="1419225"/>
            <a:ext cx="10406722" cy="2857353"/>
          </a:xfrm>
          <a:prstGeom prst="rect">
            <a:avLst/>
          </a:prstGeom>
          <a:noFill/>
          <a:ln/>
        </p:spPr>
        <p:txBody>
          <a:bodyPr wrap="square" lIns="133350" tIns="0" rIns="0" bIns="0" numCol="2" rtlCol="0" anchor="t"/>
          <a:lstStyle/>
          <a:p>
            <a:pPr>
              <a:lnSpc>
                <a:spcPts val="2025"/>
              </a:lnSpc>
              <a:spcAft>
                <a:spcPts val="600"/>
              </a:spcAft>
              <a:buSzPct val="100000"/>
            </a:pPr>
            <a:r>
              <a:rPr lang="en-US" dirty="0" err="1" smtClean="0"/>
              <a:t>Seaborn</a:t>
            </a:r>
            <a:r>
              <a:rPr lang="en-US" dirty="0" smtClean="0"/>
              <a:t> </a:t>
            </a:r>
            <a:r>
              <a:rPr lang="en-US" dirty="0"/>
              <a:t>is a Python library built on </a:t>
            </a:r>
            <a:r>
              <a:rPr lang="en-US" dirty="0" err="1"/>
              <a:t>Matplotlib</a:t>
            </a:r>
            <a:r>
              <a:rPr lang="en-US" dirty="0"/>
              <a:t> for statistical data </a:t>
            </a:r>
            <a:r>
              <a:rPr lang="en-US" dirty="0" smtClean="0"/>
              <a:t>visualization</a:t>
            </a:r>
            <a:r>
              <a:rPr lang="en-US" dirty="0"/>
              <a:t/>
            </a:r>
            <a:br>
              <a:rPr lang="en-US" dirty="0"/>
            </a:br>
            <a:r>
              <a:rPr lang="en-US" dirty="0"/>
              <a:t>• Simplifies creation of complex plots like violin plots, boxplots, and </a:t>
            </a:r>
            <a:r>
              <a:rPr lang="en-US" dirty="0" err="1"/>
              <a:t>heatmaps</a:t>
            </a:r>
            <a:r>
              <a:rPr lang="en-US" dirty="0"/>
              <a:t/>
            </a:r>
            <a:br>
              <a:rPr lang="en-US" dirty="0"/>
            </a:br>
            <a:r>
              <a:rPr lang="en-US" dirty="0"/>
              <a:t>• Provides high-level interface for drawing attractive and informative graphics</a:t>
            </a:r>
            <a:br>
              <a:rPr lang="en-US" dirty="0"/>
            </a:br>
            <a:r>
              <a:rPr lang="en-US" dirty="0"/>
              <a:t>• Integrates well with Pandas </a:t>
            </a:r>
            <a:r>
              <a:rPr lang="en-US" dirty="0" err="1"/>
              <a:t>DataFrames</a:t>
            </a:r>
            <a:r>
              <a:rPr lang="en-US" dirty="0"/>
              <a:t> for easy plotting of datasets</a:t>
            </a:r>
            <a:br>
              <a:rPr lang="en-US" dirty="0"/>
            </a:br>
            <a:r>
              <a:rPr lang="en-US" dirty="0"/>
              <a:t>• Supports color palettes, themes, and automatic aggregation for better visual appeal</a:t>
            </a:r>
            <a:br>
              <a:rPr lang="en-US" dirty="0"/>
            </a:br>
            <a:r>
              <a:rPr lang="en-US" dirty="0"/>
              <a:t>• Ideal for exploratory data analysis (EDA) and uncovering patterns in data</a:t>
            </a:r>
            <a:endParaRPr lang="en-US" dirty="0">
              <a:solidFill>
                <a:schemeClr val="tx1">
                  <a:lumMod val="85000"/>
                  <a:lumOff val="1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886896"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Seaborn - Distribution Plots</a:t>
            </a:r>
            <a:endParaRPr lang="en-US" sz="2850" dirty="0">
              <a:solidFill>
                <a:schemeClr val="tx1">
                  <a:lumMod val="85000"/>
                  <a:lumOff val="15000"/>
                </a:schemeClr>
              </a:solidFill>
            </a:endParaRPr>
          </a:p>
        </p:txBody>
      </p:sp>
      <p:sp>
        <p:nvSpPr>
          <p:cNvPr id="5" name="Text 1"/>
          <p:cNvSpPr/>
          <p:nvPr/>
        </p:nvSpPr>
        <p:spPr>
          <a:xfrm>
            <a:off x="523875" y="1047749"/>
            <a:ext cx="5342353" cy="4105026"/>
          </a:xfrm>
          <a:prstGeom prst="rect">
            <a:avLst/>
          </a:prstGeom>
          <a:noFill/>
          <a:ln/>
        </p:spPr>
        <p:txBody>
          <a:bodyPr wrap="square" lIns="133350" tIns="0" rIns="0" bIns="0" rtlCol="0" anchor="t"/>
          <a:lstStyle/>
          <a:p>
            <a:pPr>
              <a:lnSpc>
                <a:spcPts val="2025"/>
              </a:lnSpc>
              <a:spcAft>
                <a:spcPts val="600"/>
              </a:spcAft>
              <a:buSzPct val="100000"/>
            </a:pPr>
            <a:r>
              <a:rPr lang="en-US" sz="1400" dirty="0"/>
              <a:t>• Used to visualize the distribution of a single variable</a:t>
            </a:r>
            <a:br>
              <a:rPr lang="en-US" sz="1400" dirty="0"/>
            </a:br>
            <a:r>
              <a:rPr lang="en-US" sz="1400" dirty="0"/>
              <a:t>• Common plot types: histogram, KDE (Kernel Density Estimate), and rug plots</a:t>
            </a:r>
            <a:br>
              <a:rPr lang="en-US" sz="1400" dirty="0"/>
            </a:br>
            <a:r>
              <a:rPr lang="en-US" sz="1400" dirty="0"/>
              <a:t>• Helps identify skewness, modality, and outliers in data</a:t>
            </a:r>
            <a:br>
              <a:rPr lang="en-US" sz="1400" dirty="0"/>
            </a:br>
            <a:r>
              <a:rPr lang="en-US" sz="1400" dirty="0"/>
              <a:t>• Can combine multiple plots to compare distributions across groups</a:t>
            </a:r>
            <a:br>
              <a:rPr lang="en-US" sz="1400" dirty="0"/>
            </a:br>
            <a:r>
              <a:rPr lang="en-US" sz="1400" dirty="0"/>
              <a:t>• Customizable with colors, bins, and kernel settings for clarity</a:t>
            </a:r>
            <a:br>
              <a:rPr lang="en-US" sz="1400" dirty="0"/>
            </a:br>
            <a:r>
              <a:rPr lang="en-US" sz="1400" dirty="0"/>
              <a:t>• Supports integration with Pandas </a:t>
            </a:r>
            <a:r>
              <a:rPr lang="en-US" sz="1400" dirty="0" err="1"/>
              <a:t>DataFrames</a:t>
            </a:r>
            <a:r>
              <a:rPr lang="en-US" sz="1400" dirty="0"/>
              <a:t> for streamlined plotting</a:t>
            </a:r>
            <a:endParaRPr lang="en-US" sz="1350" dirty="0">
              <a:solidFill>
                <a:schemeClr val="tx1">
                  <a:lumMod val="85000"/>
                  <a:lumOff val="1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780" y="1152775"/>
            <a:ext cx="5381818" cy="4000000"/>
          </a:xfrm>
          <a:prstGeom prst="rect">
            <a:avLst/>
          </a:prstGeom>
        </p:spPr>
      </p:pic>
    </p:spTree>
    <p:extLst>
      <p:ext uri="{BB962C8B-B14F-4D97-AF65-F5344CB8AC3E}">
        <p14:creationId xmlns:p14="http://schemas.microsoft.com/office/powerpoint/2010/main" val="2824724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5032629"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Seaborn - Relationship Plots</a:t>
            </a:r>
            <a:endParaRPr lang="en-US" sz="2850" dirty="0">
              <a:solidFill>
                <a:schemeClr val="tx1">
                  <a:lumMod val="85000"/>
                  <a:lumOff val="15000"/>
                </a:schemeClr>
              </a:solidFill>
            </a:endParaRPr>
          </a:p>
        </p:txBody>
      </p:sp>
      <p:sp>
        <p:nvSpPr>
          <p:cNvPr id="5" name="Text 1"/>
          <p:cNvSpPr/>
          <p:nvPr/>
        </p:nvSpPr>
        <p:spPr>
          <a:xfrm>
            <a:off x="523876" y="1047749"/>
            <a:ext cx="5328284" cy="3186625"/>
          </a:xfrm>
          <a:prstGeom prst="rect">
            <a:avLst/>
          </a:prstGeom>
          <a:noFill/>
          <a:ln/>
        </p:spPr>
        <p:txBody>
          <a:bodyPr wrap="square" lIns="133350" tIns="0" rIns="0" bIns="0" rtlCol="0" anchor="t"/>
          <a:lstStyle/>
          <a:p>
            <a:pPr>
              <a:lnSpc>
                <a:spcPts val="2025"/>
              </a:lnSpc>
              <a:spcAft>
                <a:spcPts val="600"/>
              </a:spcAft>
              <a:buSzPct val="100000"/>
            </a:pPr>
            <a:r>
              <a:rPr lang="en-US" sz="1400" dirty="0"/>
              <a:t>• Visualize relationships between two or more variables</a:t>
            </a:r>
            <a:br>
              <a:rPr lang="en-US" sz="1400" dirty="0"/>
            </a:br>
            <a:r>
              <a:rPr lang="en-US" sz="1400" dirty="0"/>
              <a:t>• Common plot types: scatter plots, line plots, and pair plots</a:t>
            </a:r>
            <a:br>
              <a:rPr lang="en-US" sz="1400" dirty="0"/>
            </a:br>
            <a:r>
              <a:rPr lang="en-US" sz="1400" dirty="0"/>
              <a:t>• Can include regression lines to show trends</a:t>
            </a:r>
            <a:br>
              <a:rPr lang="en-US" sz="1400" dirty="0"/>
            </a:br>
            <a:r>
              <a:rPr lang="en-US" sz="1400" dirty="0"/>
              <a:t>• Useful for detecting correlations, clusters, and patterns</a:t>
            </a:r>
            <a:br>
              <a:rPr lang="en-US" sz="1400" dirty="0"/>
            </a:br>
            <a:r>
              <a:rPr lang="en-US" sz="1400" dirty="0"/>
              <a:t>• Supports categorical separation using hue, style, or size</a:t>
            </a:r>
            <a:br>
              <a:rPr lang="en-US" sz="1400" dirty="0"/>
            </a:br>
            <a:r>
              <a:rPr lang="en-US" sz="1400" dirty="0"/>
              <a:t>• Integrates seamlessly with Pandas </a:t>
            </a:r>
            <a:r>
              <a:rPr lang="en-US" sz="1400" dirty="0" err="1"/>
              <a:t>DataFrames</a:t>
            </a:r>
            <a:r>
              <a:rPr lang="en-US" sz="1400" dirty="0"/>
              <a:t> for easy plotting</a:t>
            </a:r>
            <a:endParaRPr lang="en-US" sz="1350" dirty="0">
              <a:solidFill>
                <a:schemeClr val="tx1">
                  <a:lumMod val="85000"/>
                  <a:lumOff val="1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696" y="948727"/>
            <a:ext cx="5142857" cy="4425974"/>
          </a:xfrm>
          <a:prstGeom prst="rect">
            <a:avLst/>
          </a:prstGeom>
        </p:spPr>
      </p:pic>
    </p:spTree>
    <p:extLst>
      <p:ext uri="{BB962C8B-B14F-4D97-AF65-F5344CB8AC3E}">
        <p14:creationId xmlns:p14="http://schemas.microsoft.com/office/powerpoint/2010/main" val="14431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828604"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Seaborn - Categorical Plots</a:t>
            </a:r>
            <a:endParaRPr lang="en-US" sz="2850" dirty="0">
              <a:solidFill>
                <a:schemeClr val="tx1">
                  <a:lumMod val="85000"/>
                  <a:lumOff val="15000"/>
                </a:schemeClr>
              </a:solidFill>
            </a:endParaRPr>
          </a:p>
        </p:txBody>
      </p:sp>
      <p:sp>
        <p:nvSpPr>
          <p:cNvPr id="5" name="Text 1"/>
          <p:cNvSpPr/>
          <p:nvPr/>
        </p:nvSpPr>
        <p:spPr>
          <a:xfrm>
            <a:off x="523875" y="4390146"/>
            <a:ext cx="8096250" cy="175260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1350" b="1" dirty="0" err="1" smtClean="0">
                <a:solidFill>
                  <a:schemeClr val="tx1">
                    <a:lumMod val="85000"/>
                    <a:lumOff val="15000"/>
                  </a:schemeClr>
                </a:solidFill>
                <a:latin typeface="Arial" pitchFamily="34" charset="0"/>
                <a:ea typeface="Arial" pitchFamily="34" charset="-122"/>
                <a:cs typeface="Arial" pitchFamily="34" charset="-120"/>
              </a:rPr>
              <a:t>barplot</a:t>
            </a:r>
            <a:r>
              <a:rPr lang="en-US" sz="1350" b="1" dirty="0" smtClean="0">
                <a:solidFill>
                  <a:schemeClr val="tx1">
                    <a:lumMod val="85000"/>
                    <a:lumOff val="15000"/>
                  </a:schemeClr>
                </a:solidFill>
                <a:latin typeface="Arial" pitchFamily="34" charset="0"/>
                <a:ea typeface="Arial" pitchFamily="34" charset="-122"/>
                <a:cs typeface="Arial" pitchFamily="34" charset="-120"/>
              </a:rPr>
              <a:t>():</a:t>
            </a:r>
            <a:r>
              <a:rPr lang="en-US" sz="1350" dirty="0" smtClean="0">
                <a:solidFill>
                  <a:schemeClr val="tx1">
                    <a:lumMod val="85000"/>
                    <a:lumOff val="15000"/>
                  </a:schemeClr>
                </a:solidFill>
                <a:latin typeface="Arial" pitchFamily="34" charset="0"/>
                <a:ea typeface="Arial" pitchFamily="34" charset="-122"/>
                <a:cs typeface="Arial" pitchFamily="34" charset="-120"/>
              </a:rPr>
              <a:t> Bars with confidence intervals</a:t>
            </a:r>
            <a:endParaRPr lang="en-US" sz="1350" dirty="0" smtClean="0">
              <a:solidFill>
                <a:schemeClr val="tx1">
                  <a:lumMod val="85000"/>
                  <a:lumOff val="15000"/>
                </a:schemeClr>
              </a:solidFill>
            </a:endParaRPr>
          </a:p>
          <a:p>
            <a:pPr marL="133350" indent="-133350" algn="l">
              <a:lnSpc>
                <a:spcPts val="2025"/>
              </a:lnSpc>
              <a:spcAft>
                <a:spcPts val="600"/>
              </a:spcAft>
              <a:buSzPct val="100000"/>
              <a:buChar char="•"/>
            </a:pPr>
            <a:r>
              <a:rPr lang="en-US" sz="1350" b="1" dirty="0" smtClean="0">
                <a:solidFill>
                  <a:schemeClr val="tx1">
                    <a:lumMod val="85000"/>
                    <a:lumOff val="15000"/>
                  </a:schemeClr>
                </a:solidFill>
                <a:latin typeface="Arial" pitchFamily="34" charset="0"/>
                <a:ea typeface="Arial" pitchFamily="34" charset="-122"/>
                <a:cs typeface="Arial" pitchFamily="34" charset="-120"/>
              </a:rPr>
              <a:t>boxplot():</a:t>
            </a:r>
            <a:r>
              <a:rPr lang="en-US" sz="1350" dirty="0" smtClean="0">
                <a:solidFill>
                  <a:schemeClr val="tx1">
                    <a:lumMod val="85000"/>
                    <a:lumOff val="15000"/>
                  </a:schemeClr>
                </a:solidFill>
                <a:latin typeface="Arial" pitchFamily="34" charset="0"/>
                <a:ea typeface="Arial" pitchFamily="34" charset="-122"/>
                <a:cs typeface="Arial" pitchFamily="34" charset="-120"/>
              </a:rPr>
              <a:t> Enhanced box plots</a:t>
            </a:r>
            <a:endParaRPr lang="en-US" sz="1350" dirty="0" smtClean="0">
              <a:solidFill>
                <a:schemeClr val="tx1">
                  <a:lumMod val="85000"/>
                  <a:lumOff val="15000"/>
                </a:schemeClr>
              </a:solidFill>
            </a:endParaRPr>
          </a:p>
          <a:p>
            <a:pPr marL="133350" indent="-133350" algn="l">
              <a:lnSpc>
                <a:spcPts val="2025"/>
              </a:lnSpc>
              <a:spcAft>
                <a:spcPts val="600"/>
              </a:spcAft>
              <a:buSzPct val="100000"/>
              <a:buChar char="•"/>
            </a:pPr>
            <a:r>
              <a:rPr lang="en-US" sz="1350" b="1" dirty="0" err="1" smtClean="0">
                <a:solidFill>
                  <a:schemeClr val="tx1">
                    <a:lumMod val="85000"/>
                    <a:lumOff val="15000"/>
                  </a:schemeClr>
                </a:solidFill>
                <a:latin typeface="Arial" pitchFamily="34" charset="0"/>
                <a:ea typeface="Arial" pitchFamily="34" charset="-122"/>
                <a:cs typeface="Arial" pitchFamily="34" charset="-120"/>
              </a:rPr>
              <a:t>swarmplot</a:t>
            </a:r>
            <a:r>
              <a:rPr lang="en-US" sz="1350" b="1" dirty="0" smtClean="0">
                <a:solidFill>
                  <a:schemeClr val="tx1">
                    <a:lumMod val="85000"/>
                    <a:lumOff val="15000"/>
                  </a:schemeClr>
                </a:solidFill>
                <a:latin typeface="Arial" pitchFamily="34" charset="0"/>
                <a:ea typeface="Arial" pitchFamily="34" charset="-122"/>
                <a:cs typeface="Arial" pitchFamily="34" charset="-120"/>
              </a:rPr>
              <a:t>():</a:t>
            </a:r>
            <a:r>
              <a:rPr lang="en-US" sz="1350" dirty="0" smtClean="0">
                <a:solidFill>
                  <a:schemeClr val="tx1">
                    <a:lumMod val="85000"/>
                    <a:lumOff val="15000"/>
                  </a:schemeClr>
                </a:solidFill>
                <a:latin typeface="Arial" pitchFamily="34" charset="0"/>
                <a:ea typeface="Arial" pitchFamily="34" charset="-122"/>
                <a:cs typeface="Arial" pitchFamily="34" charset="-120"/>
              </a:rPr>
              <a:t> Show all data points</a:t>
            </a:r>
            <a:endParaRPr lang="en-US" sz="1350" dirty="0" smtClean="0">
              <a:solidFill>
                <a:schemeClr val="tx1">
                  <a:lumMod val="85000"/>
                  <a:lumOff val="15000"/>
                </a:schemeClr>
              </a:solidFill>
            </a:endParaRPr>
          </a:p>
          <a:p>
            <a:pPr marL="133350" indent="-133350" algn="l">
              <a:lnSpc>
                <a:spcPts val="2025"/>
              </a:lnSpc>
              <a:spcAft>
                <a:spcPts val="600"/>
              </a:spcAft>
              <a:buSzPct val="100000"/>
              <a:buChar char="•"/>
            </a:pPr>
            <a:r>
              <a:rPr lang="en-US" sz="1350" b="1" dirty="0" err="1" smtClean="0">
                <a:solidFill>
                  <a:schemeClr val="tx1">
                    <a:lumMod val="85000"/>
                    <a:lumOff val="15000"/>
                  </a:schemeClr>
                </a:solidFill>
                <a:latin typeface="Arial" pitchFamily="34" charset="0"/>
                <a:ea typeface="Arial" pitchFamily="34" charset="-122"/>
                <a:cs typeface="Arial" pitchFamily="34" charset="-120"/>
              </a:rPr>
              <a:t>catplot</a:t>
            </a:r>
            <a:r>
              <a:rPr lang="en-US" sz="1350" b="1" dirty="0" smtClean="0">
                <a:solidFill>
                  <a:schemeClr val="tx1">
                    <a:lumMod val="85000"/>
                    <a:lumOff val="15000"/>
                  </a:schemeClr>
                </a:solidFill>
                <a:latin typeface="Arial" pitchFamily="34" charset="0"/>
                <a:ea typeface="Arial" pitchFamily="34" charset="-122"/>
                <a:cs typeface="Arial" pitchFamily="34" charset="-120"/>
              </a:rPr>
              <a:t>():</a:t>
            </a:r>
            <a:r>
              <a:rPr lang="en-US" sz="1350" dirty="0" smtClean="0">
                <a:solidFill>
                  <a:schemeClr val="tx1">
                    <a:lumMod val="85000"/>
                    <a:lumOff val="15000"/>
                  </a:schemeClr>
                </a:solidFill>
                <a:latin typeface="Arial" pitchFamily="34" charset="0"/>
                <a:ea typeface="Arial" pitchFamily="34" charset="-122"/>
                <a:cs typeface="Arial" pitchFamily="34" charset="-120"/>
              </a:rPr>
              <a:t> Categorical plot interface</a:t>
            </a:r>
            <a:endParaRPr lang="en-US" sz="1350" dirty="0">
              <a:solidFill>
                <a:schemeClr val="tx1">
                  <a:lumMod val="85000"/>
                  <a:lumOff val="15000"/>
                </a:schemeClr>
              </a:solidFill>
            </a:endParaRPr>
          </a:p>
        </p:txBody>
      </p:sp>
      <p:sp>
        <p:nvSpPr>
          <p:cNvPr id="6" name="Rectangle 5"/>
          <p:cNvSpPr/>
          <p:nvPr/>
        </p:nvSpPr>
        <p:spPr>
          <a:xfrm>
            <a:off x="523875" y="820508"/>
            <a:ext cx="6096000" cy="3416320"/>
          </a:xfrm>
          <a:prstGeom prst="rect">
            <a:avLst/>
          </a:prstGeom>
        </p:spPr>
        <p:txBody>
          <a:bodyPr>
            <a:spAutoFit/>
          </a:bodyPr>
          <a:lstStyle/>
          <a:p>
            <a:r>
              <a:rPr lang="en-US" dirty="0"/>
              <a:t>• Used to visualize relationships between categorical and numerical variables</a:t>
            </a:r>
            <a:br>
              <a:rPr lang="en-US" dirty="0"/>
            </a:br>
            <a:r>
              <a:rPr lang="en-US" dirty="0"/>
              <a:t>• Common plot types: bar plot, box plot, violin plot, and count plot</a:t>
            </a:r>
            <a:br>
              <a:rPr lang="en-US" dirty="0"/>
            </a:br>
            <a:r>
              <a:rPr lang="en-US" dirty="0"/>
              <a:t>• Helps identify distributions, trends, and variations across categories</a:t>
            </a:r>
            <a:br>
              <a:rPr lang="en-US" dirty="0"/>
            </a:br>
            <a:r>
              <a:rPr lang="en-US" dirty="0"/>
              <a:t>• Supports grouping and comparison using hue, style, or order</a:t>
            </a:r>
            <a:br>
              <a:rPr lang="en-US" dirty="0"/>
            </a:br>
            <a:r>
              <a:rPr lang="en-US" dirty="0"/>
              <a:t>• Customizable with colors, labels, and orientations for clarity</a:t>
            </a:r>
            <a:br>
              <a:rPr lang="en-US" dirty="0"/>
            </a:br>
            <a:r>
              <a:rPr lang="en-US" dirty="0"/>
              <a:t>• Ideal for summarizing and comparing category-level insights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1008" y="1066463"/>
            <a:ext cx="4612987" cy="4415584"/>
          </a:xfrm>
          <a:prstGeom prst="rect">
            <a:avLst/>
          </a:prstGeom>
        </p:spPr>
      </p:pic>
    </p:spTree>
    <p:extLst>
      <p:ext uri="{BB962C8B-B14F-4D97-AF65-F5344CB8AC3E}">
        <p14:creationId xmlns:p14="http://schemas.microsoft.com/office/powerpoint/2010/main" val="3645979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642425" y="375578"/>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rgbClr val="F97316"/>
                </a:solidFill>
                <a:latin typeface="Segoe UI" pitchFamily="34" charset="0"/>
                <a:ea typeface="Segoe UI" pitchFamily="34" charset="-122"/>
                <a:cs typeface="Segoe UI" pitchFamily="34" charset="-120"/>
              </a:rPr>
              <a:t>Seaborn Pair Plots</a:t>
            </a:r>
            <a:endParaRPr lang="en-US" sz="2850" dirty="0"/>
          </a:p>
        </p:txBody>
      </p:sp>
      <p:sp>
        <p:nvSpPr>
          <p:cNvPr id="7" name="Rectangle 6"/>
          <p:cNvSpPr/>
          <p:nvPr/>
        </p:nvSpPr>
        <p:spPr>
          <a:xfrm>
            <a:off x="642425" y="1268497"/>
            <a:ext cx="6096000" cy="3139321"/>
          </a:xfrm>
          <a:prstGeom prst="rect">
            <a:avLst/>
          </a:prstGeom>
        </p:spPr>
        <p:txBody>
          <a:bodyPr>
            <a:spAutoFit/>
          </a:bodyPr>
          <a:lstStyle/>
          <a:p>
            <a:r>
              <a:rPr lang="en-US" dirty="0"/>
              <a:t>• Visualize pairwise relationships between multiple numerical variables in a dataset</a:t>
            </a:r>
            <a:br>
              <a:rPr lang="en-US" dirty="0"/>
            </a:br>
            <a:r>
              <a:rPr lang="en-US" dirty="0"/>
              <a:t>• Creates a matrix of scatter plots for each variable combination</a:t>
            </a:r>
            <a:br>
              <a:rPr lang="en-US" dirty="0"/>
            </a:br>
            <a:r>
              <a:rPr lang="en-US" dirty="0"/>
              <a:t>• Includes histograms or KDE plots along the diagonal for individual variable distributions</a:t>
            </a:r>
            <a:br>
              <a:rPr lang="en-US" dirty="0"/>
            </a:br>
            <a:r>
              <a:rPr lang="en-US" dirty="0"/>
              <a:t>• Useful for detecting correlations, trends, and clusters</a:t>
            </a:r>
            <a:br>
              <a:rPr lang="en-US" dirty="0"/>
            </a:br>
            <a:r>
              <a:rPr lang="en-US" dirty="0"/>
              <a:t>• Can differentiate groups using hue for categorical separation</a:t>
            </a:r>
            <a:br>
              <a:rPr lang="en-US" dirty="0"/>
            </a:br>
            <a:r>
              <a:rPr lang="en-US" dirty="0"/>
              <a:t>• Ideal for exploratory data analysis to quickly understand variable interactions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1541" y="1268497"/>
            <a:ext cx="4141763" cy="4141763"/>
          </a:xfrm>
          <a:prstGeom prst="rect">
            <a:avLst/>
          </a:prstGeom>
        </p:spPr>
      </p:pic>
    </p:spTree>
    <p:extLst>
      <p:ext uri="{BB962C8B-B14F-4D97-AF65-F5344CB8AC3E}">
        <p14:creationId xmlns:p14="http://schemas.microsoft.com/office/powerpoint/2010/main" val="1660362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294655" y="1934674"/>
            <a:ext cx="6242664" cy="495300"/>
          </a:xfrm>
          <a:prstGeom prst="rect">
            <a:avLst/>
          </a:prstGeom>
          <a:noFill/>
          <a:ln/>
        </p:spPr>
        <p:txBody>
          <a:bodyPr wrap="square" lIns="0" tIns="0" rIns="0" bIns="0" rtlCol="0" anchor="t"/>
          <a:lstStyle/>
          <a:p>
            <a:pPr marL="0" indent="0" algn="ctr">
              <a:lnSpc>
                <a:spcPts val="3900"/>
              </a:lnSpc>
              <a:spcAft>
                <a:spcPts val="1125"/>
              </a:spcAft>
              <a:buNone/>
            </a:pPr>
            <a:r>
              <a:rPr lang="en-US" sz="3900" b="1" dirty="0">
                <a:solidFill>
                  <a:schemeClr val="tx1">
                    <a:lumMod val="85000"/>
                    <a:lumOff val="15000"/>
                  </a:schemeClr>
                </a:solidFill>
                <a:latin typeface="Segoe UI" pitchFamily="34" charset="0"/>
                <a:ea typeface="Segoe UI" pitchFamily="34" charset="-122"/>
                <a:cs typeface="Segoe UI" pitchFamily="34" charset="-120"/>
              </a:rPr>
              <a:t>Exploratory Data Analysis</a:t>
            </a:r>
            <a:endParaRPr lang="en-US" sz="3900" dirty="0">
              <a:solidFill>
                <a:schemeClr val="tx1">
                  <a:lumMod val="85000"/>
                  <a:lumOff val="15000"/>
                </a:schemeClr>
              </a:solidFill>
            </a:endParaRPr>
          </a:p>
        </p:txBody>
      </p:sp>
      <p:sp>
        <p:nvSpPr>
          <p:cNvPr id="5" name="Text 1"/>
          <p:cNvSpPr/>
          <p:nvPr/>
        </p:nvSpPr>
        <p:spPr>
          <a:xfrm>
            <a:off x="3459299" y="2649049"/>
            <a:ext cx="3913525" cy="342900"/>
          </a:xfrm>
          <a:prstGeom prst="rect">
            <a:avLst/>
          </a:prstGeom>
          <a:noFill/>
          <a:ln/>
        </p:spPr>
        <p:txBody>
          <a:bodyPr wrap="square" lIns="0" tIns="0" rIns="0" bIns="0" rtlCol="0" anchor="t"/>
          <a:lstStyle/>
          <a:p>
            <a:pPr marL="0" indent="0" algn="ctr">
              <a:lnSpc>
                <a:spcPts val="2700"/>
              </a:lnSpc>
              <a:spcBef>
                <a:spcPts val="600"/>
              </a:spcBef>
              <a:spcAft>
                <a:spcPts val="600"/>
              </a:spcAft>
              <a:buNone/>
            </a:pPr>
            <a:r>
              <a:rPr lang="en-US" sz="1800" dirty="0">
                <a:solidFill>
                  <a:schemeClr val="tx1">
                    <a:lumMod val="85000"/>
                    <a:lumOff val="15000"/>
                  </a:schemeClr>
                </a:solidFill>
                <a:latin typeface="Arial" pitchFamily="34" charset="0"/>
                <a:ea typeface="Arial" pitchFamily="34" charset="-122"/>
                <a:cs typeface="Arial" pitchFamily="34" charset="-120"/>
              </a:rPr>
              <a:t>Systematic Discovery of Data Insights</a:t>
            </a:r>
            <a:endParaRPr lang="en-US" sz="1800" dirty="0">
              <a:solidFill>
                <a:schemeClr val="tx1">
                  <a:lumMod val="85000"/>
                  <a:lumOff val="15000"/>
                </a:schemeClr>
              </a:solidFill>
            </a:endParaRPr>
          </a:p>
        </p:txBody>
      </p:sp>
    </p:spTree>
    <p:extLst>
      <p:ext uri="{BB962C8B-B14F-4D97-AF65-F5344CB8AC3E}">
        <p14:creationId xmlns:p14="http://schemas.microsoft.com/office/powerpoint/2010/main" val="3558213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777093" y="403714"/>
            <a:ext cx="6208205"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What is Exploratory Data Analysis?</a:t>
            </a:r>
            <a:endParaRPr lang="en-US" sz="2850" dirty="0">
              <a:solidFill>
                <a:schemeClr val="tx1">
                  <a:lumMod val="85000"/>
                  <a:lumOff val="15000"/>
                </a:schemeClr>
              </a:solidFill>
            </a:endParaRPr>
          </a:p>
        </p:txBody>
      </p:sp>
      <p:sp>
        <p:nvSpPr>
          <p:cNvPr id="9" name="Rectangle 8"/>
          <p:cNvSpPr/>
          <p:nvPr/>
        </p:nvSpPr>
        <p:spPr>
          <a:xfrm>
            <a:off x="889298" y="1344193"/>
            <a:ext cx="4822186" cy="2585323"/>
          </a:xfrm>
          <a:prstGeom prst="rect">
            <a:avLst/>
          </a:prstGeom>
        </p:spPr>
        <p:txBody>
          <a:bodyPr wrap="square">
            <a:spAutoFit/>
          </a:bodyPr>
          <a:lstStyle/>
          <a:p>
            <a:r>
              <a:rPr lang="en-US" dirty="0"/>
              <a:t>Exploratory Data Analysis (EDA) is the process of examining and understanding a dataset before applying models. It involves summarizing data using statistics, visualizing distributions, and identifying patterns, trends, or anomalies. EDA helps detect missing values, outliers, and correlations, providing insights that guide feature selection, data cleaning, and modeling decisions.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2727" y="1344193"/>
            <a:ext cx="6123485" cy="3509161"/>
          </a:xfrm>
          <a:prstGeom prst="rect">
            <a:avLst/>
          </a:prstGeom>
        </p:spPr>
      </p:pic>
    </p:spTree>
    <p:extLst>
      <p:ext uri="{BB962C8B-B14F-4D97-AF65-F5344CB8AC3E}">
        <p14:creationId xmlns:p14="http://schemas.microsoft.com/office/powerpoint/2010/main" val="3041641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The EDA Mindset</a:t>
            </a:r>
            <a:endParaRPr lang="en-US" sz="2850" dirty="0">
              <a:solidFill>
                <a:schemeClr val="tx1">
                  <a:lumMod val="85000"/>
                  <a:lumOff val="15000"/>
                </a:schemeClr>
              </a:solidFill>
            </a:endParaRPr>
          </a:p>
        </p:txBody>
      </p:sp>
      <p:sp>
        <p:nvSpPr>
          <p:cNvPr id="5" name="Text 1"/>
          <p:cNvSpPr/>
          <p:nvPr/>
        </p:nvSpPr>
        <p:spPr>
          <a:xfrm>
            <a:off x="523875" y="990600"/>
            <a:ext cx="8258175"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b="1" dirty="0">
                <a:solidFill>
                  <a:schemeClr val="tx1">
                    <a:lumMod val="85000"/>
                    <a:lumOff val="15000"/>
                  </a:schemeClr>
                </a:solidFill>
                <a:latin typeface="Arial" pitchFamily="34" charset="0"/>
                <a:ea typeface="Arial" pitchFamily="34" charset="-122"/>
                <a:cs typeface="Arial" pitchFamily="34" charset="-120"/>
              </a:rPr>
              <a:t>Key Questions to Ask:</a:t>
            </a:r>
            <a:endParaRPr lang="en-US" sz="1350" dirty="0">
              <a:solidFill>
                <a:schemeClr val="tx1">
                  <a:lumMod val="85000"/>
                  <a:lumOff val="15000"/>
                </a:schemeClr>
              </a:solidFill>
            </a:endParaRPr>
          </a:p>
        </p:txBody>
      </p:sp>
      <p:sp>
        <p:nvSpPr>
          <p:cNvPr id="6" name="Text 2"/>
          <p:cNvSpPr/>
          <p:nvPr/>
        </p:nvSpPr>
        <p:spPr>
          <a:xfrm>
            <a:off x="523875" y="1419225"/>
            <a:ext cx="8096250" cy="264795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What does my data actually contain?</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What are the data types and ranges?</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Are there missing values or errors?</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What patterns and relationships exist?</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What outliers or anomalies are present?</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What story does this data tell?</a:t>
            </a:r>
            <a:endParaRPr lang="en-US" sz="1350" dirty="0">
              <a:solidFill>
                <a:schemeClr val="tx1">
                  <a:lumMod val="85000"/>
                  <a:lumOff val="15000"/>
                </a:schemeClr>
              </a:solidFill>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06378" y="695325"/>
            <a:ext cx="4092562" cy="3650566"/>
          </a:xfrm>
          <a:prstGeom prst="rect">
            <a:avLst/>
          </a:prstGeom>
        </p:spPr>
      </p:pic>
    </p:spTree>
    <p:extLst>
      <p:ext uri="{BB962C8B-B14F-4D97-AF65-F5344CB8AC3E}">
        <p14:creationId xmlns:p14="http://schemas.microsoft.com/office/powerpoint/2010/main" val="4289011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5100638"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EDA Methodology - 4 Phases</a:t>
            </a:r>
            <a:endParaRPr lang="en-US" sz="2850" dirty="0">
              <a:solidFill>
                <a:schemeClr val="tx1">
                  <a:lumMod val="85000"/>
                  <a:lumOff val="15000"/>
                </a:schemeClr>
              </a:solidFill>
            </a:endParaRPr>
          </a:p>
        </p:txBody>
      </p:sp>
      <p:pic>
        <p:nvPicPr>
          <p:cNvPr id="5" name="Image 0" descr="/tmp/rasterized-svg-ca7d9f76.png"/>
          <p:cNvPicPr>
            <a:picLocks noChangeAspect="1"/>
          </p:cNvPicPr>
          <p:nvPr/>
        </p:nvPicPr>
        <p:blipFill>
          <a:blip r:embed="rId2"/>
          <a:stretch>
            <a:fillRect/>
          </a:stretch>
        </p:blipFill>
        <p:spPr>
          <a:xfrm>
            <a:off x="5624513" y="1409700"/>
            <a:ext cx="6174398" cy="1714500"/>
          </a:xfrm>
          <a:prstGeom prst="rect">
            <a:avLst/>
          </a:prstGeom>
        </p:spPr>
      </p:pic>
      <p:sp>
        <p:nvSpPr>
          <p:cNvPr id="6" name="Text 1"/>
          <p:cNvSpPr/>
          <p:nvPr/>
        </p:nvSpPr>
        <p:spPr>
          <a:xfrm>
            <a:off x="4699928" y="3124200"/>
            <a:ext cx="8258175" cy="257175"/>
          </a:xfrm>
          <a:prstGeom prst="rect">
            <a:avLst/>
          </a:prstGeom>
          <a:noFill/>
          <a:ln/>
        </p:spPr>
        <p:txBody>
          <a:bodyPr wrap="square" lIns="0" tIns="0" rIns="0" bIns="0" rtlCol="0" anchor="t"/>
          <a:lstStyle/>
          <a:p>
            <a:pPr marL="0" indent="0" algn="ctr">
              <a:lnSpc>
                <a:spcPts val="2025"/>
              </a:lnSpc>
              <a:spcBef>
                <a:spcPts val="450"/>
              </a:spcBef>
              <a:spcAft>
                <a:spcPts val="450"/>
              </a:spcAft>
              <a:buNone/>
            </a:pPr>
            <a:r>
              <a:rPr lang="en-US" sz="1350" b="1" dirty="0">
                <a:solidFill>
                  <a:srgbClr val="F97316"/>
                </a:solidFill>
                <a:latin typeface="Arial" pitchFamily="34" charset="0"/>
                <a:ea typeface="Arial" pitchFamily="34" charset="-122"/>
                <a:cs typeface="Arial" pitchFamily="34" charset="-120"/>
              </a:rPr>
              <a:t>Iterative process - cycle as needed</a:t>
            </a:r>
            <a:endParaRPr lang="en-US" sz="1350" dirty="0"/>
          </a:p>
        </p:txBody>
      </p:sp>
      <p:sp>
        <p:nvSpPr>
          <p:cNvPr id="7" name="Rectangle 6"/>
          <p:cNvSpPr/>
          <p:nvPr/>
        </p:nvSpPr>
        <p:spPr>
          <a:xfrm>
            <a:off x="523875" y="1110175"/>
            <a:ext cx="5342353" cy="4524315"/>
          </a:xfrm>
          <a:prstGeom prst="rect">
            <a:avLst/>
          </a:prstGeom>
        </p:spPr>
        <p:txBody>
          <a:bodyPr wrap="square">
            <a:spAutoFit/>
          </a:bodyPr>
          <a:lstStyle/>
          <a:p>
            <a:r>
              <a:rPr lang="en-US" b="1" dirty="0"/>
              <a:t>1. Understanding</a:t>
            </a:r>
            <a:r>
              <a:rPr lang="en-US" dirty="0"/>
              <a:t/>
            </a:r>
            <a:br>
              <a:rPr lang="en-US" dirty="0"/>
            </a:br>
            <a:r>
              <a:rPr lang="en-US" dirty="0"/>
              <a:t>• Inspect dataset structure, size, and variables</a:t>
            </a:r>
            <a:br>
              <a:rPr lang="en-US" dirty="0"/>
            </a:br>
            <a:r>
              <a:rPr lang="en-US" dirty="0"/>
              <a:t>• Review data types and basic summary information</a:t>
            </a:r>
          </a:p>
          <a:p>
            <a:r>
              <a:rPr lang="en-US" b="1" dirty="0"/>
              <a:t>2. Cleaning</a:t>
            </a:r>
            <a:r>
              <a:rPr lang="en-US" dirty="0"/>
              <a:t/>
            </a:r>
            <a:br>
              <a:rPr lang="en-US" dirty="0"/>
            </a:br>
            <a:r>
              <a:rPr lang="en-US" dirty="0"/>
              <a:t>• Handle missing values and duplicates</a:t>
            </a:r>
            <a:br>
              <a:rPr lang="en-US" dirty="0"/>
            </a:br>
            <a:r>
              <a:rPr lang="en-US" dirty="0"/>
              <a:t>• Correct data types and formatting issues</a:t>
            </a:r>
            <a:br>
              <a:rPr lang="en-US" dirty="0"/>
            </a:br>
            <a:r>
              <a:rPr lang="en-US" dirty="0"/>
              <a:t>• Identify and treat outliers</a:t>
            </a:r>
          </a:p>
          <a:p>
            <a:r>
              <a:rPr lang="en-US" b="1" dirty="0"/>
              <a:t>3. Analysis</a:t>
            </a:r>
            <a:r>
              <a:rPr lang="en-US" dirty="0"/>
              <a:t/>
            </a:r>
            <a:br>
              <a:rPr lang="en-US" dirty="0"/>
            </a:br>
            <a:r>
              <a:rPr lang="en-US" dirty="0"/>
              <a:t>• Generate summary statistics</a:t>
            </a:r>
            <a:br>
              <a:rPr lang="en-US" dirty="0"/>
            </a:br>
            <a:r>
              <a:rPr lang="en-US" dirty="0"/>
              <a:t>• Explore distributions and variable relationships</a:t>
            </a:r>
            <a:br>
              <a:rPr lang="en-US" dirty="0"/>
            </a:br>
            <a:r>
              <a:rPr lang="en-US" dirty="0"/>
              <a:t>• Identify trends and correlations</a:t>
            </a:r>
          </a:p>
          <a:p>
            <a:r>
              <a:rPr lang="en-US" b="1" dirty="0"/>
              <a:t>4. Visualization</a:t>
            </a:r>
            <a:r>
              <a:rPr lang="en-US" dirty="0"/>
              <a:t/>
            </a:r>
            <a:br>
              <a:rPr lang="en-US" dirty="0"/>
            </a:br>
            <a:r>
              <a:rPr lang="en-US" dirty="0"/>
              <a:t>• Use plots to communicate patterns and insights</a:t>
            </a:r>
            <a:br>
              <a:rPr lang="en-US" dirty="0"/>
            </a:br>
            <a:r>
              <a:rPr lang="en-US" dirty="0"/>
              <a:t>• Validate findings through visual exploration</a:t>
            </a:r>
            <a:br>
              <a:rPr lang="en-US" dirty="0"/>
            </a:br>
            <a:r>
              <a:rPr lang="en-US" dirty="0"/>
              <a:t>• Support interpretation and decision-making</a:t>
            </a:r>
          </a:p>
        </p:txBody>
      </p:sp>
    </p:spTree>
    <p:extLst>
      <p:ext uri="{BB962C8B-B14F-4D97-AF65-F5344CB8AC3E}">
        <p14:creationId xmlns:p14="http://schemas.microsoft.com/office/powerpoint/2010/main" val="3942874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5314379"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Summary Statistics Deep Dive</a:t>
            </a:r>
            <a:endParaRPr lang="en-US" sz="2850" dirty="0">
              <a:solidFill>
                <a:schemeClr val="tx1">
                  <a:lumMod val="85000"/>
                  <a:lumOff val="15000"/>
                </a:schemeClr>
              </a:solidFill>
            </a:endParaRPr>
          </a:p>
        </p:txBody>
      </p:sp>
      <p:sp>
        <p:nvSpPr>
          <p:cNvPr id="7" name="Rectangle 6"/>
          <p:cNvSpPr/>
          <p:nvPr/>
        </p:nvSpPr>
        <p:spPr>
          <a:xfrm>
            <a:off x="523875" y="1199124"/>
            <a:ext cx="6096000" cy="2585323"/>
          </a:xfrm>
          <a:prstGeom prst="rect">
            <a:avLst/>
          </a:prstGeom>
        </p:spPr>
        <p:txBody>
          <a:bodyPr>
            <a:spAutoFit/>
          </a:bodyPr>
          <a:lstStyle/>
          <a:p>
            <a:r>
              <a:rPr lang="en-US" dirty="0"/>
              <a:t>• Describe the central tendency of data: mean, median, mode</a:t>
            </a:r>
            <a:br>
              <a:rPr lang="en-US" dirty="0"/>
            </a:br>
            <a:r>
              <a:rPr lang="en-US" dirty="0"/>
              <a:t>• Measure variability and spread: range, variance, standard deviation, IQR</a:t>
            </a:r>
            <a:br>
              <a:rPr lang="en-US" dirty="0"/>
            </a:br>
            <a:r>
              <a:rPr lang="en-US" dirty="0"/>
              <a:t>• Identify distribution shape: skewness and symmetry</a:t>
            </a:r>
            <a:br>
              <a:rPr lang="en-US" dirty="0"/>
            </a:br>
            <a:r>
              <a:rPr lang="en-US" dirty="0"/>
              <a:t>• Provide a quick overview of data behavior and scale</a:t>
            </a:r>
            <a:br>
              <a:rPr lang="en-US" dirty="0"/>
            </a:br>
            <a:r>
              <a:rPr lang="en-US" dirty="0"/>
              <a:t>• Support early detection of outliers and data quality issues</a:t>
            </a:r>
            <a:br>
              <a:rPr lang="en-US" dirty="0"/>
            </a:br>
            <a:r>
              <a:rPr lang="en-US" dirty="0"/>
              <a:t>• Guide feature selection and further analysis decisions</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9339" y="1199124"/>
            <a:ext cx="3952875" cy="3952875"/>
          </a:xfrm>
          <a:prstGeom prst="rect">
            <a:avLst/>
          </a:prstGeom>
        </p:spPr>
      </p:pic>
    </p:spTree>
    <p:extLst>
      <p:ext uri="{BB962C8B-B14F-4D97-AF65-F5344CB8AC3E}">
        <p14:creationId xmlns:p14="http://schemas.microsoft.com/office/powerpoint/2010/main" val="2205583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Distribution Analysis</a:t>
            </a:r>
            <a:endParaRPr lang="en-US" sz="2850" dirty="0">
              <a:solidFill>
                <a:schemeClr val="tx1">
                  <a:lumMod val="85000"/>
                  <a:lumOff val="15000"/>
                </a:schemeClr>
              </a:solidFill>
            </a:endParaRPr>
          </a:p>
        </p:txBody>
      </p:sp>
      <p:sp>
        <p:nvSpPr>
          <p:cNvPr id="7" name="Rectangle 6"/>
          <p:cNvSpPr/>
          <p:nvPr/>
        </p:nvSpPr>
        <p:spPr>
          <a:xfrm>
            <a:off x="523875" y="1472394"/>
            <a:ext cx="4723374" cy="3139321"/>
          </a:xfrm>
          <a:prstGeom prst="rect">
            <a:avLst/>
          </a:prstGeom>
        </p:spPr>
        <p:txBody>
          <a:bodyPr wrap="square">
            <a:spAutoFit/>
          </a:bodyPr>
          <a:lstStyle/>
          <a:p>
            <a:r>
              <a:rPr lang="en-US" dirty="0"/>
              <a:t>• Examine how values are spread across a variable</a:t>
            </a:r>
            <a:br>
              <a:rPr lang="en-US" dirty="0"/>
            </a:br>
            <a:r>
              <a:rPr lang="en-US" dirty="0"/>
              <a:t>• Identify distribution shape: normal, skewed, or multimodal</a:t>
            </a:r>
            <a:br>
              <a:rPr lang="en-US" dirty="0"/>
            </a:br>
            <a:r>
              <a:rPr lang="en-US" dirty="0"/>
              <a:t>• Detect outliers and unusual patterns</a:t>
            </a:r>
            <a:br>
              <a:rPr lang="en-US" dirty="0"/>
            </a:br>
            <a:r>
              <a:rPr lang="en-US" dirty="0"/>
              <a:t>• Use visual tools such as histograms, KDE plots, and box plots</a:t>
            </a:r>
            <a:br>
              <a:rPr lang="en-US" dirty="0"/>
            </a:br>
            <a:r>
              <a:rPr lang="en-US" dirty="0"/>
              <a:t>• Compare distributions across groups or categories</a:t>
            </a:r>
            <a:br>
              <a:rPr lang="en-US" dirty="0"/>
            </a:br>
            <a:r>
              <a:rPr lang="en-US" dirty="0"/>
              <a:t>• Inform data transformations and modeling choices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7249" y="1210079"/>
            <a:ext cx="6502400" cy="3663950"/>
          </a:xfrm>
          <a:prstGeom prst="rect">
            <a:avLst/>
          </a:prstGeom>
        </p:spPr>
      </p:pic>
    </p:spTree>
    <p:extLst>
      <p:ext uri="{BB962C8B-B14F-4D97-AF65-F5344CB8AC3E}">
        <p14:creationId xmlns:p14="http://schemas.microsoft.com/office/powerpoint/2010/main" val="170664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7507" y="1994487"/>
            <a:ext cx="9247163" cy="646331"/>
          </a:xfrm>
          <a:prstGeom prst="rect">
            <a:avLst/>
          </a:prstGeom>
        </p:spPr>
        <p:txBody>
          <a:bodyPr wrap="square">
            <a:spAutoFit/>
          </a:bodyPr>
          <a:lstStyle/>
          <a:p>
            <a:pPr algn="ctr"/>
            <a:r>
              <a:rPr lang="en-US" sz="3600" b="1" dirty="0" smtClean="0">
                <a:solidFill>
                  <a:schemeClr val="tx1">
                    <a:lumMod val="85000"/>
                    <a:lumOff val="15000"/>
                  </a:schemeClr>
                </a:solidFill>
                <a:latin typeface="Cinzel-Bold"/>
              </a:rPr>
              <a:t>Correlation Analysis</a:t>
            </a:r>
            <a:endParaRPr lang="en-US" sz="3600" dirty="0">
              <a:solidFill>
                <a:schemeClr val="tx1">
                  <a:lumMod val="85000"/>
                  <a:lumOff val="15000"/>
                </a:schemeClr>
              </a:solidFill>
            </a:endParaRPr>
          </a:p>
        </p:txBody>
      </p:sp>
    </p:spTree>
    <p:extLst>
      <p:ext uri="{BB962C8B-B14F-4D97-AF65-F5344CB8AC3E}">
        <p14:creationId xmlns:p14="http://schemas.microsoft.com/office/powerpoint/2010/main" val="3746224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387" y="545807"/>
            <a:ext cx="7335835" cy="1268984"/>
          </a:xfrm>
        </p:spPr>
        <p:txBody>
          <a:bodyPr>
            <a:normAutofit fontScale="90000"/>
          </a:bodyPr>
          <a:lstStyle/>
          <a:p>
            <a:r>
              <a:rPr lang="en-US" dirty="0">
                <a:solidFill>
                  <a:schemeClr val="tx1">
                    <a:lumMod val="85000"/>
                    <a:lumOff val="15000"/>
                  </a:schemeClr>
                </a:solidFill>
                <a:latin typeface="Cinzel-Bold"/>
              </a:rPr>
              <a:t>Introduction to </a:t>
            </a:r>
            <a:r>
              <a:rPr lang="en-US" dirty="0">
                <a:solidFill>
                  <a:schemeClr val="tx1">
                    <a:lumMod val="85000"/>
                    <a:lumOff val="15000"/>
                  </a:schemeClr>
                </a:solidFill>
              </a:rPr>
              <a:t/>
            </a:r>
            <a:br>
              <a:rPr lang="en-US" dirty="0">
                <a:solidFill>
                  <a:schemeClr val="tx1">
                    <a:lumMod val="85000"/>
                    <a:lumOff val="15000"/>
                  </a:schemeClr>
                </a:solidFill>
              </a:rPr>
            </a:br>
            <a:r>
              <a:rPr lang="en-US" dirty="0">
                <a:solidFill>
                  <a:schemeClr val="tx1">
                    <a:lumMod val="85000"/>
                    <a:lumOff val="15000"/>
                  </a:schemeClr>
                </a:solidFill>
                <a:latin typeface="Cinzel-Bold"/>
              </a:rPr>
              <a:t>Correlation Analysis</a:t>
            </a:r>
            <a:endParaRPr lang="en-US" dirty="0">
              <a:solidFill>
                <a:schemeClr val="tx1">
                  <a:lumMod val="85000"/>
                  <a:lumOff val="15000"/>
                </a:schemeClr>
              </a:solidFill>
            </a:endParaRPr>
          </a:p>
        </p:txBody>
      </p:sp>
      <p:sp>
        <p:nvSpPr>
          <p:cNvPr id="4" name="Rectangle 3"/>
          <p:cNvSpPr/>
          <p:nvPr/>
        </p:nvSpPr>
        <p:spPr>
          <a:xfrm>
            <a:off x="1050387" y="2227277"/>
            <a:ext cx="6096000" cy="3416320"/>
          </a:xfrm>
          <a:prstGeom prst="rect">
            <a:avLst/>
          </a:prstGeom>
        </p:spPr>
        <p:txBody>
          <a:bodyPr>
            <a:spAutoFit/>
          </a:bodyPr>
          <a:lstStyle/>
          <a:p>
            <a:r>
              <a:rPr lang="en-US" dirty="0">
                <a:solidFill>
                  <a:schemeClr val="tx1">
                    <a:lumMod val="85000"/>
                    <a:lumOff val="15000"/>
                  </a:schemeClr>
                </a:solidFill>
                <a:latin typeface="Manrope"/>
              </a:rPr>
              <a:t>Correlation quantifies the strength and direction of a </a:t>
            </a:r>
            <a:endParaRPr lang="en-US" dirty="0">
              <a:solidFill>
                <a:schemeClr val="tx1">
                  <a:lumMod val="85000"/>
                  <a:lumOff val="15000"/>
                </a:schemeClr>
              </a:solidFill>
            </a:endParaRPr>
          </a:p>
          <a:p>
            <a:r>
              <a:rPr lang="en-US" dirty="0">
                <a:solidFill>
                  <a:schemeClr val="tx1">
                    <a:lumMod val="85000"/>
                    <a:lumOff val="15000"/>
                  </a:schemeClr>
                </a:solidFill>
                <a:latin typeface="Manrope"/>
              </a:rPr>
              <a:t>relationship between two variables. Things to note </a:t>
            </a:r>
            <a:endParaRPr lang="en-US" dirty="0">
              <a:solidFill>
                <a:schemeClr val="tx1">
                  <a:lumMod val="85000"/>
                  <a:lumOff val="15000"/>
                </a:schemeClr>
              </a:solidFill>
            </a:endParaRPr>
          </a:p>
          <a:p>
            <a:r>
              <a:rPr lang="en-US" dirty="0">
                <a:solidFill>
                  <a:schemeClr val="tx1">
                    <a:lumMod val="85000"/>
                    <a:lumOff val="15000"/>
                  </a:schemeClr>
                </a:solidFill>
                <a:latin typeface="Manrope"/>
              </a:rPr>
              <a:t>about correlation: </a:t>
            </a:r>
            <a:endParaRPr lang="en-US" dirty="0">
              <a:solidFill>
                <a:schemeClr val="tx1">
                  <a:lumMod val="85000"/>
                  <a:lumOff val="15000"/>
                </a:schemeClr>
              </a:solidFill>
            </a:endParaRPr>
          </a:p>
          <a:p>
            <a:r>
              <a:rPr lang="en-US" dirty="0">
                <a:solidFill>
                  <a:schemeClr val="tx1">
                    <a:lumMod val="85000"/>
                    <a:lumOff val="15000"/>
                  </a:schemeClr>
                </a:solidFill>
                <a:latin typeface="Arial" panose="020B0604020202020204" pitchFamily="34" charset="0"/>
              </a:rPr>
              <a:t>● </a:t>
            </a:r>
            <a:endParaRPr lang="en-US" dirty="0">
              <a:solidFill>
                <a:schemeClr val="tx1">
                  <a:lumMod val="85000"/>
                  <a:lumOff val="15000"/>
                </a:schemeClr>
              </a:solidFill>
            </a:endParaRPr>
          </a:p>
          <a:p>
            <a:r>
              <a:rPr lang="en-US" dirty="0">
                <a:solidFill>
                  <a:schemeClr val="tx1">
                    <a:lumMod val="85000"/>
                    <a:lumOff val="15000"/>
                  </a:schemeClr>
                </a:solidFill>
                <a:latin typeface="Manrope"/>
              </a:rPr>
              <a:t>Range: -1 ≤ r ≤ 1 </a:t>
            </a:r>
            <a:endParaRPr lang="en-US" dirty="0">
              <a:solidFill>
                <a:schemeClr val="tx1">
                  <a:lumMod val="85000"/>
                  <a:lumOff val="15000"/>
                </a:schemeClr>
              </a:solidFill>
            </a:endParaRPr>
          </a:p>
          <a:p>
            <a:r>
              <a:rPr lang="en-US" dirty="0">
                <a:solidFill>
                  <a:schemeClr val="tx1">
                    <a:lumMod val="85000"/>
                    <a:lumOff val="15000"/>
                  </a:schemeClr>
                </a:solidFill>
                <a:latin typeface="Arial" panose="020B0604020202020204" pitchFamily="34" charset="0"/>
              </a:rPr>
              <a:t>● </a:t>
            </a:r>
            <a:endParaRPr lang="en-US" dirty="0">
              <a:solidFill>
                <a:schemeClr val="tx1">
                  <a:lumMod val="85000"/>
                  <a:lumOff val="15000"/>
                </a:schemeClr>
              </a:solidFill>
            </a:endParaRPr>
          </a:p>
          <a:p>
            <a:r>
              <a:rPr lang="en-US" dirty="0">
                <a:solidFill>
                  <a:schemeClr val="tx1">
                    <a:lumMod val="85000"/>
                    <a:lumOff val="15000"/>
                  </a:schemeClr>
                </a:solidFill>
                <a:latin typeface="Manrope"/>
              </a:rPr>
              <a:t>Positive (r &gt; 0): Variables increase together. </a:t>
            </a:r>
            <a:endParaRPr lang="en-US" dirty="0">
              <a:solidFill>
                <a:schemeClr val="tx1">
                  <a:lumMod val="85000"/>
                  <a:lumOff val="15000"/>
                </a:schemeClr>
              </a:solidFill>
            </a:endParaRPr>
          </a:p>
          <a:p>
            <a:r>
              <a:rPr lang="en-US" dirty="0">
                <a:solidFill>
                  <a:schemeClr val="tx1">
                    <a:lumMod val="85000"/>
                    <a:lumOff val="15000"/>
                  </a:schemeClr>
                </a:solidFill>
                <a:latin typeface="Arial" panose="020B0604020202020204" pitchFamily="34" charset="0"/>
              </a:rPr>
              <a:t>● </a:t>
            </a:r>
            <a:endParaRPr lang="en-US" dirty="0">
              <a:solidFill>
                <a:schemeClr val="tx1">
                  <a:lumMod val="85000"/>
                  <a:lumOff val="15000"/>
                </a:schemeClr>
              </a:solidFill>
            </a:endParaRPr>
          </a:p>
          <a:p>
            <a:r>
              <a:rPr lang="en-US" dirty="0">
                <a:solidFill>
                  <a:schemeClr val="tx1">
                    <a:lumMod val="85000"/>
                    <a:lumOff val="15000"/>
                  </a:schemeClr>
                </a:solidFill>
                <a:latin typeface="Manrope"/>
              </a:rPr>
              <a:t>Negative (r &lt; 0): One increases, the other </a:t>
            </a:r>
            <a:endParaRPr lang="en-US" dirty="0">
              <a:solidFill>
                <a:schemeClr val="tx1">
                  <a:lumMod val="85000"/>
                  <a:lumOff val="15000"/>
                </a:schemeClr>
              </a:solidFill>
            </a:endParaRPr>
          </a:p>
          <a:p>
            <a:r>
              <a:rPr lang="en-US" dirty="0">
                <a:solidFill>
                  <a:schemeClr val="tx1">
                    <a:lumMod val="85000"/>
                    <a:lumOff val="15000"/>
                  </a:schemeClr>
                </a:solidFill>
                <a:latin typeface="Manrope"/>
              </a:rPr>
              <a:t>decreases. </a:t>
            </a:r>
            <a:endParaRPr lang="en-US" dirty="0">
              <a:solidFill>
                <a:schemeClr val="tx1">
                  <a:lumMod val="85000"/>
                  <a:lumOff val="15000"/>
                </a:schemeClr>
              </a:solidFill>
            </a:endParaRPr>
          </a:p>
          <a:p>
            <a:r>
              <a:rPr lang="en-US" dirty="0">
                <a:solidFill>
                  <a:schemeClr val="tx1">
                    <a:lumMod val="85000"/>
                    <a:lumOff val="15000"/>
                  </a:schemeClr>
                </a:solidFill>
                <a:latin typeface="Arial" panose="020B0604020202020204" pitchFamily="34" charset="0"/>
              </a:rPr>
              <a:t>● </a:t>
            </a:r>
            <a:endParaRPr lang="en-US" dirty="0">
              <a:solidFill>
                <a:schemeClr val="tx1">
                  <a:lumMod val="85000"/>
                  <a:lumOff val="15000"/>
                </a:schemeClr>
              </a:solidFill>
            </a:endParaRPr>
          </a:p>
          <a:p>
            <a:r>
              <a:rPr lang="en-US" dirty="0">
                <a:solidFill>
                  <a:schemeClr val="tx1">
                    <a:lumMod val="85000"/>
                    <a:lumOff val="15000"/>
                  </a:schemeClr>
                </a:solidFill>
                <a:latin typeface="Manrope"/>
              </a:rPr>
              <a:t>Zero (r ≈ 0): No linear </a:t>
            </a:r>
            <a:r>
              <a:rPr lang="en-US" dirty="0" smtClean="0">
                <a:solidFill>
                  <a:schemeClr val="tx1">
                    <a:lumMod val="85000"/>
                    <a:lumOff val="15000"/>
                  </a:schemeClr>
                </a:solidFill>
                <a:latin typeface="Manrope"/>
              </a:rPr>
              <a:t>relationship</a:t>
            </a:r>
            <a:endParaRPr lang="en-US" dirty="0">
              <a:solidFill>
                <a:schemeClr val="tx1">
                  <a:lumMod val="85000"/>
                  <a:lumOff val="15000"/>
                </a:schemeClr>
              </a:solidFill>
            </a:endParaRPr>
          </a:p>
        </p:txBody>
      </p:sp>
    </p:spTree>
    <p:extLst>
      <p:ext uri="{BB962C8B-B14F-4D97-AF65-F5344CB8AC3E}">
        <p14:creationId xmlns:p14="http://schemas.microsoft.com/office/powerpoint/2010/main" val="4267105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Pearson’s Correlation </a:t>
            </a:r>
            <a:br>
              <a:rPr lang="en-US" dirty="0"/>
            </a:br>
            <a:r>
              <a:rPr lang="en-US" dirty="0"/>
              <a:t>Coefficient</a:t>
            </a:r>
          </a:p>
        </p:txBody>
      </p:sp>
      <p:sp>
        <p:nvSpPr>
          <p:cNvPr id="3" name="Content Placeholder 2"/>
          <p:cNvSpPr>
            <a:spLocks noGrp="1"/>
          </p:cNvSpPr>
          <p:nvPr>
            <p:ph idx="1"/>
          </p:nvPr>
        </p:nvSpPr>
        <p:spPr/>
        <p:txBody>
          <a:bodyPr/>
          <a:lstStyle/>
          <a:p>
            <a:r>
              <a:rPr lang="en-US" dirty="0" smtClean="0"/>
              <a:t>Pearson’s </a:t>
            </a:r>
            <a:r>
              <a:rPr lang="en-US" dirty="0"/>
              <a:t>correlation </a:t>
            </a:r>
            <a:r>
              <a:rPr lang="en-US" dirty="0" smtClean="0"/>
              <a:t>coefficient </a:t>
            </a:r>
            <a:r>
              <a:rPr lang="en-US" dirty="0"/>
              <a:t>(r), or the Pearson </a:t>
            </a:r>
          </a:p>
          <a:p>
            <a:r>
              <a:rPr lang="en-US" dirty="0"/>
              <a:t>R test, is a statistical measure that quantifies the </a:t>
            </a:r>
          </a:p>
          <a:p>
            <a:pPr marL="0" indent="0">
              <a:buNone/>
            </a:pPr>
            <a:r>
              <a:rPr lang="en-US" dirty="0"/>
              <a:t>strength and direction of a linear relationship </a:t>
            </a:r>
          </a:p>
          <a:p>
            <a:r>
              <a:rPr lang="en-US" dirty="0"/>
              <a:t>between two continuous variables. </a:t>
            </a:r>
          </a:p>
          <a:p>
            <a:r>
              <a:rPr lang="en-US" dirty="0"/>
              <a:t>Example: Server uptime vs customer satisfaction → </a:t>
            </a:r>
          </a:p>
          <a:p>
            <a:r>
              <a:rPr lang="en-US" dirty="0"/>
              <a:t>r = 0.82 (strong positive correlation).</a:t>
            </a:r>
          </a:p>
        </p:txBody>
      </p:sp>
      <p:pic>
        <p:nvPicPr>
          <p:cNvPr id="4" name="Picture 3"/>
          <p:cNvPicPr>
            <a:picLocks noChangeAspect="1"/>
          </p:cNvPicPr>
          <p:nvPr/>
        </p:nvPicPr>
        <p:blipFill>
          <a:blip r:embed="rId2"/>
          <a:stretch>
            <a:fillRect/>
          </a:stretch>
        </p:blipFill>
        <p:spPr>
          <a:xfrm>
            <a:off x="8260289" y="1766877"/>
            <a:ext cx="3352381" cy="3352381"/>
          </a:xfrm>
          <a:prstGeom prst="rect">
            <a:avLst/>
          </a:prstGeom>
        </p:spPr>
      </p:pic>
    </p:spTree>
    <p:extLst>
      <p:ext uri="{BB962C8B-B14F-4D97-AF65-F5344CB8AC3E}">
        <p14:creationId xmlns:p14="http://schemas.microsoft.com/office/powerpoint/2010/main" val="4283934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Correlation Causation </a:t>
            </a:r>
            <a:endParaRPr lang="en-US" dirty="0"/>
          </a:p>
        </p:txBody>
      </p:sp>
      <p:sp>
        <p:nvSpPr>
          <p:cNvPr id="3" name="Content Placeholder 2"/>
          <p:cNvSpPr>
            <a:spLocks noGrp="1"/>
          </p:cNvSpPr>
          <p:nvPr>
            <p:ph idx="1"/>
          </p:nvPr>
        </p:nvSpPr>
        <p:spPr/>
        <p:txBody>
          <a:bodyPr>
            <a:normAutofit/>
          </a:bodyPr>
          <a:lstStyle/>
          <a:p>
            <a:r>
              <a:rPr lang="en-US" dirty="0"/>
              <a:t>Correlation ≠ Causation. </a:t>
            </a:r>
          </a:p>
          <a:p>
            <a:pPr marL="0" indent="0">
              <a:buNone/>
            </a:pPr>
            <a:endParaRPr lang="en-US" dirty="0"/>
          </a:p>
          <a:p>
            <a:r>
              <a:rPr lang="en-US" dirty="0"/>
              <a:t>Example: Cloud usage and company revenue </a:t>
            </a:r>
          </a:p>
          <a:p>
            <a:pPr marL="0" indent="0">
              <a:buNone/>
            </a:pPr>
            <a:r>
              <a:rPr lang="en-US" dirty="0"/>
              <a:t>correlate, but growth may be driven by external </a:t>
            </a:r>
          </a:p>
          <a:p>
            <a:pPr marL="0" indent="0">
              <a:buNone/>
            </a:pPr>
            <a:r>
              <a:rPr lang="en-US" dirty="0"/>
              <a:t>factors (market demand). </a:t>
            </a:r>
          </a:p>
          <a:p>
            <a:r>
              <a:rPr lang="en-US" dirty="0" smtClean="0"/>
              <a:t>Always </a:t>
            </a:r>
            <a:r>
              <a:rPr lang="en-US" dirty="0"/>
              <a:t>check context and other influencing </a:t>
            </a:r>
          </a:p>
          <a:p>
            <a:pPr marL="0" indent="0">
              <a:buNone/>
            </a:pPr>
            <a:r>
              <a:rPr lang="en-US" dirty="0"/>
              <a:t>variables</a:t>
            </a:r>
          </a:p>
        </p:txBody>
      </p:sp>
    </p:spTree>
    <p:extLst>
      <p:ext uri="{BB962C8B-B14F-4D97-AF65-F5344CB8AC3E}">
        <p14:creationId xmlns:p14="http://schemas.microsoft.com/office/powerpoint/2010/main" val="759000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Limitations of </a:t>
            </a:r>
            <a:r>
              <a:rPr lang="en-US" dirty="0" smtClean="0"/>
              <a:t>Correlation</a:t>
            </a:r>
            <a:endParaRPr lang="en-US" dirty="0"/>
          </a:p>
        </p:txBody>
      </p:sp>
      <p:sp>
        <p:nvSpPr>
          <p:cNvPr id="3" name="Content Placeholder 2"/>
          <p:cNvSpPr>
            <a:spLocks noGrp="1"/>
          </p:cNvSpPr>
          <p:nvPr>
            <p:ph idx="1"/>
          </p:nvPr>
        </p:nvSpPr>
        <p:spPr/>
        <p:txBody>
          <a:bodyPr/>
          <a:lstStyle/>
          <a:p>
            <a:r>
              <a:rPr lang="en-US" dirty="0"/>
              <a:t>Only captures linear relationships. </a:t>
            </a:r>
          </a:p>
          <a:p>
            <a:r>
              <a:rPr lang="en-US" dirty="0"/>
              <a:t>Influenced by outliers. </a:t>
            </a:r>
          </a:p>
          <a:p>
            <a:r>
              <a:rPr lang="en-US" dirty="0"/>
              <a:t>Cannot prove cause and </a:t>
            </a:r>
            <a:r>
              <a:rPr lang="en-US" dirty="0" smtClean="0"/>
              <a:t>effect</a:t>
            </a:r>
            <a:endParaRPr lang="en-US" dirty="0"/>
          </a:p>
          <a:p>
            <a:r>
              <a:rPr lang="en-US" dirty="0"/>
              <a:t>May detect spurious relationship</a:t>
            </a:r>
          </a:p>
        </p:txBody>
      </p:sp>
      <p:pic>
        <p:nvPicPr>
          <p:cNvPr id="4" name="Picture 3"/>
          <p:cNvPicPr>
            <a:picLocks noChangeAspect="1"/>
          </p:cNvPicPr>
          <p:nvPr/>
        </p:nvPicPr>
        <p:blipFill>
          <a:blip r:embed="rId2"/>
          <a:stretch>
            <a:fillRect/>
          </a:stretch>
        </p:blipFill>
        <p:spPr>
          <a:xfrm>
            <a:off x="7710341" y="1511697"/>
            <a:ext cx="3523809" cy="3609524"/>
          </a:xfrm>
          <a:prstGeom prst="rect">
            <a:avLst/>
          </a:prstGeom>
        </p:spPr>
      </p:pic>
    </p:spTree>
    <p:extLst>
      <p:ext uri="{BB962C8B-B14F-4D97-AF65-F5344CB8AC3E}">
        <p14:creationId xmlns:p14="http://schemas.microsoft.com/office/powerpoint/2010/main" val="41100520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Interpreting Correlation</a:t>
            </a:r>
            <a:endParaRPr lang="en-US" sz="2850" dirty="0">
              <a:solidFill>
                <a:schemeClr val="tx1">
                  <a:lumMod val="85000"/>
                  <a:lumOff val="15000"/>
                </a:schemeClr>
              </a:solidFill>
            </a:endParaRPr>
          </a:p>
        </p:txBody>
      </p:sp>
      <p:pic>
        <p:nvPicPr>
          <p:cNvPr id="5" name="Image 0" descr="/tmp/rasterized-svg-047154b3.png"/>
          <p:cNvPicPr>
            <a:picLocks noChangeAspect="1"/>
          </p:cNvPicPr>
          <p:nvPr/>
        </p:nvPicPr>
        <p:blipFill>
          <a:blip r:embed="rId2"/>
          <a:stretch>
            <a:fillRect/>
          </a:stretch>
        </p:blipFill>
        <p:spPr>
          <a:xfrm>
            <a:off x="5265434" y="1034122"/>
            <a:ext cx="6667500" cy="1333500"/>
          </a:xfrm>
          <a:prstGeom prst="rect">
            <a:avLst/>
          </a:prstGeom>
        </p:spPr>
      </p:pic>
      <p:sp>
        <p:nvSpPr>
          <p:cNvPr id="9" name="Rectangle 8"/>
          <p:cNvSpPr/>
          <p:nvPr/>
        </p:nvSpPr>
        <p:spPr>
          <a:xfrm>
            <a:off x="523875" y="2096313"/>
            <a:ext cx="5060999" cy="3139321"/>
          </a:xfrm>
          <a:prstGeom prst="rect">
            <a:avLst/>
          </a:prstGeom>
        </p:spPr>
        <p:txBody>
          <a:bodyPr wrap="square">
            <a:spAutoFit/>
          </a:bodyPr>
          <a:lstStyle/>
          <a:p>
            <a:r>
              <a:rPr lang="en-US" dirty="0"/>
              <a:t>• Correlation measures the strength and direction of a relationship between variables</a:t>
            </a:r>
            <a:br>
              <a:rPr lang="en-US" dirty="0"/>
            </a:br>
            <a:r>
              <a:rPr lang="en-US" dirty="0"/>
              <a:t>• Values range from -1 to +1, indicating negative, no, or positive correlation</a:t>
            </a:r>
            <a:br>
              <a:rPr lang="en-US" dirty="0"/>
            </a:br>
            <a:r>
              <a:rPr lang="en-US" dirty="0"/>
              <a:t>• Positive correlation means variables increase together</a:t>
            </a:r>
            <a:br>
              <a:rPr lang="en-US" dirty="0"/>
            </a:br>
            <a:r>
              <a:rPr lang="en-US" dirty="0"/>
              <a:t>• Negative correlation means one variable decreases as the other increases</a:t>
            </a:r>
            <a:br>
              <a:rPr lang="en-US" dirty="0"/>
            </a:br>
            <a:r>
              <a:rPr lang="en-US" dirty="0"/>
              <a:t>• Correlation does not imply causation</a:t>
            </a:r>
            <a:br>
              <a:rPr lang="en-US" dirty="0"/>
            </a:br>
            <a:r>
              <a:rPr lang="en-US" dirty="0"/>
              <a:t>• Strong correlations can guide feature selection and further analysis</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72216" y="2138743"/>
            <a:ext cx="4883942" cy="2974243"/>
          </a:xfrm>
          <a:prstGeom prst="rect">
            <a:avLst/>
          </a:prstGeom>
        </p:spPr>
      </p:pic>
    </p:spTree>
    <p:extLst>
      <p:ext uri="{BB962C8B-B14F-4D97-AF65-F5344CB8AC3E}">
        <p14:creationId xmlns:p14="http://schemas.microsoft.com/office/powerpoint/2010/main" val="2629942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Correlation Heatmaps</a:t>
            </a:r>
            <a:endParaRPr lang="en-US" sz="2850" dirty="0">
              <a:solidFill>
                <a:schemeClr val="tx1">
                  <a:lumMod val="85000"/>
                  <a:lumOff val="15000"/>
                </a:schemeClr>
              </a:solidFill>
            </a:endParaRPr>
          </a:p>
        </p:txBody>
      </p:sp>
      <p:sp>
        <p:nvSpPr>
          <p:cNvPr id="6" name="Rectangle 5"/>
          <p:cNvSpPr/>
          <p:nvPr/>
        </p:nvSpPr>
        <p:spPr>
          <a:xfrm>
            <a:off x="642425" y="1207871"/>
            <a:ext cx="5491089" cy="2862322"/>
          </a:xfrm>
          <a:prstGeom prst="rect">
            <a:avLst/>
          </a:prstGeom>
        </p:spPr>
        <p:txBody>
          <a:bodyPr wrap="square">
            <a:spAutoFit/>
          </a:bodyPr>
          <a:lstStyle/>
          <a:p>
            <a:r>
              <a:rPr lang="en-US" dirty="0"/>
              <a:t>• Visual representation of correlation matrices using color intensity</a:t>
            </a:r>
            <a:br>
              <a:rPr lang="en-US" dirty="0"/>
            </a:br>
            <a:r>
              <a:rPr lang="en-US" dirty="0"/>
              <a:t>• Makes it easy to spot strong positive and negative relationships</a:t>
            </a:r>
            <a:br>
              <a:rPr lang="en-US" dirty="0"/>
            </a:br>
            <a:r>
              <a:rPr lang="en-US" dirty="0"/>
              <a:t>• Useful for analyzing many variables at once</a:t>
            </a:r>
            <a:br>
              <a:rPr lang="en-US" dirty="0"/>
            </a:br>
            <a:r>
              <a:rPr lang="en-US" dirty="0"/>
              <a:t>• Color gradients help compare correlation strength quickly</a:t>
            </a:r>
            <a:br>
              <a:rPr lang="en-US" dirty="0"/>
            </a:br>
            <a:r>
              <a:rPr lang="en-US" dirty="0"/>
              <a:t>• Commonly created using </a:t>
            </a:r>
            <a:r>
              <a:rPr lang="en-US" dirty="0" err="1"/>
              <a:t>Seaborn</a:t>
            </a:r>
            <a:r>
              <a:rPr lang="en-US" dirty="0"/>
              <a:t> </a:t>
            </a:r>
            <a:r>
              <a:rPr lang="en-US" dirty="0" err="1"/>
              <a:t>heatmap</a:t>
            </a:r>
            <a:r>
              <a:rPr lang="en-US" dirty="0"/>
              <a:t/>
            </a:r>
            <a:br>
              <a:rPr lang="en-US" dirty="0"/>
            </a:br>
            <a:r>
              <a:rPr lang="en-US" dirty="0"/>
              <a:t>• Supports feature selection and </a:t>
            </a:r>
            <a:r>
              <a:rPr lang="en-US" dirty="0" err="1"/>
              <a:t>multicollinearity</a:t>
            </a:r>
            <a:r>
              <a:rPr lang="en-US" dirty="0"/>
              <a:t> checks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7743" y="1207871"/>
            <a:ext cx="3656060" cy="3344906"/>
          </a:xfrm>
          <a:prstGeom prst="rect">
            <a:avLst/>
          </a:prstGeom>
        </p:spPr>
      </p:pic>
    </p:spTree>
    <p:extLst>
      <p:ext uri="{BB962C8B-B14F-4D97-AF65-F5344CB8AC3E}">
        <p14:creationId xmlns:p14="http://schemas.microsoft.com/office/powerpoint/2010/main" val="693298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Identifying Outliers</a:t>
            </a:r>
            <a:endParaRPr lang="en-US" sz="2850" dirty="0">
              <a:solidFill>
                <a:schemeClr val="tx1">
                  <a:lumMod val="85000"/>
                  <a:lumOff val="15000"/>
                </a:schemeClr>
              </a:solidFill>
            </a:endParaRPr>
          </a:p>
        </p:txBody>
      </p:sp>
      <p:sp>
        <p:nvSpPr>
          <p:cNvPr id="7" name="Rectangle 6"/>
          <p:cNvSpPr/>
          <p:nvPr/>
        </p:nvSpPr>
        <p:spPr>
          <a:xfrm>
            <a:off x="523875" y="1314415"/>
            <a:ext cx="5500852" cy="3416320"/>
          </a:xfrm>
          <a:prstGeom prst="rect">
            <a:avLst/>
          </a:prstGeom>
        </p:spPr>
        <p:txBody>
          <a:bodyPr wrap="square">
            <a:spAutoFit/>
          </a:bodyPr>
          <a:lstStyle/>
          <a:p>
            <a:r>
              <a:rPr lang="en-US" dirty="0"/>
              <a:t>• Outliers are data points that differ significantly from the rest of the data</a:t>
            </a:r>
            <a:br>
              <a:rPr lang="en-US" dirty="0"/>
            </a:br>
            <a:r>
              <a:rPr lang="en-US" dirty="0"/>
              <a:t>• May indicate data errors, rare events, or important signals</a:t>
            </a:r>
            <a:br>
              <a:rPr lang="en-US" dirty="0"/>
            </a:br>
            <a:r>
              <a:rPr lang="en-US" dirty="0"/>
              <a:t>• Common detection methods: IQR, Z-score, box plots, and scatter plots</a:t>
            </a:r>
            <a:br>
              <a:rPr lang="en-US" dirty="0"/>
            </a:br>
            <a:r>
              <a:rPr lang="en-US" dirty="0"/>
              <a:t>• Visual tools help reveal unusual patterns or extreme values</a:t>
            </a:r>
            <a:br>
              <a:rPr lang="en-US" dirty="0"/>
            </a:br>
            <a:r>
              <a:rPr lang="en-US" dirty="0"/>
              <a:t>• Outliers can distort statistics and models if not handled properly</a:t>
            </a:r>
            <a:br>
              <a:rPr lang="en-US" dirty="0"/>
            </a:br>
            <a:r>
              <a:rPr lang="en-US" dirty="0"/>
              <a:t>• Decisions include removal, transformation, or separate analysis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8616" y="1901270"/>
            <a:ext cx="4039015" cy="2242610"/>
          </a:xfrm>
          <a:prstGeom prst="rect">
            <a:avLst/>
          </a:prstGeom>
        </p:spPr>
      </p:pic>
    </p:spTree>
    <p:extLst>
      <p:ext uri="{BB962C8B-B14F-4D97-AF65-F5344CB8AC3E}">
        <p14:creationId xmlns:p14="http://schemas.microsoft.com/office/powerpoint/2010/main" val="22387061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848035"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Pattern Recognition in Data</a:t>
            </a:r>
            <a:endParaRPr lang="en-US" sz="2850" dirty="0">
              <a:solidFill>
                <a:schemeClr val="tx1">
                  <a:lumMod val="85000"/>
                  <a:lumOff val="15000"/>
                </a:schemeClr>
              </a:solidFill>
            </a:endParaRPr>
          </a:p>
        </p:txBody>
      </p:sp>
      <p:sp>
        <p:nvSpPr>
          <p:cNvPr id="6" name="Rectangle 5"/>
          <p:cNvSpPr/>
          <p:nvPr/>
        </p:nvSpPr>
        <p:spPr>
          <a:xfrm>
            <a:off x="523875" y="1137532"/>
            <a:ext cx="6096000" cy="2585323"/>
          </a:xfrm>
          <a:prstGeom prst="rect">
            <a:avLst/>
          </a:prstGeom>
        </p:spPr>
        <p:txBody>
          <a:bodyPr>
            <a:spAutoFit/>
          </a:bodyPr>
          <a:lstStyle/>
          <a:p>
            <a:r>
              <a:rPr lang="en-US" dirty="0"/>
              <a:t>Pattern recognition involves identifying recurring trends, structures, or behaviors within a dataset. These patterns may appear as trends over time, clusters of similar observations, or associations between variables. Visual exploration plays a key role in revealing patterns that may not be obvious from summary statistics alone. Interpreting patterns in context helps distinguish meaningful signals from random noise and supports better analytical and decision-making outcomes.</a:t>
            </a:r>
          </a:p>
        </p:txBody>
      </p:sp>
    </p:spTree>
    <p:extLst>
      <p:ext uri="{BB962C8B-B14F-4D97-AF65-F5344CB8AC3E}">
        <p14:creationId xmlns:p14="http://schemas.microsoft.com/office/powerpoint/2010/main" val="3089805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EDA Best Practices</a:t>
            </a:r>
            <a:endParaRPr lang="en-US" sz="2850" dirty="0">
              <a:solidFill>
                <a:schemeClr val="tx1">
                  <a:lumMod val="85000"/>
                  <a:lumOff val="15000"/>
                </a:schemeClr>
              </a:solidFill>
            </a:endParaRPr>
          </a:p>
        </p:txBody>
      </p:sp>
      <p:sp>
        <p:nvSpPr>
          <p:cNvPr id="5" name="Text 1"/>
          <p:cNvSpPr/>
          <p:nvPr/>
        </p:nvSpPr>
        <p:spPr>
          <a:xfrm>
            <a:off x="523875" y="1047749"/>
            <a:ext cx="6946070" cy="2933407"/>
          </a:xfrm>
          <a:prstGeom prst="rect">
            <a:avLst/>
          </a:prstGeom>
          <a:noFill/>
          <a:ln/>
        </p:spPr>
        <p:txBody>
          <a:bodyPr wrap="square" lIns="133350" tIns="0" rIns="0" bIns="0" numCol="2" rtlCol="0" anchor="t"/>
          <a:lstStyle/>
          <a:p>
            <a:pPr>
              <a:lnSpc>
                <a:spcPts val="2025"/>
              </a:lnSpc>
              <a:spcAft>
                <a:spcPts val="600"/>
              </a:spcAft>
              <a:buSzPct val="100000"/>
            </a:pPr>
            <a:r>
              <a:rPr lang="en-US" sz="1400" dirty="0"/>
              <a:t>• Understand the dataset structure and context before analysis</a:t>
            </a:r>
            <a:br>
              <a:rPr lang="en-US" sz="1400" dirty="0"/>
            </a:br>
            <a:r>
              <a:rPr lang="en-US" sz="1400" dirty="0"/>
              <a:t>• Explore data iteratively using both statistics and visualizations</a:t>
            </a:r>
            <a:br>
              <a:rPr lang="en-US" sz="1400" dirty="0"/>
            </a:br>
            <a:r>
              <a:rPr lang="en-US" sz="1400" dirty="0"/>
              <a:t>• Question unusual patterns, anomalies, or outliers</a:t>
            </a:r>
            <a:br>
              <a:rPr lang="en-US" sz="1400" dirty="0"/>
            </a:br>
            <a:r>
              <a:rPr lang="en-US" sz="1400" dirty="0"/>
              <a:t>• Validate findings across multiple perspectives or subsets</a:t>
            </a:r>
            <a:br>
              <a:rPr lang="en-US" sz="1400" dirty="0"/>
            </a:br>
            <a:r>
              <a:rPr lang="en-US" sz="1400" dirty="0"/>
              <a:t>• Document insights clearly for communication and reproducibility</a:t>
            </a:r>
            <a:br>
              <a:rPr lang="en-US" sz="1400" dirty="0"/>
            </a:br>
            <a:r>
              <a:rPr lang="en-US" sz="1400" dirty="0"/>
              <a:t>• Use EDA to guide data cleaning, feature selection, and modeling decisions</a:t>
            </a:r>
            <a:endParaRPr lang="en-US" sz="1350" dirty="0">
              <a:solidFill>
                <a:schemeClr val="tx1">
                  <a:lumMod val="85000"/>
                  <a:lumOff val="15000"/>
                </a:schemeClr>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230" y="1519311"/>
            <a:ext cx="5805707" cy="3268613"/>
          </a:xfrm>
          <a:prstGeom prst="rect">
            <a:avLst/>
          </a:prstGeom>
        </p:spPr>
      </p:pic>
    </p:spTree>
    <p:extLst>
      <p:ext uri="{BB962C8B-B14F-4D97-AF65-F5344CB8AC3E}">
        <p14:creationId xmlns:p14="http://schemas.microsoft.com/office/powerpoint/2010/main" val="11896377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Common EDA Mistakes</a:t>
            </a:r>
            <a:endParaRPr lang="en-US" sz="2850" dirty="0">
              <a:solidFill>
                <a:schemeClr val="tx1">
                  <a:lumMod val="85000"/>
                  <a:lumOff val="15000"/>
                </a:schemeClr>
              </a:solidFill>
            </a:endParaRPr>
          </a:p>
        </p:txBody>
      </p:sp>
      <p:sp>
        <p:nvSpPr>
          <p:cNvPr id="5" name="Text 1"/>
          <p:cNvSpPr/>
          <p:nvPr/>
        </p:nvSpPr>
        <p:spPr>
          <a:xfrm>
            <a:off x="523876" y="1047750"/>
            <a:ext cx="5567436" cy="2200275"/>
          </a:xfrm>
          <a:prstGeom prst="rect">
            <a:avLst/>
          </a:prstGeom>
          <a:noFill/>
          <a:ln/>
        </p:spPr>
        <p:txBody>
          <a:bodyPr wrap="square" lIns="133350" tIns="0" rIns="0" bIns="0" rtlCol="0" anchor="t"/>
          <a:lstStyle/>
          <a:p>
            <a:pPr>
              <a:lnSpc>
                <a:spcPts val="2025"/>
              </a:lnSpc>
              <a:spcAft>
                <a:spcPts val="600"/>
              </a:spcAft>
              <a:buSzPct val="100000"/>
            </a:pPr>
            <a:r>
              <a:rPr lang="en-US" sz="1400" dirty="0"/>
              <a:t>• Jumping to modeling without understanding the data</a:t>
            </a:r>
            <a:br>
              <a:rPr lang="en-US" sz="1400" dirty="0"/>
            </a:br>
            <a:r>
              <a:rPr lang="en-US" sz="1400" dirty="0"/>
              <a:t>• Ignoring missing values or duplicates</a:t>
            </a:r>
            <a:br>
              <a:rPr lang="en-US" sz="1400" dirty="0"/>
            </a:br>
            <a:r>
              <a:rPr lang="en-US" sz="1400" dirty="0"/>
              <a:t>• Failing to visualize distributions or relationships</a:t>
            </a:r>
            <a:br>
              <a:rPr lang="en-US" sz="1400" dirty="0"/>
            </a:br>
            <a:r>
              <a:rPr lang="en-US" sz="1400" dirty="0"/>
              <a:t>• Overlooking outliers or anomalies</a:t>
            </a:r>
            <a:br>
              <a:rPr lang="en-US" sz="1400" dirty="0"/>
            </a:br>
            <a:r>
              <a:rPr lang="en-US" sz="1400" dirty="0"/>
              <a:t>• Relying solely on summary statistics without context</a:t>
            </a:r>
            <a:br>
              <a:rPr lang="en-US" sz="1400" dirty="0"/>
            </a:br>
            <a:r>
              <a:rPr lang="en-US" sz="1400" dirty="0"/>
              <a:t>• Documenting insights incompletely or inconsistently</a:t>
            </a:r>
            <a:endParaRPr lang="en-US" sz="1350" dirty="0">
              <a:solidFill>
                <a:schemeClr val="tx1">
                  <a:lumMod val="85000"/>
                  <a:lumOff val="15000"/>
                </a:schemeClr>
              </a:solidFill>
            </a:endParaRPr>
          </a:p>
        </p:txBody>
      </p:sp>
    </p:spTree>
    <p:extLst>
      <p:ext uri="{BB962C8B-B14F-4D97-AF65-F5344CB8AC3E}">
        <p14:creationId xmlns:p14="http://schemas.microsoft.com/office/powerpoint/2010/main" val="18419015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Univariate Analysis</a:t>
            </a:r>
            <a:endParaRPr lang="en-US" sz="2850" dirty="0">
              <a:solidFill>
                <a:schemeClr val="tx1">
                  <a:lumMod val="85000"/>
                  <a:lumOff val="15000"/>
                </a:schemeClr>
              </a:solidFill>
            </a:endParaRPr>
          </a:p>
        </p:txBody>
      </p:sp>
      <p:sp>
        <p:nvSpPr>
          <p:cNvPr id="6" name="Text 2"/>
          <p:cNvSpPr/>
          <p:nvPr/>
        </p:nvSpPr>
        <p:spPr>
          <a:xfrm>
            <a:off x="523875" y="1419225"/>
            <a:ext cx="8096250" cy="175260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endParaRPr lang="en-US" sz="1350" dirty="0">
              <a:solidFill>
                <a:schemeClr val="tx1">
                  <a:lumMod val="85000"/>
                  <a:lumOff val="15000"/>
                </a:schemeClr>
              </a:solidFill>
            </a:endParaRPr>
          </a:p>
        </p:txBody>
      </p:sp>
      <p:sp>
        <p:nvSpPr>
          <p:cNvPr id="8" name="Rectangle 7"/>
          <p:cNvSpPr/>
          <p:nvPr/>
        </p:nvSpPr>
        <p:spPr>
          <a:xfrm>
            <a:off x="613102" y="1279862"/>
            <a:ext cx="6096000" cy="2031325"/>
          </a:xfrm>
          <a:prstGeom prst="rect">
            <a:avLst/>
          </a:prstGeom>
        </p:spPr>
        <p:txBody>
          <a:bodyPr>
            <a:spAutoFit/>
          </a:bodyPr>
          <a:lstStyle/>
          <a:p>
            <a:r>
              <a:rPr lang="en-US" dirty="0"/>
              <a:t>Univariate analysis focuses on examining one variable at a time to understand its distribution, central tendency, and variability. Common techniques include histograms, box plots, and summary statistics such as mean, median, mode, and standard deviation. This analysis helps identify patterns, outliers, and potential data quality issues, providing a foundation for deeper multivariate exploration.</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049" y="1741755"/>
            <a:ext cx="3899291" cy="2506687"/>
          </a:xfrm>
          <a:prstGeom prst="rect">
            <a:avLst/>
          </a:prstGeom>
        </p:spPr>
      </p:pic>
    </p:spTree>
    <p:extLst>
      <p:ext uri="{BB962C8B-B14F-4D97-AF65-F5344CB8AC3E}">
        <p14:creationId xmlns:p14="http://schemas.microsoft.com/office/powerpoint/2010/main" val="4274187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Bivariate Analysis</a:t>
            </a:r>
            <a:endParaRPr lang="en-US" sz="2850" dirty="0">
              <a:solidFill>
                <a:schemeClr val="tx1">
                  <a:lumMod val="85000"/>
                  <a:lumOff val="15000"/>
                </a:schemeClr>
              </a:solidFill>
            </a:endParaRPr>
          </a:p>
        </p:txBody>
      </p:sp>
      <p:sp>
        <p:nvSpPr>
          <p:cNvPr id="6" name="Text 2"/>
          <p:cNvSpPr/>
          <p:nvPr/>
        </p:nvSpPr>
        <p:spPr>
          <a:xfrm>
            <a:off x="523875" y="1419225"/>
            <a:ext cx="8096250" cy="1752600"/>
          </a:xfrm>
          <a:prstGeom prst="rect">
            <a:avLst/>
          </a:prstGeom>
          <a:noFill/>
          <a:ln/>
        </p:spPr>
        <p:txBody>
          <a:bodyPr wrap="square" lIns="133350" tIns="0" rIns="0" bIns="0" rtlCol="0" anchor="t"/>
          <a:lstStyle/>
          <a:p>
            <a:pPr algn="l">
              <a:lnSpc>
                <a:spcPts val="2025"/>
              </a:lnSpc>
              <a:spcAft>
                <a:spcPts val="600"/>
              </a:spcAft>
              <a:buSzPct val="100000"/>
            </a:pPr>
            <a:endParaRPr lang="en-US" sz="1350" dirty="0">
              <a:solidFill>
                <a:schemeClr val="tx1">
                  <a:lumMod val="85000"/>
                  <a:lumOff val="15000"/>
                </a:schemeClr>
              </a:solidFill>
            </a:endParaRPr>
          </a:p>
        </p:txBody>
      </p:sp>
      <p:sp>
        <p:nvSpPr>
          <p:cNvPr id="8" name="Rectangle 7"/>
          <p:cNvSpPr/>
          <p:nvPr/>
        </p:nvSpPr>
        <p:spPr>
          <a:xfrm>
            <a:off x="523875" y="1419225"/>
            <a:ext cx="4765577" cy="2862322"/>
          </a:xfrm>
          <a:prstGeom prst="rect">
            <a:avLst/>
          </a:prstGeom>
        </p:spPr>
        <p:txBody>
          <a:bodyPr wrap="square">
            <a:spAutoFit/>
          </a:bodyPr>
          <a:lstStyle/>
          <a:p>
            <a:r>
              <a:rPr lang="en-US" dirty="0"/>
              <a:t>Bivariate analysis examines the relationship between two variables to understand how one may influence or relate to the other. Common methods include scatter plots, correlation coefficients, and cross-tabulations. This type of analysis helps identify trends, associations, and potential causal patterns, and informs decisions about feature selection, modeling, and further investigation.</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3610" y="1151938"/>
            <a:ext cx="5297903" cy="2648951"/>
          </a:xfrm>
          <a:prstGeom prst="rect">
            <a:avLst/>
          </a:prstGeom>
        </p:spPr>
      </p:pic>
    </p:spTree>
    <p:extLst>
      <p:ext uri="{BB962C8B-B14F-4D97-AF65-F5344CB8AC3E}">
        <p14:creationId xmlns:p14="http://schemas.microsoft.com/office/powerpoint/2010/main" val="20649160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Multivariate Analysis</a:t>
            </a:r>
            <a:endParaRPr lang="en-US" sz="2850" dirty="0">
              <a:solidFill>
                <a:schemeClr val="tx1">
                  <a:lumMod val="85000"/>
                  <a:lumOff val="15000"/>
                </a:schemeClr>
              </a:solidFill>
            </a:endParaRPr>
          </a:p>
        </p:txBody>
      </p:sp>
      <p:sp>
        <p:nvSpPr>
          <p:cNvPr id="6" name="Text 2"/>
          <p:cNvSpPr/>
          <p:nvPr/>
        </p:nvSpPr>
        <p:spPr>
          <a:xfrm>
            <a:off x="523875" y="1419225"/>
            <a:ext cx="8096250" cy="175260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endParaRPr lang="en-US" sz="1350" dirty="0">
              <a:solidFill>
                <a:schemeClr val="tx1">
                  <a:lumMod val="85000"/>
                  <a:lumOff val="15000"/>
                </a:schemeClr>
              </a:solidFill>
            </a:endParaRPr>
          </a:p>
        </p:txBody>
      </p:sp>
      <p:sp>
        <p:nvSpPr>
          <p:cNvPr id="8" name="Rectangle 7"/>
          <p:cNvSpPr/>
          <p:nvPr/>
        </p:nvSpPr>
        <p:spPr>
          <a:xfrm>
            <a:off x="397266" y="1239550"/>
            <a:ext cx="6096000" cy="2585323"/>
          </a:xfrm>
          <a:prstGeom prst="rect">
            <a:avLst/>
          </a:prstGeom>
        </p:spPr>
        <p:txBody>
          <a:bodyPr>
            <a:spAutoFit/>
          </a:bodyPr>
          <a:lstStyle/>
          <a:p>
            <a:r>
              <a:rPr lang="en-US" dirty="0"/>
              <a:t>Multivariate analysis examines three or more variables simultaneously to understand complex relationships and interactions within the data. Techniques such as pair plots, correlation matrices, PCA (Principal Component Analysis), and regression models are commonly used. This analysis helps identify patterns, clusters, and dependencies that are not apparent in univariate or bivariate analysis, providing deeper insights for decision-making and predictive modeling.</a:t>
            </a:r>
          </a:p>
        </p:txBody>
      </p:sp>
    </p:spTree>
    <p:extLst>
      <p:ext uri="{BB962C8B-B14F-4D97-AF65-F5344CB8AC3E}">
        <p14:creationId xmlns:p14="http://schemas.microsoft.com/office/powerpoint/2010/main" val="4108970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138803"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Your EDA Toolkit</a:t>
            </a:r>
            <a:endParaRPr lang="en-US" sz="2850" dirty="0">
              <a:solidFill>
                <a:schemeClr val="tx1">
                  <a:lumMod val="85000"/>
                  <a:lumOff val="15000"/>
                </a:schemeClr>
              </a:solidFill>
            </a:endParaRPr>
          </a:p>
        </p:txBody>
      </p:sp>
      <p:sp>
        <p:nvSpPr>
          <p:cNvPr id="5" name="Text 1"/>
          <p:cNvSpPr/>
          <p:nvPr/>
        </p:nvSpPr>
        <p:spPr>
          <a:xfrm>
            <a:off x="523875" y="1076325"/>
            <a:ext cx="1991677"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Core Libraries</a:t>
            </a:r>
            <a:endParaRPr lang="en-US" sz="2100" dirty="0">
              <a:solidFill>
                <a:schemeClr val="tx1">
                  <a:lumMod val="85000"/>
                  <a:lumOff val="15000"/>
                </a:schemeClr>
              </a:solidFill>
            </a:endParaRPr>
          </a:p>
        </p:txBody>
      </p:sp>
      <p:sp>
        <p:nvSpPr>
          <p:cNvPr id="6" name="Text 2"/>
          <p:cNvSpPr/>
          <p:nvPr/>
        </p:nvSpPr>
        <p:spPr>
          <a:xfrm>
            <a:off x="523875" y="1486942"/>
            <a:ext cx="3881438" cy="175260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Pandas</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NumPy</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Matplotlib</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Seaborn</a:t>
            </a:r>
            <a:endParaRPr lang="en-US" sz="1350" dirty="0">
              <a:solidFill>
                <a:schemeClr val="tx1">
                  <a:lumMod val="85000"/>
                  <a:lumOff val="15000"/>
                </a:schemeClr>
              </a:solidFill>
            </a:endParaRPr>
          </a:p>
        </p:txBody>
      </p:sp>
      <p:sp>
        <p:nvSpPr>
          <p:cNvPr id="7" name="Text 3"/>
          <p:cNvSpPr/>
          <p:nvPr/>
        </p:nvSpPr>
        <p:spPr>
          <a:xfrm>
            <a:off x="4738688" y="1076325"/>
            <a:ext cx="2088833" cy="296317"/>
          </a:xfrm>
          <a:prstGeom prst="rect">
            <a:avLst/>
          </a:prstGeom>
          <a:noFill/>
          <a:ln/>
        </p:spPr>
        <p:txBody>
          <a:bodyPr wrap="square" lIns="0" tIns="0" rIns="0" bIns="0" rtlCol="0" anchor="t"/>
          <a:lstStyle/>
          <a:p>
            <a:pPr marL="0" indent="0" algn="l">
              <a:lnSpc>
                <a:spcPts val="2333"/>
              </a:lnSpc>
              <a:spcBef>
                <a:spcPts val="1125"/>
              </a:spcBef>
              <a:spcAft>
                <a:spcPts val="900"/>
              </a:spcAft>
              <a:buNone/>
            </a:pPr>
            <a:r>
              <a:rPr lang="en-US" sz="2100" b="1" dirty="0">
                <a:solidFill>
                  <a:schemeClr val="tx1">
                    <a:lumMod val="85000"/>
                    <a:lumOff val="15000"/>
                  </a:schemeClr>
                </a:solidFill>
                <a:latin typeface="Arial" pitchFamily="34" charset="0"/>
                <a:ea typeface="Arial" pitchFamily="34" charset="-122"/>
                <a:cs typeface="Arial" pitchFamily="34" charset="-120"/>
              </a:rPr>
              <a:t>Advanced Tools</a:t>
            </a:r>
            <a:endParaRPr lang="en-US" sz="2100" dirty="0">
              <a:solidFill>
                <a:schemeClr val="tx1">
                  <a:lumMod val="85000"/>
                  <a:lumOff val="15000"/>
                </a:schemeClr>
              </a:solidFill>
            </a:endParaRPr>
          </a:p>
        </p:txBody>
      </p:sp>
      <p:sp>
        <p:nvSpPr>
          <p:cNvPr id="8" name="Text 4"/>
          <p:cNvSpPr/>
          <p:nvPr/>
        </p:nvSpPr>
        <p:spPr>
          <a:xfrm>
            <a:off x="4738688" y="1486942"/>
            <a:ext cx="3881438" cy="1752600"/>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Pandas Profiling</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Sweetviz</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Missingno</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Plotly</a:t>
            </a:r>
            <a:endParaRPr lang="en-US" sz="1350" dirty="0">
              <a:solidFill>
                <a:schemeClr val="tx1">
                  <a:lumMod val="85000"/>
                  <a:lumOff val="15000"/>
                </a:schemeClr>
              </a:solidFill>
            </a:endParaRPr>
          </a:p>
        </p:txBody>
      </p:sp>
    </p:spTree>
    <p:extLst>
      <p:ext uri="{BB962C8B-B14F-4D97-AF65-F5344CB8AC3E}">
        <p14:creationId xmlns:p14="http://schemas.microsoft.com/office/powerpoint/2010/main" val="1216065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523875" y="333375"/>
            <a:ext cx="4507992" cy="361950"/>
          </a:xfrm>
          <a:prstGeom prst="rect">
            <a:avLst/>
          </a:prstGeom>
          <a:noFill/>
          <a:ln/>
        </p:spPr>
        <p:txBody>
          <a:bodyPr wrap="square" lIns="0" tIns="0" rIns="0" bIns="0" rtlCol="0" anchor="t"/>
          <a:lstStyle/>
          <a:p>
            <a:pPr marL="0" indent="0" algn="l">
              <a:lnSpc>
                <a:spcPts val="2850"/>
              </a:lnSpc>
              <a:spcAft>
                <a:spcPts val="1875"/>
              </a:spcAft>
              <a:buNone/>
            </a:pPr>
            <a:r>
              <a:rPr lang="en-US" sz="2850" b="1" dirty="0">
                <a:solidFill>
                  <a:schemeClr val="tx1">
                    <a:lumMod val="85000"/>
                    <a:lumOff val="15000"/>
                  </a:schemeClr>
                </a:solidFill>
                <a:latin typeface="Segoe UI" pitchFamily="34" charset="0"/>
                <a:ea typeface="Segoe UI" pitchFamily="34" charset="-122"/>
                <a:cs typeface="Segoe UI" pitchFamily="34" charset="-120"/>
              </a:rPr>
              <a:t>Assignment - EDA Report</a:t>
            </a:r>
            <a:endParaRPr lang="en-US" sz="2850" dirty="0">
              <a:solidFill>
                <a:schemeClr val="tx1">
                  <a:lumMod val="85000"/>
                  <a:lumOff val="15000"/>
                </a:schemeClr>
              </a:solidFill>
            </a:endParaRPr>
          </a:p>
        </p:txBody>
      </p:sp>
      <p:sp>
        <p:nvSpPr>
          <p:cNvPr id="5" name="Text 1"/>
          <p:cNvSpPr/>
          <p:nvPr/>
        </p:nvSpPr>
        <p:spPr>
          <a:xfrm>
            <a:off x="523875" y="990600"/>
            <a:ext cx="8258175" cy="257175"/>
          </a:xfrm>
          <a:prstGeom prst="rect">
            <a:avLst/>
          </a:prstGeom>
          <a:noFill/>
          <a:ln/>
        </p:spPr>
        <p:txBody>
          <a:bodyPr wrap="square" lIns="0" tIns="0" rIns="0" bIns="0" rtlCol="0" anchor="t"/>
          <a:lstStyle/>
          <a:p>
            <a:pPr marL="0" indent="0" algn="l">
              <a:lnSpc>
                <a:spcPts val="2025"/>
              </a:lnSpc>
              <a:spcBef>
                <a:spcPts val="450"/>
              </a:spcBef>
              <a:spcAft>
                <a:spcPts val="450"/>
              </a:spcAft>
              <a:buNone/>
            </a:pPr>
            <a:r>
              <a:rPr lang="en-US" sz="1350" b="1" dirty="0">
                <a:solidFill>
                  <a:schemeClr val="tx1">
                    <a:lumMod val="85000"/>
                    <a:lumOff val="15000"/>
                  </a:schemeClr>
                </a:solidFill>
                <a:latin typeface="Arial" pitchFamily="34" charset="0"/>
                <a:ea typeface="Arial" pitchFamily="34" charset="-122"/>
                <a:cs typeface="Arial" pitchFamily="34" charset="-120"/>
              </a:rPr>
              <a:t>Requirements:</a:t>
            </a:r>
            <a:endParaRPr lang="en-US" sz="1350" dirty="0">
              <a:solidFill>
                <a:schemeClr val="tx1">
                  <a:lumMod val="85000"/>
                  <a:lumOff val="15000"/>
                </a:schemeClr>
              </a:solidFill>
            </a:endParaRPr>
          </a:p>
        </p:txBody>
      </p:sp>
      <p:sp>
        <p:nvSpPr>
          <p:cNvPr id="6" name="Text 2"/>
          <p:cNvSpPr/>
          <p:nvPr/>
        </p:nvSpPr>
        <p:spPr>
          <a:xfrm>
            <a:off x="523875" y="1419225"/>
            <a:ext cx="8096250" cy="2200275"/>
          </a:xfrm>
          <a:prstGeom prst="rect">
            <a:avLst/>
          </a:prstGeom>
          <a:noFill/>
          <a:ln/>
        </p:spPr>
        <p:txBody>
          <a:bodyPr wrap="square" lIns="133350" tIns="0" rIns="0" bIns="0" rtlCol="0" anchor="t"/>
          <a:lstStyle/>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Jupyter Notebook format</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Data cleaning documentation</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5+ meaningful visualizations</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Statistical analysis (correlations, outliers)</a:t>
            </a:r>
            <a:endParaRPr lang="en-US" sz="1350" dirty="0">
              <a:solidFill>
                <a:schemeClr val="tx1">
                  <a:lumMod val="85000"/>
                  <a:lumOff val="15000"/>
                </a:schemeClr>
              </a:solidFill>
            </a:endParaRPr>
          </a:p>
          <a:p>
            <a:pPr marL="133350" indent="-133350" algn="l">
              <a:lnSpc>
                <a:spcPts val="2025"/>
              </a:lnSpc>
              <a:spcAft>
                <a:spcPts val="600"/>
              </a:spcAft>
              <a:buSzPct val="100000"/>
              <a:buChar char="•"/>
            </a:pPr>
            <a:r>
              <a:rPr lang="en-US" sz="1350" dirty="0">
                <a:solidFill>
                  <a:schemeClr val="tx1">
                    <a:lumMod val="85000"/>
                    <a:lumOff val="15000"/>
                  </a:schemeClr>
                </a:solidFill>
                <a:latin typeface="Arial" pitchFamily="34" charset="0"/>
                <a:ea typeface="Arial" pitchFamily="34" charset="-122"/>
                <a:cs typeface="Arial" pitchFamily="34" charset="-120"/>
              </a:rPr>
              <a:t>3-5 key insights (300-500 words)</a:t>
            </a:r>
            <a:endParaRPr lang="en-US" sz="1350" dirty="0">
              <a:solidFill>
                <a:schemeClr val="tx1">
                  <a:lumMod val="85000"/>
                  <a:lumOff val="15000"/>
                </a:schemeClr>
              </a:solidFill>
            </a:endParaRPr>
          </a:p>
        </p:txBody>
      </p:sp>
    </p:spTree>
    <p:extLst>
      <p:ext uri="{BB962C8B-B14F-4D97-AF65-F5344CB8AC3E}">
        <p14:creationId xmlns:p14="http://schemas.microsoft.com/office/powerpoint/2010/main" val="2992347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2722869" y="866775"/>
            <a:ext cx="3698114" cy="495300"/>
          </a:xfrm>
          <a:prstGeom prst="rect">
            <a:avLst/>
          </a:prstGeom>
          <a:noFill/>
          <a:ln/>
        </p:spPr>
        <p:txBody>
          <a:bodyPr wrap="square" lIns="0" tIns="0" rIns="0" bIns="0" rtlCol="0" anchor="t"/>
          <a:lstStyle/>
          <a:p>
            <a:pPr marL="0" indent="0" algn="ctr">
              <a:lnSpc>
                <a:spcPts val="3900"/>
              </a:lnSpc>
              <a:spcAft>
                <a:spcPts val="1125"/>
              </a:spcAft>
              <a:buNone/>
            </a:pPr>
            <a:r>
              <a:rPr lang="en-US" sz="3900" b="1" dirty="0" smtClean="0">
                <a:solidFill>
                  <a:schemeClr val="tx1">
                    <a:lumMod val="85000"/>
                    <a:lumOff val="15000"/>
                  </a:schemeClr>
                </a:solidFill>
                <a:latin typeface="Segoe UI" pitchFamily="34" charset="0"/>
                <a:ea typeface="Segoe UI" pitchFamily="34" charset="-122"/>
                <a:cs typeface="Segoe UI" pitchFamily="34" charset="-120"/>
              </a:rPr>
              <a:t>Summary</a:t>
            </a:r>
            <a:endParaRPr lang="en-US" sz="3900" dirty="0">
              <a:solidFill>
                <a:schemeClr val="tx1">
                  <a:lumMod val="85000"/>
                  <a:lumOff val="15000"/>
                </a:schemeClr>
              </a:solidFill>
            </a:endParaRPr>
          </a:p>
        </p:txBody>
      </p:sp>
      <p:sp>
        <p:nvSpPr>
          <p:cNvPr id="6" name="Rectangle 5"/>
          <p:cNvSpPr/>
          <p:nvPr/>
        </p:nvSpPr>
        <p:spPr>
          <a:xfrm>
            <a:off x="1036320" y="1593228"/>
            <a:ext cx="8093612" cy="3693319"/>
          </a:xfrm>
          <a:prstGeom prst="rect">
            <a:avLst/>
          </a:prstGeom>
        </p:spPr>
        <p:txBody>
          <a:bodyPr wrap="square">
            <a:spAutoFit/>
          </a:bodyPr>
          <a:lstStyle/>
          <a:p>
            <a:r>
              <a:rPr lang="en-US" dirty="0"/>
              <a:t>Data visualization and exploratory data analysis (EDA) are essential steps in understanding and interpreting data. The process begins with data cleaning, handling missing values, duplicates, outliers, and formatting issues. Visualizations using </a:t>
            </a:r>
            <a:r>
              <a:rPr lang="en-US" dirty="0" err="1"/>
              <a:t>Matplotlib</a:t>
            </a:r>
            <a:r>
              <a:rPr lang="en-US" dirty="0"/>
              <a:t> and </a:t>
            </a:r>
            <a:r>
              <a:rPr lang="en-US" dirty="0" err="1"/>
              <a:t>Seaborn</a:t>
            </a:r>
            <a:r>
              <a:rPr lang="en-US" dirty="0"/>
              <a:t>—including line plots, bar plots, scatter plots, histograms, box plots, distribution plots, and </a:t>
            </a:r>
            <a:r>
              <a:rPr lang="en-US" dirty="0" err="1"/>
              <a:t>heatmaps</a:t>
            </a:r>
            <a:r>
              <a:rPr lang="en-US" dirty="0"/>
              <a:t>—help uncover trends, patterns, and relationships.</a:t>
            </a:r>
          </a:p>
          <a:p>
            <a:r>
              <a:rPr lang="en-US" dirty="0"/>
              <a:t>EDA involves univariate, bivariate, and multivariate analyses to summarize distributions, explore correlations, and recognize patterns across multiple variables. Best practices, such as clarity, accuracy, relevance, and accessibility, guide effective visualization, while awareness of common mistakes ensures insights are reliable. Pattern recognition, correlation analysis, and documentation of findings make the insights actionable, supporting informed decision-making and predictive modeling.</a:t>
            </a:r>
          </a:p>
        </p:txBody>
      </p:sp>
    </p:spTree>
    <p:extLst>
      <p:ext uri="{BB962C8B-B14F-4D97-AF65-F5344CB8AC3E}">
        <p14:creationId xmlns:p14="http://schemas.microsoft.com/office/powerpoint/2010/main" val="779067967"/>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7319</TotalTime>
  <Words>2930</Words>
  <Application>Microsoft Office PowerPoint</Application>
  <PresentationFormat>Widescreen</PresentationFormat>
  <Paragraphs>168</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Arial Unicode MS</vt:lpstr>
      <vt:lpstr>Cinzel-Bold</vt:lpstr>
      <vt:lpstr>Manrope</vt:lpstr>
      <vt:lpstr>Neue Haas Grotesk Text Pro</vt:lpstr>
      <vt:lpstr>Segoe UI</vt:lpstr>
      <vt:lpstr>PunchcardVTI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Best Practices in Visualisation</vt:lpstr>
      <vt:lpstr>PowerPoint Presentation</vt:lpstr>
      <vt:lpstr>The chart selection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Correlation Analysis</vt:lpstr>
      <vt:lpstr>Pearson’s Correlation  Coefficient</vt:lpstr>
      <vt:lpstr>Correlation Causation </vt:lpstr>
      <vt:lpstr>Limitations of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27</cp:revision>
  <dcterms:created xsi:type="dcterms:W3CDTF">2025-11-05T12:47:00Z</dcterms:created>
  <dcterms:modified xsi:type="dcterms:W3CDTF">2026-02-18T22:28:52Z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