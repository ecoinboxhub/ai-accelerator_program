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68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3863" y="576251"/>
            <a:ext cx="3799501" cy="2149804"/>
          </a:xfrm>
        </p:spPr>
        <p:txBody>
          <a:bodyPr anchor="t"/>
          <a:lstStyle>
            <a:lvl1pPr algn="l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3863" y="3212430"/>
            <a:ext cx="3799501" cy="1106383"/>
          </a:xfrm>
        </p:spPr>
        <p:txBody>
          <a:bodyPr anchor="b"/>
          <a:lstStyle>
            <a:lvl1pPr marL="0" indent="0" algn="l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5196" y="342900"/>
            <a:ext cx="2706154" cy="273844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9E91172A-D17D-C180-F3B1-0141247E2D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11212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5377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close up of a logo&#10;&#10;AI-generated content may be incorrect.">
            <a:extLst>
              <a:ext uri="{FF2B5EF4-FFF2-40B4-BE49-F238E27FC236}">
                <a16:creationId xmlns:a16="http://schemas.microsoft.com/office/drawing/2014/main" id="{7EC6D666-5D0B-8C45-3F9D-885CF10834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3187" y="342900"/>
            <a:ext cx="637941" cy="460594"/>
          </a:xfrm>
          <a:prstGeom prst="rect">
            <a:avLst/>
          </a:prstGeom>
        </p:spPr>
      </p:pic>
      <p:pic>
        <p:nvPicPr>
          <p:cNvPr id="10" name="Picture 9" descr="A blue and orange lines&#10;&#10;AI-generated content may be incorrect.">
            <a:extLst>
              <a:ext uri="{FF2B5EF4-FFF2-40B4-BE49-F238E27FC236}">
                <a16:creationId xmlns:a16="http://schemas.microsoft.com/office/drawing/2014/main" id="{BB434980-A235-A835-9CA9-3906FF866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8661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6263"/>
            <a:ext cx="3799501" cy="175107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3191590"/>
            <a:ext cx="3799501" cy="1125140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13001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37995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9497C09-89AE-6371-9DD4-75A5AF8DBC69}"/>
              </a:ext>
            </a:extLst>
          </p:cNvPr>
          <p:cNvGrpSpPr/>
          <p:nvPr/>
        </p:nvGrpSpPr>
        <p:grpSpPr>
          <a:xfrm>
            <a:off x="4651041" y="0"/>
            <a:ext cx="4492959" cy="5143501"/>
            <a:chOff x="6201388" y="0"/>
            <a:chExt cx="5990612" cy="685800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B6198FF7-E543-F648-F22D-7A5A5F2906F4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5" name="Freeform 46">
              <a:extLst>
                <a:ext uri="{FF2B5EF4-FFF2-40B4-BE49-F238E27FC236}">
                  <a16:creationId xmlns:a16="http://schemas.microsoft.com/office/drawing/2014/main" id="{07271CCF-0DC3-3BF8-249C-3411FA74D96D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6" name="Freeform 48">
              <a:extLst>
                <a:ext uri="{FF2B5EF4-FFF2-40B4-BE49-F238E27FC236}">
                  <a16:creationId xmlns:a16="http://schemas.microsoft.com/office/drawing/2014/main" id="{CABBBCC2-237F-CBEA-84B0-1079062AC561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D6B8E4F2-524D-24A8-86F4-1792F6E50E8B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BE0BD260-421F-B483-B4A0-37FEFB3374F9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E7D44ADD-B4C5-FBF7-10B0-325421A0D6C9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65" name="Freeform 63">
              <a:extLst>
                <a:ext uri="{FF2B5EF4-FFF2-40B4-BE49-F238E27FC236}">
                  <a16:creationId xmlns:a16="http://schemas.microsoft.com/office/drawing/2014/main" id="{5593C120-03DA-0B74-3A14-C5E66EDC4F9C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2E836D48-4A84-EAB5-F726-7655BEFF3EB4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0A3C7E49-0C95-45AB-FF02-F449805F0F82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F28514-8A8B-6BB2-9BC7-3D9A99443AA9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36FC6122-5293-4627-86DE-6601FA92141B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443DE6D-7BB4-A4DD-F128-91CF73CEBFBE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DA35F092-ECC3-7737-485B-16E2C5DBBD9C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03BEB774-3617-CD14-3987-72B21781DF42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5958338-951C-A8ED-487F-7A180F97702A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6AAD3E28-B829-0A7D-41FB-9F6EC11DF07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80446E0C-7C6F-48A3-9347-464A70687F1E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3E242CA4-6284-C376-4F9A-836D395DD50F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95B8F67F-0DC3-A4B2-71FF-A3483FA75FC1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290C650-6E01-A169-3427-A0621B17A73B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36D4EC3C-D579-E8BB-FE8E-09E88C14B686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55D23B81-F939-BBDA-DD0D-632F19F07160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80FE3946-719E-8689-941C-2DA992DE45D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10F47F19-AA93-0318-795C-11AA315F23CD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pic>
        <p:nvPicPr>
          <p:cNvPr id="83" name="Picture 82" descr="A close up of a logo&#10;&#10;AI-generated content may be incorrect.">
            <a:extLst>
              <a:ext uri="{FF2B5EF4-FFF2-40B4-BE49-F238E27FC236}">
                <a16:creationId xmlns:a16="http://schemas.microsoft.com/office/drawing/2014/main" id="{5AB071D6-F70F-FC27-1E58-03B4EB9BF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49214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2138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92229" y="1774317"/>
            <a:ext cx="3929634" cy="25466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logo&#10;&#10;AI-generated content may be incorrect.">
            <a:extLst>
              <a:ext uri="{FF2B5EF4-FFF2-40B4-BE49-F238E27FC236}">
                <a16:creationId xmlns:a16="http://schemas.microsoft.com/office/drawing/2014/main" id="{17E75DCB-E0A9-8AE4-118D-B6472684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33426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5196" y="576072"/>
            <a:ext cx="5500116" cy="9532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1612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1612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87300" y="1774317"/>
            <a:ext cx="3929634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7300" y="2392251"/>
            <a:ext cx="3929634" cy="1928668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close up of a logo&#10;&#10;AI-generated content may be incorrect.">
            <a:extLst>
              <a:ext uri="{FF2B5EF4-FFF2-40B4-BE49-F238E27FC236}">
                <a16:creationId xmlns:a16="http://schemas.microsoft.com/office/drawing/2014/main" id="{A284F8FC-5CB3-2BD1-2B02-652458337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57620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close up of a logo&#10;&#10;AI-generated content may be incorrect.">
            <a:extLst>
              <a:ext uri="{FF2B5EF4-FFF2-40B4-BE49-F238E27FC236}">
                <a16:creationId xmlns:a16="http://schemas.microsoft.com/office/drawing/2014/main" id="{46350139-760A-2B49-EEAB-39A916ACA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2414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Picture 1" descr="A close up of a logo&#10;&#10;AI-generated content may be incorrect.">
            <a:extLst>
              <a:ext uri="{FF2B5EF4-FFF2-40B4-BE49-F238E27FC236}">
                <a16:creationId xmlns:a16="http://schemas.microsoft.com/office/drawing/2014/main" id="{182C52E2-8AF9-D7F6-D5D6-D023C913EA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67" y="4432667"/>
            <a:ext cx="637941" cy="46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2392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 dirty="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rgbClr val="FBA3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3730"/>
            <a:ext cx="2707487" cy="1046282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8624" y="578167"/>
            <a:ext cx="4584388" cy="3600428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2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2"/>
            <a:ext cx="2707487" cy="2781729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31467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rgbClr val="45C2C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7"/>
            <a:ext cx="2707487" cy="1041845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917879" y="668113"/>
            <a:ext cx="4545102" cy="3652808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3863" y="1620013"/>
            <a:ext cx="2707487" cy="27009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2213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6696396" y="0"/>
            <a:ext cx="2447604" cy="51435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14860" y="4605814"/>
            <a:ext cx="610362" cy="273844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423862" y="4565333"/>
            <a:ext cx="55013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46778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7717736" y="0"/>
            <a:ext cx="1426265" cy="51435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712572" y="732472"/>
            <a:ext cx="1701380" cy="3588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23863" y="732472"/>
            <a:ext cx="6198043" cy="3588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423863" y="4565333"/>
            <a:ext cx="8293758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66094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8359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863" y="578168"/>
            <a:ext cx="5501876" cy="9517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3863" y="1620012"/>
            <a:ext cx="5501876" cy="27009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5196" y="342900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5/2/2026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3863" y="4605814"/>
            <a:ext cx="27061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107259" y="4605814"/>
            <a:ext cx="610362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 descr="A blue and orange lines&#10;&#10;AI-generated content may be incorrect.">
            <a:extLst>
              <a:ext uri="{FF2B5EF4-FFF2-40B4-BE49-F238E27FC236}">
                <a16:creationId xmlns:a16="http://schemas.microsoft.com/office/drawing/2014/main" id="{F23C8295-36EB-A2A0-C558-ADBA49D80375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199"/>
          <a:stretch>
            <a:fillRect/>
          </a:stretch>
        </p:blipFill>
        <p:spPr>
          <a:xfrm rot="5400000">
            <a:off x="4282916" y="282416"/>
            <a:ext cx="578168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955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5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35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675"/>
        </a:spcBef>
        <a:buFont typeface="Arial" panose="020B0604020202020204" pitchFamily="34" charset="0"/>
        <a:buChar char="•"/>
        <a:defRPr sz="105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6309360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784848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7260336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7735824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211312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6309360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6784848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7260336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7735824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211312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6309360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6784848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7260336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7735824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8211312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365760" y="100584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ML System Design</a:t>
            </a:r>
            <a:endParaRPr lang="en-US" sz="3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&amp; Project Development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365760" y="28346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Production-Ready AI Systems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080760" y="1371600"/>
            <a:ext cx="2834640" cy="1005840"/>
          </a:xfrm>
          <a:prstGeom prst="rect">
            <a:avLst/>
          </a:prstGeom>
          <a:solidFill>
            <a:schemeClr val="tx1">
              <a:alpha val="60000"/>
            </a:scheme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172200" y="142646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</a:rPr>
              <a:t>Part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72200" y="16642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8:00–9:30 AM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172200" y="192024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CCD8"/>
                </a:solidFill>
              </a:rPr>
              <a:t>ML System Design Workshop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80760" y="2651760"/>
            <a:ext cx="2834640" cy="1005840"/>
          </a:xfrm>
          <a:prstGeom prst="rect">
            <a:avLst/>
          </a:prstGeom>
          <a:solidFill>
            <a:schemeClr val="tx1">
              <a:alpha val="60000"/>
            </a:schemeClr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6172200" y="27066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</a:rPr>
              <a:t>Part 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72200" y="294436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9:30–10:45 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172200" y="32004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AACCD8"/>
                </a:solidFill>
              </a:rPr>
              <a:t>Open Project Dev Time</a:t>
            </a:r>
            <a:endParaRPr lang="en-US" sz="95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BE9091-2901-CA25-AC30-3CC2D9104E95}"/>
              </a:ext>
            </a:extLst>
          </p:cNvPr>
          <p:cNvSpPr txBox="1"/>
          <p:nvPr/>
        </p:nvSpPr>
        <p:spPr>
          <a:xfrm>
            <a:off x="365761" y="3465498"/>
            <a:ext cx="1426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Week 10</a:t>
            </a:r>
            <a:endParaRPr lang="en-NG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</a:rPr>
              <a:t>OPENING STORY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Loan Denied. A System Redesigned.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2377440"/>
          </a:xfrm>
          <a:prstGeom prst="rect">
            <a:avLst/>
          </a:prstGeom>
          <a:solidFill>
            <a:srgbClr val="0F2233"/>
          </a:solidFill>
          <a:ln w="1270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8DDE8"/>
                </a:solidFill>
              </a:rPr>
              <a:t>Amara, a vegetable trader in Lagos, walks into a microfinance bank. She has been selling goods for 12 years, serves over 80 customers weekly, and has never defaulted on a market cooperative loan.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DE8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F6B35"/>
                </a:solidFill>
              </a:rPr>
              <a:t>The bank's traditional credit model rejects her — no formal credit history, no salary slip, no collateral.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DE8"/>
                </a:solidFill>
              </a:rPr>
              <a:t> 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C8DDE8"/>
                </a:solidFill>
              </a:rPr>
              <a:t>Six months later, Periculum, a Nigerian AI fintech, builds an ML credit scoring system that reads mobile money patterns, airtime top-ups, and merchant transactions. Amara qualifies. She repays with zero default.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886200"/>
            <a:ext cx="2743200" cy="777240"/>
          </a:xfrm>
          <a:prstGeom prst="rect">
            <a:avLst/>
          </a:prstGeom>
          <a:solidFill>
            <a:srgbClr val="1A6B8A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❓  Traditional data isn't the only signal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886200"/>
            <a:ext cx="2743200" cy="777240"/>
          </a:xfrm>
          <a:prstGeom prst="rect">
            <a:avLst/>
          </a:prstGeom>
          <a:solidFill>
            <a:srgbClr val="1A6B8A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383280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⚙️  System design determines real-world impact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886200"/>
            <a:ext cx="2743200" cy="777240"/>
          </a:xfrm>
          <a:prstGeom prst="rect">
            <a:avLst/>
          </a:prstGeom>
          <a:solidFill>
            <a:srgbClr val="1A6B8A"/>
          </a:solidFill>
          <a:ln w="635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309360" y="393192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🇳🇬  African context demands African-first solutions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bg1"/>
                </a:solidFill>
              </a:rPr>
              <a:t>This session teaches you how to build ML systems that make stories like Amara's possible — at scale.</a:t>
            </a:r>
            <a:endParaRPr lang="en-US" sz="10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SESSION 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402336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</a:rPr>
              <a:t>Part 1 · 90 mins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8:00 – 9:30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</a:rPr>
              <a:t>ML System Design Workshop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786384" y="23500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End-to-End Architecture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2916936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786384" y="28620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Production Considerations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42900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786384" y="3374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Monitoring &amp; CI/CD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941064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786384" y="38862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Nigerian Case Study &amp; Workshop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402336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023360" cy="6583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489204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9A7"/>
                </a:solidFill>
              </a:rPr>
              <a:t>Part 2 · 75 mins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49961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9:30 – 10:45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1938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D1B2A"/>
                </a:solidFill>
              </a:rPr>
              <a:t>Open Project Dev Time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37760" y="2404872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5175504" y="23500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Capstone Planning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937760" y="2916936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5175504" y="286207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Generative AI Projects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937760" y="3429000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175504" y="337413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LLM App Refinement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937760" y="3941064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175504" y="3886200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</a:rPr>
              <a:t>Mentorship &amp; Reviews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LEARNING OBJECTIVES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Will Be Able To 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798064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1097280" y="1463040"/>
            <a:ext cx="1097280" cy="10972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60020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11480" y="26517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Design End-to-End ML Systems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3182112"/>
            <a:ext cx="243230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Architect complete pipelines from data ingestion through model serving — including feature stores, training infrastructure, and deployment.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18688" y="1234440"/>
            <a:ext cx="2798064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2" name="Shape 9"/>
          <p:cNvSpPr/>
          <p:nvPr/>
        </p:nvSpPr>
        <p:spPr>
          <a:xfrm>
            <a:off x="4041648" y="1463040"/>
            <a:ext cx="1097280" cy="10972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8808" y="160020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55848" y="26517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Address Production Considerations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01568" y="3182112"/>
            <a:ext cx="243230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Handle latency SLAs, failure modes, fallback strategies, caching, and database design specific to ML workloads.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63056" y="1234440"/>
            <a:ext cx="2798064" cy="35204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Shape 13"/>
          <p:cNvSpPr/>
          <p:nvPr/>
        </p:nvSpPr>
        <p:spPr>
          <a:xfrm>
            <a:off x="6986016" y="1463040"/>
            <a:ext cx="1097280" cy="10972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3176" y="1600200"/>
            <a:ext cx="822960" cy="8229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00216" y="26517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Implement CI/CD for ML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45936" y="3182112"/>
            <a:ext cx="2432304" cy="1444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</a:rPr>
              <a:t>Build automated testing pipelines, model validation gates, and deploy confidently using blue-green and canary strategies.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1 · ARCHITECTURE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System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46304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Ingestion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677924"/>
            <a:ext cx="320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2057400" y="1234440"/>
            <a:ext cx="1463040" cy="96012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2057400" y="1234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Store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20440" y="1677924"/>
            <a:ext cx="320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3840480" y="1234440"/>
            <a:ext cx="1463040" cy="96012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3840480" y="1234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Pipeline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03520" y="1677924"/>
            <a:ext cx="320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5623560" y="1234440"/>
            <a:ext cx="1463040" cy="960120"/>
          </a:xfrm>
          <a:prstGeom prst="rect">
            <a:avLst/>
          </a:prstGeom>
          <a:solidFill>
            <a:srgbClr val="8B5E3C"/>
          </a:solidFill>
          <a:ln w="12700">
            <a:solidFill>
              <a:srgbClr val="8B5E3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5623560" y="1234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Serving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86600" y="1677924"/>
            <a:ext cx="32004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7406640" y="1234440"/>
            <a:ext cx="1463040" cy="960120"/>
          </a:xfrm>
          <a:prstGeom prst="rect">
            <a:avLst/>
          </a:prstGeom>
          <a:solidFill>
            <a:srgbClr val="6B3A7D"/>
          </a:solidFill>
          <a:ln w="12700">
            <a:solidFill>
              <a:srgbClr val="6B3A7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7406640" y="1234440"/>
            <a:ext cx="1463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Monitor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&amp; Alert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233172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2004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Kafka / Pub-Sub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4320" y="2898648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320040" y="2935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Batch + Streaming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346557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2004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Data Validation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032504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20040" y="4069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Data Lake / S3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233172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210312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Feature Engineering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057400" y="2898648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2103120" y="2935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Offline Store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057400" y="346557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210312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Online Store (Redis)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057400" y="4032504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5" name="Text 33"/>
          <p:cNvSpPr/>
          <p:nvPr/>
        </p:nvSpPr>
        <p:spPr>
          <a:xfrm>
            <a:off x="2103120" y="4069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Point-in-time Joins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840480" y="233172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7" name="Text 35"/>
          <p:cNvSpPr/>
          <p:nvPr/>
        </p:nvSpPr>
        <p:spPr>
          <a:xfrm>
            <a:off x="388620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Experiment Tracking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840480" y="2898648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3886200" y="2935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Model Registry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840480" y="346557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1" name="Text 39"/>
          <p:cNvSpPr/>
          <p:nvPr/>
        </p:nvSpPr>
        <p:spPr>
          <a:xfrm>
            <a:off x="388620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Hyperparameter Tuning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840480" y="4032504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3" name="Text 41"/>
          <p:cNvSpPr/>
          <p:nvPr/>
        </p:nvSpPr>
        <p:spPr>
          <a:xfrm>
            <a:off x="3886200" y="4069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Distributed Training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623560" y="233172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566928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REST / gRPC API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623560" y="2898648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7" name="Text 45"/>
          <p:cNvSpPr/>
          <p:nvPr/>
        </p:nvSpPr>
        <p:spPr>
          <a:xfrm>
            <a:off x="5669280" y="2935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Model Gateway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623560" y="346557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9" name="Text 47"/>
          <p:cNvSpPr/>
          <p:nvPr/>
        </p:nvSpPr>
        <p:spPr>
          <a:xfrm>
            <a:off x="566928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Inference Cache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23560" y="4032504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1" name="Text 49"/>
          <p:cNvSpPr/>
          <p:nvPr/>
        </p:nvSpPr>
        <p:spPr>
          <a:xfrm>
            <a:off x="5669280" y="4069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Load Balancing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406640" y="2331720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3" name="Text 51"/>
          <p:cNvSpPr/>
          <p:nvPr/>
        </p:nvSpPr>
        <p:spPr>
          <a:xfrm>
            <a:off x="7452360" y="2368296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Prometheus/Grafana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406640" y="2898648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5" name="Text 53"/>
          <p:cNvSpPr/>
          <p:nvPr/>
        </p:nvSpPr>
        <p:spPr>
          <a:xfrm>
            <a:off x="7452360" y="2935224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Data Drift Detection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7406640" y="3465576"/>
            <a:ext cx="146304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7" name="Text 55"/>
          <p:cNvSpPr/>
          <p:nvPr/>
        </p:nvSpPr>
        <p:spPr>
          <a:xfrm>
            <a:off x="7452360" y="35021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Alerting Rules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06640" y="4032504"/>
            <a:ext cx="1463040" cy="475488"/>
          </a:xfrm>
          <a:prstGeom prst="rect">
            <a:avLst/>
          </a:prstGeom>
          <a:solidFill>
            <a:srgbClr val="EBF4F8"/>
          </a:solidFill>
          <a:ln w="635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9" name="Text 57"/>
          <p:cNvSpPr/>
          <p:nvPr/>
        </p:nvSpPr>
        <p:spPr>
          <a:xfrm>
            <a:off x="7452360" y="4069080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1A2E"/>
                </a:solidFill>
              </a:rPr>
              <a:t>A/B Test Infra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Each layer is independently scalable and replaceable — a key principle of resilient ML system design.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 · DATA LAYER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Storage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20624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Ingestion Patterns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75488" y="17099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Batch Ingestion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75488" y="1956816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Scheduled ETL jobs pull structured data from databases, CRMs, or data warehouses (daily/hourly). Best for historical features.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697480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475488" y="26974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Streaming Ingestion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5488" y="2944368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Apache Kafka / Google Pub-Sub capture real-time events (clicks, transactions). Critical for fraud detection and live scoring.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85032"/>
            <a:ext cx="54864" cy="6583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75488" y="36850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Change Data Capture (CDC)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" y="3931920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Debezium mirrors DB changes in real-time to the data lake without polling overhead.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234440"/>
            <a:ext cx="4206240" cy="36576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4663440" y="1234440"/>
            <a:ext cx="420624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754880" y="12527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Storage Layers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09160" y="1719072"/>
            <a:ext cx="9144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709160" y="171907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Raw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87568" y="1755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S3 / GCS / ADLS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687568" y="199339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Immutable raw data lake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450592"/>
            <a:ext cx="914400" cy="594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4709160" y="245059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87568" y="2487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Delta Lake / Iceberg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87568" y="272491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ACID-compliant analytics store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3182112"/>
            <a:ext cx="9144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4709160" y="318211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87568" y="3218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Feast / Tecton + Redis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687568" y="345643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Online &amp; offline feature store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913632"/>
            <a:ext cx="914400" cy="5943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4709160" y="3913632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Metadata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87568" y="39502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MLflow / DVC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687568" y="418795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Model &amp; dataset versioning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6B8A"/>
                </a:solidFill>
              </a:rPr>
              <a:t>Key Insight: Training-serving skew affects 40% of production models. A unified feature store eliminates this gap.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 · TRAINING PIPELINE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367144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Architecture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034656"/>
            <a:ext cx="5486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74320" y="103465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" y="1601584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960120" y="1071232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 Validation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29983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Great Expectations / TFX validate schema, distributions, and missing values before any model touches the 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784464"/>
            <a:ext cx="5486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274320" y="17844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351392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960120" y="1821040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Engineering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0496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Compute features using the same logic as serving. Store in offline feature store to prevent skew at inference time.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534272"/>
            <a:ext cx="548640" cy="5669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74320" y="253427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21208" y="3101200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960120" y="25708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Experiment Tracking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60120" y="279944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MLflow / Weights &amp; Biases log hyperparameters, metrics, and artifacts for every run. Never train blind.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284080"/>
            <a:ext cx="548640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274320" y="328408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21208" y="3851008"/>
            <a:ext cx="54864" cy="18288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960120" y="332065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Distributed Training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" y="354925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Ray / Spark ML / Horovod scale across GPUs or nodes. Use spot instances to cut costs 60–80%.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4033888"/>
            <a:ext cx="548640" cy="56692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274320" y="403388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07046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Registry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29906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Validated models are tagged (staging → production) in the registry. Only registered models can be deployed.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1034656"/>
            <a:ext cx="3291840" cy="3712464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Text 29"/>
          <p:cNvSpPr/>
          <p:nvPr/>
        </p:nvSpPr>
        <p:spPr>
          <a:xfrm>
            <a:off x="5669280" y="1098664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Recommended Tooling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5623560" y="1482712"/>
            <a:ext cx="1280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Text 31"/>
          <p:cNvSpPr/>
          <p:nvPr/>
        </p:nvSpPr>
        <p:spPr>
          <a:xfrm>
            <a:off x="5623560" y="14827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Orchestration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949440" y="151928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Apache Airflow, Prefect, Kubeflow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23560" y="2003920"/>
            <a:ext cx="1280160" cy="38404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5623560" y="200392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Experiment Track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949440" y="2040496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MLflow, Weights &amp; Biases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23560" y="2525128"/>
            <a:ext cx="1280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9" name="Text 37"/>
          <p:cNvSpPr/>
          <p:nvPr/>
        </p:nvSpPr>
        <p:spPr>
          <a:xfrm>
            <a:off x="5623560" y="2525128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Distributed Train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949440" y="2561704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Ray Train, Horovod, SageMaker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23560" y="3046336"/>
            <a:ext cx="1280160" cy="38404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5623560" y="3046336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Data Validation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49440" y="3082912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Great Expectations, TFX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623560" y="3567544"/>
            <a:ext cx="12801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5" name="Text 43"/>
          <p:cNvSpPr/>
          <p:nvPr/>
        </p:nvSpPr>
        <p:spPr>
          <a:xfrm>
            <a:off x="5623560" y="3567544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Model Registry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949440" y="36041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MLflow Registry, Vertex AI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623560" y="4088752"/>
            <a:ext cx="1280160" cy="38404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Text 46"/>
          <p:cNvSpPr/>
          <p:nvPr/>
        </p:nvSpPr>
        <p:spPr>
          <a:xfrm>
            <a:off x="5623560" y="408875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Compute (Cost)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949440" y="4125328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Spot/Preemptible + auto-scaling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86645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chemeClr val="bg1"/>
                </a:solidFill>
              </a:rPr>
              <a:t>Pro Tip: Use spot/preemptible instances for training to cut compute costs by up to 80%.</a:t>
            </a:r>
            <a:endParaRPr lang="en-US" sz="8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 · MODEL SERVING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 Infrastructure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2062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09728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Serving Patterns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673352"/>
            <a:ext cx="38862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Online (REST/gRPC) for real-time: p99 latency &lt; 200ms. Batch (Spark) for offline scoring millions of records. Edge (TFLite) eliminates network latency entirely — ideal for low-bandwidth regions like rural Nigeria.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234440"/>
            <a:ext cx="42062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09728" cy="182880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4864608" y="1344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Feature &amp; Inference Caching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64608" y="1673352"/>
            <a:ext cx="38862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Feature cache (Redis/Memcached): stores frequently-accessed user profiles for sub-millisecond lookups.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Inference cache: returns stored predictions for identical inputs — reduces serving costs up to 70% (Pinterest case study).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Result cache: API gateway caches final responses.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2062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109728" cy="18288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475488" y="3218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Model Gateway &amp; Load Balancing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" y="3547872"/>
            <a:ext cx="38862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The gateway handles routing, authentication, rate limiting, and versioning (v1 vs v2 models). Load balancers distribute inference requests across replicas. Monitor resource utilization to avoid bottlenecks — scale horizontally under load.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206240" cy="182880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4663440" y="3108960"/>
            <a:ext cx="109728" cy="1828800"/>
          </a:xfrm>
          <a:prstGeom prst="rect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4864608" y="321868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Database Design for ML Apps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64608" y="3547872"/>
            <a:ext cx="38862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Prediction store (Postgres/Cassandra): persists request features, predictions, and metadata for debugging.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Model metadata DB: versions, performance metrics, lineage.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Vector DB (Pinecone/Weaviate): for embedding-based similarity search in recommendation and search systems.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 · MONITORING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914400" y="1280160"/>
            <a:ext cx="731520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7315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Business Metrics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8470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Conversion rate, revenue impact, loan approval accuracy, customer satisfaction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548640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1828800" y="2240280"/>
            <a:ext cx="5486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 Quality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2807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Precision, Recall, F1, AUC-ROC on labeled data + data drift (statistical tests on live vs training distributions)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0" y="3200400"/>
            <a:ext cx="3657600" cy="53035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2743200" y="320040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Infrastructure / Ops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76732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Request latency (p50/p95/p99), throughput (RPS), error rates, CPU/GPU utilization, service uptime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74904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2A"/>
                </a:solidFill>
              </a:rPr>
              <a:t>Key Monitoring Tools &amp; Techniques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4114800"/>
            <a:ext cx="19933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365760" y="41605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Prometheus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+ Grafana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Dashboards for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operational metrics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50592" y="4114800"/>
            <a:ext cx="19933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2542032" y="41605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Evidently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/ Arize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42032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Detect data drift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&amp; model degradation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26864" y="4114800"/>
            <a:ext cx="19933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4718304" y="41605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A/B Testing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Infra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18304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Statistical significance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for model comparisons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803136" y="4114800"/>
            <a:ext cx="1993392" cy="86868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6894576" y="41605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Logging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(ELK Stack)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894576" y="448056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Debug production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prediction paths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98517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rgbClr val="1A6B8A"/>
                </a:solidFill>
              </a:rPr>
              <a:t>Critical: Real-world events like Zillow's pricing model failure confirm that monitoring is not optional — it's existential.</a:t>
            </a:r>
            <a:endParaRPr lang="en-US" sz="9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PRODUCTION CONSIDERATIONS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Requirements &amp; SLAs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411480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65760" y="12527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Latency Tiers by Use Case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20040" y="1709928"/>
            <a:ext cx="73152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493776" y="17465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Fraud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" y="19659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SLA: &lt; 50ms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12140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In-memory cache + pre-computed features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96312"/>
            <a:ext cx="73152" cy="62179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493776" y="2532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Credit Scoring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" y="275234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SLA: &lt; 500ms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93776" y="290779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Online feature store + cached 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282696"/>
            <a:ext cx="73152" cy="62179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493776" y="33192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Recommendation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" y="35387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6B8A"/>
                </a:solidFill>
              </a:rPr>
              <a:t>SLA: &lt; 200ms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93776" y="36941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Pre-scored candidates + re-rank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069080"/>
            <a:ext cx="73152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93776" y="41056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Batch Analytics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" y="43251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SLA: Minutes–Hours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" y="44805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Spark / distributed batch job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1234440"/>
            <a:ext cx="429768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4572000" y="1234440"/>
            <a:ext cx="429768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663440" y="125272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Failure Handling &amp; Fallbacks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663440" y="17465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Circuit Breaker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63440" y="198424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Automatically halt calls to a failing model service and switch to fallback — prevents cascading failures.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63440" y="25328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Graceful Degradation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277063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If ML model is unavailable, revert to rule-based heuristics (e.g., simple credit score threshold) — better than returning errors.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3319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Timeout + Retry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663440" y="355701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Set strict per-request timeouts (e.g., 200ms). Retry once with exponential backoff. Return cached result on second failure.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663440" y="410565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Stale Prediction Cache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34340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Serve the last-known good prediction while the model recovers. Clearly label as stale in API response metadata.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331720" y="220071"/>
            <a:ext cx="694224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1A6B8A"/>
                </a:solidFill>
              </a:rPr>
              <a:t>Rule of thumb: Success is determined not only by model accuracy, but by how well it meets real-world constraints.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DEEP DIVE · CI/CD FOR ML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for Machine Learning Systems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126187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28600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28600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490472" y="1609344"/>
            <a:ext cx="14630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1636776" y="1234440"/>
            <a:ext cx="126187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1636776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636776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Automated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898648" y="1609344"/>
            <a:ext cx="14630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3044952" y="1234440"/>
            <a:ext cx="1261872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3044952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44952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06824" y="1609344"/>
            <a:ext cx="14630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4453128" y="1234440"/>
            <a:ext cx="1261872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Text 17"/>
          <p:cNvSpPr/>
          <p:nvPr/>
        </p:nvSpPr>
        <p:spPr>
          <a:xfrm>
            <a:off x="4453128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453128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Model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Training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715000" y="1609344"/>
            <a:ext cx="14630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5861304" y="1234440"/>
            <a:ext cx="1261872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5861304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61304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Validation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Gates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123176" y="1609344"/>
            <a:ext cx="146304" cy="731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7269480" y="1234440"/>
            <a:ext cx="1261872" cy="8229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7269480" y="1243584"/>
            <a:ext cx="1261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9A7"/>
                </a:solidFill>
              </a:rPr>
              <a:t>06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269480" y="1444752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Staged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Deploy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2240280"/>
            <a:ext cx="2084832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365760" y="23042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Automated Tests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38912" y="271576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40080" y="2660904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Unit tests for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feature code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38912" y="3374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640080" y="3319272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Integration tests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for pipelines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" y="4032504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640080" y="397764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Linting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type checks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487168" y="2240280"/>
            <a:ext cx="2084832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2578608" y="23042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Data Validation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651760" y="271576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2852928" y="2660904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Schema checks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vs baseline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51760" y="3374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2852928" y="3319272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Distribution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statistical tests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651760" y="4032504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4" name="Text 42"/>
          <p:cNvSpPr/>
          <p:nvPr/>
        </p:nvSpPr>
        <p:spPr>
          <a:xfrm>
            <a:off x="2852928" y="397764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Missing value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thresholds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00016" y="2240280"/>
            <a:ext cx="2084832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46" name="Text 44"/>
          <p:cNvSpPr/>
          <p:nvPr/>
        </p:nvSpPr>
        <p:spPr>
          <a:xfrm>
            <a:off x="4791456" y="23042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Model Training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64608" y="271576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8" name="Text 46"/>
          <p:cNvSpPr/>
          <p:nvPr/>
        </p:nvSpPr>
        <p:spPr>
          <a:xfrm>
            <a:off x="5065776" y="2660904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Scheduled &amp;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event-driven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864608" y="3374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0" name="Text 48"/>
          <p:cNvSpPr/>
          <p:nvPr/>
        </p:nvSpPr>
        <p:spPr>
          <a:xfrm>
            <a:off x="5065776" y="3319272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Hyperparameter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auto-tuning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64608" y="4032504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2" name="Text 50"/>
          <p:cNvSpPr/>
          <p:nvPr/>
        </p:nvSpPr>
        <p:spPr>
          <a:xfrm>
            <a:off x="5065776" y="397764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Distributed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across GPUs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12864" y="2240280"/>
            <a:ext cx="2084832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54" name="Text 52"/>
          <p:cNvSpPr/>
          <p:nvPr/>
        </p:nvSpPr>
        <p:spPr>
          <a:xfrm>
            <a:off x="7004304" y="2304288"/>
            <a:ext cx="1901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1B2A"/>
                </a:solidFill>
              </a:rPr>
              <a:t>Validation Gates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077456" y="2715768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6" name="Text 54"/>
          <p:cNvSpPr/>
          <p:nvPr/>
        </p:nvSpPr>
        <p:spPr>
          <a:xfrm>
            <a:off x="7278624" y="2660904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Accuracy ≥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baseline threshold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077456" y="3374136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8" name="Text 56"/>
          <p:cNvSpPr/>
          <p:nvPr/>
        </p:nvSpPr>
        <p:spPr>
          <a:xfrm>
            <a:off x="7278624" y="3319272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Bias &amp; fairness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checks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077456" y="4032504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0" name="Text 58"/>
          <p:cNvSpPr/>
          <p:nvPr/>
        </p:nvSpPr>
        <p:spPr>
          <a:xfrm>
            <a:off x="7278624" y="3977640"/>
            <a:ext cx="162763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Performance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benchmarks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778240" y="2240280"/>
            <a:ext cx="182880" cy="2606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62" name="Text 60"/>
          <p:cNvSpPr/>
          <p:nvPr/>
        </p:nvSpPr>
        <p:spPr>
          <a:xfrm>
            <a:off x="274320" y="484632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chemeClr val="bg1"/>
                </a:solidFill>
              </a:rPr>
              <a:t>Tools: GitHub Actions · Jenkins · GitLab CI · DVC · CML (Continuous Machine Learning)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DEPLOYMENT STRATEGIES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Blue-Green, Canary &amp; Rollback Procedures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228600" y="1234440"/>
            <a:ext cx="2834640" cy="43891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Blue-Green Deployment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How it works: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Maintain two identical environments. Route 100% traffic to Blue (current). Deploy to Green. Switch traffic instantly.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2514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5E"/>
                </a:solidFill>
              </a:rPr>
              <a:t>✔ Pros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7066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Zero downtime switchover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29443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Instant rollback — flip traffic back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Green environment tested pre-switch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4381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✘ Cons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630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2× infrastructure cost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931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D1B2A"/>
                </a:solidFill>
              </a:rPr>
              <a:t>Best for: Mission-critical updates; low-risk tolerance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00400" y="123444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3200400" y="1234440"/>
            <a:ext cx="2834640" cy="438912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3291840" y="1252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Canary Deployment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How it works: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918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Deploy new model to a small % of users (e.g., 5%). Monitor metrics. Gradually increase to 25% → 50% → 100%.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91840" y="2514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5E"/>
                </a:solidFill>
              </a:rPr>
              <a:t>✔ Pros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337560" y="27066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Minimal blast radius on failure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37560" y="29443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Real-world feedback before full rollout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33756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Easy automated rollback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291840" y="34381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✘ Cons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3630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Requires sophisticated monitoring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3931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A6B8A"/>
                </a:solidFill>
              </a:rPr>
              <a:t>Best for: Iterative releases; high-traffic systems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1234440"/>
            <a:ext cx="283464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6172200" y="1234440"/>
            <a:ext cx="2834640" cy="4389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263640" y="125272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Rollback Procedures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173736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How it works: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1920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Version all models in registry. Define automated rollback triggers (accuracy drop &gt; 2%, error rate &gt; 1%). Keep previous model warm.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263640" y="251460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7A5E"/>
                </a:solidFill>
              </a:rPr>
              <a:t>✔ Pros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270662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Automated trigger on metric breach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309360" y="29443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Previous model always available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309360" y="3182112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+ Audit trail in model registry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343814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✘ Cons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09360" y="3630168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</a:rPr>
              <a:t>Requires clear rollback SLOs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63640" y="393192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FF6B35"/>
                </a:solidFill>
              </a:rPr>
              <a:t>Best for: Always required — every deployment needs a rollback plan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28600" y="4846320"/>
            <a:ext cx="8686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i="1" dirty="0">
                <a:solidFill>
                  <a:srgbClr val="0D1B2A"/>
                </a:solidFill>
              </a:rPr>
              <a:t>Rule: Canary has the lowest risk. Blue-Green has the fastest rollback. Never ship without a rollback plan.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</a:rPr>
              <a:t>CASE 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Credit Scoring for Nigerian Microfinance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C9A7"/>
                </a:solidFill>
              </a:rPr>
              <a:t>Inspired by: LAPO Microfinance Bank Research &amp; Periculum AI (UNDP Nigeria)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51760" cy="914400"/>
          </a:xfrm>
          <a:prstGeom prst="rect">
            <a:avLst/>
          </a:prstGeom>
          <a:solidFill>
            <a:srgbClr val="1A6B8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~40M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Financially Excluded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Nigerians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17320"/>
            <a:ext cx="2651760" cy="914400"/>
          </a:xfrm>
          <a:prstGeom prst="rect">
            <a:avLst/>
          </a:prstGeom>
          <a:solidFill>
            <a:srgbClr val="1A6B8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291840" y="1463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&lt; 5%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91840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Adults with Formal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Credit History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51760" cy="914400"/>
          </a:xfrm>
          <a:prstGeom prst="rect">
            <a:avLst/>
          </a:prstGeom>
          <a:solidFill>
            <a:srgbClr val="1A6B8A"/>
          </a:solidFill>
          <a:ln w="1016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Text 11"/>
          <p:cNvSpPr/>
          <p:nvPr/>
        </p:nvSpPr>
        <p:spPr>
          <a:xfrm>
            <a:off x="6217920" y="146304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60%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217920" y="1920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Faster Loan Processing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AACCD8"/>
                </a:solidFill>
              </a:rPr>
              <a:t>with AI (Periculum)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487168"/>
            <a:ext cx="16459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365760" y="24871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Sources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011680" y="2487168"/>
            <a:ext cx="6766560" cy="365760"/>
          </a:xfrm>
          <a:prstGeom prst="rect">
            <a:avLst/>
          </a:prstGeom>
          <a:solidFill>
            <a:srgbClr val="0F2233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2103120" y="252374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Mobile money (M-Pesa/Paga), SMS patterns, airtime recharges, BVN records, merchant POS, social graph proxies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898648"/>
            <a:ext cx="1645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Text 18"/>
          <p:cNvSpPr/>
          <p:nvPr/>
        </p:nvSpPr>
        <p:spPr>
          <a:xfrm>
            <a:off x="365760" y="289864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Engineering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11680" y="2898648"/>
            <a:ext cx="6766560" cy="365760"/>
          </a:xfrm>
          <a:prstGeom prst="rect">
            <a:avLst/>
          </a:prstGeom>
          <a:solidFill>
            <a:srgbClr val="13294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2103120" y="293522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30/60/90-day transaction velocity, recharge regularity, income proxy, merchant category diversity, peer group behaviour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310128"/>
            <a:ext cx="16459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Model Architecture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3310128"/>
            <a:ext cx="6766560" cy="365760"/>
          </a:xfrm>
          <a:prstGeom prst="rect">
            <a:avLst/>
          </a:prstGeom>
          <a:solidFill>
            <a:srgbClr val="0F2233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Text 24"/>
          <p:cNvSpPr/>
          <p:nvPr/>
        </p:nvSpPr>
        <p:spPr>
          <a:xfrm>
            <a:off x="2103120" y="334670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XGBoost (interpretable) + LightGBM ensemble. Logistic regression baseline. SHAP for explainability &amp; regulatory audit trail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721608"/>
            <a:ext cx="1645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Text 26"/>
          <p:cNvSpPr/>
          <p:nvPr/>
        </p:nvSpPr>
        <p:spPr>
          <a:xfrm>
            <a:off x="365760" y="372160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Serving Infrastructure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011680" y="3721608"/>
            <a:ext cx="6766560" cy="365760"/>
          </a:xfrm>
          <a:prstGeom prst="rect">
            <a:avLst/>
          </a:prstGeom>
          <a:solidFill>
            <a:srgbClr val="13294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Text 28"/>
          <p:cNvSpPr/>
          <p:nvPr/>
        </p:nvSpPr>
        <p:spPr>
          <a:xfrm>
            <a:off x="2103120" y="375818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FastAPI on Kubernetes. Redis feature cache. Target p99 &lt; 500ms. Fallback to rule-based score on ML outage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1645920" cy="365760"/>
          </a:xfrm>
          <a:prstGeom prst="rect">
            <a:avLst/>
          </a:prstGeom>
          <a:solidFill>
            <a:srgbClr val="1A6B8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365760" y="413308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Compliance / Ethics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011680" y="4133088"/>
            <a:ext cx="6766560" cy="365760"/>
          </a:xfrm>
          <a:prstGeom prst="rect">
            <a:avLst/>
          </a:prstGeom>
          <a:solidFill>
            <a:srgbClr val="0F2233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2103120" y="416966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CBN regulatory alignment. Bias auditing across gender &amp; geography. NDPR data privacy. No discriminatory proxies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4544568"/>
            <a:ext cx="1645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365760" y="4544568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Monitoring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011680" y="4544568"/>
            <a:ext cx="6766560" cy="365760"/>
          </a:xfrm>
          <a:prstGeom prst="rect">
            <a:avLst/>
          </a:prstGeom>
          <a:solidFill>
            <a:srgbClr val="132940"/>
          </a:solidFill>
          <a:ln w="12700">
            <a:solidFill>
              <a:srgbClr val="1A3A55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2103120" y="4581144"/>
            <a:ext cx="6583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8DDE8"/>
                </a:solidFill>
              </a:rPr>
              <a:t>Weekly AUC tracking on labeled repayment data. Drift alerts on transaction patterns. A/B test for model updates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WORKSHOP ACTIVITY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Own ML System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You have 30 minutes. Work individually or in pairs. Present to peers for structured feedback.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160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822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1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1572768"/>
            <a:ext cx="333756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Text 9"/>
          <p:cNvSpPr/>
          <p:nvPr/>
        </p:nvSpPr>
        <p:spPr>
          <a:xfrm>
            <a:off x="1152144" y="159105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Choose Your Problem  ·  5 mins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Select a use case relevant to your capstone. Examples: loan default prediction, customer churn, crop yield estimation, traffic congestion, health triage.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572768"/>
            <a:ext cx="4160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4709160" y="1572768"/>
            <a:ext cx="8229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Text 13"/>
          <p:cNvSpPr/>
          <p:nvPr/>
        </p:nvSpPr>
        <p:spPr>
          <a:xfrm>
            <a:off x="4709160" y="157276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32120" y="1572768"/>
            <a:ext cx="333756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5586984" y="1591056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Sketch the Architecture  ·  10 mins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048256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Draw the 5 layers: data sources → feature store → training pipeline → serving → monitoring. Identify each tool/technology you would use.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255264"/>
            <a:ext cx="4160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2296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274320" y="3255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3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97280" y="3255264"/>
            <a:ext cx="333756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1152144" y="32735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Document Decisions  ·  8 mins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37307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Answer: What SLA does your use case require? What is your fallback strategy? How do you detect model drift? What compliance considerations apply?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3255264"/>
            <a:ext cx="4160520" cy="1572768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4709160" y="3255264"/>
            <a:ext cx="822960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4709160" y="32552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Step 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32120" y="3255264"/>
            <a:ext cx="3337560" cy="384048"/>
          </a:xfrm>
          <a:prstGeom prst="rect">
            <a:avLst/>
          </a:prstGeom>
          <a:solidFill>
            <a:srgbClr val="EB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5586984" y="3273552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Peer Review  ·  7 mins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730752"/>
            <a:ext cx="38862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Exchange designs. Give structured feedback: (1) Is the architecture complete? (2) What risks are unaddressed? (3) What would you do differently?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Shape 1"/>
          <p:cNvSpPr/>
          <p:nvPr/>
        </p:nvSpPr>
        <p:spPr>
          <a:xfrm>
            <a:off x="365760" y="164592"/>
            <a:ext cx="2011680" cy="292608"/>
          </a:xfrm>
          <a:prstGeom prst="roundRect">
            <a:avLst>
              <a:gd name="adj" fmla="val 18750"/>
            </a:avLst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Text 2"/>
          <p:cNvSpPr/>
          <p:nvPr/>
        </p:nvSpPr>
        <p:spPr>
          <a:xfrm>
            <a:off x="365760" y="15544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PART 2 · 9:30–10:45 AM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Project Development Time  ·  75 Minutes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859536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365760" y="1225296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Flexible Work Session — Choose Your Focus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700784"/>
            <a:ext cx="281635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274320" y="1700784"/>
            <a:ext cx="2816352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Project Options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" y="2203704"/>
            <a:ext cx="128016" cy="1280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640080" y="2148840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Complete generative AI project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2788920"/>
            <a:ext cx="128016" cy="1280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Text 12"/>
          <p:cNvSpPr/>
          <p:nvPr/>
        </p:nvSpPr>
        <p:spPr>
          <a:xfrm>
            <a:off x="640080" y="273405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Refine or extend your LLM application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" y="3374136"/>
            <a:ext cx="128016" cy="1280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Text 14"/>
          <p:cNvSpPr/>
          <p:nvPr/>
        </p:nvSpPr>
        <p:spPr>
          <a:xfrm>
            <a:off x="640080" y="3319272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Start capstone project planning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8912" y="3959352"/>
            <a:ext cx="128016" cy="128016"/>
          </a:xfrm>
          <a:prstGeom prst="ellipse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Text 16"/>
          <p:cNvSpPr/>
          <p:nvPr/>
        </p:nvSpPr>
        <p:spPr>
          <a:xfrm>
            <a:off x="640080" y="3904488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Integrate previous work into a larger system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46120" y="1700784"/>
            <a:ext cx="281635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3246120" y="1700784"/>
            <a:ext cx="2816352" cy="38404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Text 19"/>
          <p:cNvSpPr/>
          <p:nvPr/>
        </p:nvSpPr>
        <p:spPr>
          <a:xfrm>
            <a:off x="3337560" y="1719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Focus Areas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10712" y="2203704"/>
            <a:ext cx="128016" cy="12801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Text 21"/>
          <p:cNvSpPr/>
          <p:nvPr/>
        </p:nvSpPr>
        <p:spPr>
          <a:xfrm>
            <a:off x="3611880" y="2148840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Apply today's system design patterns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10712" y="2788920"/>
            <a:ext cx="128016" cy="12801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Text 23"/>
          <p:cNvSpPr/>
          <p:nvPr/>
        </p:nvSpPr>
        <p:spPr>
          <a:xfrm>
            <a:off x="3611880" y="273405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Production readiness improvements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10712" y="3374136"/>
            <a:ext cx="128016" cy="12801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3611880" y="3319272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Add documentation &amp; unit tests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10712" y="3959352"/>
            <a:ext cx="128016" cy="128016"/>
          </a:xfrm>
          <a:prstGeom prst="ellipse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Text 27"/>
          <p:cNvSpPr/>
          <p:nvPr/>
        </p:nvSpPr>
        <p:spPr>
          <a:xfrm>
            <a:off x="3611880" y="3904488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Prepare for deployment (containerise, CI/CD)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00784"/>
            <a:ext cx="2816352" cy="3108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1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6217920" y="1700784"/>
            <a:ext cx="2816352" cy="384048"/>
          </a:xfrm>
          <a:prstGeom prst="rect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6309360" y="171907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Mentorship Available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382512" y="2203704"/>
            <a:ext cx="128016" cy="128016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6583680" y="2148840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System architecture reviews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82512" y="2788920"/>
            <a:ext cx="128016" cy="128016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6" name="Text 34"/>
          <p:cNvSpPr/>
          <p:nvPr/>
        </p:nvSpPr>
        <p:spPr>
          <a:xfrm>
            <a:off x="6583680" y="2734056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Technical consultations 1-on-1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82512" y="3374136"/>
            <a:ext cx="128016" cy="128016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8" name="Text 36"/>
          <p:cNvSpPr/>
          <p:nvPr/>
        </p:nvSpPr>
        <p:spPr>
          <a:xfrm>
            <a:off x="6583680" y="3319272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Capstone project ideation support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82512" y="3959352"/>
            <a:ext cx="128016" cy="128016"/>
          </a:xfrm>
          <a:prstGeom prst="ellipse">
            <a:avLst/>
          </a:prstGeom>
          <a:solidFill>
            <a:srgbClr val="7B4F9E"/>
          </a:solidFill>
          <a:ln w="12700">
            <a:solidFill>
              <a:srgbClr val="7B4F9E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0" name="Text 38"/>
          <p:cNvSpPr/>
          <p:nvPr/>
        </p:nvSpPr>
        <p:spPr>
          <a:xfrm>
            <a:off x="6583680" y="3904488"/>
            <a:ext cx="23408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Integration &amp; API design guidance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EBF4F8"/>
          </a:solidFill>
          <a:ln w="12700">
            <a:solidFill>
              <a:srgbClr val="D1E8F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2" name="Text 40"/>
          <p:cNvSpPr/>
          <p:nvPr/>
        </p:nvSpPr>
        <p:spPr>
          <a:xfrm>
            <a:off x="365760" y="4700016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</a:rPr>
              <a:t>💡  Use this time intentionally. If you don't have a project yet — use it to design one. The best capstones start here.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C9A7"/>
                </a:solidFill>
              </a:rPr>
              <a:t>KEY TAKEAWAYS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Carry Forward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75488" cy="11155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41248" y="1280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Architecture is a first-class citizen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41248" y="1572768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System design decisions made early (data pipeline, caching, serving strategy) are far harder to fix later. Design before you code.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4754880" y="1188720"/>
            <a:ext cx="475488" cy="1115568"/>
          </a:xfrm>
          <a:prstGeom prst="rect">
            <a:avLst/>
          </a:prstGeom>
          <a:solidFill>
            <a:srgbClr val="1A6B8A"/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Text 10"/>
          <p:cNvSpPr/>
          <p:nvPr/>
        </p:nvSpPr>
        <p:spPr>
          <a:xfrm>
            <a:off x="4754880" y="1188720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21808" y="12801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Training-serving skew kills production models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321808" y="1572768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40% of production ML models suffer from skew. Use a centralised feature store with unified logic for offline and online serving.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450592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274320" y="2450592"/>
            <a:ext cx="475488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Text 15"/>
          <p:cNvSpPr/>
          <p:nvPr/>
        </p:nvSpPr>
        <p:spPr>
          <a:xfrm>
            <a:off x="274320" y="2450592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25420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Monitoring is not optional — it's existential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41248" y="2834640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Track ops metrics, model quality, and business KPIs. Zillow lost billions from an unmonitored model. Always alert on drift.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450592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4754880" y="2450592"/>
            <a:ext cx="475488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Text 20"/>
          <p:cNvSpPr/>
          <p:nvPr/>
        </p:nvSpPr>
        <p:spPr>
          <a:xfrm>
            <a:off x="4754880" y="2450592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254203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Deploy with confidence, not hope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321808" y="2834640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Use canary releases to limit blast radius. Always maintain a rollback path. Automate validation gates before any model goes live.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712464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274320" y="3712464"/>
            <a:ext cx="475488" cy="111556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Text 25"/>
          <p:cNvSpPr/>
          <p:nvPr/>
        </p:nvSpPr>
        <p:spPr>
          <a:xfrm>
            <a:off x="274320" y="3712464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41248" y="38039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Context matters — especially in Africa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41248" y="409651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Alternative data (mobile money, airtime) unlocks credit access for millions excluded by traditional systems. Build for your context.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712464"/>
            <a:ext cx="4206240" cy="1115568"/>
          </a:xfrm>
          <a:prstGeom prst="rect">
            <a:avLst/>
          </a:prstGeom>
          <a:solidFill>
            <a:srgbClr val="0F2233"/>
          </a:solidFill>
          <a:ln w="10160">
            <a:solidFill>
              <a:srgbClr val="1A4060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4754880" y="3712464"/>
            <a:ext cx="475488" cy="1115568"/>
          </a:xfrm>
          <a:prstGeom prst="rect">
            <a:avLst/>
          </a:prstGeom>
          <a:solidFill>
            <a:srgbClr val="2196A6"/>
          </a:solidFill>
          <a:ln w="12700">
            <a:solidFill>
              <a:srgbClr val="2196A6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Text 30"/>
          <p:cNvSpPr/>
          <p:nvPr/>
        </p:nvSpPr>
        <p:spPr>
          <a:xfrm>
            <a:off x="4754880" y="3712464"/>
            <a:ext cx="475488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21808" y="3803904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C9A7"/>
                </a:solidFill>
              </a:rPr>
              <a:t>Production readiness is a process, not a milestone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321808" y="4096512"/>
            <a:ext cx="35478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CCD8"/>
                </a:solidFill>
              </a:rPr>
              <a:t>CI/CD for ML, automated testing, model registries, and observability pipelines are ongoing practices — not one-time checklists.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4" name="Shape 2"/>
          <p:cNvSpPr/>
          <p:nvPr/>
        </p:nvSpPr>
        <p:spPr>
          <a:xfrm>
            <a:off x="6309360" y="3657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5" name="Shape 3"/>
          <p:cNvSpPr/>
          <p:nvPr/>
        </p:nvSpPr>
        <p:spPr>
          <a:xfrm>
            <a:off x="6784848" y="3657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6" name="Shape 4"/>
          <p:cNvSpPr/>
          <p:nvPr/>
        </p:nvSpPr>
        <p:spPr>
          <a:xfrm>
            <a:off x="7260336" y="3657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7" name="Shape 5"/>
          <p:cNvSpPr/>
          <p:nvPr/>
        </p:nvSpPr>
        <p:spPr>
          <a:xfrm>
            <a:off x="7735824" y="3657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8" name="Shape 6"/>
          <p:cNvSpPr/>
          <p:nvPr/>
        </p:nvSpPr>
        <p:spPr>
          <a:xfrm>
            <a:off x="8211312" y="36576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9" name="Shape 7"/>
          <p:cNvSpPr/>
          <p:nvPr/>
        </p:nvSpPr>
        <p:spPr>
          <a:xfrm>
            <a:off x="6309360" y="1170432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0" name="Shape 8"/>
          <p:cNvSpPr/>
          <p:nvPr/>
        </p:nvSpPr>
        <p:spPr>
          <a:xfrm>
            <a:off x="6784848" y="1170432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1" name="Shape 9"/>
          <p:cNvSpPr/>
          <p:nvPr/>
        </p:nvSpPr>
        <p:spPr>
          <a:xfrm>
            <a:off x="7260336" y="1170432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2" name="Shape 10"/>
          <p:cNvSpPr/>
          <p:nvPr/>
        </p:nvSpPr>
        <p:spPr>
          <a:xfrm>
            <a:off x="7735824" y="1170432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3" name="Shape 11"/>
          <p:cNvSpPr/>
          <p:nvPr/>
        </p:nvSpPr>
        <p:spPr>
          <a:xfrm>
            <a:off x="8211312" y="1170432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4" name="Shape 12"/>
          <p:cNvSpPr/>
          <p:nvPr/>
        </p:nvSpPr>
        <p:spPr>
          <a:xfrm>
            <a:off x="6309360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5" name="Shape 13"/>
          <p:cNvSpPr/>
          <p:nvPr/>
        </p:nvSpPr>
        <p:spPr>
          <a:xfrm>
            <a:off x="6784848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6" name="Shape 14"/>
          <p:cNvSpPr/>
          <p:nvPr/>
        </p:nvSpPr>
        <p:spPr>
          <a:xfrm>
            <a:off x="7260336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7" name="Shape 15"/>
          <p:cNvSpPr/>
          <p:nvPr/>
        </p:nvSpPr>
        <p:spPr>
          <a:xfrm>
            <a:off x="7735824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8" name="Shape 16"/>
          <p:cNvSpPr/>
          <p:nvPr/>
        </p:nvSpPr>
        <p:spPr>
          <a:xfrm>
            <a:off x="8211312" y="1975104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19" name="Shape 17"/>
          <p:cNvSpPr/>
          <p:nvPr/>
        </p:nvSpPr>
        <p:spPr>
          <a:xfrm>
            <a:off x="6309360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0" name="Shape 18"/>
          <p:cNvSpPr/>
          <p:nvPr/>
        </p:nvSpPr>
        <p:spPr>
          <a:xfrm>
            <a:off x="6784848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1" name="Shape 19"/>
          <p:cNvSpPr/>
          <p:nvPr/>
        </p:nvSpPr>
        <p:spPr>
          <a:xfrm>
            <a:off x="7260336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2" name="Shape 20"/>
          <p:cNvSpPr/>
          <p:nvPr/>
        </p:nvSpPr>
        <p:spPr>
          <a:xfrm>
            <a:off x="7735824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3" name="Shape 21"/>
          <p:cNvSpPr/>
          <p:nvPr/>
        </p:nvSpPr>
        <p:spPr>
          <a:xfrm>
            <a:off x="8211312" y="2779776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4" name="Shape 22"/>
          <p:cNvSpPr/>
          <p:nvPr/>
        </p:nvSpPr>
        <p:spPr>
          <a:xfrm>
            <a:off x="6309360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5" name="Shape 23"/>
          <p:cNvSpPr/>
          <p:nvPr/>
        </p:nvSpPr>
        <p:spPr>
          <a:xfrm>
            <a:off x="6784848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6" name="Shape 24"/>
          <p:cNvSpPr/>
          <p:nvPr/>
        </p:nvSpPr>
        <p:spPr>
          <a:xfrm>
            <a:off x="7260336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7" name="Shape 25"/>
          <p:cNvSpPr/>
          <p:nvPr/>
        </p:nvSpPr>
        <p:spPr>
          <a:xfrm>
            <a:off x="7735824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8" name="Shape 26"/>
          <p:cNvSpPr/>
          <p:nvPr/>
        </p:nvSpPr>
        <p:spPr>
          <a:xfrm>
            <a:off x="8211312" y="3584448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29" name="Shape 27"/>
          <p:cNvSpPr/>
          <p:nvPr/>
        </p:nvSpPr>
        <p:spPr>
          <a:xfrm>
            <a:off x="6309360" y="4389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0" name="Shape 28"/>
          <p:cNvSpPr/>
          <p:nvPr/>
        </p:nvSpPr>
        <p:spPr>
          <a:xfrm>
            <a:off x="6784848" y="4389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1" name="Shape 29"/>
          <p:cNvSpPr/>
          <p:nvPr/>
        </p:nvSpPr>
        <p:spPr>
          <a:xfrm>
            <a:off x="7260336" y="4389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2" name="Shape 30"/>
          <p:cNvSpPr/>
          <p:nvPr/>
        </p:nvSpPr>
        <p:spPr>
          <a:xfrm>
            <a:off x="7735824" y="4389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3" name="Shape 31"/>
          <p:cNvSpPr/>
          <p:nvPr/>
        </p:nvSpPr>
        <p:spPr>
          <a:xfrm>
            <a:off x="8211312" y="4389120"/>
            <a:ext cx="91440" cy="91440"/>
          </a:xfrm>
          <a:prstGeom prst="ellipse">
            <a:avLst/>
          </a:prstGeom>
          <a:solidFill>
            <a:srgbClr val="00C9A7">
              <a:alpha val="45000"/>
            </a:srgbClr>
          </a:solidFill>
          <a:ln w="12700">
            <a:solidFill>
              <a:srgbClr val="00C9A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NG"/>
          </a:p>
        </p:txBody>
      </p:sp>
      <p:sp>
        <p:nvSpPr>
          <p:cNvPr id="34" name="Text 32"/>
          <p:cNvSpPr/>
          <p:nvPr/>
        </p:nvSpPr>
        <p:spPr>
          <a:xfrm>
            <a:off x="347472" y="347472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Systems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Matter.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402336" y="1866144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ACCD8"/>
                </a:solidFill>
              </a:rPr>
              <a:t>The best ML systems are not the most accurate — they are the ones that reach the people who need them most.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02336" y="2688336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A7"/>
                </a:solidFill>
              </a:rPr>
              <a:t>Questions? Continue learning: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309105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8"/>
                </a:solidFill>
              </a:rPr>
              <a:t>→  datacamp.com/tutorial/ci-cd-for-machine-learning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3392424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8"/>
                </a:solidFill>
              </a:rPr>
              <a:t>→  systemdesignhandbook.com/guides/ml-system-design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691256"/>
            <a:ext cx="5303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CCD8"/>
                </a:solidFill>
              </a:rPr>
              <a:t>→  evidentlyai.com — ML monitoring best practices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417043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</a:rPr>
              <a:t>ML System Design &amp; Project Development  |  3-Hour Workshop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4SID theme">
  <a:themeElements>
    <a:clrScheme name="Punchcard">
      <a:dk1>
        <a:srgbClr val="000000"/>
      </a:dk1>
      <a:lt1>
        <a:srgbClr val="FFFFFF"/>
      </a:lt1>
      <a:dk2>
        <a:srgbClr val="00224B"/>
      </a:dk2>
      <a:lt2>
        <a:srgbClr val="EFF0EF"/>
      </a:lt2>
      <a:accent1>
        <a:srgbClr val="00B2F3"/>
      </a:accent1>
      <a:accent2>
        <a:srgbClr val="0471CC"/>
      </a:accent2>
      <a:accent3>
        <a:srgbClr val="14BBA9"/>
      </a:accent3>
      <a:accent4>
        <a:srgbClr val="8BB93B"/>
      </a:accent4>
      <a:accent5>
        <a:srgbClr val="EC970C"/>
      </a:accent5>
      <a:accent6>
        <a:srgbClr val="F55822"/>
      </a:accent6>
      <a:hlink>
        <a:srgbClr val="008EE6"/>
      </a:hlink>
      <a:folHlink>
        <a:srgbClr val="808C8E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4SID theme" id="{B984A8E7-233D-4992-8743-41EAFFF94261}" vid="{D8C495CA-6F99-401E-AE3B-AE8955379D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AI4SID theme</Template>
  <TotalTime>161</TotalTime>
  <Words>2286</Words>
  <Application>Microsoft Office PowerPoint</Application>
  <PresentationFormat>On-screen Show (16:9)</PresentationFormat>
  <Paragraphs>382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Neue Haas Grotesk Text Pro</vt:lpstr>
      <vt:lpstr>AI4SID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System Design &amp; Project Development</dc:title>
  <dc:subject>PptxGenJS Presentation</dc:subject>
  <dc:creator>PptxGenJS</dc:creator>
  <cp:lastModifiedBy>Uthman Abdulrahman</cp:lastModifiedBy>
  <cp:revision>2</cp:revision>
  <dcterms:created xsi:type="dcterms:W3CDTF">2026-05-01T18:56:51Z</dcterms:created>
  <dcterms:modified xsi:type="dcterms:W3CDTF">2026-05-02T11:13:36Z</dcterms:modified>
</cp:coreProperties>
</file>