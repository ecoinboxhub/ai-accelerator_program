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60" r:id="rId4"/>
    <p:sldId id="262" r:id="rId5"/>
    <p:sldId id="263" r:id="rId6"/>
    <p:sldId id="264" r:id="rId7"/>
    <p:sldId id="265" r:id="rId8"/>
    <p:sldId id="266" r:id="rId9"/>
    <p:sldId id="267" r:id="rId10"/>
    <p:sldId id="268" r:id="rId11"/>
    <p:sldId id="269" r:id="rId12"/>
    <p:sldId id="270" r:id="rId13"/>
    <p:sldId id="271" r:id="rId14"/>
    <p:sldId id="272" r:id="rId15"/>
    <p:sldId id="273" r:id="rId16"/>
    <p:sldId id="275" r:id="rId17"/>
    <p:sldId id="276" r:id="rId18"/>
    <p:sldId id="277" r:id="rId19"/>
    <p:sldId id="278" r:id="rId20"/>
    <p:sldId id="274"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6" r:id="rId38"/>
    <p:sldId id="297" r:id="rId39"/>
    <p:sldId id="298" r:id="rId40"/>
    <p:sldId id="299" r:id="rId41"/>
    <p:sldId id="30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2" d="100"/>
          <a:sy n="72" d="100"/>
        </p:scale>
        <p:origin x="65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userDrawn="1"/>
        </p:nvGrpSpPr>
        <p:grpSpPr>
          <a:xfrm>
            <a:off x="6201388" y="0"/>
            <a:ext cx="5990612" cy="6858001"/>
            <a:chOff x="6201388" y="0"/>
            <a:chExt cx="5990612" cy="6858001"/>
          </a:xfrm>
        </p:grpSpPr>
        <p:sp>
          <p:nvSpPr>
            <p:cNvPr id="34" name="Oval 33"/>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t>4/17/2026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5B0A250-5CC0-1746-B209-08E8B0DAE6AF}" type="datetimeFigureOut">
              <a:rPr lang="en-US" smtClean="0"/>
              <a:t>4/17/2026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5B0A250-5CC0-1746-B209-08E8B0DAE6AF}" type="datetimeFigureOut">
              <a:rPr lang="en-US" smtClean="0"/>
              <a:t>4/17/2026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t>4/17/2026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pic>
        <p:nvPicPr>
          <p:cNvPr id="2" name="Picture 1"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4/17/2026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4/17/2026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4/17/2026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t>4/17/2026</a:t>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70729" y="1519311"/>
            <a:ext cx="10228954" cy="769441"/>
          </a:xfrm>
          <a:prstGeom prst="rect">
            <a:avLst/>
          </a:prstGeom>
          <a:noFill/>
        </p:spPr>
        <p:txBody>
          <a:bodyPr wrap="none">
            <a:spAutoFit/>
          </a:bodyPr>
          <a:lstStyle/>
          <a:p>
            <a:pPr algn="ctr">
              <a:defRPr sz="4400" b="1">
                <a:solidFill>
                  <a:srgbClr val="F8FAFC"/>
                </a:solidFill>
              </a:defRPr>
            </a:pPr>
            <a:r>
              <a:rPr dirty="0">
                <a:solidFill>
                  <a:schemeClr val="tx1">
                    <a:lumMod val="85000"/>
                    <a:lumOff val="15000"/>
                  </a:schemeClr>
                </a:solidFill>
              </a:rPr>
              <a:t>RAG &amp; LLM Application Development</a:t>
            </a:r>
          </a:p>
        </p:txBody>
      </p:sp>
      <p:sp>
        <p:nvSpPr>
          <p:cNvPr id="3" name="TextBox 2"/>
          <p:cNvSpPr txBox="1"/>
          <p:nvPr/>
        </p:nvSpPr>
        <p:spPr>
          <a:xfrm>
            <a:off x="3906359" y="2616591"/>
            <a:ext cx="5157694" cy="400110"/>
          </a:xfrm>
          <a:prstGeom prst="rect">
            <a:avLst/>
          </a:prstGeom>
          <a:noFill/>
        </p:spPr>
        <p:txBody>
          <a:bodyPr wrap="none">
            <a:spAutoFit/>
          </a:bodyPr>
          <a:lstStyle/>
          <a:p>
            <a:pPr algn="ctr">
              <a:defRPr sz="2000">
                <a:solidFill>
                  <a:srgbClr val="F8FAFC"/>
                </a:solidFill>
              </a:defRPr>
            </a:pPr>
            <a:r>
              <a:rPr dirty="0">
                <a:solidFill>
                  <a:schemeClr val="tx1">
                    <a:lumMod val="85000"/>
                    <a:lumOff val="15000"/>
                  </a:schemeClr>
                </a:solidFill>
              </a:rPr>
              <a:t>Building Production-Quality AI </a:t>
            </a:r>
            <a:r>
              <a:rPr dirty="0" smtClean="0">
                <a:solidFill>
                  <a:schemeClr val="tx1">
                    <a:lumMod val="85000"/>
                    <a:lumOff val="15000"/>
                  </a:schemeClr>
                </a:solidFill>
              </a:rPr>
              <a:t>Applications</a:t>
            </a:r>
            <a:endParaRPr dirty="0">
              <a:solidFill>
                <a:schemeClr val="tx1">
                  <a:lumMod val="85000"/>
                  <a:lumOff val="1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4099199" cy="584775"/>
          </a:xfrm>
          <a:prstGeom prst="rect">
            <a:avLst/>
          </a:prstGeom>
          <a:noFill/>
        </p:spPr>
        <p:txBody>
          <a:bodyPr wrap="none">
            <a:spAutoFit/>
          </a:bodyPr>
          <a:lstStyle/>
          <a:p>
            <a:pPr>
              <a:defRPr sz="3200" b="1">
                <a:solidFill>
                  <a:srgbClr val="F59E0B"/>
                </a:solidFill>
              </a:defRPr>
            </a:pPr>
            <a:r>
              <a:rPr dirty="0">
                <a:solidFill>
                  <a:schemeClr val="tx1">
                    <a:lumMod val="85000"/>
                    <a:lumOff val="15000"/>
                  </a:schemeClr>
                </a:solidFill>
              </a:rPr>
              <a:t>Learning Objectives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Understand and implement Retrieval-Augmented Generation (RAG)</a:t>
            </a:r>
          </a:p>
          <a:p>
            <a:pPr>
              <a:spcBef>
                <a:spcPts val="800"/>
              </a:spcBef>
              <a:defRPr sz="1600">
                <a:solidFill>
                  <a:srgbClr val="F8FAFC"/>
                </a:solidFill>
              </a:defRPr>
            </a:pPr>
            <a:r>
              <a:rPr>
                <a:solidFill>
                  <a:schemeClr val="tx1">
                    <a:lumMod val="85000"/>
                    <a:lumOff val="15000"/>
                  </a:schemeClr>
                </a:solidFill>
              </a:rPr>
              <a:t>Master LangChain for LLM orchestration</a:t>
            </a:r>
          </a:p>
          <a:p>
            <a:pPr>
              <a:spcBef>
                <a:spcPts val="800"/>
              </a:spcBef>
              <a:defRPr sz="1600">
                <a:solidFill>
                  <a:srgbClr val="F8FAFC"/>
                </a:solidFill>
              </a:defRPr>
            </a:pPr>
            <a:r>
              <a:rPr>
                <a:solidFill>
                  <a:schemeClr val="tx1">
                    <a:lumMod val="85000"/>
                    <a:lumOff val="15000"/>
                  </a:schemeClr>
                </a:solidFill>
              </a:rPr>
              <a:t>Build production-quality LLM applications with proper architecture</a:t>
            </a:r>
          </a:p>
          <a:p>
            <a:pPr>
              <a:spcBef>
                <a:spcPts val="800"/>
              </a:spcBef>
              <a:defRPr sz="1600">
                <a:solidFill>
                  <a:srgbClr val="F8FAFC"/>
                </a:solidFill>
              </a:defRPr>
            </a:pPr>
            <a:r>
              <a:rPr>
                <a:solidFill>
                  <a:schemeClr val="tx1">
                    <a:lumMod val="85000"/>
                    <a:lumOff val="15000"/>
                  </a:schemeClr>
                </a:solidFill>
              </a:rPr>
              <a:t>Create user interfaces for chatbots (Streamlit, FastAPI, Gradio)</a:t>
            </a:r>
          </a:p>
          <a:p>
            <a:pPr>
              <a:spcBef>
                <a:spcPts val="800"/>
              </a:spcBef>
              <a:defRPr sz="1600">
                <a:solidFill>
                  <a:srgbClr val="F8FAFC"/>
                </a:solidFill>
              </a:defRPr>
            </a:pPr>
            <a:r>
              <a:rPr>
                <a:solidFill>
                  <a:schemeClr val="tx1">
                    <a:lumMod val="85000"/>
                    <a:lumOff val="15000"/>
                  </a:schemeClr>
                </a:solidFill>
              </a:rPr>
              <a:t>Integrate RAG with fine-tuned models for optimal performance</a:t>
            </a:r>
          </a:p>
          <a:p>
            <a:pPr>
              <a:spcBef>
                <a:spcPts val="800"/>
              </a:spcBef>
              <a:defRPr sz="1600">
                <a:solidFill>
                  <a:srgbClr val="F8FAFC"/>
                </a:solidFill>
              </a:defRPr>
            </a:pPr>
            <a:r>
              <a:rPr>
                <a:solidFill>
                  <a:schemeClr val="tx1">
                    <a:lumMod val="85000"/>
                    <a:lumOff val="15000"/>
                  </a:schemeClr>
                </a:solidFill>
              </a:rPr>
              <a:t>Deploy and monitor LLM applications in production environments</a:t>
            </a:r>
          </a:p>
        </p:txBody>
      </p:sp>
    </p:spTree>
    <p:extLst>
      <p:ext uri="{BB962C8B-B14F-4D97-AF65-F5344CB8AC3E}">
        <p14:creationId xmlns:p14="http://schemas.microsoft.com/office/powerpoint/2010/main" val="3719291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69845" y="1448972"/>
            <a:ext cx="8736494" cy="769441"/>
          </a:xfrm>
          <a:prstGeom prst="rect">
            <a:avLst/>
          </a:prstGeom>
          <a:noFill/>
        </p:spPr>
        <p:txBody>
          <a:bodyPr wrap="none">
            <a:spAutoFit/>
          </a:bodyPr>
          <a:lstStyle/>
          <a:p>
            <a:pPr algn="ctr">
              <a:defRPr sz="4400" b="1">
                <a:solidFill>
                  <a:srgbClr val="F8FAFC"/>
                </a:solidFill>
              </a:defRPr>
            </a:pPr>
            <a:r>
              <a:rPr>
                <a:solidFill>
                  <a:schemeClr val="tx1">
                    <a:lumMod val="85000"/>
                    <a:lumOff val="15000"/>
                  </a:schemeClr>
                </a:solidFill>
              </a:rPr>
              <a:t>Fine-Tuning Results Discussion</a:t>
            </a:r>
          </a:p>
        </p:txBody>
      </p:sp>
      <p:sp>
        <p:nvSpPr>
          <p:cNvPr id="5" name="TextBox 4"/>
          <p:cNvSpPr txBox="1"/>
          <p:nvPr/>
        </p:nvSpPr>
        <p:spPr>
          <a:xfrm>
            <a:off x="3842193" y="2546252"/>
            <a:ext cx="3991798" cy="400110"/>
          </a:xfrm>
          <a:prstGeom prst="rect">
            <a:avLst/>
          </a:prstGeom>
          <a:noFill/>
        </p:spPr>
        <p:txBody>
          <a:bodyPr wrap="none">
            <a:spAutoFit/>
          </a:bodyPr>
          <a:lstStyle/>
          <a:p>
            <a:pPr algn="ctr">
              <a:defRPr sz="2000">
                <a:solidFill>
                  <a:srgbClr val="F8FAFC"/>
                </a:solidFill>
              </a:defRPr>
            </a:pPr>
            <a:r>
              <a:rPr>
                <a:solidFill>
                  <a:schemeClr val="tx1">
                    <a:lumMod val="85000"/>
                    <a:lumOff val="15000"/>
                  </a:schemeClr>
                </a:solidFill>
              </a:rPr>
              <a:t>Sharing Experiences &amp; Learnings</a:t>
            </a:r>
          </a:p>
        </p:txBody>
      </p:sp>
    </p:spTree>
    <p:extLst>
      <p:ext uri="{BB962C8B-B14F-4D97-AF65-F5344CB8AC3E}">
        <p14:creationId xmlns:p14="http://schemas.microsoft.com/office/powerpoint/2010/main" val="321237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91772" y="766689"/>
            <a:ext cx="5181227"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Fine-Tuning: Key Insights</a:t>
            </a:r>
          </a:p>
        </p:txBody>
      </p:sp>
      <p:sp>
        <p:nvSpPr>
          <p:cNvPr id="5" name="TextBox 4"/>
          <p:cNvSpPr txBox="1"/>
          <p:nvPr/>
        </p:nvSpPr>
        <p:spPr>
          <a:xfrm>
            <a:off x="1083212" y="1589649"/>
            <a:ext cx="2550185" cy="1661993"/>
          </a:xfrm>
          <a:prstGeom prst="rect">
            <a:avLst/>
          </a:prstGeom>
          <a:noFill/>
        </p:spPr>
        <p:txBody>
          <a:bodyPr wrap="none">
            <a:spAutoFit/>
          </a:bodyPr>
          <a:lstStyle/>
          <a:p>
            <a:pPr>
              <a:defRPr sz="2200" b="1">
                <a:solidFill>
                  <a:srgbClr val="2563EB"/>
                </a:solidFill>
              </a:defRPr>
            </a:pPr>
            <a:r>
              <a:rPr>
                <a:solidFill>
                  <a:schemeClr val="tx1">
                    <a:lumMod val="85000"/>
                    <a:lumOff val="15000"/>
                  </a:schemeClr>
                </a:solidFill>
              </a:rPr>
              <a:t>Successes</a:t>
            </a:r>
          </a:p>
          <a:p>
            <a:pPr>
              <a:spcBef>
                <a:spcPts val="600"/>
              </a:spcBef>
              <a:defRPr sz="1500">
                <a:solidFill>
                  <a:srgbClr val="F8FAFC"/>
                </a:solidFill>
              </a:defRPr>
            </a:pPr>
            <a:r>
              <a:rPr>
                <a:solidFill>
                  <a:schemeClr val="tx1">
                    <a:lumMod val="85000"/>
                    <a:lumOff val="15000"/>
                  </a:schemeClr>
                </a:solidFill>
              </a:rPr>
              <a:t>Task-specific improvements</a:t>
            </a:r>
          </a:p>
          <a:p>
            <a:pPr>
              <a:spcBef>
                <a:spcPts val="600"/>
              </a:spcBef>
              <a:defRPr sz="1500">
                <a:solidFill>
                  <a:srgbClr val="F8FAFC"/>
                </a:solidFill>
              </a:defRPr>
            </a:pPr>
            <a:r>
              <a:rPr>
                <a:solidFill>
                  <a:schemeClr val="tx1">
                    <a:lumMod val="85000"/>
                    <a:lumOff val="15000"/>
                  </a:schemeClr>
                </a:solidFill>
              </a:rPr>
              <a:t>Better response quality</a:t>
            </a:r>
          </a:p>
          <a:p>
            <a:pPr>
              <a:spcBef>
                <a:spcPts val="600"/>
              </a:spcBef>
              <a:defRPr sz="1500">
                <a:solidFill>
                  <a:srgbClr val="F8FAFC"/>
                </a:solidFill>
              </a:defRPr>
            </a:pPr>
            <a:r>
              <a:rPr>
                <a:solidFill>
                  <a:schemeClr val="tx1">
                    <a:lumMod val="85000"/>
                    <a:lumOff val="15000"/>
                  </a:schemeClr>
                </a:solidFill>
              </a:rPr>
              <a:t>Consistent output format</a:t>
            </a:r>
          </a:p>
          <a:p>
            <a:pPr>
              <a:spcBef>
                <a:spcPts val="600"/>
              </a:spcBef>
              <a:defRPr sz="1500">
                <a:solidFill>
                  <a:srgbClr val="F8FAFC"/>
                </a:solidFill>
              </a:defRPr>
            </a:pPr>
            <a:r>
              <a:rPr>
                <a:solidFill>
                  <a:schemeClr val="tx1">
                    <a:lumMod val="85000"/>
                    <a:lumOff val="15000"/>
                  </a:schemeClr>
                </a:solidFill>
              </a:rPr>
              <a:t>Domain adaptation</a:t>
            </a:r>
          </a:p>
        </p:txBody>
      </p:sp>
      <p:sp>
        <p:nvSpPr>
          <p:cNvPr id="6" name="TextBox 5"/>
          <p:cNvSpPr txBox="1"/>
          <p:nvPr/>
        </p:nvSpPr>
        <p:spPr>
          <a:xfrm>
            <a:off x="5289452" y="1589649"/>
            <a:ext cx="2048959" cy="1661993"/>
          </a:xfrm>
          <a:prstGeom prst="rect">
            <a:avLst/>
          </a:prstGeom>
          <a:noFill/>
        </p:spPr>
        <p:txBody>
          <a:bodyPr wrap="none">
            <a:spAutoFit/>
          </a:bodyPr>
          <a:lstStyle/>
          <a:p>
            <a:pPr>
              <a:defRPr sz="2200" b="1">
                <a:solidFill>
                  <a:srgbClr val="7C3AED"/>
                </a:solidFill>
              </a:defRPr>
            </a:pPr>
            <a:r>
              <a:rPr>
                <a:solidFill>
                  <a:schemeClr val="tx1">
                    <a:lumMod val="85000"/>
                    <a:lumOff val="15000"/>
                  </a:schemeClr>
                </a:solidFill>
              </a:rPr>
              <a:t>Challenges</a:t>
            </a:r>
          </a:p>
          <a:p>
            <a:pPr>
              <a:spcBef>
                <a:spcPts val="600"/>
              </a:spcBef>
              <a:defRPr sz="1500">
                <a:solidFill>
                  <a:srgbClr val="F8FAFC"/>
                </a:solidFill>
              </a:defRPr>
            </a:pPr>
            <a:r>
              <a:rPr>
                <a:solidFill>
                  <a:schemeClr val="tx1">
                    <a:lumMod val="85000"/>
                    <a:lumOff val="15000"/>
                  </a:schemeClr>
                </a:solidFill>
              </a:rPr>
              <a:t>Data quality critical</a:t>
            </a:r>
          </a:p>
          <a:p>
            <a:pPr>
              <a:spcBef>
                <a:spcPts val="600"/>
              </a:spcBef>
              <a:defRPr sz="1500">
                <a:solidFill>
                  <a:srgbClr val="F8FAFC"/>
                </a:solidFill>
              </a:defRPr>
            </a:pPr>
            <a:r>
              <a:rPr>
                <a:solidFill>
                  <a:schemeClr val="tx1">
                    <a:lumMod val="85000"/>
                    <a:lumOff val="15000"/>
                  </a:schemeClr>
                </a:solidFill>
              </a:rPr>
              <a:t>Computational cost</a:t>
            </a:r>
          </a:p>
          <a:p>
            <a:pPr>
              <a:spcBef>
                <a:spcPts val="600"/>
              </a:spcBef>
              <a:defRPr sz="1500">
                <a:solidFill>
                  <a:srgbClr val="F8FAFC"/>
                </a:solidFill>
              </a:defRPr>
            </a:pPr>
            <a:r>
              <a:rPr>
                <a:solidFill>
                  <a:schemeClr val="tx1">
                    <a:lumMod val="85000"/>
                    <a:lumOff val="15000"/>
                  </a:schemeClr>
                </a:solidFill>
              </a:rPr>
              <a:t>Overfitting risks</a:t>
            </a:r>
          </a:p>
          <a:p>
            <a:pPr>
              <a:spcBef>
                <a:spcPts val="600"/>
              </a:spcBef>
              <a:defRPr sz="1500">
                <a:solidFill>
                  <a:srgbClr val="F8FAFC"/>
                </a:solidFill>
              </a:defRPr>
            </a:pPr>
            <a:r>
              <a:rPr>
                <a:solidFill>
                  <a:schemeClr val="tx1">
                    <a:lumMod val="85000"/>
                    <a:lumOff val="15000"/>
                  </a:schemeClr>
                </a:solidFill>
              </a:rPr>
              <a:t>Evaluation complexity</a:t>
            </a:r>
          </a:p>
        </p:txBody>
      </p:sp>
    </p:spTree>
    <p:extLst>
      <p:ext uri="{BB962C8B-B14F-4D97-AF65-F5344CB8AC3E}">
        <p14:creationId xmlns:p14="http://schemas.microsoft.com/office/powerpoint/2010/main" val="3920698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16571" y="1730326"/>
            <a:ext cx="10783721" cy="769441"/>
          </a:xfrm>
          <a:prstGeom prst="rect">
            <a:avLst/>
          </a:prstGeom>
          <a:noFill/>
        </p:spPr>
        <p:txBody>
          <a:bodyPr wrap="none">
            <a:spAutoFit/>
          </a:bodyPr>
          <a:lstStyle/>
          <a:p>
            <a:pPr algn="ctr">
              <a:defRPr sz="4400" b="1">
                <a:solidFill>
                  <a:srgbClr val="F8FAFC"/>
                </a:solidFill>
              </a:defRPr>
            </a:pPr>
            <a:r>
              <a:rPr dirty="0">
                <a:solidFill>
                  <a:schemeClr val="tx1">
                    <a:lumMod val="85000"/>
                    <a:lumOff val="15000"/>
                  </a:schemeClr>
                </a:solidFill>
              </a:rPr>
              <a:t>Retrieval-Augmented Generation (RAG)</a:t>
            </a:r>
          </a:p>
        </p:txBody>
      </p:sp>
      <p:sp>
        <p:nvSpPr>
          <p:cNvPr id="5" name="TextBox 4"/>
          <p:cNvSpPr txBox="1"/>
          <p:nvPr/>
        </p:nvSpPr>
        <p:spPr>
          <a:xfrm>
            <a:off x="3420410" y="2827606"/>
            <a:ext cx="4976041" cy="400110"/>
          </a:xfrm>
          <a:prstGeom prst="rect">
            <a:avLst/>
          </a:prstGeom>
          <a:noFill/>
        </p:spPr>
        <p:txBody>
          <a:bodyPr wrap="none">
            <a:spAutoFit/>
          </a:bodyPr>
          <a:lstStyle/>
          <a:p>
            <a:pPr algn="ctr">
              <a:defRPr sz="2000">
                <a:solidFill>
                  <a:srgbClr val="F8FAFC"/>
                </a:solidFill>
              </a:defRPr>
            </a:pPr>
            <a:r>
              <a:rPr dirty="0">
                <a:solidFill>
                  <a:schemeClr val="tx1">
                    <a:lumMod val="85000"/>
                    <a:lumOff val="15000"/>
                  </a:schemeClr>
                </a:solidFill>
              </a:rPr>
              <a:t>Enhancing LLMs with External Knowledge</a:t>
            </a:r>
          </a:p>
        </p:txBody>
      </p:sp>
    </p:spTree>
    <p:extLst>
      <p:ext uri="{BB962C8B-B14F-4D97-AF65-F5344CB8AC3E}">
        <p14:creationId xmlns:p14="http://schemas.microsoft.com/office/powerpoint/2010/main" val="4112847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2917786"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What is RAG?</a:t>
            </a:r>
          </a:p>
        </p:txBody>
      </p:sp>
      <p:sp>
        <p:nvSpPr>
          <p:cNvPr id="5" name="TextBox 4"/>
          <p:cNvSpPr txBox="1"/>
          <p:nvPr/>
        </p:nvSpPr>
        <p:spPr>
          <a:xfrm>
            <a:off x="640080" y="1005840"/>
            <a:ext cx="6154615" cy="2062103"/>
          </a:xfrm>
          <a:prstGeom prst="rect">
            <a:avLst/>
          </a:prstGeom>
          <a:noFill/>
        </p:spPr>
        <p:txBody>
          <a:bodyPr wrap="square">
            <a:spAutoFit/>
          </a:bodyPr>
          <a:lstStyle/>
          <a:p>
            <a:pPr>
              <a:spcBef>
                <a:spcPts val="800"/>
              </a:spcBef>
              <a:defRPr sz="1600">
                <a:solidFill>
                  <a:srgbClr val="F8FAFC"/>
                </a:solidFill>
              </a:defRPr>
            </a:pPr>
            <a:r>
              <a:rPr lang="en-US" sz="1600" dirty="0">
                <a:solidFill>
                  <a:schemeClr val="tx1">
                    <a:lumMod val="85000"/>
                    <a:lumOff val="15000"/>
                  </a:schemeClr>
                </a:solidFill>
              </a:rPr>
              <a:t>Retrieval Augmented Generation is a technique that enhances large language models by allowing them to access external knowledge sources during generation. Instead of relying only on information learned during training, the model retrieves relevant documents or data and uses them as context to produce more accurate and up to date responses. RAG improves factual accuracy, reduces hallucinations, and enables LLMs to work effectively with private or domain specific data.</a:t>
            </a:r>
            <a:endParaRPr dirty="0">
              <a:solidFill>
                <a:schemeClr val="tx1">
                  <a:lumMod val="85000"/>
                  <a:lumOff val="15000"/>
                </a:schemeClr>
              </a:solidFill>
            </a:endParaRPr>
          </a:p>
        </p:txBody>
      </p:sp>
    </p:spTree>
    <p:extLst>
      <p:ext uri="{BB962C8B-B14F-4D97-AF65-F5344CB8AC3E}">
        <p14:creationId xmlns:p14="http://schemas.microsoft.com/office/powerpoint/2010/main" val="4069234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4376519" cy="584775"/>
          </a:xfrm>
          <a:prstGeom prst="rect">
            <a:avLst/>
          </a:prstGeom>
          <a:noFill/>
        </p:spPr>
        <p:txBody>
          <a:bodyPr wrap="none">
            <a:spAutoFit/>
          </a:bodyPr>
          <a:lstStyle/>
          <a:p>
            <a:pPr>
              <a:defRPr sz="3200" b="1">
                <a:solidFill>
                  <a:srgbClr val="F59E0B"/>
                </a:solidFill>
              </a:defRPr>
            </a:pPr>
            <a:r>
              <a:rPr dirty="0">
                <a:solidFill>
                  <a:schemeClr val="tx1">
                    <a:lumMod val="85000"/>
                    <a:lumOff val="15000"/>
                  </a:schemeClr>
                </a:solidFill>
              </a:rPr>
              <a:t>Why RAG is Powerful</a:t>
            </a:r>
          </a:p>
        </p:txBody>
      </p:sp>
      <p:sp>
        <p:nvSpPr>
          <p:cNvPr id="5" name="TextBox 4"/>
          <p:cNvSpPr txBox="1"/>
          <p:nvPr/>
        </p:nvSpPr>
        <p:spPr>
          <a:xfrm>
            <a:off x="548640" y="1097280"/>
            <a:ext cx="2353529" cy="1969770"/>
          </a:xfrm>
          <a:prstGeom prst="rect">
            <a:avLst/>
          </a:prstGeom>
          <a:noFill/>
        </p:spPr>
        <p:txBody>
          <a:bodyPr wrap="none">
            <a:spAutoFit/>
          </a:bodyPr>
          <a:lstStyle/>
          <a:p>
            <a:pPr>
              <a:defRPr sz="2200" b="1">
                <a:solidFill>
                  <a:srgbClr val="2563EB"/>
                </a:solidFill>
              </a:defRPr>
            </a:pPr>
            <a:r>
              <a:rPr>
                <a:solidFill>
                  <a:schemeClr val="tx1">
                    <a:lumMod val="85000"/>
                    <a:lumOff val="15000"/>
                  </a:schemeClr>
                </a:solidFill>
              </a:rPr>
              <a:t>LLM Limitations</a:t>
            </a:r>
          </a:p>
          <a:p>
            <a:pPr>
              <a:spcBef>
                <a:spcPts val="600"/>
              </a:spcBef>
              <a:defRPr sz="1500">
                <a:solidFill>
                  <a:srgbClr val="F8FAFC"/>
                </a:solidFill>
              </a:defRPr>
            </a:pPr>
            <a:r>
              <a:rPr>
                <a:solidFill>
                  <a:schemeClr val="tx1">
                    <a:lumMod val="85000"/>
                    <a:lumOff val="15000"/>
                  </a:schemeClr>
                </a:solidFill>
              </a:rPr>
              <a:t>Hallucinations</a:t>
            </a:r>
          </a:p>
          <a:p>
            <a:pPr>
              <a:spcBef>
                <a:spcPts val="600"/>
              </a:spcBef>
              <a:defRPr sz="1500">
                <a:solidFill>
                  <a:srgbClr val="F8FAFC"/>
                </a:solidFill>
              </a:defRPr>
            </a:pPr>
            <a:r>
              <a:rPr>
                <a:solidFill>
                  <a:schemeClr val="tx1">
                    <a:lumMod val="85000"/>
                    <a:lumOff val="15000"/>
                  </a:schemeClr>
                </a:solidFill>
              </a:rPr>
              <a:t>Outdated knowledge</a:t>
            </a:r>
          </a:p>
          <a:p>
            <a:pPr>
              <a:spcBef>
                <a:spcPts val="600"/>
              </a:spcBef>
              <a:defRPr sz="1500">
                <a:solidFill>
                  <a:srgbClr val="F8FAFC"/>
                </a:solidFill>
              </a:defRPr>
            </a:pPr>
            <a:r>
              <a:rPr>
                <a:solidFill>
                  <a:schemeClr val="tx1">
                    <a:lumMod val="85000"/>
                    <a:lumOff val="15000"/>
                  </a:schemeClr>
                </a:solidFill>
              </a:rPr>
              <a:t>No source verification</a:t>
            </a:r>
          </a:p>
          <a:p>
            <a:pPr>
              <a:spcBef>
                <a:spcPts val="600"/>
              </a:spcBef>
              <a:defRPr sz="1500">
                <a:solidFill>
                  <a:srgbClr val="F8FAFC"/>
                </a:solidFill>
              </a:defRPr>
            </a:pPr>
            <a:r>
              <a:rPr>
                <a:solidFill>
                  <a:schemeClr val="tx1">
                    <a:lumMod val="85000"/>
                    <a:lumOff val="15000"/>
                  </a:schemeClr>
                </a:solidFill>
              </a:rPr>
              <a:t>Static training data</a:t>
            </a:r>
          </a:p>
          <a:p>
            <a:pPr>
              <a:spcBef>
                <a:spcPts val="600"/>
              </a:spcBef>
              <a:defRPr sz="1500">
                <a:solidFill>
                  <a:srgbClr val="F8FAFC"/>
                </a:solidFill>
              </a:defRPr>
            </a:pPr>
            <a:r>
              <a:rPr>
                <a:solidFill>
                  <a:schemeClr val="tx1">
                    <a:lumMod val="85000"/>
                    <a:lumOff val="15000"/>
                  </a:schemeClr>
                </a:solidFill>
              </a:rPr>
              <a:t>Limited domain expertise</a:t>
            </a:r>
          </a:p>
        </p:txBody>
      </p:sp>
      <p:sp>
        <p:nvSpPr>
          <p:cNvPr id="6" name="TextBox 5"/>
          <p:cNvSpPr txBox="1"/>
          <p:nvPr/>
        </p:nvSpPr>
        <p:spPr>
          <a:xfrm>
            <a:off x="4754880" y="1097280"/>
            <a:ext cx="2380780" cy="1969770"/>
          </a:xfrm>
          <a:prstGeom prst="rect">
            <a:avLst/>
          </a:prstGeom>
          <a:noFill/>
        </p:spPr>
        <p:txBody>
          <a:bodyPr wrap="none">
            <a:spAutoFit/>
          </a:bodyPr>
          <a:lstStyle/>
          <a:p>
            <a:pPr>
              <a:defRPr sz="2200" b="1">
                <a:solidFill>
                  <a:srgbClr val="7C3AED"/>
                </a:solidFill>
              </a:defRPr>
            </a:pPr>
            <a:r>
              <a:rPr>
                <a:solidFill>
                  <a:schemeClr val="tx1">
                    <a:lumMod val="85000"/>
                    <a:lumOff val="15000"/>
                  </a:schemeClr>
                </a:solidFill>
              </a:rPr>
              <a:t>RAG Solutions</a:t>
            </a:r>
          </a:p>
          <a:p>
            <a:pPr>
              <a:spcBef>
                <a:spcPts val="600"/>
              </a:spcBef>
              <a:defRPr sz="1500">
                <a:solidFill>
                  <a:srgbClr val="F8FAFC"/>
                </a:solidFill>
              </a:defRPr>
            </a:pPr>
            <a:r>
              <a:rPr>
                <a:solidFill>
                  <a:schemeClr val="tx1">
                    <a:lumMod val="85000"/>
                    <a:lumOff val="15000"/>
                  </a:schemeClr>
                </a:solidFill>
              </a:rPr>
              <a:t>Grounded responses</a:t>
            </a:r>
          </a:p>
          <a:p>
            <a:pPr>
              <a:spcBef>
                <a:spcPts val="600"/>
              </a:spcBef>
              <a:defRPr sz="1500">
                <a:solidFill>
                  <a:srgbClr val="F8FAFC"/>
                </a:solidFill>
              </a:defRPr>
            </a:pPr>
            <a:r>
              <a:rPr>
                <a:solidFill>
                  <a:schemeClr val="tx1">
                    <a:lumMod val="85000"/>
                    <a:lumOff val="15000"/>
                  </a:schemeClr>
                </a:solidFill>
              </a:rPr>
              <a:t>Current information</a:t>
            </a:r>
          </a:p>
          <a:p>
            <a:pPr>
              <a:spcBef>
                <a:spcPts val="600"/>
              </a:spcBef>
              <a:defRPr sz="1500">
                <a:solidFill>
                  <a:srgbClr val="F8FAFC"/>
                </a:solidFill>
              </a:defRPr>
            </a:pPr>
            <a:r>
              <a:rPr>
                <a:solidFill>
                  <a:schemeClr val="tx1">
                    <a:lumMod val="85000"/>
                    <a:lumOff val="15000"/>
                  </a:schemeClr>
                </a:solidFill>
              </a:rPr>
              <a:t>Citable sources</a:t>
            </a:r>
          </a:p>
          <a:p>
            <a:pPr>
              <a:spcBef>
                <a:spcPts val="600"/>
              </a:spcBef>
              <a:defRPr sz="1500">
                <a:solidFill>
                  <a:srgbClr val="F8FAFC"/>
                </a:solidFill>
              </a:defRPr>
            </a:pPr>
            <a:r>
              <a:rPr>
                <a:solidFill>
                  <a:schemeClr val="tx1">
                    <a:lumMod val="85000"/>
                    <a:lumOff val="15000"/>
                  </a:schemeClr>
                </a:solidFill>
              </a:rPr>
              <a:t>Dynamic knowledge</a:t>
            </a:r>
          </a:p>
          <a:p>
            <a:pPr>
              <a:spcBef>
                <a:spcPts val="600"/>
              </a:spcBef>
              <a:defRPr sz="1500">
                <a:solidFill>
                  <a:srgbClr val="F8FAFC"/>
                </a:solidFill>
              </a:defRPr>
            </a:pPr>
            <a:r>
              <a:rPr>
                <a:solidFill>
                  <a:schemeClr val="tx1">
                    <a:lumMod val="85000"/>
                    <a:lumOff val="15000"/>
                  </a:schemeClr>
                </a:solidFill>
              </a:rPr>
              <a:t>Domain-specific accuracy</a:t>
            </a:r>
          </a:p>
        </p:txBody>
      </p:sp>
    </p:spTree>
    <p:extLst>
      <p:ext uri="{BB962C8B-B14F-4D97-AF65-F5344CB8AC3E}">
        <p14:creationId xmlns:p14="http://schemas.microsoft.com/office/powerpoint/2010/main" val="828852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9655" y="365760"/>
            <a:ext cx="9144000" cy="51435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216855" y="640080"/>
            <a:ext cx="8229600" cy="548640"/>
          </a:xfrm>
          <a:prstGeom prst="rect">
            <a:avLst/>
          </a:prstGeom>
          <a:noFill/>
        </p:spPr>
        <p:txBody>
          <a:bodyPr wrap="none">
            <a:spAutoFit/>
          </a:bodyPr>
          <a:lstStyle/>
          <a:p>
            <a:pPr>
              <a:defRPr sz="3200" b="1">
                <a:solidFill>
                  <a:srgbClr val="F59E0B"/>
                </a:solidFill>
              </a:defRPr>
            </a:pPr>
            <a:r>
              <a:t>RAG vs Fine-Tuning: When to Use Each</a:t>
            </a:r>
          </a:p>
        </p:txBody>
      </p:sp>
      <p:sp>
        <p:nvSpPr>
          <p:cNvPr id="6" name="TextBox 5"/>
          <p:cNvSpPr txBox="1"/>
          <p:nvPr/>
        </p:nvSpPr>
        <p:spPr>
          <a:xfrm>
            <a:off x="1308295" y="1463040"/>
            <a:ext cx="3840480" cy="3657600"/>
          </a:xfrm>
          <a:prstGeom prst="rect">
            <a:avLst/>
          </a:prstGeom>
          <a:noFill/>
        </p:spPr>
        <p:txBody>
          <a:bodyPr wrap="none">
            <a:spAutoFit/>
          </a:bodyPr>
          <a:lstStyle/>
          <a:p>
            <a:pPr>
              <a:defRPr sz="2200" b="1">
                <a:solidFill>
                  <a:srgbClr val="2563EB"/>
                </a:solidFill>
              </a:defRPr>
            </a:pPr>
            <a:r>
              <a:t>Use RAG When</a:t>
            </a:r>
          </a:p>
          <a:p>
            <a:pPr>
              <a:spcBef>
                <a:spcPts val="600"/>
              </a:spcBef>
              <a:defRPr sz="1500">
                <a:solidFill>
                  <a:srgbClr val="F8FAFC"/>
                </a:solidFill>
              </a:defRPr>
            </a:pPr>
            <a:r>
              <a:t>Frequently updated information</a:t>
            </a:r>
          </a:p>
          <a:p>
            <a:pPr>
              <a:spcBef>
                <a:spcPts val="600"/>
              </a:spcBef>
              <a:defRPr sz="1500">
                <a:solidFill>
                  <a:srgbClr val="F8FAFC"/>
                </a:solidFill>
              </a:defRPr>
            </a:pPr>
            <a:r>
              <a:t>Need source attribution</a:t>
            </a:r>
          </a:p>
          <a:p>
            <a:pPr>
              <a:spcBef>
                <a:spcPts val="600"/>
              </a:spcBef>
              <a:defRPr sz="1500">
                <a:solidFill>
                  <a:srgbClr val="F8FAFC"/>
                </a:solidFill>
              </a:defRPr>
            </a:pPr>
            <a:r>
              <a:t>Large knowledge base</a:t>
            </a:r>
          </a:p>
          <a:p>
            <a:pPr>
              <a:spcBef>
                <a:spcPts val="600"/>
              </a:spcBef>
              <a:defRPr sz="1500">
                <a:solidFill>
                  <a:srgbClr val="F8FAFC"/>
                </a:solidFill>
              </a:defRPr>
            </a:pPr>
            <a:r>
              <a:t>Multi-domain applications</a:t>
            </a:r>
          </a:p>
          <a:p>
            <a:pPr>
              <a:spcBef>
                <a:spcPts val="600"/>
              </a:spcBef>
              <a:defRPr sz="1500">
                <a:solidFill>
                  <a:srgbClr val="F8FAFC"/>
                </a:solidFill>
              </a:defRPr>
            </a:pPr>
            <a:r>
              <a:t>Quick deployment needed</a:t>
            </a:r>
          </a:p>
        </p:txBody>
      </p:sp>
      <p:sp>
        <p:nvSpPr>
          <p:cNvPr id="7" name="TextBox 6"/>
          <p:cNvSpPr txBox="1"/>
          <p:nvPr/>
        </p:nvSpPr>
        <p:spPr>
          <a:xfrm>
            <a:off x="5514535" y="1463040"/>
            <a:ext cx="3840480" cy="3657600"/>
          </a:xfrm>
          <a:prstGeom prst="rect">
            <a:avLst/>
          </a:prstGeom>
          <a:noFill/>
        </p:spPr>
        <p:txBody>
          <a:bodyPr wrap="none">
            <a:spAutoFit/>
          </a:bodyPr>
          <a:lstStyle/>
          <a:p>
            <a:pPr>
              <a:defRPr sz="2200" b="1">
                <a:solidFill>
                  <a:srgbClr val="7C3AED"/>
                </a:solidFill>
              </a:defRPr>
            </a:pPr>
            <a:r>
              <a:t>Use Fine-Tuning When</a:t>
            </a:r>
          </a:p>
          <a:p>
            <a:pPr>
              <a:spcBef>
                <a:spcPts val="600"/>
              </a:spcBef>
              <a:defRPr sz="1500">
                <a:solidFill>
                  <a:srgbClr val="F8FAFC"/>
                </a:solidFill>
              </a:defRPr>
            </a:pPr>
            <a:r>
              <a:t>Specific task optimization</a:t>
            </a:r>
          </a:p>
          <a:p>
            <a:pPr>
              <a:spcBef>
                <a:spcPts val="600"/>
              </a:spcBef>
              <a:defRPr sz="1500">
                <a:solidFill>
                  <a:srgbClr val="F8FAFC"/>
                </a:solidFill>
              </a:defRPr>
            </a:pPr>
            <a:r>
              <a:t>Consistent output format</a:t>
            </a:r>
          </a:p>
          <a:p>
            <a:pPr>
              <a:spcBef>
                <a:spcPts val="600"/>
              </a:spcBef>
              <a:defRPr sz="1500">
                <a:solidFill>
                  <a:srgbClr val="F8FAFC"/>
                </a:solidFill>
              </a:defRPr>
            </a:pPr>
            <a:r>
              <a:t>Limited domain scope</a:t>
            </a:r>
          </a:p>
          <a:p>
            <a:pPr>
              <a:spcBef>
                <a:spcPts val="600"/>
              </a:spcBef>
              <a:defRPr sz="1500">
                <a:solidFill>
                  <a:srgbClr val="F8FAFC"/>
                </a:solidFill>
              </a:defRPr>
            </a:pPr>
            <a:r>
              <a:t>Style/tone adaptation</a:t>
            </a:r>
          </a:p>
          <a:p>
            <a:pPr>
              <a:spcBef>
                <a:spcPts val="600"/>
              </a:spcBef>
              <a:defRPr sz="1500">
                <a:solidFill>
                  <a:srgbClr val="F8FAFC"/>
                </a:solidFill>
              </a:defRPr>
            </a:pPr>
            <a:r>
              <a:t>Latency is critical</a:t>
            </a:r>
          </a:p>
        </p:txBody>
      </p:sp>
    </p:spTree>
    <p:extLst>
      <p:ext uri="{BB962C8B-B14F-4D97-AF65-F5344CB8AC3E}">
        <p14:creationId xmlns:p14="http://schemas.microsoft.com/office/powerpoint/2010/main" val="2305406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49569" y="668216"/>
            <a:ext cx="7889467" cy="584775"/>
          </a:xfrm>
          <a:prstGeom prst="rect">
            <a:avLst/>
          </a:prstGeom>
          <a:noFill/>
        </p:spPr>
        <p:txBody>
          <a:bodyPr wrap="none">
            <a:spAutoFit/>
          </a:bodyPr>
          <a:lstStyle/>
          <a:p>
            <a:pPr>
              <a:defRPr sz="3200" b="1">
                <a:solidFill>
                  <a:srgbClr val="F59E0B"/>
                </a:solidFill>
              </a:defRPr>
            </a:pPr>
            <a:r>
              <a:rPr dirty="0">
                <a:solidFill>
                  <a:schemeClr val="tx1">
                    <a:lumMod val="85000"/>
                    <a:lumOff val="15000"/>
                  </a:schemeClr>
                </a:solidFill>
              </a:rPr>
              <a:t>RAG Architecture: High-Level Overview</a:t>
            </a:r>
          </a:p>
        </p:txBody>
      </p:sp>
      <p:sp>
        <p:nvSpPr>
          <p:cNvPr id="6" name="TextBox 5"/>
          <p:cNvSpPr txBox="1"/>
          <p:nvPr/>
        </p:nvSpPr>
        <p:spPr>
          <a:xfrm>
            <a:off x="1132449" y="1399736"/>
            <a:ext cx="5507502" cy="2677656"/>
          </a:xfrm>
          <a:prstGeom prst="rect">
            <a:avLst/>
          </a:prstGeom>
          <a:noFill/>
        </p:spPr>
        <p:txBody>
          <a:bodyPr wrap="square">
            <a:spAutoFit/>
          </a:bodyPr>
          <a:lstStyle/>
          <a:p>
            <a:pPr>
              <a:spcBef>
                <a:spcPts val="800"/>
              </a:spcBef>
              <a:defRPr sz="1600">
                <a:solidFill>
                  <a:srgbClr val="F8FAFC"/>
                </a:solidFill>
              </a:defRPr>
            </a:pPr>
            <a:r>
              <a:rPr dirty="0">
                <a:solidFill>
                  <a:schemeClr val="tx1">
                    <a:lumMod val="85000"/>
                    <a:lumOff val="15000"/>
                  </a:schemeClr>
                </a:solidFill>
              </a:rPr>
              <a:t>1. Document Ingestion: Load and preprocess documents</a:t>
            </a:r>
          </a:p>
          <a:p>
            <a:pPr>
              <a:spcBef>
                <a:spcPts val="800"/>
              </a:spcBef>
              <a:defRPr sz="1600">
                <a:solidFill>
                  <a:srgbClr val="F8FAFC"/>
                </a:solidFill>
              </a:defRPr>
            </a:pPr>
            <a:r>
              <a:rPr dirty="0">
                <a:solidFill>
                  <a:schemeClr val="tx1">
                    <a:lumMod val="85000"/>
                    <a:lumOff val="15000"/>
                  </a:schemeClr>
                </a:solidFill>
              </a:rPr>
              <a:t>2. Chunking: Split documents into meaningful segments</a:t>
            </a:r>
          </a:p>
          <a:p>
            <a:pPr>
              <a:spcBef>
                <a:spcPts val="800"/>
              </a:spcBef>
              <a:defRPr sz="1600">
                <a:solidFill>
                  <a:srgbClr val="F8FAFC"/>
                </a:solidFill>
              </a:defRPr>
            </a:pPr>
            <a:r>
              <a:rPr dirty="0">
                <a:solidFill>
                  <a:schemeClr val="tx1">
                    <a:lumMod val="85000"/>
                    <a:lumOff val="15000"/>
                  </a:schemeClr>
                </a:solidFill>
              </a:rPr>
              <a:t>3. Embedding: Convert text chunks to vector representations</a:t>
            </a:r>
          </a:p>
          <a:p>
            <a:pPr>
              <a:spcBef>
                <a:spcPts val="800"/>
              </a:spcBef>
              <a:defRPr sz="1600">
                <a:solidFill>
                  <a:srgbClr val="F8FAFC"/>
                </a:solidFill>
              </a:defRPr>
            </a:pPr>
            <a:r>
              <a:rPr dirty="0">
                <a:solidFill>
                  <a:schemeClr val="tx1">
                    <a:lumMod val="85000"/>
                    <a:lumOff val="15000"/>
                  </a:schemeClr>
                </a:solidFill>
              </a:rPr>
              <a:t>4. Storage: Store </a:t>
            </a:r>
            <a:r>
              <a:rPr dirty="0" err="1">
                <a:solidFill>
                  <a:schemeClr val="tx1">
                    <a:lumMod val="85000"/>
                    <a:lumOff val="15000"/>
                  </a:schemeClr>
                </a:solidFill>
              </a:rPr>
              <a:t>embeddings</a:t>
            </a:r>
            <a:r>
              <a:rPr dirty="0">
                <a:solidFill>
                  <a:schemeClr val="tx1">
                    <a:lumMod val="85000"/>
                    <a:lumOff val="15000"/>
                  </a:schemeClr>
                </a:solidFill>
              </a:rPr>
              <a:t> in vector database</a:t>
            </a:r>
          </a:p>
          <a:p>
            <a:pPr>
              <a:spcBef>
                <a:spcPts val="800"/>
              </a:spcBef>
              <a:defRPr sz="1600">
                <a:solidFill>
                  <a:srgbClr val="F8FAFC"/>
                </a:solidFill>
              </a:defRPr>
            </a:pPr>
            <a:r>
              <a:rPr dirty="0">
                <a:solidFill>
                  <a:schemeClr val="tx1">
                    <a:lumMod val="85000"/>
                    <a:lumOff val="15000"/>
                  </a:schemeClr>
                </a:solidFill>
              </a:rPr>
              <a:t>5. Retrieval: Find relevant documents for user query</a:t>
            </a:r>
          </a:p>
          <a:p>
            <a:pPr>
              <a:spcBef>
                <a:spcPts val="800"/>
              </a:spcBef>
              <a:defRPr sz="1600">
                <a:solidFill>
                  <a:srgbClr val="F8FAFC"/>
                </a:solidFill>
              </a:defRPr>
            </a:pPr>
            <a:r>
              <a:rPr dirty="0">
                <a:solidFill>
                  <a:schemeClr val="tx1">
                    <a:lumMod val="85000"/>
                    <a:lumOff val="15000"/>
                  </a:schemeClr>
                </a:solidFill>
              </a:rPr>
              <a:t>6. Augmentation: Combine query with retrieved context</a:t>
            </a:r>
          </a:p>
          <a:p>
            <a:pPr>
              <a:spcBef>
                <a:spcPts val="800"/>
              </a:spcBef>
              <a:defRPr sz="1600">
                <a:solidFill>
                  <a:srgbClr val="F8FAFC"/>
                </a:solidFill>
              </a:defRPr>
            </a:pPr>
            <a:r>
              <a:rPr dirty="0">
                <a:solidFill>
                  <a:schemeClr val="tx1">
                    <a:lumMod val="85000"/>
                    <a:lumOff val="15000"/>
                  </a:schemeClr>
                </a:solidFill>
              </a:rPr>
              <a:t>7. Generation: LLM produces response based on context</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67598" y="1977449"/>
            <a:ext cx="4622654" cy="2099943"/>
          </a:xfrm>
          <a:prstGeom prst="rect">
            <a:avLst/>
          </a:prstGeom>
        </p:spPr>
      </p:pic>
    </p:spTree>
    <p:extLst>
      <p:ext uri="{BB962C8B-B14F-4D97-AF65-F5344CB8AC3E}">
        <p14:creationId xmlns:p14="http://schemas.microsoft.com/office/powerpoint/2010/main" val="1482566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274320"/>
            <a:ext cx="5601213"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Step 1: Document Ingestion</a:t>
            </a:r>
          </a:p>
        </p:txBody>
      </p:sp>
      <p:sp>
        <p:nvSpPr>
          <p:cNvPr id="7" name="TextBox 6"/>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Load documents from various sources (PDFs, web pages, databases)</a:t>
            </a:r>
          </a:p>
          <a:p>
            <a:pPr>
              <a:spcBef>
                <a:spcPts val="800"/>
              </a:spcBef>
              <a:defRPr sz="1600">
                <a:solidFill>
                  <a:srgbClr val="F8FAFC"/>
                </a:solidFill>
              </a:defRPr>
            </a:pPr>
            <a:r>
              <a:rPr>
                <a:solidFill>
                  <a:schemeClr val="tx1">
                    <a:lumMod val="85000"/>
                    <a:lumOff val="15000"/>
                  </a:schemeClr>
                </a:solidFill>
              </a:rPr>
              <a:t>Extract and clean text content</a:t>
            </a:r>
          </a:p>
          <a:p>
            <a:pPr>
              <a:spcBef>
                <a:spcPts val="800"/>
              </a:spcBef>
              <a:defRPr sz="1600">
                <a:solidFill>
                  <a:srgbClr val="F8FAFC"/>
                </a:solidFill>
              </a:defRPr>
            </a:pPr>
            <a:r>
              <a:rPr>
                <a:solidFill>
                  <a:schemeClr val="tx1">
                    <a:lumMod val="85000"/>
                    <a:lumOff val="15000"/>
                  </a:schemeClr>
                </a:solidFill>
              </a:rPr>
              <a:t>Preserve metadata (source, date, author, etc.)</a:t>
            </a:r>
          </a:p>
          <a:p>
            <a:pPr>
              <a:spcBef>
                <a:spcPts val="800"/>
              </a:spcBef>
              <a:defRPr sz="1600">
                <a:solidFill>
                  <a:srgbClr val="F8FAFC"/>
                </a:solidFill>
              </a:defRPr>
            </a:pPr>
            <a:r>
              <a:rPr>
                <a:solidFill>
                  <a:schemeClr val="tx1">
                    <a:lumMod val="85000"/>
                    <a:lumOff val="15000"/>
                  </a:schemeClr>
                </a:solidFill>
              </a:rPr>
              <a:t>Handle multiple formats: PDF, DOCX, HTML, Markdown</a:t>
            </a:r>
          </a:p>
          <a:p>
            <a:pPr>
              <a:spcBef>
                <a:spcPts val="800"/>
              </a:spcBef>
              <a:defRPr sz="1600">
                <a:solidFill>
                  <a:srgbClr val="F8FAFC"/>
                </a:solidFill>
              </a:defRPr>
            </a:pPr>
            <a:r>
              <a:rPr>
                <a:solidFill>
                  <a:schemeClr val="tx1">
                    <a:lumMod val="85000"/>
                    <a:lumOff val="15000"/>
                  </a:schemeClr>
                </a:solidFill>
              </a:rPr>
              <a:t>Common tools: PyPDF2, BeautifulSoup, python-docx, unstructured</a:t>
            </a:r>
          </a:p>
          <a:p>
            <a:pPr>
              <a:spcBef>
                <a:spcPts val="800"/>
              </a:spcBef>
              <a:defRPr sz="1600">
                <a:solidFill>
                  <a:srgbClr val="F8FAFC"/>
                </a:solidFill>
              </a:defRPr>
            </a:pPr>
            <a:r>
              <a:rPr>
                <a:solidFill>
                  <a:schemeClr val="tx1">
                    <a:lumMod val="85000"/>
                    <a:lumOff val="15000"/>
                  </a:schemeClr>
                </a:solidFill>
              </a:rPr>
              <a:t>Quality check: Remove duplicates, fix encoding issues</a:t>
            </a:r>
          </a:p>
        </p:txBody>
      </p:sp>
    </p:spTree>
    <p:extLst>
      <p:ext uri="{BB962C8B-B14F-4D97-AF65-F5344CB8AC3E}">
        <p14:creationId xmlns:p14="http://schemas.microsoft.com/office/powerpoint/2010/main" val="1401040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7765267"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Step 2: Document Chunking Strategies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Why chunk? LLMs have context window limits (4K-128K tokens)</a:t>
            </a:r>
          </a:p>
          <a:p>
            <a:pPr>
              <a:spcBef>
                <a:spcPts val="800"/>
              </a:spcBef>
              <a:defRPr sz="1600">
                <a:solidFill>
                  <a:srgbClr val="F8FAFC"/>
                </a:solidFill>
              </a:defRPr>
            </a:pPr>
            <a:r>
              <a:rPr>
                <a:solidFill>
                  <a:schemeClr val="tx1">
                    <a:lumMod val="85000"/>
                    <a:lumOff val="15000"/>
                  </a:schemeClr>
                </a:solidFill>
              </a:rPr>
              <a:t>Fixed-size chunking: Simple but may break context</a:t>
            </a:r>
          </a:p>
          <a:p>
            <a:pPr>
              <a:spcBef>
                <a:spcPts val="800"/>
              </a:spcBef>
              <a:defRPr sz="1600">
                <a:solidFill>
                  <a:srgbClr val="F8FAFC"/>
                </a:solidFill>
              </a:defRPr>
            </a:pPr>
            <a:r>
              <a:rPr>
                <a:solidFill>
                  <a:schemeClr val="tx1">
                    <a:lumMod val="85000"/>
                    <a:lumOff val="15000"/>
                  </a:schemeClr>
                </a:solidFill>
              </a:rPr>
              <a:t>Semantic chunking: Split at natural boundaries (paragraphs, sections)</a:t>
            </a:r>
          </a:p>
          <a:p>
            <a:pPr>
              <a:spcBef>
                <a:spcPts val="800"/>
              </a:spcBef>
              <a:defRPr sz="1600">
                <a:solidFill>
                  <a:srgbClr val="F8FAFC"/>
                </a:solidFill>
              </a:defRPr>
            </a:pPr>
            <a:r>
              <a:rPr>
                <a:solidFill>
                  <a:schemeClr val="tx1">
                    <a:lumMod val="85000"/>
                    <a:lumOff val="15000"/>
                  </a:schemeClr>
                </a:solidFill>
              </a:rPr>
              <a:t>Recursive chunking: Hierarchical splitting for better context</a:t>
            </a:r>
          </a:p>
          <a:p>
            <a:pPr>
              <a:spcBef>
                <a:spcPts val="800"/>
              </a:spcBef>
              <a:defRPr sz="1600">
                <a:solidFill>
                  <a:srgbClr val="F8FAFC"/>
                </a:solidFill>
              </a:defRPr>
            </a:pPr>
            <a:r>
              <a:rPr>
                <a:solidFill>
                  <a:schemeClr val="tx1">
                    <a:lumMod val="85000"/>
                    <a:lumOff val="15000"/>
                  </a:schemeClr>
                </a:solidFill>
              </a:rPr>
              <a:t>Overlap: 50-200 tokens overlap prevents information loss</a:t>
            </a:r>
          </a:p>
          <a:p>
            <a:pPr>
              <a:spcBef>
                <a:spcPts val="800"/>
              </a:spcBef>
              <a:defRPr sz="1600">
                <a:solidFill>
                  <a:srgbClr val="F8FAFC"/>
                </a:solidFill>
              </a:defRPr>
            </a:pPr>
            <a:r>
              <a:rPr>
                <a:solidFill>
                  <a:schemeClr val="tx1">
                    <a:lumMod val="85000"/>
                    <a:lumOff val="15000"/>
                  </a:schemeClr>
                </a:solidFill>
              </a:rPr>
              <a:t>Typical chunk size: 500-1000 tokens balances context and precision</a:t>
            </a:r>
          </a:p>
        </p:txBody>
      </p:sp>
    </p:spTree>
    <p:extLst>
      <p:ext uri="{BB962C8B-B14F-4D97-AF65-F5344CB8AC3E}">
        <p14:creationId xmlns:p14="http://schemas.microsoft.com/office/powerpoint/2010/main" val="1550257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011308"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Chunking Best Practices</a:t>
            </a:r>
          </a:p>
        </p:txBody>
      </p:sp>
      <p:sp>
        <p:nvSpPr>
          <p:cNvPr id="5" name="TextBox 4"/>
          <p:cNvSpPr txBox="1"/>
          <p:nvPr/>
        </p:nvSpPr>
        <p:spPr>
          <a:xfrm>
            <a:off x="548640" y="1097280"/>
            <a:ext cx="2896947" cy="1969770"/>
          </a:xfrm>
          <a:prstGeom prst="rect">
            <a:avLst/>
          </a:prstGeom>
          <a:noFill/>
        </p:spPr>
        <p:txBody>
          <a:bodyPr wrap="none">
            <a:spAutoFit/>
          </a:bodyPr>
          <a:lstStyle/>
          <a:p>
            <a:pPr>
              <a:defRPr sz="2200" b="1">
                <a:solidFill>
                  <a:srgbClr val="2563EB"/>
                </a:solidFill>
              </a:defRPr>
            </a:pPr>
            <a:r>
              <a:rPr>
                <a:solidFill>
                  <a:schemeClr val="tx1">
                    <a:lumMod val="85000"/>
                    <a:lumOff val="15000"/>
                  </a:schemeClr>
                </a:solidFill>
              </a:rPr>
              <a:t>Do's</a:t>
            </a:r>
          </a:p>
          <a:p>
            <a:pPr>
              <a:spcBef>
                <a:spcPts val="600"/>
              </a:spcBef>
              <a:defRPr sz="1500">
                <a:solidFill>
                  <a:srgbClr val="F8FAFC"/>
                </a:solidFill>
              </a:defRPr>
            </a:pPr>
            <a:r>
              <a:rPr>
                <a:solidFill>
                  <a:schemeClr val="tx1">
                    <a:lumMod val="85000"/>
                    <a:lumOff val="15000"/>
                  </a:schemeClr>
                </a:solidFill>
              </a:rPr>
              <a:t>Maintain semantic coherence</a:t>
            </a:r>
          </a:p>
          <a:p>
            <a:pPr>
              <a:spcBef>
                <a:spcPts val="600"/>
              </a:spcBef>
              <a:defRPr sz="1500">
                <a:solidFill>
                  <a:srgbClr val="F8FAFC"/>
                </a:solidFill>
              </a:defRPr>
            </a:pPr>
            <a:r>
              <a:rPr>
                <a:solidFill>
                  <a:schemeClr val="tx1">
                    <a:lumMod val="85000"/>
                    <a:lumOff val="15000"/>
                  </a:schemeClr>
                </a:solidFill>
              </a:rPr>
              <a:t>Use overlap between chunks</a:t>
            </a:r>
          </a:p>
          <a:p>
            <a:pPr>
              <a:spcBef>
                <a:spcPts val="600"/>
              </a:spcBef>
              <a:defRPr sz="1500">
                <a:solidFill>
                  <a:srgbClr val="F8FAFC"/>
                </a:solidFill>
              </a:defRPr>
            </a:pPr>
            <a:r>
              <a:rPr>
                <a:solidFill>
                  <a:schemeClr val="tx1">
                    <a:lumMod val="85000"/>
                    <a:lumOff val="15000"/>
                  </a:schemeClr>
                </a:solidFill>
              </a:rPr>
              <a:t>Preserve paragraph boundaries</a:t>
            </a:r>
          </a:p>
          <a:p>
            <a:pPr>
              <a:spcBef>
                <a:spcPts val="600"/>
              </a:spcBef>
              <a:defRPr sz="1500">
                <a:solidFill>
                  <a:srgbClr val="F8FAFC"/>
                </a:solidFill>
              </a:defRPr>
            </a:pPr>
            <a:r>
              <a:rPr>
                <a:solidFill>
                  <a:schemeClr val="tx1">
                    <a:lumMod val="85000"/>
                    <a:lumOff val="15000"/>
                  </a:schemeClr>
                </a:solidFill>
              </a:rPr>
              <a:t>Include metadata in chunks</a:t>
            </a:r>
          </a:p>
          <a:p>
            <a:pPr>
              <a:spcBef>
                <a:spcPts val="600"/>
              </a:spcBef>
              <a:defRPr sz="1500">
                <a:solidFill>
                  <a:srgbClr val="F8FAFC"/>
                </a:solidFill>
              </a:defRPr>
            </a:pPr>
            <a:r>
              <a:rPr>
                <a:solidFill>
                  <a:schemeClr val="tx1">
                    <a:lumMod val="85000"/>
                    <a:lumOff val="15000"/>
                  </a:schemeClr>
                </a:solidFill>
              </a:rPr>
              <a:t>Test different chunk sizes</a:t>
            </a:r>
          </a:p>
        </p:txBody>
      </p:sp>
      <p:sp>
        <p:nvSpPr>
          <p:cNvPr id="6" name="TextBox 5"/>
          <p:cNvSpPr txBox="1"/>
          <p:nvPr/>
        </p:nvSpPr>
        <p:spPr>
          <a:xfrm>
            <a:off x="4754880" y="1097280"/>
            <a:ext cx="2759089" cy="1969770"/>
          </a:xfrm>
          <a:prstGeom prst="rect">
            <a:avLst/>
          </a:prstGeom>
          <a:noFill/>
        </p:spPr>
        <p:txBody>
          <a:bodyPr wrap="none">
            <a:spAutoFit/>
          </a:bodyPr>
          <a:lstStyle/>
          <a:p>
            <a:pPr>
              <a:defRPr sz="2200" b="1">
                <a:solidFill>
                  <a:srgbClr val="7C3AED"/>
                </a:solidFill>
              </a:defRPr>
            </a:pPr>
            <a:r>
              <a:rPr>
                <a:solidFill>
                  <a:schemeClr val="tx1">
                    <a:lumMod val="85000"/>
                    <a:lumOff val="15000"/>
                  </a:schemeClr>
                </a:solidFill>
              </a:rPr>
              <a:t>Don'ts</a:t>
            </a:r>
          </a:p>
          <a:p>
            <a:pPr>
              <a:spcBef>
                <a:spcPts val="600"/>
              </a:spcBef>
              <a:defRPr sz="1500">
                <a:solidFill>
                  <a:srgbClr val="F8FAFC"/>
                </a:solidFill>
              </a:defRPr>
            </a:pPr>
            <a:r>
              <a:rPr>
                <a:solidFill>
                  <a:schemeClr val="tx1">
                    <a:lumMod val="85000"/>
                    <a:lumOff val="15000"/>
                  </a:schemeClr>
                </a:solidFill>
              </a:rPr>
              <a:t>Split in middle of sentences</a:t>
            </a:r>
          </a:p>
          <a:p>
            <a:pPr>
              <a:spcBef>
                <a:spcPts val="600"/>
              </a:spcBef>
              <a:defRPr sz="1500">
                <a:solidFill>
                  <a:srgbClr val="F8FAFC"/>
                </a:solidFill>
              </a:defRPr>
            </a:pPr>
            <a:r>
              <a:rPr>
                <a:solidFill>
                  <a:schemeClr val="tx1">
                    <a:lumMod val="85000"/>
                    <a:lumOff val="15000"/>
                  </a:schemeClr>
                </a:solidFill>
              </a:rPr>
              <a:t>Make chunks too small (&lt;200)</a:t>
            </a:r>
          </a:p>
          <a:p>
            <a:pPr>
              <a:spcBef>
                <a:spcPts val="600"/>
              </a:spcBef>
              <a:defRPr sz="1500">
                <a:solidFill>
                  <a:srgbClr val="F8FAFC"/>
                </a:solidFill>
              </a:defRPr>
            </a:pPr>
            <a:r>
              <a:rPr>
                <a:solidFill>
                  <a:schemeClr val="tx1">
                    <a:lumMod val="85000"/>
                    <a:lumOff val="15000"/>
                  </a:schemeClr>
                </a:solidFill>
              </a:rPr>
              <a:t>Ignore document structure</a:t>
            </a:r>
          </a:p>
          <a:p>
            <a:pPr>
              <a:spcBef>
                <a:spcPts val="600"/>
              </a:spcBef>
              <a:defRPr sz="1500">
                <a:solidFill>
                  <a:srgbClr val="F8FAFC"/>
                </a:solidFill>
              </a:defRPr>
            </a:pPr>
            <a:r>
              <a:rPr>
                <a:solidFill>
                  <a:schemeClr val="tx1">
                    <a:lumMod val="85000"/>
                    <a:lumOff val="15000"/>
                  </a:schemeClr>
                </a:solidFill>
              </a:rPr>
              <a:t>Lose source information</a:t>
            </a:r>
          </a:p>
          <a:p>
            <a:pPr>
              <a:spcBef>
                <a:spcPts val="600"/>
              </a:spcBef>
              <a:defRPr sz="1500">
                <a:solidFill>
                  <a:srgbClr val="F8FAFC"/>
                </a:solidFill>
              </a:defRPr>
            </a:pPr>
            <a:r>
              <a:rPr>
                <a:solidFill>
                  <a:schemeClr val="tx1">
                    <a:lumMod val="85000"/>
                    <a:lumOff val="15000"/>
                  </a:schemeClr>
                </a:solidFill>
              </a:rPr>
              <a:t>Use one-size-fits-all approach</a:t>
            </a:r>
          </a:p>
        </p:txBody>
      </p:sp>
    </p:spTree>
    <p:extLst>
      <p:ext uri="{BB962C8B-B14F-4D97-AF65-F5344CB8AC3E}">
        <p14:creationId xmlns:p14="http://schemas.microsoft.com/office/powerpoint/2010/main" val="2255971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490414"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Step 3: Vector Embeddings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Definition: Numerical representations that capture semantic meaning</a:t>
            </a:r>
          </a:p>
          <a:p>
            <a:pPr>
              <a:spcBef>
                <a:spcPts val="800"/>
              </a:spcBef>
              <a:defRPr sz="1600">
                <a:solidFill>
                  <a:srgbClr val="F8FAFC"/>
                </a:solidFill>
              </a:defRPr>
            </a:pPr>
            <a:r>
              <a:rPr>
                <a:solidFill>
                  <a:schemeClr val="tx1">
                    <a:lumMod val="85000"/>
                    <a:lumOff val="15000"/>
                  </a:schemeClr>
                </a:solidFill>
              </a:rPr>
              <a:t>Convert text to high-dimensional vectors (384-1536 dimensions)</a:t>
            </a:r>
          </a:p>
          <a:p>
            <a:pPr>
              <a:spcBef>
                <a:spcPts val="800"/>
              </a:spcBef>
              <a:defRPr sz="1600">
                <a:solidFill>
                  <a:srgbClr val="F8FAFC"/>
                </a:solidFill>
              </a:defRPr>
            </a:pPr>
            <a:r>
              <a:rPr>
                <a:solidFill>
                  <a:schemeClr val="tx1">
                    <a:lumMod val="85000"/>
                    <a:lumOff val="15000"/>
                  </a:schemeClr>
                </a:solidFill>
              </a:rPr>
              <a:t>Similar texts → Similar vectors (measured by cosine similarity)</a:t>
            </a:r>
          </a:p>
          <a:p>
            <a:pPr>
              <a:spcBef>
                <a:spcPts val="800"/>
              </a:spcBef>
              <a:defRPr sz="1600">
                <a:solidFill>
                  <a:srgbClr val="F8FAFC"/>
                </a:solidFill>
              </a:defRPr>
            </a:pPr>
            <a:r>
              <a:rPr>
                <a:solidFill>
                  <a:schemeClr val="tx1">
                    <a:lumMod val="85000"/>
                    <a:lumOff val="15000"/>
                  </a:schemeClr>
                </a:solidFill>
              </a:rPr>
              <a:t>Popular models: OpenAI embeddings, Sentence Transformers, Cohere</a:t>
            </a:r>
          </a:p>
          <a:p>
            <a:pPr>
              <a:spcBef>
                <a:spcPts val="800"/>
              </a:spcBef>
              <a:defRPr sz="1600">
                <a:solidFill>
                  <a:srgbClr val="F8FAFC"/>
                </a:solidFill>
              </a:defRPr>
            </a:pPr>
            <a:r>
              <a:rPr>
                <a:solidFill>
                  <a:schemeClr val="tx1">
                    <a:lumMod val="85000"/>
                    <a:lumOff val="15000"/>
                  </a:schemeClr>
                </a:solidFill>
              </a:rPr>
              <a:t>Key property: Semantic search possible (meaning-based, not keyword)</a:t>
            </a:r>
          </a:p>
          <a:p>
            <a:pPr>
              <a:spcBef>
                <a:spcPts val="800"/>
              </a:spcBef>
              <a:defRPr sz="1600">
                <a:solidFill>
                  <a:srgbClr val="F8FAFC"/>
                </a:solidFill>
              </a:defRPr>
            </a:pPr>
            <a:r>
              <a:rPr>
                <a:solidFill>
                  <a:schemeClr val="tx1">
                    <a:lumMod val="85000"/>
                    <a:lumOff val="15000"/>
                  </a:schemeClr>
                </a:solidFill>
              </a:rPr>
              <a:t>Example: 'ML techniques' matches 'machine learning methods'</a:t>
            </a:r>
          </a:p>
        </p:txBody>
      </p:sp>
    </p:spTree>
    <p:extLst>
      <p:ext uri="{BB962C8B-B14F-4D97-AF65-F5344CB8AC3E}">
        <p14:creationId xmlns:p14="http://schemas.microsoft.com/office/powerpoint/2010/main" val="3104794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580374"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Popular Embedding Models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OpenAI text-embedding-3-small: 1536 dims, high quality, API-based</a:t>
            </a:r>
          </a:p>
          <a:p>
            <a:pPr>
              <a:spcBef>
                <a:spcPts val="800"/>
              </a:spcBef>
              <a:defRPr sz="1600">
                <a:solidFill>
                  <a:srgbClr val="F8FAFC"/>
                </a:solidFill>
              </a:defRPr>
            </a:pPr>
            <a:r>
              <a:rPr>
                <a:solidFill>
                  <a:schemeClr val="tx1">
                    <a:lumMod val="85000"/>
                    <a:lumOff val="15000"/>
                  </a:schemeClr>
                </a:solidFill>
              </a:rPr>
              <a:t>all-MiniLM-L6-v2: 384 dims, fast, open-source, good for general use</a:t>
            </a:r>
          </a:p>
          <a:p>
            <a:pPr>
              <a:spcBef>
                <a:spcPts val="800"/>
              </a:spcBef>
              <a:defRPr sz="1600">
                <a:solidFill>
                  <a:srgbClr val="F8FAFC"/>
                </a:solidFill>
              </a:defRPr>
            </a:pPr>
            <a:r>
              <a:rPr>
                <a:solidFill>
                  <a:schemeClr val="tx1">
                    <a:lumMod val="85000"/>
                    <a:lumOff val="15000"/>
                  </a:schemeClr>
                </a:solidFill>
              </a:rPr>
              <a:t>all-mpnet-base-v2: 768 dims, balanced quality and speed</a:t>
            </a:r>
          </a:p>
          <a:p>
            <a:pPr>
              <a:spcBef>
                <a:spcPts val="800"/>
              </a:spcBef>
              <a:defRPr sz="1600">
                <a:solidFill>
                  <a:srgbClr val="F8FAFC"/>
                </a:solidFill>
              </a:defRPr>
            </a:pPr>
            <a:r>
              <a:rPr>
                <a:solidFill>
                  <a:schemeClr val="tx1">
                    <a:lumMod val="85000"/>
                    <a:lumOff val="15000"/>
                  </a:schemeClr>
                </a:solidFill>
              </a:rPr>
              <a:t>BGE (BAAI): State-of-the-art, multiple sizes available</a:t>
            </a:r>
          </a:p>
          <a:p>
            <a:pPr>
              <a:spcBef>
                <a:spcPts val="800"/>
              </a:spcBef>
              <a:defRPr sz="1600">
                <a:solidFill>
                  <a:srgbClr val="F8FAFC"/>
                </a:solidFill>
              </a:defRPr>
            </a:pPr>
            <a:r>
              <a:rPr>
                <a:solidFill>
                  <a:schemeClr val="tx1">
                    <a:lumMod val="85000"/>
                    <a:lumOff val="15000"/>
                  </a:schemeClr>
                </a:solidFill>
              </a:rPr>
              <a:t>Cohere embed: Multilingual support, API-based</a:t>
            </a:r>
          </a:p>
          <a:p>
            <a:pPr>
              <a:spcBef>
                <a:spcPts val="800"/>
              </a:spcBef>
              <a:defRPr sz="1600">
                <a:solidFill>
                  <a:srgbClr val="F8FAFC"/>
                </a:solidFill>
              </a:defRPr>
            </a:pPr>
            <a:r>
              <a:rPr>
                <a:solidFill>
                  <a:schemeClr val="tx1">
                    <a:lumMod val="85000"/>
                    <a:lumOff val="15000"/>
                  </a:schemeClr>
                </a:solidFill>
              </a:rPr>
              <a:t>Choose based on: accuracy needs, speed, cost, deployment constraints</a:t>
            </a:r>
          </a:p>
        </p:txBody>
      </p:sp>
    </p:spTree>
    <p:extLst>
      <p:ext uri="{BB962C8B-B14F-4D97-AF65-F5344CB8AC3E}">
        <p14:creationId xmlns:p14="http://schemas.microsoft.com/office/powerpoint/2010/main" val="3926343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6492290"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Step 4: Vector Database Storage</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Purpose: Efficiently store and search millions of vector embeddings</a:t>
            </a:r>
          </a:p>
          <a:p>
            <a:pPr>
              <a:spcBef>
                <a:spcPts val="800"/>
              </a:spcBef>
              <a:defRPr sz="1600">
                <a:solidFill>
                  <a:srgbClr val="F8FAFC"/>
                </a:solidFill>
              </a:defRPr>
            </a:pPr>
            <a:r>
              <a:rPr>
                <a:solidFill>
                  <a:schemeClr val="tx1">
                    <a:lumMod val="85000"/>
                    <a:lumOff val="15000"/>
                  </a:schemeClr>
                </a:solidFill>
              </a:rPr>
              <a:t>Key operation: k-NN (k-Nearest Neighbors) search</a:t>
            </a:r>
          </a:p>
          <a:p>
            <a:pPr>
              <a:spcBef>
                <a:spcPts val="800"/>
              </a:spcBef>
              <a:defRPr sz="1600">
                <a:solidFill>
                  <a:srgbClr val="F8FAFC"/>
                </a:solidFill>
              </a:defRPr>
            </a:pPr>
            <a:r>
              <a:rPr>
                <a:solidFill>
                  <a:schemeClr val="tx1">
                    <a:lumMod val="85000"/>
                    <a:lumOff val="15000"/>
                  </a:schemeClr>
                </a:solidFill>
              </a:rPr>
              <a:t>Popular options: Pinecone, Weaviate, FAISS, Chroma, Qdrant</a:t>
            </a:r>
          </a:p>
          <a:p>
            <a:pPr>
              <a:spcBef>
                <a:spcPts val="800"/>
              </a:spcBef>
              <a:defRPr sz="1600">
                <a:solidFill>
                  <a:srgbClr val="F8FAFC"/>
                </a:solidFill>
              </a:defRPr>
            </a:pPr>
            <a:r>
              <a:rPr>
                <a:solidFill>
                  <a:schemeClr val="tx1">
                    <a:lumMod val="85000"/>
                    <a:lumOff val="15000"/>
                  </a:schemeClr>
                </a:solidFill>
              </a:rPr>
              <a:t>FAISS: Facebook AI, fast, local deployment</a:t>
            </a:r>
          </a:p>
          <a:p>
            <a:pPr>
              <a:spcBef>
                <a:spcPts val="800"/>
              </a:spcBef>
              <a:defRPr sz="1600">
                <a:solidFill>
                  <a:srgbClr val="F8FAFC"/>
                </a:solidFill>
              </a:defRPr>
            </a:pPr>
            <a:r>
              <a:rPr>
                <a:solidFill>
                  <a:schemeClr val="tx1">
                    <a:lumMod val="85000"/>
                    <a:lumOff val="15000"/>
                  </a:schemeClr>
                </a:solidFill>
              </a:rPr>
              <a:t>Pinecone: Managed cloud service, scalable, easy to use</a:t>
            </a:r>
          </a:p>
          <a:p>
            <a:pPr>
              <a:spcBef>
                <a:spcPts val="800"/>
              </a:spcBef>
              <a:defRPr sz="1600">
                <a:solidFill>
                  <a:srgbClr val="F8FAFC"/>
                </a:solidFill>
              </a:defRPr>
            </a:pPr>
            <a:r>
              <a:rPr>
                <a:solidFill>
                  <a:schemeClr val="tx1">
                    <a:lumMod val="85000"/>
                    <a:lumOff val="15000"/>
                  </a:schemeClr>
                </a:solidFill>
              </a:rPr>
              <a:t>Weaviate: Open-source, combines graph + vector capabilities</a:t>
            </a:r>
          </a:p>
        </p:txBody>
      </p:sp>
    </p:spTree>
    <p:extLst>
      <p:ext uri="{BB962C8B-B14F-4D97-AF65-F5344CB8AC3E}">
        <p14:creationId xmlns:p14="http://schemas.microsoft.com/office/powerpoint/2010/main" val="738362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57200" y="274320"/>
            <a:ext cx="6582058"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Vector Database Selection Guide</a:t>
            </a:r>
          </a:p>
        </p:txBody>
      </p:sp>
      <p:sp>
        <p:nvSpPr>
          <p:cNvPr id="7" name="TextBox 6"/>
          <p:cNvSpPr txBox="1"/>
          <p:nvPr/>
        </p:nvSpPr>
        <p:spPr>
          <a:xfrm>
            <a:off x="548640" y="1097280"/>
            <a:ext cx="3031343" cy="1969770"/>
          </a:xfrm>
          <a:prstGeom prst="rect">
            <a:avLst/>
          </a:prstGeom>
          <a:noFill/>
        </p:spPr>
        <p:txBody>
          <a:bodyPr wrap="none">
            <a:spAutoFit/>
          </a:bodyPr>
          <a:lstStyle/>
          <a:p>
            <a:pPr>
              <a:defRPr sz="2200" b="1">
                <a:solidFill>
                  <a:srgbClr val="2563EB"/>
                </a:solidFill>
              </a:defRPr>
            </a:pPr>
            <a:r>
              <a:rPr>
                <a:solidFill>
                  <a:schemeClr val="tx1">
                    <a:lumMod val="85000"/>
                    <a:lumOff val="15000"/>
                  </a:schemeClr>
                </a:solidFill>
              </a:rPr>
              <a:t>Cloud-Managed</a:t>
            </a:r>
          </a:p>
          <a:p>
            <a:pPr>
              <a:spcBef>
                <a:spcPts val="600"/>
              </a:spcBef>
              <a:defRPr sz="1500">
                <a:solidFill>
                  <a:srgbClr val="F8FAFC"/>
                </a:solidFill>
              </a:defRPr>
            </a:pPr>
            <a:r>
              <a:rPr>
                <a:solidFill>
                  <a:schemeClr val="tx1">
                    <a:lumMod val="85000"/>
                    <a:lumOff val="15000"/>
                  </a:schemeClr>
                </a:solidFill>
              </a:rPr>
              <a:t>Pinecone: Easy, scalable</a:t>
            </a:r>
          </a:p>
          <a:p>
            <a:pPr>
              <a:spcBef>
                <a:spcPts val="600"/>
              </a:spcBef>
              <a:defRPr sz="1500">
                <a:solidFill>
                  <a:srgbClr val="F8FAFC"/>
                </a:solidFill>
              </a:defRPr>
            </a:pPr>
            <a:r>
              <a:rPr>
                <a:solidFill>
                  <a:schemeClr val="tx1">
                    <a:lumMod val="85000"/>
                    <a:lumOff val="15000"/>
                  </a:schemeClr>
                </a:solidFill>
              </a:rPr>
              <a:t>Weaviate Cloud: Managed option</a:t>
            </a:r>
          </a:p>
          <a:p>
            <a:pPr>
              <a:spcBef>
                <a:spcPts val="600"/>
              </a:spcBef>
              <a:defRPr sz="1500">
                <a:solidFill>
                  <a:srgbClr val="F8FAFC"/>
                </a:solidFill>
              </a:defRPr>
            </a:pPr>
            <a:r>
              <a:rPr>
                <a:solidFill>
                  <a:schemeClr val="tx1">
                    <a:lumMod val="85000"/>
                    <a:lumOff val="15000"/>
                  </a:schemeClr>
                </a:solidFill>
              </a:rPr>
              <a:t>Best for: Production at scale</a:t>
            </a:r>
          </a:p>
          <a:p>
            <a:pPr>
              <a:spcBef>
                <a:spcPts val="600"/>
              </a:spcBef>
              <a:defRPr sz="1500">
                <a:solidFill>
                  <a:srgbClr val="F8FAFC"/>
                </a:solidFill>
              </a:defRPr>
            </a:pPr>
            <a:r>
              <a:rPr>
                <a:solidFill>
                  <a:schemeClr val="tx1">
                    <a:lumMod val="85000"/>
                    <a:lumOff val="15000"/>
                  </a:schemeClr>
                </a:solidFill>
              </a:rPr>
              <a:t>Pros: No infrastructure mgmt</a:t>
            </a:r>
          </a:p>
          <a:p>
            <a:pPr>
              <a:spcBef>
                <a:spcPts val="600"/>
              </a:spcBef>
              <a:defRPr sz="1500">
                <a:solidFill>
                  <a:srgbClr val="F8FAFC"/>
                </a:solidFill>
              </a:defRPr>
            </a:pPr>
            <a:r>
              <a:rPr>
                <a:solidFill>
                  <a:schemeClr val="tx1">
                    <a:lumMod val="85000"/>
                    <a:lumOff val="15000"/>
                  </a:schemeClr>
                </a:solidFill>
              </a:rPr>
              <a:t>Cons: Ongoing costs</a:t>
            </a:r>
          </a:p>
        </p:txBody>
      </p:sp>
      <p:sp>
        <p:nvSpPr>
          <p:cNvPr id="8" name="TextBox 7"/>
          <p:cNvSpPr txBox="1"/>
          <p:nvPr/>
        </p:nvSpPr>
        <p:spPr>
          <a:xfrm>
            <a:off x="4754880" y="1097280"/>
            <a:ext cx="2773516" cy="1969770"/>
          </a:xfrm>
          <a:prstGeom prst="rect">
            <a:avLst/>
          </a:prstGeom>
          <a:noFill/>
        </p:spPr>
        <p:txBody>
          <a:bodyPr wrap="none">
            <a:spAutoFit/>
          </a:bodyPr>
          <a:lstStyle/>
          <a:p>
            <a:pPr>
              <a:defRPr sz="2200" b="1">
                <a:solidFill>
                  <a:srgbClr val="7C3AED"/>
                </a:solidFill>
              </a:defRPr>
            </a:pPr>
            <a:r>
              <a:rPr>
                <a:solidFill>
                  <a:schemeClr val="tx1">
                    <a:lumMod val="85000"/>
                    <a:lumOff val="15000"/>
                  </a:schemeClr>
                </a:solidFill>
              </a:rPr>
              <a:t>Self-Hosted</a:t>
            </a:r>
          </a:p>
          <a:p>
            <a:pPr>
              <a:spcBef>
                <a:spcPts val="600"/>
              </a:spcBef>
              <a:defRPr sz="1500">
                <a:solidFill>
                  <a:srgbClr val="F8FAFC"/>
                </a:solidFill>
              </a:defRPr>
            </a:pPr>
            <a:r>
              <a:rPr>
                <a:solidFill>
                  <a:schemeClr val="tx1">
                    <a:lumMod val="85000"/>
                    <a:lumOff val="15000"/>
                  </a:schemeClr>
                </a:solidFill>
              </a:rPr>
              <a:t>FAISS: Fast, proven</a:t>
            </a:r>
          </a:p>
          <a:p>
            <a:pPr>
              <a:spcBef>
                <a:spcPts val="600"/>
              </a:spcBef>
              <a:defRPr sz="1500">
                <a:solidFill>
                  <a:srgbClr val="F8FAFC"/>
                </a:solidFill>
              </a:defRPr>
            </a:pPr>
            <a:r>
              <a:rPr>
                <a:solidFill>
                  <a:schemeClr val="tx1">
                    <a:lumMod val="85000"/>
                    <a:lumOff val="15000"/>
                  </a:schemeClr>
                </a:solidFill>
              </a:rPr>
              <a:t>Chroma: Simple, embedded</a:t>
            </a:r>
          </a:p>
          <a:p>
            <a:pPr>
              <a:spcBef>
                <a:spcPts val="600"/>
              </a:spcBef>
              <a:defRPr sz="1500">
                <a:solidFill>
                  <a:srgbClr val="F8FAFC"/>
                </a:solidFill>
              </a:defRPr>
            </a:pPr>
            <a:r>
              <a:rPr>
                <a:solidFill>
                  <a:schemeClr val="tx1">
                    <a:lumMod val="85000"/>
                    <a:lumOff val="15000"/>
                  </a:schemeClr>
                </a:solidFill>
              </a:rPr>
              <a:t>Best for: Development, control</a:t>
            </a:r>
          </a:p>
          <a:p>
            <a:pPr>
              <a:spcBef>
                <a:spcPts val="600"/>
              </a:spcBef>
              <a:defRPr sz="1500">
                <a:solidFill>
                  <a:srgbClr val="F8FAFC"/>
                </a:solidFill>
              </a:defRPr>
            </a:pPr>
            <a:r>
              <a:rPr>
                <a:solidFill>
                  <a:schemeClr val="tx1">
                    <a:lumMod val="85000"/>
                    <a:lumOff val="15000"/>
                  </a:schemeClr>
                </a:solidFill>
              </a:rPr>
              <a:t>Pros: No recurring fees</a:t>
            </a:r>
          </a:p>
          <a:p>
            <a:pPr>
              <a:spcBef>
                <a:spcPts val="600"/>
              </a:spcBef>
              <a:defRPr sz="1500">
                <a:solidFill>
                  <a:srgbClr val="F8FAFC"/>
                </a:solidFill>
              </a:defRPr>
            </a:pPr>
            <a:r>
              <a:rPr>
                <a:solidFill>
                  <a:schemeClr val="tx1">
                    <a:lumMod val="85000"/>
                    <a:lumOff val="15000"/>
                  </a:schemeClr>
                </a:solidFill>
              </a:rPr>
              <a:t>Cons: Infrastructure needed</a:t>
            </a:r>
          </a:p>
        </p:txBody>
      </p:sp>
    </p:spTree>
    <p:extLst>
      <p:ext uri="{BB962C8B-B14F-4D97-AF65-F5344CB8AC3E}">
        <p14:creationId xmlns:p14="http://schemas.microsoft.com/office/powerpoint/2010/main" val="3777599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7223452"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Step 5: Semantic Search &amp; Retrieval</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User query is converted to embedding (same model as documents)</a:t>
            </a:r>
          </a:p>
          <a:p>
            <a:pPr>
              <a:spcBef>
                <a:spcPts val="800"/>
              </a:spcBef>
              <a:defRPr sz="1600">
                <a:solidFill>
                  <a:srgbClr val="F8FAFC"/>
                </a:solidFill>
              </a:defRPr>
            </a:pPr>
            <a:r>
              <a:rPr>
                <a:solidFill>
                  <a:schemeClr val="tx1">
                    <a:lumMod val="85000"/>
                    <a:lumOff val="15000"/>
                  </a:schemeClr>
                </a:solidFill>
              </a:rPr>
              <a:t>Vector database finds most similar document embeddings</a:t>
            </a:r>
          </a:p>
          <a:p>
            <a:pPr>
              <a:spcBef>
                <a:spcPts val="800"/>
              </a:spcBef>
              <a:defRPr sz="1600">
                <a:solidFill>
                  <a:srgbClr val="F8FAFC"/>
                </a:solidFill>
              </a:defRPr>
            </a:pPr>
            <a:r>
              <a:rPr>
                <a:solidFill>
                  <a:schemeClr val="tx1">
                    <a:lumMod val="85000"/>
                    <a:lumOff val="15000"/>
                  </a:schemeClr>
                </a:solidFill>
              </a:rPr>
              <a:t>Returns top-k most relevant chunks (typically k=3-10)</a:t>
            </a:r>
          </a:p>
          <a:p>
            <a:pPr>
              <a:spcBef>
                <a:spcPts val="800"/>
              </a:spcBef>
              <a:defRPr sz="1600">
                <a:solidFill>
                  <a:srgbClr val="F8FAFC"/>
                </a:solidFill>
              </a:defRPr>
            </a:pPr>
            <a:r>
              <a:rPr>
                <a:solidFill>
                  <a:schemeClr val="tx1">
                    <a:lumMod val="85000"/>
                    <a:lumOff val="15000"/>
                  </a:schemeClr>
                </a:solidFill>
              </a:rPr>
              <a:t>Similarity measured by: Cosine similarity, Euclidean distance, or dot product</a:t>
            </a:r>
          </a:p>
          <a:p>
            <a:pPr>
              <a:spcBef>
                <a:spcPts val="800"/>
              </a:spcBef>
              <a:defRPr sz="1600">
                <a:solidFill>
                  <a:srgbClr val="F8FAFC"/>
                </a:solidFill>
              </a:defRPr>
            </a:pPr>
            <a:r>
              <a:rPr>
                <a:solidFill>
                  <a:schemeClr val="tx1">
                    <a:lumMod val="85000"/>
                    <a:lumOff val="15000"/>
                  </a:schemeClr>
                </a:solidFill>
              </a:rPr>
              <a:t>Advanced: Hybrid search combines semantic + keyword (BM25)</a:t>
            </a:r>
          </a:p>
          <a:p>
            <a:pPr>
              <a:spcBef>
                <a:spcPts val="800"/>
              </a:spcBef>
              <a:defRPr sz="1600">
                <a:solidFill>
                  <a:srgbClr val="F8FAFC"/>
                </a:solidFill>
              </a:defRPr>
            </a:pPr>
            <a:r>
              <a:rPr>
                <a:solidFill>
                  <a:schemeClr val="tx1">
                    <a:lumMod val="85000"/>
                    <a:lumOff val="15000"/>
                  </a:schemeClr>
                </a:solidFill>
              </a:rPr>
              <a:t>Re-ranking: Use cross-encoder to refine top results</a:t>
            </a:r>
          </a:p>
        </p:txBody>
      </p:sp>
    </p:spTree>
    <p:extLst>
      <p:ext uri="{BB962C8B-B14F-4D97-AF65-F5344CB8AC3E}">
        <p14:creationId xmlns:p14="http://schemas.microsoft.com/office/powerpoint/2010/main" val="3194388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6345007"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Advanced Retrieval Techniques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Hybrid Search: Combine dense (semantic) + sparse (keyword) retrieval</a:t>
            </a:r>
          </a:p>
          <a:p>
            <a:pPr>
              <a:spcBef>
                <a:spcPts val="800"/>
              </a:spcBef>
              <a:defRPr sz="1600">
                <a:solidFill>
                  <a:srgbClr val="F8FAFC"/>
                </a:solidFill>
              </a:defRPr>
            </a:pPr>
            <a:r>
              <a:rPr>
                <a:solidFill>
                  <a:schemeClr val="tx1">
                    <a:lumMod val="85000"/>
                    <a:lumOff val="15000"/>
                  </a:schemeClr>
                </a:solidFill>
              </a:rPr>
              <a:t>Re-ranking: Cross-encoder models for better relevance scoring</a:t>
            </a:r>
          </a:p>
          <a:p>
            <a:pPr>
              <a:spcBef>
                <a:spcPts val="800"/>
              </a:spcBef>
              <a:defRPr sz="1600">
                <a:solidFill>
                  <a:srgbClr val="F8FAFC"/>
                </a:solidFill>
              </a:defRPr>
            </a:pPr>
            <a:r>
              <a:rPr>
                <a:solidFill>
                  <a:schemeClr val="tx1">
                    <a:lumMod val="85000"/>
                    <a:lumOff val="15000"/>
                  </a:schemeClr>
                </a:solidFill>
              </a:rPr>
              <a:t>Query Expansion: Expand query with synonyms, related terms</a:t>
            </a:r>
          </a:p>
          <a:p>
            <a:pPr>
              <a:spcBef>
                <a:spcPts val="800"/>
              </a:spcBef>
              <a:defRPr sz="1600">
                <a:solidFill>
                  <a:srgbClr val="F8FAFC"/>
                </a:solidFill>
              </a:defRPr>
            </a:pPr>
            <a:r>
              <a:rPr>
                <a:solidFill>
                  <a:schemeClr val="tx1">
                    <a:lumMod val="85000"/>
                    <a:lumOff val="15000"/>
                  </a:schemeClr>
                </a:solidFill>
              </a:rPr>
              <a:t>Metadata Filtering: Pre-filter by date, source, type before vector search</a:t>
            </a:r>
          </a:p>
          <a:p>
            <a:pPr>
              <a:spcBef>
                <a:spcPts val="800"/>
              </a:spcBef>
              <a:defRPr sz="1600">
                <a:solidFill>
                  <a:srgbClr val="F8FAFC"/>
                </a:solidFill>
              </a:defRPr>
            </a:pPr>
            <a:r>
              <a:rPr>
                <a:solidFill>
                  <a:schemeClr val="tx1">
                    <a:lumMod val="85000"/>
                    <a:lumOff val="15000"/>
                  </a:schemeClr>
                </a:solidFill>
              </a:rPr>
              <a:t>Parent Document Retrieval: Retrieve small chunks, return larger context</a:t>
            </a:r>
          </a:p>
          <a:p>
            <a:pPr>
              <a:spcBef>
                <a:spcPts val="800"/>
              </a:spcBef>
              <a:defRPr sz="1600">
                <a:solidFill>
                  <a:srgbClr val="F8FAFC"/>
                </a:solidFill>
              </a:defRPr>
            </a:pPr>
            <a:r>
              <a:rPr>
                <a:solidFill>
                  <a:schemeClr val="tx1">
                    <a:lumMod val="85000"/>
                    <a:lumOff val="15000"/>
                  </a:schemeClr>
                </a:solidFill>
              </a:rPr>
              <a:t>Hypothetical Document Embeddings (HyDE): Generate ideal answer, then search</a:t>
            </a:r>
          </a:p>
        </p:txBody>
      </p:sp>
    </p:spTree>
    <p:extLst>
      <p:ext uri="{BB962C8B-B14F-4D97-AF65-F5344CB8AC3E}">
        <p14:creationId xmlns:p14="http://schemas.microsoft.com/office/powerpoint/2010/main" val="301637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7681077"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Steps 6-7: Augmentation &amp; Generation</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Augmentation: Combine user query with retrieved documents</a:t>
            </a:r>
          </a:p>
          <a:p>
            <a:pPr>
              <a:spcBef>
                <a:spcPts val="800"/>
              </a:spcBef>
              <a:defRPr sz="1600">
                <a:solidFill>
                  <a:srgbClr val="F8FAFC"/>
                </a:solidFill>
              </a:defRPr>
            </a:pPr>
            <a:r>
              <a:rPr>
                <a:solidFill>
                  <a:schemeClr val="tx1">
                    <a:lumMod val="85000"/>
                    <a:lumOff val="15000"/>
                  </a:schemeClr>
                </a:solidFill>
              </a:rPr>
              <a:t>Prompt structure: System prompt + Context + User query</a:t>
            </a:r>
          </a:p>
          <a:p>
            <a:pPr>
              <a:spcBef>
                <a:spcPts val="800"/>
              </a:spcBef>
              <a:defRPr sz="1600">
                <a:solidFill>
                  <a:srgbClr val="F8FAFC"/>
                </a:solidFill>
              </a:defRPr>
            </a:pPr>
            <a:r>
              <a:rPr>
                <a:solidFill>
                  <a:schemeClr val="tx1">
                    <a:lumMod val="85000"/>
                    <a:lumOff val="15000"/>
                  </a:schemeClr>
                </a:solidFill>
              </a:rPr>
              <a:t>Example template: 'Given context: {docs}. Answer question: {query}'</a:t>
            </a:r>
          </a:p>
          <a:p>
            <a:pPr>
              <a:spcBef>
                <a:spcPts val="800"/>
              </a:spcBef>
              <a:defRPr sz="1600">
                <a:solidFill>
                  <a:srgbClr val="F8FAFC"/>
                </a:solidFill>
              </a:defRPr>
            </a:pPr>
            <a:r>
              <a:rPr>
                <a:solidFill>
                  <a:schemeClr val="tx1">
                    <a:lumMod val="85000"/>
                    <a:lumOff val="15000"/>
                  </a:schemeClr>
                </a:solidFill>
              </a:rPr>
              <a:t>Generation: LLM produces response based on provided context</a:t>
            </a:r>
          </a:p>
          <a:p>
            <a:pPr>
              <a:spcBef>
                <a:spcPts val="800"/>
              </a:spcBef>
              <a:defRPr sz="1600">
                <a:solidFill>
                  <a:srgbClr val="F8FAFC"/>
                </a:solidFill>
              </a:defRPr>
            </a:pPr>
            <a:r>
              <a:rPr>
                <a:solidFill>
                  <a:schemeClr val="tx1">
                    <a:lumMod val="85000"/>
                    <a:lumOff val="15000"/>
                  </a:schemeClr>
                </a:solidFill>
              </a:rPr>
              <a:t>Benefits: Grounded answers, reduced hallucinations, source attribution</a:t>
            </a:r>
          </a:p>
          <a:p>
            <a:pPr>
              <a:spcBef>
                <a:spcPts val="800"/>
              </a:spcBef>
              <a:defRPr sz="1600">
                <a:solidFill>
                  <a:srgbClr val="F8FAFC"/>
                </a:solidFill>
              </a:defRPr>
            </a:pPr>
            <a:r>
              <a:rPr>
                <a:solidFill>
                  <a:schemeClr val="tx1">
                    <a:lumMod val="85000"/>
                    <a:lumOff val="15000"/>
                  </a:schemeClr>
                </a:solidFill>
              </a:rPr>
              <a:t>Important: Instruct LLM to only use provided context, cite sources</a:t>
            </a:r>
          </a:p>
        </p:txBody>
      </p:sp>
    </p:spTree>
    <p:extLst>
      <p:ext uri="{BB962C8B-B14F-4D97-AF65-F5344CB8AC3E}">
        <p14:creationId xmlns:p14="http://schemas.microsoft.com/office/powerpoint/2010/main" val="191815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4695516"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Effective RAG Prompts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Clear instructions: 'Answer using only the provided context'</a:t>
            </a:r>
          </a:p>
          <a:p>
            <a:pPr>
              <a:spcBef>
                <a:spcPts val="800"/>
              </a:spcBef>
              <a:defRPr sz="1600">
                <a:solidFill>
                  <a:srgbClr val="F8FAFC"/>
                </a:solidFill>
              </a:defRPr>
            </a:pPr>
            <a:r>
              <a:rPr>
                <a:solidFill>
                  <a:schemeClr val="tx1">
                    <a:lumMod val="85000"/>
                    <a:lumOff val="15000"/>
                  </a:schemeClr>
                </a:solidFill>
              </a:rPr>
              <a:t>Handle missing info: 'If answer not in context, say I don't know'</a:t>
            </a:r>
          </a:p>
          <a:p>
            <a:pPr>
              <a:spcBef>
                <a:spcPts val="800"/>
              </a:spcBef>
              <a:defRPr sz="1600">
                <a:solidFill>
                  <a:srgbClr val="F8FAFC"/>
                </a:solidFill>
              </a:defRPr>
            </a:pPr>
            <a:r>
              <a:rPr>
                <a:solidFill>
                  <a:schemeClr val="tx1">
                    <a:lumMod val="85000"/>
                    <a:lumOff val="15000"/>
                  </a:schemeClr>
                </a:solidFill>
              </a:rPr>
              <a:t>Request citations: 'Include source references in your answer'</a:t>
            </a:r>
          </a:p>
          <a:p>
            <a:pPr>
              <a:spcBef>
                <a:spcPts val="800"/>
              </a:spcBef>
              <a:defRPr sz="1600">
                <a:solidFill>
                  <a:srgbClr val="F8FAFC"/>
                </a:solidFill>
              </a:defRPr>
            </a:pPr>
            <a:r>
              <a:rPr>
                <a:solidFill>
                  <a:schemeClr val="tx1">
                    <a:lumMod val="85000"/>
                    <a:lumOff val="15000"/>
                  </a:schemeClr>
                </a:solidFill>
              </a:rPr>
              <a:t>Format guidance: 'Provide answer in clear, concise paragraphs'</a:t>
            </a:r>
          </a:p>
          <a:p>
            <a:pPr>
              <a:spcBef>
                <a:spcPts val="800"/>
              </a:spcBef>
              <a:defRPr sz="1600">
                <a:solidFill>
                  <a:srgbClr val="F8FAFC"/>
                </a:solidFill>
              </a:defRPr>
            </a:pPr>
            <a:r>
              <a:rPr>
                <a:solidFill>
                  <a:schemeClr val="tx1">
                    <a:lumMod val="85000"/>
                    <a:lumOff val="15000"/>
                  </a:schemeClr>
                </a:solidFill>
              </a:rPr>
              <a:t>Example: 'You are a helpful assistant. Use the context below to answer...'</a:t>
            </a:r>
          </a:p>
          <a:p>
            <a:pPr>
              <a:spcBef>
                <a:spcPts val="800"/>
              </a:spcBef>
              <a:defRPr sz="1600">
                <a:solidFill>
                  <a:srgbClr val="F8FAFC"/>
                </a:solidFill>
              </a:defRPr>
            </a:pPr>
            <a:r>
              <a:rPr>
                <a:solidFill>
                  <a:schemeClr val="tx1">
                    <a:lumMod val="85000"/>
                    <a:lumOff val="15000"/>
                  </a:schemeClr>
                </a:solidFill>
              </a:rPr>
              <a:t>Test and iterate: Refine prompts based on response quality</a:t>
            </a:r>
          </a:p>
        </p:txBody>
      </p:sp>
    </p:spTree>
    <p:extLst>
      <p:ext uri="{BB962C8B-B14F-4D97-AF65-F5344CB8AC3E}">
        <p14:creationId xmlns:p14="http://schemas.microsoft.com/office/powerpoint/2010/main" val="3420569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78476" y="1786597"/>
            <a:ext cx="7237879" cy="769441"/>
          </a:xfrm>
          <a:prstGeom prst="rect">
            <a:avLst/>
          </a:prstGeom>
          <a:noFill/>
        </p:spPr>
        <p:txBody>
          <a:bodyPr wrap="none">
            <a:spAutoFit/>
          </a:bodyPr>
          <a:lstStyle/>
          <a:p>
            <a:pPr algn="ctr">
              <a:defRPr sz="4400" b="1">
                <a:solidFill>
                  <a:srgbClr val="F8FAFC"/>
                </a:solidFill>
              </a:defRPr>
            </a:pPr>
            <a:r>
              <a:rPr>
                <a:solidFill>
                  <a:schemeClr val="tx1">
                    <a:lumMod val="85000"/>
                    <a:lumOff val="15000"/>
                  </a:schemeClr>
                </a:solidFill>
              </a:rPr>
              <a:t>Introduction to LangChain</a:t>
            </a:r>
          </a:p>
        </p:txBody>
      </p:sp>
      <p:sp>
        <p:nvSpPr>
          <p:cNvPr id="5" name="TextBox 4"/>
          <p:cNvSpPr txBox="1"/>
          <p:nvPr/>
        </p:nvSpPr>
        <p:spPr>
          <a:xfrm>
            <a:off x="3281402" y="2883877"/>
            <a:ext cx="4832028" cy="400110"/>
          </a:xfrm>
          <a:prstGeom prst="rect">
            <a:avLst/>
          </a:prstGeom>
          <a:noFill/>
        </p:spPr>
        <p:txBody>
          <a:bodyPr wrap="none">
            <a:spAutoFit/>
          </a:bodyPr>
          <a:lstStyle/>
          <a:p>
            <a:pPr algn="ctr">
              <a:defRPr sz="2000">
                <a:solidFill>
                  <a:srgbClr val="F8FAFC"/>
                </a:solidFill>
              </a:defRPr>
            </a:pPr>
            <a:r>
              <a:rPr>
                <a:solidFill>
                  <a:schemeClr val="tx1">
                    <a:lumMod val="85000"/>
                    <a:lumOff val="15000"/>
                  </a:schemeClr>
                </a:solidFill>
              </a:rPr>
              <a:t>Framework for Building LLM Applications</a:t>
            </a:r>
          </a:p>
        </p:txBody>
      </p:sp>
    </p:spTree>
    <p:extLst>
      <p:ext uri="{BB962C8B-B14F-4D97-AF65-F5344CB8AC3E}">
        <p14:creationId xmlns:p14="http://schemas.microsoft.com/office/powerpoint/2010/main" val="396925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9033" y="1400465"/>
            <a:ext cx="6096000" cy="2031325"/>
          </a:xfrm>
          <a:prstGeom prst="rect">
            <a:avLst/>
          </a:prstGeom>
        </p:spPr>
        <p:txBody>
          <a:bodyPr>
            <a:spAutoFit/>
          </a:bodyPr>
          <a:lstStyle/>
          <a:p>
            <a:r>
              <a:rPr lang="en-US" dirty="0" err="1"/>
              <a:t>LangChain</a:t>
            </a:r>
            <a:r>
              <a:rPr lang="en-US" dirty="0"/>
              <a:t> is an open source framework for building applications powered by large language models. It helps developers connect LLMs to external data sources, tools, and workflows. By providing abstractions for prompts, chains, memory, and retrieval, </a:t>
            </a:r>
            <a:r>
              <a:rPr lang="en-US" dirty="0" err="1"/>
              <a:t>LangChain</a:t>
            </a:r>
            <a:r>
              <a:rPr lang="en-US" dirty="0"/>
              <a:t> makes it easier to design, manage, and scale intelligent language based applications.</a:t>
            </a:r>
          </a:p>
        </p:txBody>
      </p:sp>
      <p:sp>
        <p:nvSpPr>
          <p:cNvPr id="5" name="TextBox 4"/>
          <p:cNvSpPr txBox="1"/>
          <p:nvPr/>
        </p:nvSpPr>
        <p:spPr>
          <a:xfrm>
            <a:off x="769033" y="443132"/>
            <a:ext cx="4121641" cy="584775"/>
          </a:xfrm>
          <a:prstGeom prst="rect">
            <a:avLst/>
          </a:prstGeom>
          <a:noFill/>
        </p:spPr>
        <p:txBody>
          <a:bodyPr wrap="none">
            <a:spAutoFit/>
          </a:bodyPr>
          <a:lstStyle/>
          <a:p>
            <a:pPr>
              <a:defRPr sz="3200" b="1">
                <a:solidFill>
                  <a:srgbClr val="F59E0B"/>
                </a:solidFill>
              </a:defRPr>
            </a:pPr>
            <a:r>
              <a:rPr dirty="0">
                <a:solidFill>
                  <a:schemeClr val="tx1">
                    <a:lumMod val="85000"/>
                    <a:lumOff val="15000"/>
                  </a:schemeClr>
                </a:solidFill>
              </a:rPr>
              <a:t>What is </a:t>
            </a:r>
            <a:r>
              <a:rPr dirty="0" err="1">
                <a:solidFill>
                  <a:schemeClr val="tx1">
                    <a:lumMod val="85000"/>
                    <a:lumOff val="15000"/>
                  </a:schemeClr>
                </a:solidFill>
              </a:rPr>
              <a:t>LangChain</a:t>
            </a:r>
            <a:r>
              <a:rPr dirty="0">
                <a:solidFill>
                  <a:schemeClr val="tx1">
                    <a:lumMod val="85000"/>
                    <a:lumOff val="15000"/>
                  </a:schemeClr>
                </a:solidFill>
              </a:rPr>
              <a:t>?</a:t>
            </a:r>
          </a:p>
        </p:txBody>
      </p:sp>
    </p:spTree>
    <p:extLst>
      <p:ext uri="{BB962C8B-B14F-4D97-AF65-F5344CB8AC3E}">
        <p14:creationId xmlns:p14="http://schemas.microsoft.com/office/powerpoint/2010/main" val="397562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966698"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LangChain Core Components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Models: LLM wrappers (OpenAI, Claude, Llama, etc.)</a:t>
            </a:r>
          </a:p>
          <a:p>
            <a:pPr>
              <a:spcBef>
                <a:spcPts val="800"/>
              </a:spcBef>
              <a:defRPr sz="1600">
                <a:solidFill>
                  <a:srgbClr val="F8FAFC"/>
                </a:solidFill>
              </a:defRPr>
            </a:pPr>
            <a:r>
              <a:rPr>
                <a:solidFill>
                  <a:schemeClr val="tx1">
                    <a:lumMod val="85000"/>
                    <a:lumOff val="15000"/>
                  </a:schemeClr>
                </a:solidFill>
              </a:rPr>
              <a:t>Prompts: Template management and prompt engineering</a:t>
            </a:r>
          </a:p>
          <a:p>
            <a:pPr>
              <a:spcBef>
                <a:spcPts val="800"/>
              </a:spcBef>
              <a:defRPr sz="1600">
                <a:solidFill>
                  <a:srgbClr val="F8FAFC"/>
                </a:solidFill>
              </a:defRPr>
            </a:pPr>
            <a:r>
              <a:rPr>
                <a:solidFill>
                  <a:schemeClr val="tx1">
                    <a:lumMod val="85000"/>
                    <a:lumOff val="15000"/>
                  </a:schemeClr>
                </a:solidFill>
              </a:rPr>
              <a:t>Chains: Sequences of operations, composable workflows</a:t>
            </a:r>
          </a:p>
          <a:p>
            <a:pPr>
              <a:spcBef>
                <a:spcPts val="800"/>
              </a:spcBef>
              <a:defRPr sz="1600">
                <a:solidFill>
                  <a:srgbClr val="F8FAFC"/>
                </a:solidFill>
              </a:defRPr>
            </a:pPr>
            <a:r>
              <a:rPr>
                <a:solidFill>
                  <a:schemeClr val="tx1">
                    <a:lumMod val="85000"/>
                    <a:lumOff val="15000"/>
                  </a:schemeClr>
                </a:solidFill>
              </a:rPr>
              <a:t>Agents: LLMs that make decisions and use tools</a:t>
            </a:r>
          </a:p>
          <a:p>
            <a:pPr>
              <a:spcBef>
                <a:spcPts val="800"/>
              </a:spcBef>
              <a:defRPr sz="1600">
                <a:solidFill>
                  <a:srgbClr val="F8FAFC"/>
                </a:solidFill>
              </a:defRPr>
            </a:pPr>
            <a:r>
              <a:rPr>
                <a:solidFill>
                  <a:schemeClr val="tx1">
                    <a:lumMod val="85000"/>
                    <a:lumOff val="15000"/>
                  </a:schemeClr>
                </a:solidFill>
              </a:rPr>
              <a:t>Memory: Conversation history and state management</a:t>
            </a:r>
          </a:p>
          <a:p>
            <a:pPr>
              <a:spcBef>
                <a:spcPts val="800"/>
              </a:spcBef>
              <a:defRPr sz="1600">
                <a:solidFill>
                  <a:srgbClr val="F8FAFC"/>
                </a:solidFill>
              </a:defRPr>
            </a:pPr>
            <a:r>
              <a:rPr>
                <a:solidFill>
                  <a:schemeClr val="tx1">
                    <a:lumMod val="85000"/>
                    <a:lumOff val="15000"/>
                  </a:schemeClr>
                </a:solidFill>
              </a:rPr>
              <a:t>Callbacks: Logging, monitoring, and tracing</a:t>
            </a:r>
          </a:p>
        </p:txBody>
      </p:sp>
    </p:spTree>
    <p:extLst>
      <p:ext uri="{BB962C8B-B14F-4D97-AF65-F5344CB8AC3E}">
        <p14:creationId xmlns:p14="http://schemas.microsoft.com/office/powerpoint/2010/main" val="2089874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6261651"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LangChain: Document Loaders</a:t>
            </a:r>
          </a:p>
        </p:txBody>
      </p:sp>
      <p:sp>
        <p:nvSpPr>
          <p:cNvPr id="5" name="TextBox 4"/>
          <p:cNvSpPr txBox="1"/>
          <p:nvPr/>
        </p:nvSpPr>
        <p:spPr>
          <a:xfrm>
            <a:off x="640080" y="1005840"/>
            <a:ext cx="8602394" cy="2082621"/>
          </a:xfrm>
          <a:prstGeom prst="rect">
            <a:avLst/>
          </a:prstGeom>
          <a:noFill/>
        </p:spPr>
        <p:txBody>
          <a:bodyPr wrap="square">
            <a:spAutoFit/>
          </a:bodyPr>
          <a:lstStyle/>
          <a:p>
            <a:pPr>
              <a:spcBef>
                <a:spcPts val="800"/>
              </a:spcBef>
              <a:defRPr sz="1600">
                <a:solidFill>
                  <a:srgbClr val="F8FAFC"/>
                </a:solidFill>
              </a:defRPr>
            </a:pPr>
            <a:r>
              <a:rPr dirty="0">
                <a:solidFill>
                  <a:schemeClr val="tx1">
                    <a:lumMod val="85000"/>
                    <a:lumOff val="15000"/>
                  </a:schemeClr>
                </a:solidFill>
              </a:rPr>
              <a:t>Purpose: Load documents from 100+ different sources</a:t>
            </a:r>
          </a:p>
          <a:p>
            <a:pPr>
              <a:spcBef>
                <a:spcPts val="800"/>
              </a:spcBef>
              <a:defRPr sz="1600">
                <a:solidFill>
                  <a:srgbClr val="F8FAFC"/>
                </a:solidFill>
              </a:defRPr>
            </a:pPr>
            <a:r>
              <a:rPr dirty="0">
                <a:solidFill>
                  <a:schemeClr val="tx1">
                    <a:lumMod val="85000"/>
                    <a:lumOff val="15000"/>
                  </a:schemeClr>
                </a:solidFill>
              </a:rPr>
              <a:t>Common loaders: </a:t>
            </a:r>
            <a:r>
              <a:rPr dirty="0" err="1">
                <a:solidFill>
                  <a:schemeClr val="tx1">
                    <a:lumMod val="85000"/>
                    <a:lumOff val="15000"/>
                  </a:schemeClr>
                </a:solidFill>
              </a:rPr>
              <a:t>PDFLoader</a:t>
            </a:r>
            <a:r>
              <a:rPr dirty="0">
                <a:solidFill>
                  <a:schemeClr val="tx1">
                    <a:lumMod val="85000"/>
                    <a:lumOff val="15000"/>
                  </a:schemeClr>
                </a:solidFill>
              </a:rPr>
              <a:t>, </a:t>
            </a:r>
            <a:r>
              <a:rPr dirty="0" err="1">
                <a:solidFill>
                  <a:schemeClr val="tx1">
                    <a:lumMod val="85000"/>
                    <a:lumOff val="15000"/>
                  </a:schemeClr>
                </a:solidFill>
              </a:rPr>
              <a:t>CSVLoader</a:t>
            </a:r>
            <a:r>
              <a:rPr dirty="0">
                <a:solidFill>
                  <a:schemeClr val="tx1">
                    <a:lumMod val="85000"/>
                    <a:lumOff val="15000"/>
                  </a:schemeClr>
                </a:solidFill>
              </a:rPr>
              <a:t>, </a:t>
            </a:r>
            <a:r>
              <a:rPr dirty="0" err="1">
                <a:solidFill>
                  <a:schemeClr val="tx1">
                    <a:lumMod val="85000"/>
                    <a:lumOff val="15000"/>
                  </a:schemeClr>
                </a:solidFill>
              </a:rPr>
              <a:t>TextLoader</a:t>
            </a:r>
            <a:r>
              <a:rPr dirty="0">
                <a:solidFill>
                  <a:schemeClr val="tx1">
                    <a:lumMod val="85000"/>
                    <a:lumOff val="15000"/>
                  </a:schemeClr>
                </a:solidFill>
              </a:rPr>
              <a:t>, </a:t>
            </a:r>
            <a:r>
              <a:rPr dirty="0" err="1">
                <a:solidFill>
                  <a:schemeClr val="tx1">
                    <a:lumMod val="85000"/>
                    <a:lumOff val="15000"/>
                  </a:schemeClr>
                </a:solidFill>
              </a:rPr>
              <a:t>WebBaseLoader</a:t>
            </a:r>
            <a:endParaRPr dirty="0">
              <a:solidFill>
                <a:schemeClr val="tx1">
                  <a:lumMod val="85000"/>
                  <a:lumOff val="15000"/>
                </a:schemeClr>
              </a:solidFill>
            </a:endParaRPr>
          </a:p>
          <a:p>
            <a:pPr>
              <a:spcBef>
                <a:spcPts val="800"/>
              </a:spcBef>
              <a:defRPr sz="1600">
                <a:solidFill>
                  <a:srgbClr val="F8FAFC"/>
                </a:solidFill>
              </a:defRPr>
            </a:pPr>
            <a:r>
              <a:rPr dirty="0">
                <a:solidFill>
                  <a:schemeClr val="tx1">
                    <a:lumMod val="85000"/>
                    <a:lumOff val="15000"/>
                  </a:schemeClr>
                </a:solidFill>
              </a:rPr>
              <a:t>Directory loaders: Process multiple files at once</a:t>
            </a:r>
          </a:p>
          <a:p>
            <a:pPr>
              <a:spcBef>
                <a:spcPts val="800"/>
              </a:spcBef>
              <a:defRPr sz="1600">
                <a:solidFill>
                  <a:srgbClr val="F8FAFC"/>
                </a:solidFill>
              </a:defRPr>
            </a:pPr>
            <a:r>
              <a:rPr dirty="0">
                <a:solidFill>
                  <a:schemeClr val="tx1">
                    <a:lumMod val="85000"/>
                    <a:lumOff val="15000"/>
                  </a:schemeClr>
                </a:solidFill>
              </a:rPr>
              <a:t>API loaders: Notion, Google Drive, Confluence, GitHub</a:t>
            </a:r>
          </a:p>
          <a:p>
            <a:pPr>
              <a:spcBef>
                <a:spcPts val="800"/>
              </a:spcBef>
              <a:defRPr sz="1600">
                <a:solidFill>
                  <a:srgbClr val="F8FAFC"/>
                </a:solidFill>
              </a:defRPr>
            </a:pPr>
            <a:r>
              <a:rPr dirty="0">
                <a:solidFill>
                  <a:schemeClr val="tx1">
                    <a:lumMod val="85000"/>
                    <a:lumOff val="15000"/>
                  </a:schemeClr>
                </a:solidFill>
              </a:rPr>
              <a:t>Database loaders: SQL, MongoDB, </a:t>
            </a:r>
            <a:r>
              <a:rPr dirty="0" err="1">
                <a:solidFill>
                  <a:schemeClr val="tx1">
                    <a:lumMod val="85000"/>
                    <a:lumOff val="15000"/>
                  </a:schemeClr>
                </a:solidFill>
              </a:rPr>
              <a:t>Elasticsearch</a:t>
            </a:r>
            <a:endParaRPr dirty="0">
              <a:solidFill>
                <a:schemeClr val="tx1">
                  <a:lumMod val="85000"/>
                  <a:lumOff val="15000"/>
                </a:schemeClr>
              </a:solidFill>
            </a:endParaRPr>
          </a:p>
          <a:p>
            <a:pPr>
              <a:spcBef>
                <a:spcPts val="800"/>
              </a:spcBef>
              <a:defRPr sz="1600">
                <a:solidFill>
                  <a:srgbClr val="F8FAFC"/>
                </a:solidFill>
              </a:defRPr>
            </a:pPr>
            <a:r>
              <a:rPr dirty="0">
                <a:solidFill>
                  <a:schemeClr val="tx1">
                    <a:lumMod val="85000"/>
                    <a:lumOff val="15000"/>
                  </a:schemeClr>
                </a:solidFill>
              </a:rPr>
              <a:t>Example: </a:t>
            </a:r>
            <a:r>
              <a:rPr dirty="0" err="1">
                <a:solidFill>
                  <a:schemeClr val="tx1">
                    <a:lumMod val="85000"/>
                    <a:lumOff val="15000"/>
                  </a:schemeClr>
                </a:solidFill>
              </a:rPr>
              <a:t>PyPDFLoader</a:t>
            </a:r>
            <a:r>
              <a:rPr dirty="0">
                <a:solidFill>
                  <a:schemeClr val="tx1">
                    <a:lumMod val="85000"/>
                    <a:lumOff val="15000"/>
                  </a:schemeClr>
                </a:solidFill>
              </a:rPr>
              <a:t> for PDF files, </a:t>
            </a:r>
            <a:r>
              <a:rPr dirty="0" err="1">
                <a:solidFill>
                  <a:schemeClr val="tx1">
                    <a:lumMod val="85000"/>
                    <a:lumOff val="15000"/>
                  </a:schemeClr>
                </a:solidFill>
              </a:rPr>
              <a:t>UnstructuredHTMLLoader</a:t>
            </a:r>
            <a:r>
              <a:rPr dirty="0">
                <a:solidFill>
                  <a:schemeClr val="tx1">
                    <a:lumMod val="85000"/>
                    <a:lumOff val="15000"/>
                  </a:schemeClr>
                </a:solidFill>
              </a:rPr>
              <a:t> for web</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 y="3088461"/>
            <a:ext cx="8166924" cy="2823422"/>
          </a:xfrm>
          <a:prstGeom prst="rect">
            <a:avLst/>
          </a:prstGeom>
        </p:spPr>
      </p:pic>
    </p:spTree>
    <p:extLst>
      <p:ext uri="{BB962C8B-B14F-4D97-AF65-F5344CB8AC3E}">
        <p14:creationId xmlns:p14="http://schemas.microsoft.com/office/powerpoint/2010/main" val="37846493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302456"/>
            <a:ext cx="5115503" cy="584775"/>
          </a:xfrm>
          <a:prstGeom prst="rect">
            <a:avLst/>
          </a:prstGeom>
          <a:noFill/>
        </p:spPr>
        <p:txBody>
          <a:bodyPr wrap="none">
            <a:spAutoFit/>
          </a:bodyPr>
          <a:lstStyle/>
          <a:p>
            <a:pPr>
              <a:defRPr sz="3200" b="1">
                <a:solidFill>
                  <a:srgbClr val="F59E0B"/>
                </a:solidFill>
              </a:defRPr>
            </a:pPr>
            <a:r>
              <a:rPr dirty="0" err="1">
                <a:solidFill>
                  <a:schemeClr val="tx1">
                    <a:lumMod val="85000"/>
                    <a:lumOff val="15000"/>
                  </a:schemeClr>
                </a:solidFill>
              </a:rPr>
              <a:t>LangChain</a:t>
            </a:r>
            <a:r>
              <a:rPr dirty="0">
                <a:solidFill>
                  <a:schemeClr val="tx1">
                    <a:lumMod val="85000"/>
                    <a:lumOff val="15000"/>
                  </a:schemeClr>
                </a:solidFill>
              </a:rPr>
              <a:t>: Text Splitters</a:t>
            </a:r>
          </a:p>
        </p:txBody>
      </p:sp>
      <p:sp>
        <p:nvSpPr>
          <p:cNvPr id="5" name="TextBox 4"/>
          <p:cNvSpPr txBox="1"/>
          <p:nvPr/>
        </p:nvSpPr>
        <p:spPr>
          <a:xfrm>
            <a:off x="640079" y="1005840"/>
            <a:ext cx="8349175" cy="2082621"/>
          </a:xfrm>
          <a:prstGeom prst="rect">
            <a:avLst/>
          </a:prstGeom>
          <a:noFill/>
        </p:spPr>
        <p:txBody>
          <a:bodyPr wrap="square">
            <a:spAutoFit/>
          </a:bodyPr>
          <a:lstStyle/>
          <a:p>
            <a:pPr>
              <a:spcBef>
                <a:spcPts val="800"/>
              </a:spcBef>
              <a:defRPr sz="1600">
                <a:solidFill>
                  <a:srgbClr val="F8FAFC"/>
                </a:solidFill>
              </a:defRPr>
            </a:pPr>
            <a:r>
              <a:rPr dirty="0" err="1">
                <a:solidFill>
                  <a:schemeClr val="tx1">
                    <a:lumMod val="85000"/>
                    <a:lumOff val="15000"/>
                  </a:schemeClr>
                </a:solidFill>
              </a:rPr>
              <a:t>CharacterTextSplitter</a:t>
            </a:r>
            <a:r>
              <a:rPr dirty="0">
                <a:solidFill>
                  <a:schemeClr val="tx1">
                    <a:lumMod val="85000"/>
                    <a:lumOff val="15000"/>
                  </a:schemeClr>
                </a:solidFill>
              </a:rPr>
              <a:t>: Simple character-based splitting</a:t>
            </a:r>
          </a:p>
          <a:p>
            <a:pPr>
              <a:spcBef>
                <a:spcPts val="800"/>
              </a:spcBef>
              <a:defRPr sz="1600">
                <a:solidFill>
                  <a:srgbClr val="F8FAFC"/>
                </a:solidFill>
              </a:defRPr>
            </a:pPr>
            <a:r>
              <a:rPr dirty="0" err="1">
                <a:solidFill>
                  <a:schemeClr val="tx1">
                    <a:lumMod val="85000"/>
                    <a:lumOff val="15000"/>
                  </a:schemeClr>
                </a:solidFill>
              </a:rPr>
              <a:t>RecursiveCharacterTextSplitter</a:t>
            </a:r>
            <a:r>
              <a:rPr dirty="0">
                <a:solidFill>
                  <a:schemeClr val="tx1">
                    <a:lumMod val="85000"/>
                    <a:lumOff val="15000"/>
                  </a:schemeClr>
                </a:solidFill>
              </a:rPr>
              <a:t>: Smart hierarchical splitting (recommended)</a:t>
            </a:r>
          </a:p>
          <a:p>
            <a:pPr>
              <a:spcBef>
                <a:spcPts val="800"/>
              </a:spcBef>
              <a:defRPr sz="1600">
                <a:solidFill>
                  <a:srgbClr val="F8FAFC"/>
                </a:solidFill>
              </a:defRPr>
            </a:pPr>
            <a:r>
              <a:rPr dirty="0" err="1">
                <a:solidFill>
                  <a:schemeClr val="tx1">
                    <a:lumMod val="85000"/>
                    <a:lumOff val="15000"/>
                  </a:schemeClr>
                </a:solidFill>
              </a:rPr>
              <a:t>TokenTextSplitter</a:t>
            </a:r>
            <a:r>
              <a:rPr dirty="0">
                <a:solidFill>
                  <a:schemeClr val="tx1">
                    <a:lumMod val="85000"/>
                    <a:lumOff val="15000"/>
                  </a:schemeClr>
                </a:solidFill>
              </a:rPr>
              <a:t>: Split based on token count</a:t>
            </a:r>
          </a:p>
          <a:p>
            <a:pPr>
              <a:spcBef>
                <a:spcPts val="800"/>
              </a:spcBef>
              <a:defRPr sz="1600">
                <a:solidFill>
                  <a:srgbClr val="F8FAFC"/>
                </a:solidFill>
              </a:defRPr>
            </a:pPr>
            <a:r>
              <a:rPr dirty="0" err="1">
                <a:solidFill>
                  <a:schemeClr val="tx1">
                    <a:lumMod val="85000"/>
                    <a:lumOff val="15000"/>
                  </a:schemeClr>
                </a:solidFill>
              </a:rPr>
              <a:t>MarkdownHeaderTextSplitter</a:t>
            </a:r>
            <a:r>
              <a:rPr dirty="0">
                <a:solidFill>
                  <a:schemeClr val="tx1">
                    <a:lumMod val="85000"/>
                    <a:lumOff val="15000"/>
                  </a:schemeClr>
                </a:solidFill>
              </a:rPr>
              <a:t>: Preserve markdown structure</a:t>
            </a:r>
          </a:p>
          <a:p>
            <a:pPr>
              <a:spcBef>
                <a:spcPts val="800"/>
              </a:spcBef>
              <a:defRPr sz="1600">
                <a:solidFill>
                  <a:srgbClr val="F8FAFC"/>
                </a:solidFill>
              </a:defRPr>
            </a:pPr>
            <a:r>
              <a:rPr dirty="0">
                <a:solidFill>
                  <a:schemeClr val="tx1">
                    <a:lumMod val="85000"/>
                    <a:lumOff val="15000"/>
                  </a:schemeClr>
                </a:solidFill>
              </a:rPr>
              <a:t>Key parameters: </a:t>
            </a:r>
            <a:r>
              <a:rPr dirty="0" err="1">
                <a:solidFill>
                  <a:schemeClr val="tx1">
                    <a:lumMod val="85000"/>
                    <a:lumOff val="15000"/>
                  </a:schemeClr>
                </a:solidFill>
              </a:rPr>
              <a:t>chunk_size</a:t>
            </a:r>
            <a:r>
              <a:rPr dirty="0">
                <a:solidFill>
                  <a:schemeClr val="tx1">
                    <a:lumMod val="85000"/>
                    <a:lumOff val="15000"/>
                  </a:schemeClr>
                </a:solidFill>
              </a:rPr>
              <a:t> (max length), </a:t>
            </a:r>
            <a:r>
              <a:rPr dirty="0" err="1">
                <a:solidFill>
                  <a:schemeClr val="tx1">
                    <a:lumMod val="85000"/>
                    <a:lumOff val="15000"/>
                  </a:schemeClr>
                </a:solidFill>
              </a:rPr>
              <a:t>chunk_overlap</a:t>
            </a:r>
            <a:r>
              <a:rPr dirty="0">
                <a:solidFill>
                  <a:schemeClr val="tx1">
                    <a:lumMod val="85000"/>
                    <a:lumOff val="15000"/>
                  </a:schemeClr>
                </a:solidFill>
              </a:rPr>
              <a:t> (overlap amount)</a:t>
            </a:r>
          </a:p>
          <a:p>
            <a:pPr>
              <a:spcBef>
                <a:spcPts val="800"/>
              </a:spcBef>
              <a:defRPr sz="1600">
                <a:solidFill>
                  <a:srgbClr val="F8FAFC"/>
                </a:solidFill>
              </a:defRPr>
            </a:pPr>
            <a:r>
              <a:rPr dirty="0">
                <a:solidFill>
                  <a:schemeClr val="tx1">
                    <a:lumMod val="85000"/>
                    <a:lumOff val="15000"/>
                  </a:schemeClr>
                </a:solidFill>
              </a:rPr>
              <a:t>Separators: Choose split points (["\n\n", "\n", " ",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9791" y="3207070"/>
            <a:ext cx="5906119" cy="2674628"/>
          </a:xfrm>
          <a:prstGeom prst="rect">
            <a:avLst/>
          </a:prstGeom>
        </p:spPr>
      </p:pic>
    </p:spTree>
    <p:extLst>
      <p:ext uri="{BB962C8B-B14F-4D97-AF65-F5344CB8AC3E}">
        <p14:creationId xmlns:p14="http://schemas.microsoft.com/office/powerpoint/2010/main" val="3539470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7196009" cy="584775"/>
          </a:xfrm>
          <a:prstGeom prst="rect">
            <a:avLst/>
          </a:prstGeom>
          <a:noFill/>
        </p:spPr>
        <p:txBody>
          <a:bodyPr wrap="none">
            <a:spAutoFit/>
          </a:bodyPr>
          <a:lstStyle/>
          <a:p>
            <a:pPr>
              <a:defRPr sz="3200" b="1">
                <a:solidFill>
                  <a:srgbClr val="F59E0B"/>
                </a:solidFill>
              </a:defRPr>
            </a:pPr>
            <a:r>
              <a:rPr dirty="0" err="1">
                <a:solidFill>
                  <a:schemeClr val="tx1">
                    <a:lumMod val="85000"/>
                    <a:lumOff val="15000"/>
                  </a:schemeClr>
                </a:solidFill>
              </a:rPr>
              <a:t>LangChain</a:t>
            </a:r>
            <a:r>
              <a:rPr dirty="0">
                <a:solidFill>
                  <a:schemeClr val="tx1">
                    <a:lumMod val="85000"/>
                    <a:lumOff val="15000"/>
                  </a:schemeClr>
                </a:solidFill>
              </a:rPr>
              <a:t>: Vector Store Integration</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Unified interface for 50+ vector databases</a:t>
            </a:r>
          </a:p>
          <a:p>
            <a:pPr>
              <a:spcBef>
                <a:spcPts val="800"/>
              </a:spcBef>
              <a:defRPr sz="1600">
                <a:solidFill>
                  <a:srgbClr val="F8FAFC"/>
                </a:solidFill>
              </a:defRPr>
            </a:pPr>
            <a:r>
              <a:rPr>
                <a:solidFill>
                  <a:schemeClr val="tx1">
                    <a:lumMod val="85000"/>
                    <a:lumOff val="15000"/>
                  </a:schemeClr>
                </a:solidFill>
              </a:rPr>
              <a:t>Common methods: from_documents(), similarity_search(), as_retriever()</a:t>
            </a:r>
          </a:p>
          <a:p>
            <a:pPr>
              <a:spcBef>
                <a:spcPts val="800"/>
              </a:spcBef>
              <a:defRPr sz="1600">
                <a:solidFill>
                  <a:srgbClr val="F8FAFC"/>
                </a:solidFill>
              </a:defRPr>
            </a:pPr>
            <a:r>
              <a:rPr>
                <a:solidFill>
                  <a:schemeClr val="tx1">
                    <a:lumMod val="85000"/>
                    <a:lumOff val="15000"/>
                  </a:schemeClr>
                </a:solidFill>
              </a:rPr>
              <a:t>FAISS: Fast local development, .save_local() for persistence</a:t>
            </a:r>
          </a:p>
          <a:p>
            <a:pPr>
              <a:spcBef>
                <a:spcPts val="800"/>
              </a:spcBef>
              <a:defRPr sz="1600">
                <a:solidFill>
                  <a:srgbClr val="F8FAFC"/>
                </a:solidFill>
              </a:defRPr>
            </a:pPr>
            <a:r>
              <a:rPr>
                <a:solidFill>
                  <a:schemeClr val="tx1">
                    <a:lumMod val="85000"/>
                    <a:lumOff val="15000"/>
                  </a:schemeClr>
                </a:solidFill>
              </a:rPr>
              <a:t>Pinecone: Cloud-managed, requires API key</a:t>
            </a:r>
          </a:p>
          <a:p>
            <a:pPr>
              <a:spcBef>
                <a:spcPts val="800"/>
              </a:spcBef>
              <a:defRPr sz="1600">
                <a:solidFill>
                  <a:srgbClr val="F8FAFC"/>
                </a:solidFill>
              </a:defRPr>
            </a:pPr>
            <a:r>
              <a:rPr>
                <a:solidFill>
                  <a:schemeClr val="tx1">
                    <a:lumMod val="85000"/>
                    <a:lumOff val="15000"/>
                  </a:schemeClr>
                </a:solidFill>
              </a:rPr>
              <a:t>Chroma: Simple, persistent, good for prototypes</a:t>
            </a:r>
          </a:p>
          <a:p>
            <a:pPr>
              <a:spcBef>
                <a:spcPts val="800"/>
              </a:spcBef>
              <a:defRPr sz="1600">
                <a:solidFill>
                  <a:srgbClr val="F8FAFC"/>
                </a:solidFill>
              </a:defRPr>
            </a:pPr>
            <a:r>
              <a:rPr>
                <a:solidFill>
                  <a:schemeClr val="tx1">
                    <a:lumMod val="85000"/>
                    <a:lumOff val="15000"/>
                  </a:schemeClr>
                </a:solidFill>
              </a:rPr>
              <a:t>Example: Chroma.from_documents(documents, embeddings)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708" y="3235206"/>
            <a:ext cx="7720583" cy="2535958"/>
          </a:xfrm>
          <a:prstGeom prst="rect">
            <a:avLst/>
          </a:prstGeom>
        </p:spPr>
      </p:pic>
    </p:spTree>
    <p:extLst>
      <p:ext uri="{BB962C8B-B14F-4D97-AF65-F5344CB8AC3E}">
        <p14:creationId xmlns:p14="http://schemas.microsoft.com/office/powerpoint/2010/main" val="2609913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761514" cy="584775"/>
          </a:xfrm>
          <a:prstGeom prst="rect">
            <a:avLst/>
          </a:prstGeom>
          <a:noFill/>
        </p:spPr>
        <p:txBody>
          <a:bodyPr wrap="none">
            <a:spAutoFit/>
          </a:bodyPr>
          <a:lstStyle/>
          <a:p>
            <a:pPr>
              <a:defRPr sz="3200" b="1">
                <a:solidFill>
                  <a:srgbClr val="F59E0B"/>
                </a:solidFill>
              </a:defRPr>
            </a:pPr>
            <a:r>
              <a:rPr dirty="0" err="1">
                <a:solidFill>
                  <a:schemeClr val="tx1">
                    <a:lumMod val="85000"/>
                    <a:lumOff val="15000"/>
                  </a:schemeClr>
                </a:solidFill>
              </a:rPr>
              <a:t>LangChain</a:t>
            </a:r>
            <a:r>
              <a:rPr dirty="0">
                <a:solidFill>
                  <a:schemeClr val="tx1">
                    <a:lumMod val="85000"/>
                    <a:lumOff val="15000"/>
                  </a:schemeClr>
                </a:solidFill>
              </a:rPr>
              <a:t>: Retrieval Chains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RetrievalQA: Simple question-answering over documents</a:t>
            </a:r>
          </a:p>
          <a:p>
            <a:pPr>
              <a:spcBef>
                <a:spcPts val="800"/>
              </a:spcBef>
              <a:defRPr sz="1600">
                <a:solidFill>
                  <a:srgbClr val="F8FAFC"/>
                </a:solidFill>
              </a:defRPr>
            </a:pPr>
            <a:r>
              <a:rPr>
                <a:solidFill>
                  <a:schemeClr val="tx1">
                    <a:lumMod val="85000"/>
                    <a:lumOff val="15000"/>
                  </a:schemeClr>
                </a:solidFill>
              </a:rPr>
              <a:t>Combines retriever + LLM in single chain</a:t>
            </a:r>
          </a:p>
          <a:p>
            <a:pPr>
              <a:spcBef>
                <a:spcPts val="800"/>
              </a:spcBef>
              <a:defRPr sz="1600">
                <a:solidFill>
                  <a:srgbClr val="F8FAFC"/>
                </a:solidFill>
              </a:defRPr>
            </a:pPr>
            <a:r>
              <a:rPr>
                <a:solidFill>
                  <a:schemeClr val="tx1">
                    <a:lumMod val="85000"/>
                    <a:lumOff val="15000"/>
                  </a:schemeClr>
                </a:solidFill>
              </a:rPr>
              <a:t>Types: stuff (concat docs), map_reduce, refine, map_rerank</a:t>
            </a:r>
          </a:p>
          <a:p>
            <a:pPr>
              <a:spcBef>
                <a:spcPts val="800"/>
              </a:spcBef>
              <a:defRPr sz="1600">
                <a:solidFill>
                  <a:srgbClr val="F8FAFC"/>
                </a:solidFill>
              </a:defRPr>
            </a:pPr>
            <a:r>
              <a:rPr>
                <a:solidFill>
                  <a:schemeClr val="tx1">
                    <a:lumMod val="85000"/>
                    <a:lumOff val="15000"/>
                  </a:schemeClr>
                </a:solidFill>
              </a:rPr>
              <a:t>'stuff' method: Simplest, puts all docs in one prompt</a:t>
            </a:r>
          </a:p>
          <a:p>
            <a:pPr>
              <a:spcBef>
                <a:spcPts val="800"/>
              </a:spcBef>
              <a:defRPr sz="1600">
                <a:solidFill>
                  <a:srgbClr val="F8FAFC"/>
                </a:solidFill>
              </a:defRPr>
            </a:pPr>
            <a:r>
              <a:rPr>
                <a:solidFill>
                  <a:schemeClr val="tx1">
                    <a:lumMod val="85000"/>
                    <a:lumOff val="15000"/>
                  </a:schemeClr>
                </a:solidFill>
              </a:rPr>
              <a:t>return_source_documents=True: Include sources in response</a:t>
            </a:r>
          </a:p>
          <a:p>
            <a:pPr>
              <a:spcBef>
                <a:spcPts val="800"/>
              </a:spcBef>
              <a:defRPr sz="1600">
                <a:solidFill>
                  <a:srgbClr val="F8FAFC"/>
                </a:solidFill>
              </a:defRPr>
            </a:pPr>
            <a:r>
              <a:rPr>
                <a:solidFill>
                  <a:schemeClr val="tx1">
                    <a:lumMod val="85000"/>
                    <a:lumOff val="15000"/>
                  </a:schemeClr>
                </a:solidFill>
              </a:rPr>
              <a:t>Example use: QA systems, documentation search, knowledge bases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 y="3235206"/>
            <a:ext cx="6458083" cy="2684717"/>
          </a:xfrm>
          <a:prstGeom prst="rect">
            <a:avLst/>
          </a:prstGeom>
        </p:spPr>
      </p:pic>
    </p:spTree>
    <p:extLst>
      <p:ext uri="{BB962C8B-B14F-4D97-AF65-F5344CB8AC3E}">
        <p14:creationId xmlns:p14="http://schemas.microsoft.com/office/powerpoint/2010/main" val="2718486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7242688"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Conversational Chains with Memory</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ConversationalRetrievalChain: RAG + conversation history</a:t>
            </a:r>
          </a:p>
          <a:p>
            <a:pPr>
              <a:spcBef>
                <a:spcPts val="800"/>
              </a:spcBef>
              <a:defRPr sz="1600">
                <a:solidFill>
                  <a:srgbClr val="F8FAFC"/>
                </a:solidFill>
              </a:defRPr>
            </a:pPr>
            <a:r>
              <a:rPr>
                <a:solidFill>
                  <a:schemeClr val="tx1">
                    <a:lumMod val="85000"/>
                    <a:lumOff val="15000"/>
                  </a:schemeClr>
                </a:solidFill>
              </a:rPr>
              <a:t>Maintains context across multiple turns</a:t>
            </a:r>
          </a:p>
          <a:p>
            <a:pPr>
              <a:spcBef>
                <a:spcPts val="800"/>
              </a:spcBef>
              <a:defRPr sz="1600">
                <a:solidFill>
                  <a:srgbClr val="F8FAFC"/>
                </a:solidFill>
              </a:defRPr>
            </a:pPr>
            <a:r>
              <a:rPr>
                <a:solidFill>
                  <a:schemeClr val="tx1">
                    <a:lumMod val="85000"/>
                    <a:lumOff val="15000"/>
                  </a:schemeClr>
                </a:solidFill>
              </a:rPr>
              <a:t>Memory types: ConversationBufferMemory (full), ConversationSummaryMemory</a:t>
            </a:r>
          </a:p>
          <a:p>
            <a:pPr>
              <a:spcBef>
                <a:spcPts val="800"/>
              </a:spcBef>
              <a:defRPr sz="1600">
                <a:solidFill>
                  <a:srgbClr val="F8FAFC"/>
                </a:solidFill>
              </a:defRPr>
            </a:pPr>
            <a:r>
              <a:rPr>
                <a:solidFill>
                  <a:schemeClr val="tx1">
                    <a:lumMod val="85000"/>
                    <a:lumOff val="15000"/>
                  </a:schemeClr>
                </a:solidFill>
              </a:rPr>
              <a:t>Handles follow-up questions by reformulating with context</a:t>
            </a:r>
          </a:p>
          <a:p>
            <a:pPr>
              <a:spcBef>
                <a:spcPts val="800"/>
              </a:spcBef>
              <a:defRPr sz="1600">
                <a:solidFill>
                  <a:srgbClr val="F8FAFC"/>
                </a:solidFill>
              </a:defRPr>
            </a:pPr>
            <a:r>
              <a:rPr>
                <a:solidFill>
                  <a:schemeClr val="tx1">
                    <a:lumMod val="85000"/>
                    <a:lumOff val="15000"/>
                  </a:schemeClr>
                </a:solidFill>
              </a:rPr>
              <a:t>Example: 'What about price?' follows 'Tell me about product X'</a:t>
            </a:r>
          </a:p>
          <a:p>
            <a:pPr>
              <a:spcBef>
                <a:spcPts val="800"/>
              </a:spcBef>
              <a:defRPr sz="1600">
                <a:solidFill>
                  <a:srgbClr val="F8FAFC"/>
                </a:solidFill>
              </a:defRPr>
            </a:pPr>
            <a:r>
              <a:rPr>
                <a:solidFill>
                  <a:schemeClr val="tx1">
                    <a:lumMod val="85000"/>
                    <a:lumOff val="15000"/>
                  </a:schemeClr>
                </a:solidFill>
              </a:rPr>
              <a:t>Critical for chatbots and interactive applications</a:t>
            </a:r>
          </a:p>
        </p:txBody>
      </p:sp>
    </p:spTree>
    <p:extLst>
      <p:ext uri="{BB962C8B-B14F-4D97-AF65-F5344CB8AC3E}">
        <p14:creationId xmlns:p14="http://schemas.microsoft.com/office/powerpoint/2010/main" val="324871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253361" cy="584775"/>
          </a:xfrm>
          <a:prstGeom prst="rect">
            <a:avLst/>
          </a:prstGeom>
          <a:noFill/>
        </p:spPr>
        <p:txBody>
          <a:bodyPr wrap="none">
            <a:spAutoFit/>
          </a:bodyPr>
          <a:lstStyle/>
          <a:p>
            <a:pPr>
              <a:defRPr sz="3200" b="1">
                <a:solidFill>
                  <a:srgbClr val="F59E0B"/>
                </a:solidFill>
              </a:defRPr>
            </a:pPr>
            <a:r>
              <a:rPr dirty="0" err="1">
                <a:solidFill>
                  <a:schemeClr val="tx1">
                    <a:lumMod val="85000"/>
                    <a:lumOff val="15000"/>
                  </a:schemeClr>
                </a:solidFill>
              </a:rPr>
              <a:t>LangChain</a:t>
            </a:r>
            <a:r>
              <a:rPr dirty="0">
                <a:solidFill>
                  <a:schemeClr val="tx1">
                    <a:lumMod val="85000"/>
                    <a:lumOff val="15000"/>
                  </a:schemeClr>
                </a:solidFill>
              </a:rPr>
              <a:t> Memory Types</a:t>
            </a:r>
          </a:p>
        </p:txBody>
      </p:sp>
      <p:sp>
        <p:nvSpPr>
          <p:cNvPr id="5" name="TextBox 4"/>
          <p:cNvSpPr txBox="1"/>
          <p:nvPr/>
        </p:nvSpPr>
        <p:spPr>
          <a:xfrm>
            <a:off x="548640" y="1097280"/>
            <a:ext cx="2787943" cy="1661993"/>
          </a:xfrm>
          <a:prstGeom prst="rect">
            <a:avLst/>
          </a:prstGeom>
          <a:noFill/>
        </p:spPr>
        <p:txBody>
          <a:bodyPr wrap="none">
            <a:spAutoFit/>
          </a:bodyPr>
          <a:lstStyle/>
          <a:p>
            <a:pPr>
              <a:defRPr sz="2200" b="1">
                <a:solidFill>
                  <a:srgbClr val="2563EB"/>
                </a:solidFill>
              </a:defRPr>
            </a:pPr>
            <a:r>
              <a:rPr>
                <a:solidFill>
                  <a:schemeClr val="tx1">
                    <a:lumMod val="85000"/>
                    <a:lumOff val="15000"/>
                  </a:schemeClr>
                </a:solidFill>
              </a:rPr>
              <a:t>Short-term Memory</a:t>
            </a:r>
          </a:p>
          <a:p>
            <a:pPr>
              <a:spcBef>
                <a:spcPts val="600"/>
              </a:spcBef>
              <a:defRPr sz="1500">
                <a:solidFill>
                  <a:srgbClr val="F8FAFC"/>
                </a:solidFill>
              </a:defRPr>
            </a:pPr>
            <a:r>
              <a:rPr>
                <a:solidFill>
                  <a:schemeClr val="tx1">
                    <a:lumMod val="85000"/>
                    <a:lumOff val="15000"/>
                  </a:schemeClr>
                </a:solidFill>
              </a:rPr>
              <a:t>ConversationBufferMemory</a:t>
            </a:r>
          </a:p>
          <a:p>
            <a:pPr>
              <a:spcBef>
                <a:spcPts val="600"/>
              </a:spcBef>
              <a:defRPr sz="1500">
                <a:solidFill>
                  <a:srgbClr val="F8FAFC"/>
                </a:solidFill>
              </a:defRPr>
            </a:pPr>
            <a:r>
              <a:rPr>
                <a:solidFill>
                  <a:schemeClr val="tx1">
                    <a:lumMod val="85000"/>
                    <a:lumOff val="15000"/>
                  </a:schemeClr>
                </a:solidFill>
              </a:rPr>
              <a:t>Stores full conversation</a:t>
            </a:r>
          </a:p>
          <a:p>
            <a:pPr>
              <a:spcBef>
                <a:spcPts val="600"/>
              </a:spcBef>
              <a:defRPr sz="1500">
                <a:solidFill>
                  <a:srgbClr val="F8FAFC"/>
                </a:solidFill>
              </a:defRPr>
            </a:pPr>
            <a:r>
              <a:rPr>
                <a:solidFill>
                  <a:schemeClr val="tx1">
                    <a:lumMod val="85000"/>
                    <a:lumOff val="15000"/>
                  </a:schemeClr>
                </a:solidFill>
              </a:rPr>
              <a:t>Simple, exact recall</a:t>
            </a:r>
          </a:p>
          <a:p>
            <a:pPr>
              <a:spcBef>
                <a:spcPts val="600"/>
              </a:spcBef>
              <a:defRPr sz="1500">
                <a:solidFill>
                  <a:srgbClr val="F8FAFC"/>
                </a:solidFill>
              </a:defRPr>
            </a:pPr>
            <a:r>
              <a:rPr>
                <a:solidFill>
                  <a:schemeClr val="tx1">
                    <a:lumMod val="85000"/>
                    <a:lumOff val="15000"/>
                  </a:schemeClr>
                </a:solidFill>
              </a:rPr>
              <a:t>Limited by token window</a:t>
            </a:r>
          </a:p>
        </p:txBody>
      </p:sp>
      <p:sp>
        <p:nvSpPr>
          <p:cNvPr id="6" name="TextBox 5"/>
          <p:cNvSpPr txBox="1"/>
          <p:nvPr/>
        </p:nvSpPr>
        <p:spPr>
          <a:xfrm>
            <a:off x="548640" y="3319976"/>
            <a:ext cx="2840842" cy="1661993"/>
          </a:xfrm>
          <a:prstGeom prst="rect">
            <a:avLst/>
          </a:prstGeom>
          <a:noFill/>
        </p:spPr>
        <p:txBody>
          <a:bodyPr wrap="none">
            <a:spAutoFit/>
          </a:bodyPr>
          <a:lstStyle/>
          <a:p>
            <a:pPr>
              <a:defRPr sz="2200" b="1">
                <a:solidFill>
                  <a:srgbClr val="7C3AED"/>
                </a:solidFill>
              </a:defRPr>
            </a:pPr>
            <a:r>
              <a:rPr dirty="0">
                <a:solidFill>
                  <a:schemeClr val="tx1">
                    <a:lumMod val="85000"/>
                    <a:lumOff val="15000"/>
                  </a:schemeClr>
                </a:solidFill>
              </a:rPr>
              <a:t>Long-term Memory</a:t>
            </a:r>
          </a:p>
          <a:p>
            <a:pPr>
              <a:spcBef>
                <a:spcPts val="600"/>
              </a:spcBef>
              <a:defRPr sz="1500">
                <a:solidFill>
                  <a:srgbClr val="F8FAFC"/>
                </a:solidFill>
              </a:defRPr>
            </a:pPr>
            <a:r>
              <a:rPr dirty="0" err="1">
                <a:solidFill>
                  <a:schemeClr val="tx1">
                    <a:lumMod val="85000"/>
                    <a:lumOff val="15000"/>
                  </a:schemeClr>
                </a:solidFill>
              </a:rPr>
              <a:t>ConversationSummaryMemory</a:t>
            </a:r>
            <a:endParaRPr dirty="0">
              <a:solidFill>
                <a:schemeClr val="tx1">
                  <a:lumMod val="85000"/>
                  <a:lumOff val="15000"/>
                </a:schemeClr>
              </a:solidFill>
            </a:endParaRPr>
          </a:p>
          <a:p>
            <a:pPr>
              <a:spcBef>
                <a:spcPts val="600"/>
              </a:spcBef>
              <a:defRPr sz="1500">
                <a:solidFill>
                  <a:srgbClr val="F8FAFC"/>
                </a:solidFill>
              </a:defRPr>
            </a:pPr>
            <a:r>
              <a:rPr dirty="0">
                <a:solidFill>
                  <a:schemeClr val="tx1">
                    <a:lumMod val="85000"/>
                    <a:lumOff val="15000"/>
                  </a:schemeClr>
                </a:solidFill>
              </a:rPr>
              <a:t>Summarizes old messages</a:t>
            </a:r>
          </a:p>
          <a:p>
            <a:pPr>
              <a:spcBef>
                <a:spcPts val="600"/>
              </a:spcBef>
              <a:defRPr sz="1500">
                <a:solidFill>
                  <a:srgbClr val="F8FAFC"/>
                </a:solidFill>
              </a:defRPr>
            </a:pPr>
            <a:r>
              <a:rPr dirty="0">
                <a:solidFill>
                  <a:schemeClr val="tx1">
                    <a:lumMod val="85000"/>
                    <a:lumOff val="15000"/>
                  </a:schemeClr>
                </a:solidFill>
              </a:rPr>
              <a:t>Scalable to long chats</a:t>
            </a:r>
          </a:p>
          <a:p>
            <a:pPr>
              <a:spcBef>
                <a:spcPts val="600"/>
              </a:spcBef>
              <a:defRPr sz="1500">
                <a:solidFill>
                  <a:srgbClr val="F8FAFC"/>
                </a:solidFill>
              </a:defRPr>
            </a:pPr>
            <a:r>
              <a:rPr dirty="0" err="1">
                <a:solidFill>
                  <a:schemeClr val="tx1">
                    <a:lumMod val="85000"/>
                    <a:lumOff val="15000"/>
                  </a:schemeClr>
                </a:solidFill>
              </a:rPr>
              <a:t>VectorStoreMemory</a:t>
            </a:r>
            <a:r>
              <a:rPr dirty="0">
                <a:solidFill>
                  <a:schemeClr val="tx1">
                    <a:lumMod val="85000"/>
                    <a:lumOff val="15000"/>
                  </a:schemeClr>
                </a:solidFill>
              </a:rPr>
              <a:t>: Semantic</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5674" y="1403720"/>
            <a:ext cx="6071722" cy="3415344"/>
          </a:xfrm>
          <a:prstGeom prst="rect">
            <a:avLst/>
          </a:prstGeom>
        </p:spPr>
      </p:pic>
    </p:spTree>
    <p:extLst>
      <p:ext uri="{BB962C8B-B14F-4D97-AF65-F5344CB8AC3E}">
        <p14:creationId xmlns:p14="http://schemas.microsoft.com/office/powerpoint/2010/main" val="1667593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6449" y="1589649"/>
            <a:ext cx="10416506" cy="769441"/>
          </a:xfrm>
          <a:prstGeom prst="rect">
            <a:avLst/>
          </a:prstGeom>
          <a:noFill/>
        </p:spPr>
        <p:txBody>
          <a:bodyPr wrap="none">
            <a:spAutoFit/>
          </a:bodyPr>
          <a:lstStyle/>
          <a:p>
            <a:pPr algn="ctr">
              <a:defRPr sz="4400" b="1">
                <a:solidFill>
                  <a:srgbClr val="F8FAFC"/>
                </a:solidFill>
              </a:defRPr>
            </a:pPr>
            <a:r>
              <a:rPr>
                <a:solidFill>
                  <a:schemeClr val="tx1">
                    <a:lumMod val="85000"/>
                    <a:lumOff val="15000"/>
                  </a:schemeClr>
                </a:solidFill>
              </a:rPr>
              <a:t>Building Production LLM Applications</a:t>
            </a:r>
          </a:p>
        </p:txBody>
      </p:sp>
      <p:sp>
        <p:nvSpPr>
          <p:cNvPr id="5" name="TextBox 4"/>
          <p:cNvSpPr txBox="1"/>
          <p:nvPr/>
        </p:nvSpPr>
        <p:spPr>
          <a:xfrm>
            <a:off x="4199635" y="2686929"/>
            <a:ext cx="3530134" cy="400110"/>
          </a:xfrm>
          <a:prstGeom prst="rect">
            <a:avLst/>
          </a:prstGeom>
          <a:noFill/>
        </p:spPr>
        <p:txBody>
          <a:bodyPr wrap="none">
            <a:spAutoFit/>
          </a:bodyPr>
          <a:lstStyle/>
          <a:p>
            <a:pPr algn="ctr">
              <a:defRPr sz="2000">
                <a:solidFill>
                  <a:srgbClr val="F8FAFC"/>
                </a:solidFill>
              </a:defRPr>
            </a:pPr>
            <a:r>
              <a:rPr>
                <a:solidFill>
                  <a:schemeClr val="tx1">
                    <a:lumMod val="85000"/>
                    <a:lumOff val="15000"/>
                  </a:schemeClr>
                </a:solidFill>
              </a:rPr>
              <a:t>From Prototype to Production</a:t>
            </a:r>
          </a:p>
        </p:txBody>
      </p:sp>
    </p:spTree>
    <p:extLst>
      <p:ext uri="{BB962C8B-B14F-4D97-AF65-F5344CB8AC3E}">
        <p14:creationId xmlns:p14="http://schemas.microsoft.com/office/powerpoint/2010/main" val="1747362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6294480" cy="584775"/>
          </a:xfrm>
          <a:prstGeom prst="rect">
            <a:avLst/>
          </a:prstGeom>
          <a:noFill/>
        </p:spPr>
        <p:txBody>
          <a:bodyPr wrap="none">
            <a:spAutoFit/>
          </a:bodyPr>
          <a:lstStyle/>
          <a:p>
            <a:pPr>
              <a:defRPr sz="3200" b="1">
                <a:solidFill>
                  <a:srgbClr val="F59E0B"/>
                </a:solidFill>
              </a:defRPr>
            </a:pPr>
            <a:r>
              <a:rPr dirty="0">
                <a:solidFill>
                  <a:schemeClr val="tx1">
                    <a:lumMod val="85000"/>
                    <a:lumOff val="15000"/>
                  </a:schemeClr>
                </a:solidFill>
              </a:rPr>
              <a:t>Production Architecture Layers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Frontend: User interface (Streamlit, React, Gradio)</a:t>
            </a:r>
          </a:p>
          <a:p>
            <a:pPr>
              <a:spcBef>
                <a:spcPts val="800"/>
              </a:spcBef>
              <a:defRPr sz="1600">
                <a:solidFill>
                  <a:srgbClr val="F8FAFC"/>
                </a:solidFill>
              </a:defRPr>
            </a:pPr>
            <a:r>
              <a:rPr>
                <a:solidFill>
                  <a:schemeClr val="tx1">
                    <a:lumMod val="85000"/>
                    <a:lumOff val="15000"/>
                  </a:schemeClr>
                </a:solidFill>
              </a:rPr>
              <a:t>API Layer: REST/GraphQL endpoints (FastAPI, Flask)</a:t>
            </a:r>
          </a:p>
          <a:p>
            <a:pPr>
              <a:spcBef>
                <a:spcPts val="800"/>
              </a:spcBef>
              <a:defRPr sz="1600">
                <a:solidFill>
                  <a:srgbClr val="F8FAFC"/>
                </a:solidFill>
              </a:defRPr>
            </a:pPr>
            <a:r>
              <a:rPr>
                <a:solidFill>
                  <a:schemeClr val="tx1">
                    <a:lumMod val="85000"/>
                    <a:lumOff val="15000"/>
                  </a:schemeClr>
                </a:solidFill>
              </a:rPr>
              <a:t>Application Logic: RAG chains, agents, orchestration</a:t>
            </a:r>
          </a:p>
          <a:p>
            <a:pPr>
              <a:spcBef>
                <a:spcPts val="800"/>
              </a:spcBef>
              <a:defRPr sz="1600">
                <a:solidFill>
                  <a:srgbClr val="F8FAFC"/>
                </a:solidFill>
              </a:defRPr>
            </a:pPr>
            <a:r>
              <a:rPr>
                <a:solidFill>
                  <a:schemeClr val="tx1">
                    <a:lumMod val="85000"/>
                    <a:lumOff val="15000"/>
                  </a:schemeClr>
                </a:solidFill>
              </a:rPr>
              <a:t>LLM Layer: Model providers, caching, load balancing</a:t>
            </a:r>
          </a:p>
          <a:p>
            <a:pPr>
              <a:spcBef>
                <a:spcPts val="800"/>
              </a:spcBef>
              <a:defRPr sz="1600">
                <a:solidFill>
                  <a:srgbClr val="F8FAFC"/>
                </a:solidFill>
              </a:defRPr>
            </a:pPr>
            <a:r>
              <a:rPr>
                <a:solidFill>
                  <a:schemeClr val="tx1">
                    <a:lumMod val="85000"/>
                    <a:lumOff val="15000"/>
                  </a:schemeClr>
                </a:solidFill>
              </a:rPr>
              <a:t>Data Layer: Vector DB, SQL database, caching (Redis)</a:t>
            </a:r>
          </a:p>
          <a:p>
            <a:pPr>
              <a:spcBef>
                <a:spcPts val="800"/>
              </a:spcBef>
              <a:defRPr sz="1600">
                <a:solidFill>
                  <a:srgbClr val="F8FAFC"/>
                </a:solidFill>
              </a:defRPr>
            </a:pPr>
            <a:r>
              <a:rPr>
                <a:solidFill>
                  <a:schemeClr val="tx1">
                    <a:lumMod val="85000"/>
                    <a:lumOff val="15000"/>
                  </a:schemeClr>
                </a:solidFill>
              </a:rPr>
              <a:t>Monitoring: Logging, metrics, error tracking, user feedback</a:t>
            </a:r>
          </a:p>
        </p:txBody>
      </p:sp>
    </p:spTree>
    <p:extLst>
      <p:ext uri="{BB962C8B-B14F-4D97-AF65-F5344CB8AC3E}">
        <p14:creationId xmlns:p14="http://schemas.microsoft.com/office/powerpoint/2010/main" val="4692663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6242415"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Streamlit: Fast UI Development</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Pure Python framework for data apps and chatbots</a:t>
            </a:r>
          </a:p>
          <a:p>
            <a:pPr>
              <a:spcBef>
                <a:spcPts val="800"/>
              </a:spcBef>
              <a:defRPr sz="1600">
                <a:solidFill>
                  <a:srgbClr val="F8FAFC"/>
                </a:solidFill>
              </a:defRPr>
            </a:pPr>
            <a:r>
              <a:rPr>
                <a:solidFill>
                  <a:schemeClr val="tx1">
                    <a:lumMod val="85000"/>
                    <a:lumOff val="15000"/>
                  </a:schemeClr>
                </a:solidFill>
              </a:rPr>
              <a:t>Built-in widgets: st.text_input(), st.button(), st.chat_message()</a:t>
            </a:r>
          </a:p>
          <a:p>
            <a:pPr>
              <a:spcBef>
                <a:spcPts val="800"/>
              </a:spcBef>
              <a:defRPr sz="1600">
                <a:solidFill>
                  <a:srgbClr val="F8FAFC"/>
                </a:solidFill>
              </a:defRPr>
            </a:pPr>
            <a:r>
              <a:rPr>
                <a:solidFill>
                  <a:schemeClr val="tx1">
                    <a:lumMod val="85000"/>
                    <a:lumOff val="15000"/>
                  </a:schemeClr>
                </a:solidFill>
              </a:rPr>
              <a:t>Session state: st.session_state for maintaining user data</a:t>
            </a:r>
          </a:p>
          <a:p>
            <a:pPr>
              <a:spcBef>
                <a:spcPts val="800"/>
              </a:spcBef>
              <a:defRPr sz="1600">
                <a:solidFill>
                  <a:srgbClr val="F8FAFC"/>
                </a:solidFill>
              </a:defRPr>
            </a:pPr>
            <a:r>
              <a:rPr>
                <a:solidFill>
                  <a:schemeClr val="tx1">
                    <a:lumMod val="85000"/>
                    <a:lumOff val="15000"/>
                  </a:schemeClr>
                </a:solidFill>
              </a:rPr>
              <a:t>Chat interface: st.chat_message() and st.chat_input()</a:t>
            </a:r>
          </a:p>
          <a:p>
            <a:pPr>
              <a:spcBef>
                <a:spcPts val="800"/>
              </a:spcBef>
              <a:defRPr sz="1600">
                <a:solidFill>
                  <a:srgbClr val="F8FAFC"/>
                </a:solidFill>
              </a:defRPr>
            </a:pPr>
            <a:r>
              <a:rPr>
                <a:solidFill>
                  <a:schemeClr val="tx1">
                    <a:lumMod val="85000"/>
                    <a:lumOff val="15000"/>
                  </a:schemeClr>
                </a:solidFill>
              </a:rPr>
              <a:t>Auto-reload on code changes during development</a:t>
            </a:r>
          </a:p>
          <a:p>
            <a:pPr>
              <a:spcBef>
                <a:spcPts val="800"/>
              </a:spcBef>
              <a:defRPr sz="1600">
                <a:solidFill>
                  <a:srgbClr val="F8FAFC"/>
                </a:solidFill>
              </a:defRPr>
            </a:pPr>
            <a:r>
              <a:rPr>
                <a:solidFill>
                  <a:schemeClr val="tx1">
                    <a:lumMod val="85000"/>
                    <a:lumOff val="15000"/>
                  </a:schemeClr>
                </a:solidFill>
              </a:rPr>
              <a:t>Perfect for: Prototypes, internal tools, demos, POCs</a:t>
            </a:r>
          </a:p>
        </p:txBody>
      </p:sp>
    </p:spTree>
    <p:extLst>
      <p:ext uri="{BB962C8B-B14F-4D97-AF65-F5344CB8AC3E}">
        <p14:creationId xmlns:p14="http://schemas.microsoft.com/office/powerpoint/2010/main" val="1832589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6525312"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FastAPI: Modern API Framework</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High-performance async Python framework</a:t>
            </a:r>
          </a:p>
          <a:p>
            <a:pPr>
              <a:spcBef>
                <a:spcPts val="800"/>
              </a:spcBef>
              <a:defRPr sz="1600">
                <a:solidFill>
                  <a:srgbClr val="F8FAFC"/>
                </a:solidFill>
              </a:defRPr>
            </a:pPr>
            <a:r>
              <a:rPr>
                <a:solidFill>
                  <a:schemeClr val="tx1">
                    <a:lumMod val="85000"/>
                    <a:lumOff val="15000"/>
                  </a:schemeClr>
                </a:solidFill>
              </a:rPr>
              <a:t>Automatic API documentation (Swagger/OpenAPI)</a:t>
            </a:r>
          </a:p>
          <a:p>
            <a:pPr>
              <a:spcBef>
                <a:spcPts val="800"/>
              </a:spcBef>
              <a:defRPr sz="1600">
                <a:solidFill>
                  <a:srgbClr val="F8FAFC"/>
                </a:solidFill>
              </a:defRPr>
            </a:pPr>
            <a:r>
              <a:rPr>
                <a:solidFill>
                  <a:schemeClr val="tx1">
                    <a:lumMod val="85000"/>
                    <a:lumOff val="15000"/>
                  </a:schemeClr>
                </a:solidFill>
              </a:rPr>
              <a:t>Type validation with Pydantic models</a:t>
            </a:r>
          </a:p>
          <a:p>
            <a:pPr>
              <a:spcBef>
                <a:spcPts val="800"/>
              </a:spcBef>
              <a:defRPr sz="1600">
                <a:solidFill>
                  <a:srgbClr val="F8FAFC"/>
                </a:solidFill>
              </a:defRPr>
            </a:pPr>
            <a:r>
              <a:rPr>
                <a:solidFill>
                  <a:schemeClr val="tx1">
                    <a:lumMod val="85000"/>
                    <a:lumOff val="15000"/>
                  </a:schemeClr>
                </a:solidFill>
              </a:rPr>
              <a:t>Async support for concurrent requests</a:t>
            </a:r>
          </a:p>
          <a:p>
            <a:pPr>
              <a:spcBef>
                <a:spcPts val="800"/>
              </a:spcBef>
              <a:defRPr sz="1600">
                <a:solidFill>
                  <a:srgbClr val="F8FAFC"/>
                </a:solidFill>
              </a:defRPr>
            </a:pPr>
            <a:r>
              <a:rPr>
                <a:solidFill>
                  <a:schemeClr val="tx1">
                    <a:lumMod val="85000"/>
                    <a:lumOff val="15000"/>
                  </a:schemeClr>
                </a:solidFill>
              </a:rPr>
              <a:t>Easy testing with built-in test client</a:t>
            </a:r>
          </a:p>
          <a:p>
            <a:pPr>
              <a:spcBef>
                <a:spcPts val="800"/>
              </a:spcBef>
              <a:defRPr sz="1600">
                <a:solidFill>
                  <a:srgbClr val="F8FAFC"/>
                </a:solidFill>
              </a:defRPr>
            </a:pPr>
            <a:r>
              <a:rPr>
                <a:solidFill>
                  <a:schemeClr val="tx1">
                    <a:lumMod val="85000"/>
                    <a:lumOff val="15000"/>
                  </a:schemeClr>
                </a:solidFill>
              </a:rPr>
              <a:t>Deploy with: Uvicorn (ASGI server), Docker, Kubernetes</a:t>
            </a:r>
          </a:p>
        </p:txBody>
      </p:sp>
    </p:spTree>
    <p:extLst>
      <p:ext uri="{BB962C8B-B14F-4D97-AF65-F5344CB8AC3E}">
        <p14:creationId xmlns:p14="http://schemas.microsoft.com/office/powerpoint/2010/main" val="3614729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983305"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Gradio: Interactive ML Demos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Create ML interfaces with few lines of code</a:t>
            </a:r>
          </a:p>
          <a:p>
            <a:pPr>
              <a:spcBef>
                <a:spcPts val="800"/>
              </a:spcBef>
              <a:defRPr sz="1600">
                <a:solidFill>
                  <a:srgbClr val="F8FAFC"/>
                </a:solidFill>
              </a:defRPr>
            </a:pPr>
            <a:r>
              <a:rPr>
                <a:solidFill>
                  <a:schemeClr val="tx1">
                    <a:lumMod val="85000"/>
                    <a:lumOff val="15000"/>
                  </a:schemeClr>
                </a:solidFill>
              </a:rPr>
              <a:t>Built-in components: Textbox, Chatbot, Image, Audio</a:t>
            </a:r>
          </a:p>
          <a:p>
            <a:pPr>
              <a:spcBef>
                <a:spcPts val="800"/>
              </a:spcBef>
              <a:defRPr sz="1600">
                <a:solidFill>
                  <a:srgbClr val="F8FAFC"/>
                </a:solidFill>
              </a:defRPr>
            </a:pPr>
            <a:r>
              <a:rPr>
                <a:solidFill>
                  <a:schemeClr val="tx1">
                    <a:lumMod val="85000"/>
                    <a:lumOff val="15000"/>
                  </a:schemeClr>
                </a:solidFill>
              </a:rPr>
              <a:t>Share via public link (gradio.live)</a:t>
            </a:r>
          </a:p>
          <a:p>
            <a:pPr>
              <a:spcBef>
                <a:spcPts val="800"/>
              </a:spcBef>
              <a:defRPr sz="1600">
                <a:solidFill>
                  <a:srgbClr val="F8FAFC"/>
                </a:solidFill>
              </a:defRPr>
            </a:pPr>
            <a:r>
              <a:rPr>
                <a:solidFill>
                  <a:schemeClr val="tx1">
                    <a:lumMod val="85000"/>
                    <a:lumOff val="15000"/>
                  </a:schemeClr>
                </a:solidFill>
              </a:rPr>
              <a:t>Integrate with Hugging Face Spaces for hosting</a:t>
            </a:r>
          </a:p>
          <a:p>
            <a:pPr>
              <a:spcBef>
                <a:spcPts val="800"/>
              </a:spcBef>
              <a:defRPr sz="1600">
                <a:solidFill>
                  <a:srgbClr val="F8FAFC"/>
                </a:solidFill>
              </a:defRPr>
            </a:pPr>
            <a:r>
              <a:rPr>
                <a:solidFill>
                  <a:schemeClr val="tx1">
                    <a:lumMod val="85000"/>
                    <a:lumOff val="15000"/>
                  </a:schemeClr>
                </a:solidFill>
              </a:rPr>
              <a:t>Perfect for: Model demos, stakeholder presentations, public sharing</a:t>
            </a:r>
          </a:p>
          <a:p>
            <a:pPr>
              <a:spcBef>
                <a:spcPts val="800"/>
              </a:spcBef>
              <a:defRPr sz="1600">
                <a:solidFill>
                  <a:srgbClr val="F8FAFC"/>
                </a:solidFill>
              </a:defRPr>
            </a:pPr>
            <a:r>
              <a:rPr>
                <a:solidFill>
                  <a:schemeClr val="tx1">
                    <a:lumMod val="85000"/>
                    <a:lumOff val="15000"/>
                  </a:schemeClr>
                </a:solidFill>
              </a:rPr>
              <a:t>Example: gr.Interface(fn=predict, inputs='text', outputs='text')</a:t>
            </a:r>
          </a:p>
        </p:txBody>
      </p:sp>
    </p:spTree>
    <p:extLst>
      <p:ext uri="{BB962C8B-B14F-4D97-AF65-F5344CB8AC3E}">
        <p14:creationId xmlns:p14="http://schemas.microsoft.com/office/powerpoint/2010/main" val="412714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909566"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Choosing Your UI Framework</a:t>
            </a:r>
          </a:p>
        </p:txBody>
      </p:sp>
      <p:sp>
        <p:nvSpPr>
          <p:cNvPr id="5" name="TextBox 4"/>
          <p:cNvSpPr txBox="1"/>
          <p:nvPr/>
        </p:nvSpPr>
        <p:spPr>
          <a:xfrm>
            <a:off x="548640" y="1097280"/>
            <a:ext cx="2055371" cy="1969770"/>
          </a:xfrm>
          <a:prstGeom prst="rect">
            <a:avLst/>
          </a:prstGeom>
          <a:noFill/>
        </p:spPr>
        <p:txBody>
          <a:bodyPr wrap="none">
            <a:spAutoFit/>
          </a:bodyPr>
          <a:lstStyle/>
          <a:p>
            <a:pPr>
              <a:defRPr sz="2200" b="1">
                <a:solidFill>
                  <a:srgbClr val="2563EB"/>
                </a:solidFill>
              </a:defRPr>
            </a:pPr>
            <a:r>
              <a:rPr>
                <a:solidFill>
                  <a:schemeClr val="tx1">
                    <a:lumMod val="85000"/>
                    <a:lumOff val="15000"/>
                  </a:schemeClr>
                </a:solidFill>
              </a:rPr>
              <a:t>Streamlit</a:t>
            </a:r>
          </a:p>
          <a:p>
            <a:pPr>
              <a:spcBef>
                <a:spcPts val="600"/>
              </a:spcBef>
              <a:defRPr sz="1500">
                <a:solidFill>
                  <a:srgbClr val="F8FAFC"/>
                </a:solidFill>
              </a:defRPr>
            </a:pPr>
            <a:r>
              <a:rPr>
                <a:solidFill>
                  <a:schemeClr val="tx1">
                    <a:lumMod val="85000"/>
                    <a:lumOff val="15000"/>
                  </a:schemeClr>
                </a:solidFill>
              </a:rPr>
              <a:t>Fastest development</a:t>
            </a:r>
          </a:p>
          <a:p>
            <a:pPr>
              <a:spcBef>
                <a:spcPts val="600"/>
              </a:spcBef>
              <a:defRPr sz="1500">
                <a:solidFill>
                  <a:srgbClr val="F8FAFC"/>
                </a:solidFill>
              </a:defRPr>
            </a:pPr>
            <a:r>
              <a:rPr>
                <a:solidFill>
                  <a:schemeClr val="tx1">
                    <a:lumMod val="85000"/>
                    <a:lumOff val="15000"/>
                  </a:schemeClr>
                </a:solidFill>
              </a:rPr>
              <a:t>Python-only</a:t>
            </a:r>
          </a:p>
          <a:p>
            <a:pPr>
              <a:spcBef>
                <a:spcPts val="600"/>
              </a:spcBef>
              <a:defRPr sz="1500">
                <a:solidFill>
                  <a:srgbClr val="F8FAFC"/>
                </a:solidFill>
              </a:defRPr>
            </a:pPr>
            <a:r>
              <a:rPr>
                <a:solidFill>
                  <a:schemeClr val="tx1">
                    <a:lumMod val="85000"/>
                    <a:lumOff val="15000"/>
                  </a:schemeClr>
                </a:solidFill>
              </a:rPr>
              <a:t>Great for data apps</a:t>
            </a:r>
          </a:p>
          <a:p>
            <a:pPr>
              <a:spcBef>
                <a:spcPts val="600"/>
              </a:spcBef>
              <a:defRPr sz="1500">
                <a:solidFill>
                  <a:srgbClr val="F8FAFC"/>
                </a:solidFill>
              </a:defRPr>
            </a:pPr>
            <a:r>
              <a:rPr>
                <a:solidFill>
                  <a:schemeClr val="tx1">
                    <a:lumMod val="85000"/>
                    <a:lumOff val="15000"/>
                  </a:schemeClr>
                </a:solidFill>
              </a:rPr>
              <a:t>Built-in components</a:t>
            </a:r>
          </a:p>
          <a:p>
            <a:pPr>
              <a:spcBef>
                <a:spcPts val="600"/>
              </a:spcBef>
              <a:defRPr sz="1500">
                <a:solidFill>
                  <a:srgbClr val="F8FAFC"/>
                </a:solidFill>
              </a:defRPr>
            </a:pPr>
            <a:r>
              <a:rPr>
                <a:solidFill>
                  <a:schemeClr val="tx1">
                    <a:lumMod val="85000"/>
                    <a:lumOff val="15000"/>
                  </a:schemeClr>
                </a:solidFill>
              </a:rPr>
              <a:t>Best for: Internal tools</a:t>
            </a:r>
          </a:p>
        </p:txBody>
      </p:sp>
      <p:sp>
        <p:nvSpPr>
          <p:cNvPr id="6" name="TextBox 5"/>
          <p:cNvSpPr txBox="1"/>
          <p:nvPr/>
        </p:nvSpPr>
        <p:spPr>
          <a:xfrm>
            <a:off x="4754880" y="1097280"/>
            <a:ext cx="2509020" cy="1969770"/>
          </a:xfrm>
          <a:prstGeom prst="rect">
            <a:avLst/>
          </a:prstGeom>
          <a:noFill/>
        </p:spPr>
        <p:txBody>
          <a:bodyPr wrap="none">
            <a:spAutoFit/>
          </a:bodyPr>
          <a:lstStyle/>
          <a:p>
            <a:pPr>
              <a:defRPr sz="2200" b="1">
                <a:solidFill>
                  <a:srgbClr val="7C3AED"/>
                </a:solidFill>
              </a:defRPr>
            </a:pPr>
            <a:r>
              <a:rPr>
                <a:solidFill>
                  <a:schemeClr val="tx1">
                    <a:lumMod val="85000"/>
                    <a:lumOff val="15000"/>
                  </a:schemeClr>
                </a:solidFill>
              </a:rPr>
              <a:t>FastAPI + React</a:t>
            </a:r>
          </a:p>
          <a:p>
            <a:pPr>
              <a:spcBef>
                <a:spcPts val="600"/>
              </a:spcBef>
              <a:defRPr sz="1500">
                <a:solidFill>
                  <a:srgbClr val="F8FAFC"/>
                </a:solidFill>
              </a:defRPr>
            </a:pPr>
            <a:r>
              <a:rPr>
                <a:solidFill>
                  <a:schemeClr val="tx1">
                    <a:lumMod val="85000"/>
                    <a:lumOff val="15000"/>
                  </a:schemeClr>
                </a:solidFill>
              </a:rPr>
              <a:t>Full control</a:t>
            </a:r>
          </a:p>
          <a:p>
            <a:pPr>
              <a:spcBef>
                <a:spcPts val="600"/>
              </a:spcBef>
              <a:defRPr sz="1500">
                <a:solidFill>
                  <a:srgbClr val="F8FAFC"/>
                </a:solidFill>
              </a:defRPr>
            </a:pPr>
            <a:r>
              <a:rPr>
                <a:solidFill>
                  <a:schemeClr val="tx1">
                    <a:lumMod val="85000"/>
                    <a:lumOff val="15000"/>
                  </a:schemeClr>
                </a:solidFill>
              </a:rPr>
              <a:t>Scalable architecture</a:t>
            </a:r>
          </a:p>
          <a:p>
            <a:pPr>
              <a:spcBef>
                <a:spcPts val="600"/>
              </a:spcBef>
              <a:defRPr sz="1500">
                <a:solidFill>
                  <a:srgbClr val="F8FAFC"/>
                </a:solidFill>
              </a:defRPr>
            </a:pPr>
            <a:r>
              <a:rPr>
                <a:solidFill>
                  <a:schemeClr val="tx1">
                    <a:lumMod val="85000"/>
                    <a:lumOff val="15000"/>
                  </a:schemeClr>
                </a:solidFill>
              </a:rPr>
              <a:t>Separate frontend/backend</a:t>
            </a:r>
          </a:p>
          <a:p>
            <a:pPr>
              <a:spcBef>
                <a:spcPts val="600"/>
              </a:spcBef>
              <a:defRPr sz="1500">
                <a:solidFill>
                  <a:srgbClr val="F8FAFC"/>
                </a:solidFill>
              </a:defRPr>
            </a:pPr>
            <a:r>
              <a:rPr>
                <a:solidFill>
                  <a:schemeClr val="tx1">
                    <a:lumMod val="85000"/>
                    <a:lumOff val="15000"/>
                  </a:schemeClr>
                </a:solidFill>
              </a:rPr>
              <a:t>Professional UX</a:t>
            </a:r>
          </a:p>
          <a:p>
            <a:pPr>
              <a:spcBef>
                <a:spcPts val="600"/>
              </a:spcBef>
              <a:defRPr sz="1500">
                <a:solidFill>
                  <a:srgbClr val="F8FAFC"/>
                </a:solidFill>
              </a:defRPr>
            </a:pPr>
            <a:r>
              <a:rPr>
                <a:solidFill>
                  <a:schemeClr val="tx1">
                    <a:lumMod val="85000"/>
                    <a:lumOff val="15000"/>
                  </a:schemeClr>
                </a:solidFill>
              </a:rPr>
              <a:t>Best for: Production apps</a:t>
            </a:r>
          </a:p>
        </p:txBody>
      </p:sp>
    </p:spTree>
    <p:extLst>
      <p:ext uri="{BB962C8B-B14F-4D97-AF65-F5344CB8AC3E}">
        <p14:creationId xmlns:p14="http://schemas.microsoft.com/office/powerpoint/2010/main" val="2029061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8358378"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Conversation Management Best Practices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Session Identification: Unique ID per user/conversation</a:t>
            </a:r>
          </a:p>
          <a:p>
            <a:pPr>
              <a:spcBef>
                <a:spcPts val="800"/>
              </a:spcBef>
              <a:defRPr sz="1600">
                <a:solidFill>
                  <a:srgbClr val="F8FAFC"/>
                </a:solidFill>
              </a:defRPr>
            </a:pPr>
            <a:r>
              <a:rPr>
                <a:solidFill>
                  <a:schemeClr val="tx1">
                    <a:lumMod val="85000"/>
                    <a:lumOff val="15000"/>
                  </a:schemeClr>
                </a:solidFill>
              </a:rPr>
              <a:t>Message Storage: Store in database (PostgreSQL, MongoDB) or cache (Redis)</a:t>
            </a:r>
          </a:p>
          <a:p>
            <a:pPr>
              <a:spcBef>
                <a:spcPts val="800"/>
              </a:spcBef>
              <a:defRPr sz="1600">
                <a:solidFill>
                  <a:srgbClr val="F8FAFC"/>
                </a:solidFill>
              </a:defRPr>
            </a:pPr>
            <a:r>
              <a:rPr>
                <a:solidFill>
                  <a:schemeClr val="tx1">
                    <a:lumMod val="85000"/>
                    <a:lumOff val="15000"/>
                  </a:schemeClr>
                </a:solidFill>
              </a:rPr>
              <a:t>Context Window Management: Limit messages to fit LLM context</a:t>
            </a:r>
          </a:p>
          <a:p>
            <a:pPr>
              <a:spcBef>
                <a:spcPts val="800"/>
              </a:spcBef>
              <a:defRPr sz="1600">
                <a:solidFill>
                  <a:srgbClr val="F8FAFC"/>
                </a:solidFill>
              </a:defRPr>
            </a:pPr>
            <a:r>
              <a:rPr>
                <a:solidFill>
                  <a:schemeClr val="tx1">
                    <a:lumMod val="85000"/>
                    <a:lumOff val="15000"/>
                  </a:schemeClr>
                </a:solidFill>
              </a:rPr>
              <a:t>Message Summarization: Summarize old messages when window fills</a:t>
            </a:r>
          </a:p>
          <a:p>
            <a:pPr>
              <a:spcBef>
                <a:spcPts val="800"/>
              </a:spcBef>
              <a:defRPr sz="1600">
                <a:solidFill>
                  <a:srgbClr val="F8FAFC"/>
                </a:solidFill>
              </a:defRPr>
            </a:pPr>
            <a:r>
              <a:rPr>
                <a:solidFill>
                  <a:schemeClr val="tx1">
                    <a:lumMod val="85000"/>
                    <a:lumOff val="15000"/>
                  </a:schemeClr>
                </a:solidFill>
              </a:rPr>
              <a:t>Metadata Tracking: User info, timestamps, ratings, feedback</a:t>
            </a:r>
          </a:p>
          <a:p>
            <a:pPr>
              <a:spcBef>
                <a:spcPts val="800"/>
              </a:spcBef>
              <a:defRPr sz="1600">
                <a:solidFill>
                  <a:srgbClr val="F8FAFC"/>
                </a:solidFill>
              </a:defRPr>
            </a:pPr>
            <a:r>
              <a:rPr>
                <a:solidFill>
                  <a:schemeClr val="tx1">
                    <a:lumMod val="85000"/>
                    <a:lumOff val="15000"/>
                  </a:schemeClr>
                </a:solidFill>
              </a:rPr>
              <a:t>State Management: Track conversation stage, user preferences</a:t>
            </a:r>
          </a:p>
        </p:txBody>
      </p:sp>
    </p:spTree>
    <p:extLst>
      <p:ext uri="{BB962C8B-B14F-4D97-AF65-F5344CB8AC3E}">
        <p14:creationId xmlns:p14="http://schemas.microsoft.com/office/powerpoint/2010/main" val="285951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7744428"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Production Deployment Best Practices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Error Handling: Graceful degradation, user-friendly error messages</a:t>
            </a:r>
          </a:p>
          <a:p>
            <a:pPr>
              <a:spcBef>
                <a:spcPts val="800"/>
              </a:spcBef>
              <a:defRPr sz="1600">
                <a:solidFill>
                  <a:srgbClr val="F8FAFC"/>
                </a:solidFill>
              </a:defRPr>
            </a:pPr>
            <a:r>
              <a:rPr>
                <a:solidFill>
                  <a:schemeClr val="tx1">
                    <a:lumMod val="85000"/>
                    <a:lumOff val="15000"/>
                  </a:schemeClr>
                </a:solidFill>
              </a:rPr>
              <a:t>Rate Limiting: Prevent abuse, manage API costs</a:t>
            </a:r>
          </a:p>
          <a:p>
            <a:pPr>
              <a:spcBef>
                <a:spcPts val="800"/>
              </a:spcBef>
              <a:defRPr sz="1600">
                <a:solidFill>
                  <a:srgbClr val="F8FAFC"/>
                </a:solidFill>
              </a:defRPr>
            </a:pPr>
            <a:r>
              <a:rPr>
                <a:solidFill>
                  <a:schemeClr val="tx1">
                    <a:lumMod val="85000"/>
                    <a:lumOff val="15000"/>
                  </a:schemeClr>
                </a:solidFill>
              </a:rPr>
              <a:t>Caching: Cache frequent queries, embeddings, LLM responses</a:t>
            </a:r>
          </a:p>
          <a:p>
            <a:pPr>
              <a:spcBef>
                <a:spcPts val="800"/>
              </a:spcBef>
              <a:defRPr sz="1600">
                <a:solidFill>
                  <a:srgbClr val="F8FAFC"/>
                </a:solidFill>
              </a:defRPr>
            </a:pPr>
            <a:r>
              <a:rPr>
                <a:solidFill>
                  <a:schemeClr val="tx1">
                    <a:lumMod val="85000"/>
                    <a:lumOff val="15000"/>
                  </a:schemeClr>
                </a:solidFill>
              </a:rPr>
              <a:t>Monitoring: Log all interactions, track latency, error rates</a:t>
            </a:r>
          </a:p>
          <a:p>
            <a:pPr>
              <a:spcBef>
                <a:spcPts val="800"/>
              </a:spcBef>
              <a:defRPr sz="1600">
                <a:solidFill>
                  <a:srgbClr val="F8FAFC"/>
                </a:solidFill>
              </a:defRPr>
            </a:pPr>
            <a:r>
              <a:rPr>
                <a:solidFill>
                  <a:schemeClr val="tx1">
                    <a:lumMod val="85000"/>
                    <a:lumOff val="15000"/>
                  </a:schemeClr>
                </a:solidFill>
              </a:rPr>
              <a:t>Security: Input validation, SQL injection prevention, API key rotation</a:t>
            </a:r>
          </a:p>
          <a:p>
            <a:pPr>
              <a:spcBef>
                <a:spcPts val="800"/>
              </a:spcBef>
              <a:defRPr sz="1600">
                <a:solidFill>
                  <a:srgbClr val="F8FAFC"/>
                </a:solidFill>
              </a:defRPr>
            </a:pPr>
            <a:r>
              <a:rPr>
                <a:solidFill>
                  <a:schemeClr val="tx1">
                    <a:lumMod val="85000"/>
                    <a:lumOff val="15000"/>
                  </a:schemeClr>
                </a:solidFill>
              </a:rPr>
              <a:t>Cost Management: Token tracking, budget alerts, usage quotas</a:t>
            </a:r>
          </a:p>
        </p:txBody>
      </p:sp>
    </p:spTree>
    <p:extLst>
      <p:ext uri="{BB962C8B-B14F-4D97-AF65-F5344CB8AC3E}">
        <p14:creationId xmlns:p14="http://schemas.microsoft.com/office/powerpoint/2010/main" val="10689301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811976"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Monitoring LLM Applications</a:t>
            </a:r>
          </a:p>
        </p:txBody>
      </p:sp>
      <p:sp>
        <p:nvSpPr>
          <p:cNvPr id="5" name="TextBox 4"/>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Metrics to track: Latency, token usage, error rate, user satisfaction</a:t>
            </a:r>
          </a:p>
          <a:p>
            <a:pPr>
              <a:spcBef>
                <a:spcPts val="800"/>
              </a:spcBef>
              <a:defRPr sz="1600">
                <a:solidFill>
                  <a:srgbClr val="F8FAFC"/>
                </a:solidFill>
              </a:defRPr>
            </a:pPr>
            <a:r>
              <a:rPr>
                <a:solidFill>
                  <a:schemeClr val="tx1">
                    <a:lumMod val="85000"/>
                    <a:lumOff val="15000"/>
                  </a:schemeClr>
                </a:solidFill>
              </a:rPr>
              <a:t>Tools: Langsmith, Weights &amp; Biases, Prometheus, Grafana</a:t>
            </a:r>
          </a:p>
          <a:p>
            <a:pPr>
              <a:spcBef>
                <a:spcPts val="800"/>
              </a:spcBef>
              <a:defRPr sz="1600">
                <a:solidFill>
                  <a:srgbClr val="F8FAFC"/>
                </a:solidFill>
              </a:defRPr>
            </a:pPr>
            <a:r>
              <a:rPr>
                <a:solidFill>
                  <a:schemeClr val="tx1">
                    <a:lumMod val="85000"/>
                    <a:lumOff val="15000"/>
                  </a:schemeClr>
                </a:solidFill>
              </a:rPr>
              <a:t>User feedback: Thumbs up/down, ratings, comments</a:t>
            </a:r>
          </a:p>
          <a:p>
            <a:pPr>
              <a:spcBef>
                <a:spcPts val="800"/>
              </a:spcBef>
              <a:defRPr sz="1600">
                <a:solidFill>
                  <a:srgbClr val="F8FAFC"/>
                </a:solidFill>
              </a:defRPr>
            </a:pPr>
            <a:r>
              <a:rPr>
                <a:solidFill>
                  <a:schemeClr val="tx1">
                    <a:lumMod val="85000"/>
                    <a:lumOff val="15000"/>
                  </a:schemeClr>
                </a:solidFill>
              </a:rPr>
              <a:t>A/B testing: Compare different prompts, models, RAG strategies</a:t>
            </a:r>
          </a:p>
          <a:p>
            <a:pPr>
              <a:spcBef>
                <a:spcPts val="800"/>
              </a:spcBef>
              <a:defRPr sz="1600">
                <a:solidFill>
                  <a:srgbClr val="F8FAFC"/>
                </a:solidFill>
              </a:defRPr>
            </a:pPr>
            <a:r>
              <a:rPr>
                <a:solidFill>
                  <a:schemeClr val="tx1">
                    <a:lumMod val="85000"/>
                    <a:lumOff val="15000"/>
                  </a:schemeClr>
                </a:solidFill>
              </a:rPr>
              <a:t>Cost tracking: Monitor API costs per user, per query</a:t>
            </a:r>
          </a:p>
          <a:p>
            <a:pPr>
              <a:spcBef>
                <a:spcPts val="800"/>
              </a:spcBef>
              <a:defRPr sz="1600">
                <a:solidFill>
                  <a:srgbClr val="F8FAFC"/>
                </a:solidFill>
              </a:defRPr>
            </a:pPr>
            <a:r>
              <a:rPr>
                <a:solidFill>
                  <a:schemeClr val="tx1">
                    <a:lumMod val="85000"/>
                    <a:lumOff val="15000"/>
                  </a:schemeClr>
                </a:solidFill>
              </a:rPr>
              <a:t>Quality assurance: Regular evaluation on test sets</a:t>
            </a:r>
          </a:p>
        </p:txBody>
      </p:sp>
    </p:spTree>
    <p:extLst>
      <p:ext uri="{BB962C8B-B14F-4D97-AF65-F5344CB8AC3E}">
        <p14:creationId xmlns:p14="http://schemas.microsoft.com/office/powerpoint/2010/main" val="24046539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274320"/>
            <a:ext cx="5081840" cy="584775"/>
          </a:xfrm>
          <a:prstGeom prst="rect">
            <a:avLst/>
          </a:prstGeom>
          <a:noFill/>
        </p:spPr>
        <p:txBody>
          <a:bodyPr wrap="none">
            <a:spAutoFit/>
          </a:bodyPr>
          <a:lstStyle/>
          <a:p>
            <a:pPr>
              <a:defRPr sz="3200" b="1">
                <a:solidFill>
                  <a:srgbClr val="F59E0B"/>
                </a:solidFill>
              </a:defRPr>
            </a:pPr>
            <a:r>
              <a:rPr dirty="0">
                <a:solidFill>
                  <a:schemeClr val="tx1">
                    <a:lumMod val="85000"/>
                    <a:lumOff val="15000"/>
                  </a:schemeClr>
                </a:solidFill>
              </a:rPr>
              <a:t>Evaluating RAG Systems</a:t>
            </a:r>
          </a:p>
        </p:txBody>
      </p:sp>
      <p:sp>
        <p:nvSpPr>
          <p:cNvPr id="5" name="TextBox 4"/>
          <p:cNvSpPr txBox="1"/>
          <p:nvPr/>
        </p:nvSpPr>
        <p:spPr>
          <a:xfrm>
            <a:off x="457200" y="2940148"/>
            <a:ext cx="2755883" cy="1969770"/>
          </a:xfrm>
          <a:prstGeom prst="rect">
            <a:avLst/>
          </a:prstGeom>
          <a:noFill/>
        </p:spPr>
        <p:txBody>
          <a:bodyPr wrap="none">
            <a:spAutoFit/>
          </a:bodyPr>
          <a:lstStyle/>
          <a:p>
            <a:pPr>
              <a:defRPr sz="2200" b="1">
                <a:solidFill>
                  <a:srgbClr val="2563EB"/>
                </a:solidFill>
              </a:defRPr>
            </a:pPr>
            <a:r>
              <a:rPr>
                <a:solidFill>
                  <a:schemeClr val="tx1">
                    <a:lumMod val="85000"/>
                    <a:lumOff val="15000"/>
                  </a:schemeClr>
                </a:solidFill>
              </a:rPr>
              <a:t>Retrieval Metrics</a:t>
            </a:r>
          </a:p>
          <a:p>
            <a:pPr>
              <a:spcBef>
                <a:spcPts val="600"/>
              </a:spcBef>
              <a:defRPr sz="1500">
                <a:solidFill>
                  <a:srgbClr val="F8FAFC"/>
                </a:solidFill>
              </a:defRPr>
            </a:pPr>
            <a:r>
              <a:rPr>
                <a:solidFill>
                  <a:schemeClr val="tx1">
                    <a:lumMod val="85000"/>
                    <a:lumOff val="15000"/>
                  </a:schemeClr>
                </a:solidFill>
              </a:rPr>
              <a:t>Precision@K</a:t>
            </a:r>
          </a:p>
          <a:p>
            <a:pPr>
              <a:spcBef>
                <a:spcPts val="600"/>
              </a:spcBef>
              <a:defRPr sz="1500">
                <a:solidFill>
                  <a:srgbClr val="F8FAFC"/>
                </a:solidFill>
              </a:defRPr>
            </a:pPr>
            <a:r>
              <a:rPr>
                <a:solidFill>
                  <a:schemeClr val="tx1">
                    <a:lumMod val="85000"/>
                    <a:lumOff val="15000"/>
                  </a:schemeClr>
                </a:solidFill>
              </a:rPr>
              <a:t>Recall@K</a:t>
            </a:r>
          </a:p>
          <a:p>
            <a:pPr>
              <a:spcBef>
                <a:spcPts val="600"/>
              </a:spcBef>
              <a:defRPr sz="1500">
                <a:solidFill>
                  <a:srgbClr val="F8FAFC"/>
                </a:solidFill>
              </a:defRPr>
            </a:pPr>
            <a:r>
              <a:rPr>
                <a:solidFill>
                  <a:schemeClr val="tx1">
                    <a:lumMod val="85000"/>
                    <a:lumOff val="15000"/>
                  </a:schemeClr>
                </a:solidFill>
              </a:rPr>
              <a:t>MRR (Mean Reciprocal Rank)</a:t>
            </a:r>
          </a:p>
          <a:p>
            <a:pPr>
              <a:spcBef>
                <a:spcPts val="600"/>
              </a:spcBef>
              <a:defRPr sz="1500">
                <a:solidFill>
                  <a:srgbClr val="F8FAFC"/>
                </a:solidFill>
              </a:defRPr>
            </a:pPr>
            <a:r>
              <a:rPr>
                <a:solidFill>
                  <a:schemeClr val="tx1">
                    <a:lumMod val="85000"/>
                    <a:lumOff val="15000"/>
                  </a:schemeClr>
                </a:solidFill>
              </a:rPr>
              <a:t>NDCG</a:t>
            </a:r>
          </a:p>
          <a:p>
            <a:pPr>
              <a:spcBef>
                <a:spcPts val="600"/>
              </a:spcBef>
              <a:defRPr sz="1500">
                <a:solidFill>
                  <a:srgbClr val="F8FAFC"/>
                </a:solidFill>
              </a:defRPr>
            </a:pPr>
            <a:r>
              <a:rPr>
                <a:solidFill>
                  <a:schemeClr val="tx1">
                    <a:lumMod val="85000"/>
                    <a:lumOff val="15000"/>
                  </a:schemeClr>
                </a:solidFill>
              </a:rPr>
              <a:t>Hit Rate</a:t>
            </a:r>
          </a:p>
        </p:txBody>
      </p:sp>
      <p:sp>
        <p:nvSpPr>
          <p:cNvPr id="6" name="TextBox 5"/>
          <p:cNvSpPr txBox="1"/>
          <p:nvPr/>
        </p:nvSpPr>
        <p:spPr>
          <a:xfrm>
            <a:off x="4663440" y="2940148"/>
            <a:ext cx="2744662" cy="1969770"/>
          </a:xfrm>
          <a:prstGeom prst="rect">
            <a:avLst/>
          </a:prstGeom>
          <a:noFill/>
        </p:spPr>
        <p:txBody>
          <a:bodyPr wrap="none">
            <a:spAutoFit/>
          </a:bodyPr>
          <a:lstStyle/>
          <a:p>
            <a:pPr>
              <a:defRPr sz="2200" b="1">
                <a:solidFill>
                  <a:srgbClr val="7C3AED"/>
                </a:solidFill>
              </a:defRPr>
            </a:pPr>
            <a:r>
              <a:rPr>
                <a:solidFill>
                  <a:schemeClr val="tx1">
                    <a:lumMod val="85000"/>
                    <a:lumOff val="15000"/>
                  </a:schemeClr>
                </a:solidFill>
              </a:rPr>
              <a:t>Generation Metrics</a:t>
            </a:r>
          </a:p>
          <a:p>
            <a:pPr>
              <a:spcBef>
                <a:spcPts val="600"/>
              </a:spcBef>
              <a:defRPr sz="1500">
                <a:solidFill>
                  <a:srgbClr val="F8FAFC"/>
                </a:solidFill>
              </a:defRPr>
            </a:pPr>
            <a:r>
              <a:rPr>
                <a:solidFill>
                  <a:schemeClr val="tx1">
                    <a:lumMod val="85000"/>
                    <a:lumOff val="15000"/>
                  </a:schemeClr>
                </a:solidFill>
              </a:rPr>
              <a:t>Faithfulness</a:t>
            </a:r>
          </a:p>
          <a:p>
            <a:pPr>
              <a:spcBef>
                <a:spcPts val="600"/>
              </a:spcBef>
              <a:defRPr sz="1500">
                <a:solidFill>
                  <a:srgbClr val="F8FAFC"/>
                </a:solidFill>
              </a:defRPr>
            </a:pPr>
            <a:r>
              <a:rPr>
                <a:solidFill>
                  <a:schemeClr val="tx1">
                    <a:lumMod val="85000"/>
                    <a:lumOff val="15000"/>
                  </a:schemeClr>
                </a:solidFill>
              </a:rPr>
              <a:t>Answer Relevancy</a:t>
            </a:r>
          </a:p>
          <a:p>
            <a:pPr>
              <a:spcBef>
                <a:spcPts val="600"/>
              </a:spcBef>
              <a:defRPr sz="1500">
                <a:solidFill>
                  <a:srgbClr val="F8FAFC"/>
                </a:solidFill>
              </a:defRPr>
            </a:pPr>
            <a:r>
              <a:rPr>
                <a:solidFill>
                  <a:schemeClr val="tx1">
                    <a:lumMod val="85000"/>
                    <a:lumOff val="15000"/>
                  </a:schemeClr>
                </a:solidFill>
              </a:rPr>
              <a:t>Context Precision</a:t>
            </a:r>
          </a:p>
          <a:p>
            <a:pPr>
              <a:spcBef>
                <a:spcPts val="600"/>
              </a:spcBef>
              <a:defRPr sz="1500">
                <a:solidFill>
                  <a:srgbClr val="F8FAFC"/>
                </a:solidFill>
              </a:defRPr>
            </a:pPr>
            <a:r>
              <a:rPr>
                <a:solidFill>
                  <a:schemeClr val="tx1">
                    <a:lumMod val="85000"/>
                    <a:lumOff val="15000"/>
                  </a:schemeClr>
                </a:solidFill>
              </a:rPr>
              <a:t>RAGAS Framework</a:t>
            </a:r>
          </a:p>
          <a:p>
            <a:pPr>
              <a:spcBef>
                <a:spcPts val="600"/>
              </a:spcBef>
              <a:defRPr sz="1500">
                <a:solidFill>
                  <a:srgbClr val="F8FAFC"/>
                </a:solidFill>
              </a:defRPr>
            </a:pPr>
            <a:r>
              <a:rPr>
                <a:solidFill>
                  <a:schemeClr val="tx1">
                    <a:lumMod val="85000"/>
                    <a:lumOff val="15000"/>
                  </a:schemeClr>
                </a:solidFill>
              </a:rPr>
              <a:t>Human Evaluation</a:t>
            </a:r>
          </a:p>
        </p:txBody>
      </p:sp>
      <p:sp>
        <p:nvSpPr>
          <p:cNvPr id="7" name="Rectangle 6"/>
          <p:cNvSpPr/>
          <p:nvPr/>
        </p:nvSpPr>
        <p:spPr>
          <a:xfrm>
            <a:off x="457200" y="859095"/>
            <a:ext cx="8517988" cy="1754326"/>
          </a:xfrm>
          <a:prstGeom prst="rect">
            <a:avLst/>
          </a:prstGeom>
        </p:spPr>
        <p:txBody>
          <a:bodyPr wrap="square">
            <a:spAutoFit/>
          </a:bodyPr>
          <a:lstStyle/>
          <a:p>
            <a:r>
              <a:rPr lang="en-US" dirty="0"/>
              <a:t>Evaluating retrieval augmented generation systems focuses on both retrieval quality and generation quality. Key aspects include how relevant and accurate the retrieved documents are, how well the model uses the retrieved context, and whether the final response is correct, complete, and grounded in the source data. Effective evaluation helps identify weaknesses in retrieval, prompt design, or model behavior, leading to more reliable and trustworthy LLM applications.</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08102" y="2940148"/>
            <a:ext cx="4672731" cy="2630748"/>
          </a:xfrm>
          <a:prstGeom prst="rect">
            <a:avLst/>
          </a:prstGeom>
        </p:spPr>
      </p:pic>
    </p:spTree>
    <p:extLst>
      <p:ext uri="{BB962C8B-B14F-4D97-AF65-F5344CB8AC3E}">
        <p14:creationId xmlns:p14="http://schemas.microsoft.com/office/powerpoint/2010/main" val="31673493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7200" y="274320"/>
            <a:ext cx="6835526" cy="584775"/>
          </a:xfrm>
          <a:prstGeom prst="rect">
            <a:avLst/>
          </a:prstGeom>
          <a:noFill/>
        </p:spPr>
        <p:txBody>
          <a:bodyPr wrap="none">
            <a:spAutoFit/>
          </a:bodyPr>
          <a:lstStyle/>
          <a:p>
            <a:pPr>
              <a:defRPr sz="3200" b="1">
                <a:solidFill>
                  <a:srgbClr val="F59E0B"/>
                </a:solidFill>
              </a:defRPr>
            </a:pPr>
            <a:r>
              <a:rPr>
                <a:solidFill>
                  <a:schemeClr val="tx1">
                    <a:lumMod val="85000"/>
                    <a:lumOff val="15000"/>
                  </a:schemeClr>
                </a:solidFill>
              </a:rPr>
              <a:t>Common RAG Pitfalls &amp; Solutions</a:t>
            </a:r>
          </a:p>
        </p:txBody>
      </p:sp>
      <p:sp>
        <p:nvSpPr>
          <p:cNvPr id="8" name="TextBox 7"/>
          <p:cNvSpPr txBox="1"/>
          <p:nvPr/>
        </p:nvSpPr>
        <p:spPr>
          <a:xfrm>
            <a:off x="640080" y="1005840"/>
            <a:ext cx="7863840" cy="2082621"/>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Chunk size issues: Test different sizes, use overlap</a:t>
            </a:r>
          </a:p>
          <a:p>
            <a:pPr>
              <a:spcBef>
                <a:spcPts val="800"/>
              </a:spcBef>
              <a:defRPr sz="1600">
                <a:solidFill>
                  <a:srgbClr val="F8FAFC"/>
                </a:solidFill>
              </a:defRPr>
            </a:pPr>
            <a:r>
              <a:rPr>
                <a:solidFill>
                  <a:schemeClr val="tx1">
                    <a:lumMod val="85000"/>
                    <a:lumOff val="15000"/>
                  </a:schemeClr>
                </a:solidFill>
              </a:rPr>
              <a:t>Wrong embedding model: Match domain, benchmark options</a:t>
            </a:r>
          </a:p>
          <a:p>
            <a:pPr>
              <a:spcBef>
                <a:spcPts val="800"/>
              </a:spcBef>
              <a:defRPr sz="1600">
                <a:solidFill>
                  <a:srgbClr val="F8FAFC"/>
                </a:solidFill>
              </a:defRPr>
            </a:pPr>
            <a:r>
              <a:rPr>
                <a:solidFill>
                  <a:schemeClr val="tx1">
                    <a:lumMod val="85000"/>
                    <a:lumOff val="15000"/>
                  </a:schemeClr>
                </a:solidFill>
              </a:rPr>
              <a:t>Ignoring metadata: Use for filtering, source attribution</a:t>
            </a:r>
          </a:p>
          <a:p>
            <a:pPr>
              <a:spcBef>
                <a:spcPts val="800"/>
              </a:spcBef>
              <a:defRPr sz="1600">
                <a:solidFill>
                  <a:srgbClr val="F8FAFC"/>
                </a:solidFill>
              </a:defRPr>
            </a:pPr>
            <a:r>
              <a:rPr>
                <a:solidFill>
                  <a:schemeClr val="tx1">
                    <a:lumMod val="85000"/>
                    <a:lumOff val="15000"/>
                  </a:schemeClr>
                </a:solidFill>
              </a:rPr>
              <a:t>Poor prompt engineering: Iterate, test, refine prompts</a:t>
            </a:r>
          </a:p>
          <a:p>
            <a:pPr>
              <a:spcBef>
                <a:spcPts val="800"/>
              </a:spcBef>
              <a:defRPr sz="1600">
                <a:solidFill>
                  <a:srgbClr val="F8FAFC"/>
                </a:solidFill>
              </a:defRPr>
            </a:pPr>
            <a:r>
              <a:rPr>
                <a:solidFill>
                  <a:schemeClr val="tx1">
                    <a:lumMod val="85000"/>
                    <a:lumOff val="15000"/>
                  </a:schemeClr>
                </a:solidFill>
              </a:rPr>
              <a:t>No context window management: Track tokens, summarize when needed</a:t>
            </a:r>
          </a:p>
          <a:p>
            <a:pPr>
              <a:spcBef>
                <a:spcPts val="800"/>
              </a:spcBef>
              <a:defRPr sz="1600">
                <a:solidFill>
                  <a:srgbClr val="F8FAFC"/>
                </a:solidFill>
              </a:defRPr>
            </a:pPr>
            <a:r>
              <a:rPr>
                <a:solidFill>
                  <a:schemeClr val="tx1">
                    <a:lumMod val="85000"/>
                    <a:lumOff val="15000"/>
                  </a:schemeClr>
                </a:solidFill>
              </a:rPr>
              <a:t>Lack of evaluation: Implement metrics, gather user feedback</a:t>
            </a:r>
          </a:p>
        </p:txBody>
      </p:sp>
    </p:spTree>
    <p:extLst>
      <p:ext uri="{BB962C8B-B14F-4D97-AF65-F5344CB8AC3E}">
        <p14:creationId xmlns:p14="http://schemas.microsoft.com/office/powerpoint/2010/main" val="225347326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40080" y="274320"/>
            <a:ext cx="3182281" cy="584775"/>
          </a:xfrm>
          <a:prstGeom prst="rect">
            <a:avLst/>
          </a:prstGeom>
          <a:noFill/>
        </p:spPr>
        <p:txBody>
          <a:bodyPr wrap="none">
            <a:spAutoFit/>
          </a:bodyPr>
          <a:lstStyle/>
          <a:p>
            <a:pPr>
              <a:defRPr sz="3200" b="1">
                <a:solidFill>
                  <a:srgbClr val="F59E0B"/>
                </a:solidFill>
              </a:defRPr>
            </a:pPr>
            <a:r>
              <a:rPr dirty="0">
                <a:solidFill>
                  <a:schemeClr val="tx1">
                    <a:lumMod val="85000"/>
                    <a:lumOff val="15000"/>
                  </a:schemeClr>
                </a:solidFill>
              </a:rPr>
              <a:t>Key Takeaways</a:t>
            </a:r>
          </a:p>
        </p:txBody>
      </p:sp>
      <p:sp>
        <p:nvSpPr>
          <p:cNvPr id="5" name="TextBox 4"/>
          <p:cNvSpPr txBox="1"/>
          <p:nvPr/>
        </p:nvSpPr>
        <p:spPr>
          <a:xfrm>
            <a:off x="640080" y="1005840"/>
            <a:ext cx="7863840" cy="2431435"/>
          </a:xfrm>
          <a:prstGeom prst="rect">
            <a:avLst/>
          </a:prstGeom>
          <a:noFill/>
        </p:spPr>
        <p:txBody>
          <a:bodyPr wrap="square">
            <a:spAutoFit/>
          </a:bodyPr>
          <a:lstStyle/>
          <a:p>
            <a:pPr>
              <a:spcBef>
                <a:spcPts val="800"/>
              </a:spcBef>
              <a:defRPr sz="1600">
                <a:solidFill>
                  <a:srgbClr val="F8FAFC"/>
                </a:solidFill>
              </a:defRPr>
            </a:pPr>
            <a:r>
              <a:rPr>
                <a:solidFill>
                  <a:schemeClr val="tx1">
                    <a:lumMod val="85000"/>
                    <a:lumOff val="15000"/>
                  </a:schemeClr>
                </a:solidFill>
              </a:rPr>
              <a:t>RAG enhances LLMs with external, verifiable, up-to-date knowledge</a:t>
            </a:r>
          </a:p>
          <a:p>
            <a:pPr>
              <a:spcBef>
                <a:spcPts val="800"/>
              </a:spcBef>
              <a:defRPr sz="1600">
                <a:solidFill>
                  <a:srgbClr val="F8FAFC"/>
                </a:solidFill>
              </a:defRPr>
            </a:pPr>
            <a:r>
              <a:rPr>
                <a:solidFill>
                  <a:schemeClr val="tx1">
                    <a:lumMod val="85000"/>
                    <a:lumOff val="15000"/>
                  </a:schemeClr>
                </a:solidFill>
              </a:rPr>
              <a:t>Proper chunking, embeddings, and retrieval are critical for quality</a:t>
            </a:r>
          </a:p>
          <a:p>
            <a:pPr>
              <a:spcBef>
                <a:spcPts val="800"/>
              </a:spcBef>
              <a:defRPr sz="1600">
                <a:solidFill>
                  <a:srgbClr val="F8FAFC"/>
                </a:solidFill>
              </a:defRPr>
            </a:pPr>
            <a:r>
              <a:rPr>
                <a:solidFill>
                  <a:schemeClr val="tx1">
                    <a:lumMod val="85000"/>
                    <a:lumOff val="15000"/>
                  </a:schemeClr>
                </a:solidFill>
              </a:rPr>
              <a:t>LangChain simplifies building complex LLM applications</a:t>
            </a:r>
          </a:p>
          <a:p>
            <a:pPr>
              <a:spcBef>
                <a:spcPts val="800"/>
              </a:spcBef>
              <a:defRPr sz="1600">
                <a:solidFill>
                  <a:srgbClr val="F8FAFC"/>
                </a:solidFill>
              </a:defRPr>
            </a:pPr>
            <a:r>
              <a:rPr>
                <a:solidFill>
                  <a:schemeClr val="tx1">
                    <a:lumMod val="85000"/>
                    <a:lumOff val="15000"/>
                  </a:schemeClr>
                </a:solidFill>
              </a:rPr>
              <a:t>Multiple UI frameworks available: Choose based on requirements</a:t>
            </a:r>
          </a:p>
          <a:p>
            <a:pPr>
              <a:spcBef>
                <a:spcPts val="800"/>
              </a:spcBef>
              <a:defRPr sz="1600">
                <a:solidFill>
                  <a:srgbClr val="F8FAFC"/>
                </a:solidFill>
              </a:defRPr>
            </a:pPr>
            <a:r>
              <a:rPr>
                <a:solidFill>
                  <a:schemeClr val="tx1">
                    <a:lumMod val="85000"/>
                    <a:lumOff val="15000"/>
                  </a:schemeClr>
                </a:solidFill>
              </a:rPr>
              <a:t>Production requires: Architecture, monitoring, testing, user feedback</a:t>
            </a:r>
          </a:p>
          <a:p>
            <a:pPr>
              <a:spcBef>
                <a:spcPts val="800"/>
              </a:spcBef>
              <a:defRPr sz="1600">
                <a:solidFill>
                  <a:srgbClr val="F8FAFC"/>
                </a:solidFill>
              </a:defRPr>
            </a:pPr>
            <a:r>
              <a:rPr>
                <a:solidFill>
                  <a:schemeClr val="tx1">
                    <a:lumMod val="85000"/>
                    <a:lumOff val="15000"/>
                  </a:schemeClr>
                </a:solidFill>
              </a:rPr>
              <a:t>Iterate continuously: Evaluate, gather feedback, improve</a:t>
            </a:r>
          </a:p>
          <a:p>
            <a:pPr>
              <a:spcBef>
                <a:spcPts val="800"/>
              </a:spcBef>
              <a:defRPr sz="1600">
                <a:solidFill>
                  <a:srgbClr val="F8FAFC"/>
                </a:solidFill>
              </a:defRPr>
            </a:pPr>
            <a:r>
              <a:rPr>
                <a:solidFill>
                  <a:schemeClr val="tx1">
                    <a:lumMod val="85000"/>
                    <a:lumOff val="15000"/>
                  </a:schemeClr>
                </a:solidFill>
              </a:rPr>
              <a:t>Combine RAG and fine-tuning for optimal performance</a:t>
            </a:r>
          </a:p>
        </p:txBody>
      </p:sp>
    </p:spTree>
    <p:extLst>
      <p:ext uri="{BB962C8B-B14F-4D97-AF65-F5344CB8AC3E}">
        <p14:creationId xmlns:p14="http://schemas.microsoft.com/office/powerpoint/2010/main" val="338046593"/>
      </p:ext>
    </p:extLst>
  </p:cSld>
  <p:clrMapOvr>
    <a:masterClrMapping/>
  </p:clrMapOvr>
  <p:timing>
    <p:tnLst>
      <p:par>
        <p:cTn id="1" dur="indefinite" restart="never" nodeType="tmRoot"/>
      </p:par>
    </p:tnLst>
  </p:timing>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36856</TotalTime>
  <Words>2159</Words>
  <Application>Microsoft Office PowerPoint</Application>
  <PresentationFormat>Widescreen</PresentationFormat>
  <Paragraphs>299</Paragraphs>
  <Slides>41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Neue Haas Grotesk Text Pro</vt:lpstr>
      <vt:lpstr>PunchcardVTI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Liberty</dc:creator>
  <cp:lastModifiedBy>USER</cp:lastModifiedBy>
  <cp:revision>22</cp:revision>
  <dcterms:created xsi:type="dcterms:W3CDTF">2025-11-05T12:47:00Z</dcterms:created>
  <dcterms:modified xsi:type="dcterms:W3CDTF">2026-04-24T17:19:21Z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448BF34DDA5D4604A6E5E58B330A1B12_12</vt:lpwstr>
  </property>
  <property fmtid="{D5CDD505-2E9C-101B-9397-08002B2CF9AE}" pid="3" name="KSOProductBuildVer">
    <vt:lpwstr>1033-12.9.0.21549</vt:lpwstr>
  </property>
</Properties>
</file>