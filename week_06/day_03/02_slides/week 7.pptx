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8" r:id="rId2"/>
    <p:sldId id="259" r:id="rId3"/>
    <p:sldId id="260"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3807F"/>
    <a:srgbClr val="45C2CA"/>
    <a:srgbClr val="48C3CB"/>
    <a:srgbClr val="FBA31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8" d="100"/>
          <a:sy n="68" d="100"/>
        </p:scale>
        <p:origin x="81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43" name="Group 42"/>
          <p:cNvGrpSpPr/>
          <p:nvPr/>
        </p:nvGrpSpPr>
        <p:grpSpPr>
          <a:xfrm>
            <a:off x="6201388" y="0"/>
            <a:ext cx="5990612" cy="6858001"/>
            <a:chOff x="6201388" y="0"/>
            <a:chExt cx="5990612" cy="6858001"/>
          </a:xfrm>
        </p:grpSpPr>
        <p:sp>
          <p:nvSpPr>
            <p:cNvPr id="45" name="Oval 44"/>
            <p:cNvSpPr/>
            <p:nvPr/>
          </p:nvSpPr>
          <p:spPr>
            <a:xfrm>
              <a:off x="6201388"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reeform 46"/>
            <p:cNvSpPr/>
            <p:nvPr/>
          </p:nvSpPr>
          <p:spPr>
            <a:xfrm>
              <a:off x="6201389"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2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4" y="565575"/>
                    <a:pt x="565362" y="565575"/>
                  </a:cubicBezTo>
                  <a:cubicBezTo>
                    <a:pt x="253121" y="565575"/>
                    <a:pt x="0" y="312454"/>
                    <a:pt x="0" y="213"/>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9" name="Freeform 48"/>
            <p:cNvSpPr/>
            <p:nvPr/>
          </p:nvSpPr>
          <p:spPr>
            <a:xfrm>
              <a:off x="7564255" y="6292426"/>
              <a:ext cx="1130723" cy="565575"/>
            </a:xfrm>
            <a:custGeom>
              <a:avLst/>
              <a:gdLst>
                <a:gd name="connsiteX0" fmla="*/ 565362 w 1130723"/>
                <a:gd name="connsiteY0" fmla="*/ 0 h 565575"/>
                <a:gd name="connsiteX1" fmla="*/ 1130723 w 1130723"/>
                <a:gd name="connsiteY1" fmla="*/ 565362 h 565575"/>
                <a:gd name="connsiteX2" fmla="*/ 1130702 w 1130723"/>
                <a:gd name="connsiteY2" fmla="*/ 565575 h 565575"/>
                <a:gd name="connsiteX3" fmla="*/ 21 w 1130723"/>
                <a:gd name="connsiteY3" fmla="*/ 565575 h 565575"/>
                <a:gd name="connsiteX4" fmla="*/ 0 w 1130723"/>
                <a:gd name="connsiteY4" fmla="*/ 565362 h 565575"/>
                <a:gd name="connsiteX5" fmla="*/ 565362 w 1130723"/>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3" h="565575">
                  <a:moveTo>
                    <a:pt x="565362" y="0"/>
                  </a:moveTo>
                  <a:cubicBezTo>
                    <a:pt x="877602" y="0"/>
                    <a:pt x="1130723" y="253121"/>
                    <a:pt x="1130723" y="565362"/>
                  </a:cubicBezTo>
                  <a:lnTo>
                    <a:pt x="1130702" y="565575"/>
                  </a:lnTo>
                  <a:lnTo>
                    <a:pt x="21" y="565575"/>
                  </a:lnTo>
                  <a:lnTo>
                    <a:pt x="0" y="565362"/>
                  </a:lnTo>
                  <a:cubicBezTo>
                    <a:pt x="0" y="253121"/>
                    <a:pt x="253120" y="0"/>
                    <a:pt x="565362" y="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1" name="Oval 50"/>
            <p:cNvSpPr/>
            <p:nvPr/>
          </p:nvSpPr>
          <p:spPr>
            <a:xfrm>
              <a:off x="7564253" y="354939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p:cNvSpPr/>
            <p:nvPr/>
          </p:nvSpPr>
          <p:spPr>
            <a:xfrm>
              <a:off x="7564253" y="2177881"/>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p:cNvSpPr/>
            <p:nvPr/>
          </p:nvSpPr>
          <p:spPr>
            <a:xfrm>
              <a:off x="7564253" y="806366"/>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4" name="Freeform 63"/>
            <p:cNvSpPr/>
            <p:nvPr/>
          </p:nvSpPr>
          <p:spPr>
            <a:xfrm>
              <a:off x="7564254"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3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3" y="565575"/>
                    <a:pt x="565363" y="565575"/>
                  </a:cubicBezTo>
                  <a:cubicBezTo>
                    <a:pt x="253121" y="565575"/>
                    <a:pt x="0" y="312454"/>
                    <a:pt x="0" y="213"/>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5" name="Freeform 64"/>
            <p:cNvSpPr/>
            <p:nvPr/>
          </p:nvSpPr>
          <p:spPr>
            <a:xfrm>
              <a:off x="8927118"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2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2" y="565575"/>
                  </a:lnTo>
                  <a:lnTo>
                    <a:pt x="0" y="565362"/>
                  </a:lnTo>
                  <a:cubicBezTo>
                    <a:pt x="0" y="253121"/>
                    <a:pt x="253121" y="0"/>
                    <a:pt x="565362" y="0"/>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7" name="Oval 66"/>
            <p:cNvSpPr/>
            <p:nvPr/>
          </p:nvSpPr>
          <p:spPr>
            <a:xfrm>
              <a:off x="8927118" y="4920911"/>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p:cNvSpPr/>
            <p:nvPr/>
          </p:nvSpPr>
          <p:spPr>
            <a:xfrm>
              <a:off x="8927118" y="3549396"/>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p:cNvSpPr/>
            <p:nvPr/>
          </p:nvSpPr>
          <p:spPr>
            <a:xfrm>
              <a:off x="8927118" y="2177881"/>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0" name="Oval 69"/>
            <p:cNvSpPr/>
            <p:nvPr/>
          </p:nvSpPr>
          <p:spPr>
            <a:xfrm>
              <a:off x="8927118" y="80636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70"/>
            <p:cNvSpPr/>
            <p:nvPr/>
          </p:nvSpPr>
          <p:spPr>
            <a:xfrm>
              <a:off x="8927117" y="0"/>
              <a:ext cx="1130726" cy="565576"/>
            </a:xfrm>
            <a:custGeom>
              <a:avLst/>
              <a:gdLst>
                <a:gd name="connsiteX0" fmla="*/ 22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2" y="0"/>
                  </a:moveTo>
                  <a:lnTo>
                    <a:pt x="1130704" y="0"/>
                  </a:lnTo>
                  <a:lnTo>
                    <a:pt x="1130726" y="214"/>
                  </a:lnTo>
                  <a:cubicBezTo>
                    <a:pt x="1130726" y="312455"/>
                    <a:pt x="877604" y="565576"/>
                    <a:pt x="565363" y="565576"/>
                  </a:cubicBezTo>
                  <a:cubicBezTo>
                    <a:pt x="253122" y="565576"/>
                    <a:pt x="0" y="312455"/>
                    <a:pt x="0" y="214"/>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2" name="Freeform 71"/>
            <p:cNvSpPr/>
            <p:nvPr/>
          </p:nvSpPr>
          <p:spPr>
            <a:xfrm>
              <a:off x="10289984"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1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1" y="565575"/>
                  </a:lnTo>
                  <a:lnTo>
                    <a:pt x="0" y="565362"/>
                  </a:lnTo>
                  <a:cubicBezTo>
                    <a:pt x="0" y="253121"/>
                    <a:pt x="253121" y="0"/>
                    <a:pt x="565362" y="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3" name="Oval 72"/>
            <p:cNvSpPr/>
            <p:nvPr/>
          </p:nvSpPr>
          <p:spPr>
            <a:xfrm>
              <a:off x="10289984" y="4920911"/>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p:cNvSpPr/>
            <p:nvPr/>
          </p:nvSpPr>
          <p:spPr>
            <a:xfrm>
              <a:off x="10289984" y="354939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p:cNvSpPr/>
            <p:nvPr/>
          </p:nvSpPr>
          <p:spPr>
            <a:xfrm>
              <a:off x="10289984" y="80636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Freeform 75"/>
            <p:cNvSpPr/>
            <p:nvPr/>
          </p:nvSpPr>
          <p:spPr>
            <a:xfrm>
              <a:off x="10289983" y="0"/>
              <a:ext cx="1130726" cy="565576"/>
            </a:xfrm>
            <a:custGeom>
              <a:avLst/>
              <a:gdLst>
                <a:gd name="connsiteX0" fmla="*/ 21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1" y="0"/>
                  </a:moveTo>
                  <a:lnTo>
                    <a:pt x="1130704" y="0"/>
                  </a:lnTo>
                  <a:lnTo>
                    <a:pt x="1130726" y="214"/>
                  </a:lnTo>
                  <a:cubicBezTo>
                    <a:pt x="1130726" y="312455"/>
                    <a:pt x="877604" y="565576"/>
                    <a:pt x="565363" y="565576"/>
                  </a:cubicBezTo>
                  <a:cubicBezTo>
                    <a:pt x="253122" y="565576"/>
                    <a:pt x="0" y="312455"/>
                    <a:pt x="0" y="214"/>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7" name="Freeform 76"/>
            <p:cNvSpPr/>
            <p:nvPr/>
          </p:nvSpPr>
          <p:spPr>
            <a:xfrm>
              <a:off x="11652854" y="6295069"/>
              <a:ext cx="539146" cy="562931"/>
            </a:xfrm>
            <a:custGeom>
              <a:avLst/>
              <a:gdLst>
                <a:gd name="connsiteX0" fmla="*/ 539146 w 539146"/>
                <a:gd name="connsiteY0" fmla="*/ 0 h 562931"/>
                <a:gd name="connsiteX1" fmla="*/ 539146 w 539146"/>
                <a:gd name="connsiteY1" fmla="*/ 562931 h 562931"/>
                <a:gd name="connsiteX2" fmla="*/ 21 w 539146"/>
                <a:gd name="connsiteY2" fmla="*/ 562931 h 562931"/>
                <a:gd name="connsiteX3" fmla="*/ 0 w 539146"/>
                <a:gd name="connsiteY3" fmla="*/ 562719 h 562931"/>
                <a:gd name="connsiteX4" fmla="*/ 451422 w 539146"/>
                <a:gd name="connsiteY4" fmla="*/ 8843 h 562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6" h="562931">
                  <a:moveTo>
                    <a:pt x="539146" y="0"/>
                  </a:moveTo>
                  <a:lnTo>
                    <a:pt x="539146" y="562931"/>
                  </a:lnTo>
                  <a:lnTo>
                    <a:pt x="21" y="562931"/>
                  </a:lnTo>
                  <a:lnTo>
                    <a:pt x="0" y="562719"/>
                  </a:lnTo>
                  <a:cubicBezTo>
                    <a:pt x="0" y="289508"/>
                    <a:pt x="193796" y="61561"/>
                    <a:pt x="451422"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8" name="Freeform 77"/>
            <p:cNvSpPr/>
            <p:nvPr/>
          </p:nvSpPr>
          <p:spPr>
            <a:xfrm>
              <a:off x="11652853" y="4923555"/>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9" name="Freeform 78"/>
            <p:cNvSpPr/>
            <p:nvPr/>
          </p:nvSpPr>
          <p:spPr>
            <a:xfrm>
              <a:off x="11652853" y="3552039"/>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0" name="Freeform 79"/>
            <p:cNvSpPr/>
            <p:nvPr/>
          </p:nvSpPr>
          <p:spPr>
            <a:xfrm>
              <a:off x="11652853" y="2180524"/>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9"/>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1" name="Freeform 80"/>
            <p:cNvSpPr/>
            <p:nvPr/>
          </p:nvSpPr>
          <p:spPr>
            <a:xfrm>
              <a:off x="11652853" y="809010"/>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2" name="Freeform 81"/>
            <p:cNvSpPr/>
            <p:nvPr/>
          </p:nvSpPr>
          <p:spPr>
            <a:xfrm>
              <a:off x="11652853" y="1"/>
              <a:ext cx="539147" cy="562933"/>
            </a:xfrm>
            <a:custGeom>
              <a:avLst/>
              <a:gdLst>
                <a:gd name="connsiteX0" fmla="*/ 22 w 539147"/>
                <a:gd name="connsiteY0" fmla="*/ 0 h 562933"/>
                <a:gd name="connsiteX1" fmla="*/ 539147 w 539147"/>
                <a:gd name="connsiteY1" fmla="*/ 0 h 562933"/>
                <a:gd name="connsiteX2" fmla="*/ 539147 w 539147"/>
                <a:gd name="connsiteY2" fmla="*/ 562933 h 562933"/>
                <a:gd name="connsiteX3" fmla="*/ 451423 w 539147"/>
                <a:gd name="connsiteY3" fmla="*/ 554090 h 562933"/>
                <a:gd name="connsiteX4" fmla="*/ 0 w 539147"/>
                <a:gd name="connsiteY4" fmla="*/ 214 h 5629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562933">
                  <a:moveTo>
                    <a:pt x="22" y="0"/>
                  </a:moveTo>
                  <a:lnTo>
                    <a:pt x="539147" y="0"/>
                  </a:lnTo>
                  <a:lnTo>
                    <a:pt x="539147" y="562933"/>
                  </a:lnTo>
                  <a:lnTo>
                    <a:pt x="451423" y="554090"/>
                  </a:lnTo>
                  <a:cubicBezTo>
                    <a:pt x="193797" y="501372"/>
                    <a:pt x="0" y="27342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ctrTitle"/>
          </p:nvPr>
        </p:nvSpPr>
        <p:spPr>
          <a:xfrm>
            <a:off x="565150" y="768334"/>
            <a:ext cx="5066001" cy="2866405"/>
          </a:xfrm>
        </p:spPr>
        <p:txBody>
          <a:bodyPr anchor="t"/>
          <a:lstStyle>
            <a:lvl1pPr algn="l">
              <a:defRPr sz="6000"/>
            </a:lvl1pPr>
          </a:lstStyle>
          <a:p>
            <a:r>
              <a:rPr lang="en-US" dirty="0"/>
              <a:t>Click to edit Master title style</a:t>
            </a:r>
          </a:p>
        </p:txBody>
      </p:sp>
      <p:sp>
        <p:nvSpPr>
          <p:cNvPr id="3" name="Subtitle 2"/>
          <p:cNvSpPr>
            <a:spLocks noGrp="1"/>
          </p:cNvSpPr>
          <p:nvPr>
            <p:ph type="subTitle" idx="1"/>
          </p:nvPr>
        </p:nvSpPr>
        <p:spPr>
          <a:xfrm>
            <a:off x="565150" y="4283239"/>
            <a:ext cx="5066001" cy="1475177"/>
          </a:xfrm>
        </p:spPr>
        <p:txBody>
          <a:bodyPr anchor="b"/>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a:xfrm>
            <a:off x="566928" y="457200"/>
            <a:ext cx="3608205" cy="365125"/>
          </a:xfrm>
        </p:spPr>
        <p:txBody>
          <a:bodyPr/>
          <a:lstStyle>
            <a:lvl1pPr algn="l">
              <a:defRPr/>
            </a:lvl1pPr>
          </a:lstStyle>
          <a:p>
            <a:pPr algn="l"/>
            <a:fld id="{A5B0A250-5CC0-1746-B209-08E8B0DAE6AF}" type="datetimeFigureOut">
              <a:rPr lang="en-US" smtClean="0"/>
              <a:t>3/20/2026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4817335" y="6141085"/>
            <a:ext cx="813816" cy="365125"/>
          </a:xfrm>
        </p:spPr>
        <p:txBody>
          <a:bodyPr/>
          <a:lstStyle/>
          <a:p>
            <a:fld id="{49ABCAEC-7D34-E549-A96E-FCEDAADBE4B0}" type="slidenum">
              <a:rPr lang="en-US" smtClean="0"/>
              <a:t>‹#›</a:t>
            </a:fld>
            <a:endParaRPr lang="en-US" dirty="0"/>
          </a:p>
        </p:txBody>
      </p:sp>
      <p:cxnSp>
        <p:nvCxnSpPr>
          <p:cNvPr id="7" name="Straight Connector 6"/>
          <p:cNvCxnSpPr/>
          <p:nvPr/>
        </p:nvCxnSpPr>
        <p:spPr>
          <a:xfrm>
            <a:off x="565150" y="6087110"/>
            <a:ext cx="5066001"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9" name="Picture 8" descr="A close up of a logo&#10;&#10;AI-generated content may be incorrect."/>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63022" y="5910222"/>
            <a:ext cx="850588" cy="614125"/>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5B0A250-5CC0-1746-B209-08E8B0DAE6AF}" type="datetimeFigureOut">
              <a:rPr lang="en-US" smtClean="0"/>
              <a:t>3/20/2026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7087169" y="6141085"/>
            <a:ext cx="813816" cy="365125"/>
          </a:xfrm>
        </p:spPr>
        <p:txBody>
          <a:bodyPr/>
          <a:lstStyle/>
          <a:p>
            <a:fld id="{49ABCAEC-7D34-E549-A96E-FCEDAADBE4B0}" type="slidenum">
              <a:rPr lang="en-US" smtClean="0"/>
              <a:t>‹#›</a:t>
            </a:fld>
            <a:endParaRPr lang="en-US"/>
          </a:p>
        </p:txBody>
      </p:sp>
      <p:pic>
        <p:nvPicPr>
          <p:cNvPr id="8" name="Picture 7" descr="A close up of a logo&#10;&#10;AI-generated content may be incorrect."/>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77582" y="457200"/>
            <a:ext cx="850588" cy="614125"/>
          </a:xfrm>
          <a:prstGeom prst="rect">
            <a:avLst/>
          </a:prstGeom>
        </p:spPr>
      </p:pic>
      <p:pic>
        <p:nvPicPr>
          <p:cNvPr id="10" name="Picture 9" descr="A blue and orange lines&#10;&#10;AI-generated content may be incorrect."/>
          <p:cNvPicPr>
            <a:picLocks noChangeAspect="1"/>
          </p:cNvPicPr>
          <p:nvPr userDrawn="1"/>
        </p:nvPicPr>
        <p:blipFill>
          <a:blip r:embed="rId3">
            <a:extLst>
              <a:ext uri="{28A0092B-C50C-407E-A947-70E740481C1C}">
                <a14:useLocalDpi xmlns:a14="http://schemas.microsoft.com/office/drawing/2010/main" val="0"/>
              </a:ext>
            </a:extLst>
          </a:blip>
          <a:srcRect r="58199"/>
          <a:stretch>
            <a:fillRect/>
          </a:stretch>
        </p:blipFill>
        <p:spPr>
          <a:xfrm rot="5400000">
            <a:off x="5710555" y="376555"/>
            <a:ext cx="770890" cy="121920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65150" y="768351"/>
            <a:ext cx="5066001" cy="2334768"/>
          </a:xfrm>
        </p:spPr>
        <p:txBody>
          <a:bodyPr anchor="t"/>
          <a:lstStyle>
            <a:lvl1pPr>
              <a:defRPr sz="4800"/>
            </a:lvl1pPr>
          </a:lstStyle>
          <a:p>
            <a:r>
              <a:rPr lang="en-US"/>
              <a:t>Click to edit Master title style</a:t>
            </a:r>
            <a:endParaRPr lang="en-US" dirty="0"/>
          </a:p>
        </p:txBody>
      </p:sp>
      <p:sp>
        <p:nvSpPr>
          <p:cNvPr id="3" name="Text Placeholder 2"/>
          <p:cNvSpPr>
            <a:spLocks noGrp="1"/>
          </p:cNvSpPr>
          <p:nvPr>
            <p:ph type="body" idx="1"/>
          </p:nvPr>
        </p:nvSpPr>
        <p:spPr>
          <a:xfrm>
            <a:off x="565150" y="4255453"/>
            <a:ext cx="5066001" cy="1500187"/>
          </a:xfrm>
        </p:spPr>
        <p:txBody>
          <a:bodyPr anchor="b"/>
          <a:lstStyle>
            <a:lvl1pPr marL="0" indent="0">
              <a:buNone/>
              <a:defRPr sz="2400">
                <a:solidFill>
                  <a:schemeClr val="bg1">
                    <a:lumMod val="6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A5B0A250-5CC0-1746-B209-08E8B0DAE6AF}" type="datetimeFigureOut">
              <a:rPr lang="en-US" smtClean="0"/>
              <a:t>3/20/2026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4817335" y="6141085"/>
            <a:ext cx="813816" cy="365125"/>
          </a:xfrm>
        </p:spPr>
        <p:txBody>
          <a:bodyPr/>
          <a:lstStyle/>
          <a:p>
            <a:fld id="{49ABCAEC-7D34-E549-A96E-FCEDAADBE4B0}" type="slidenum">
              <a:rPr lang="en-US" smtClean="0"/>
              <a:t>‹#›</a:t>
            </a:fld>
            <a:endParaRPr lang="en-US" dirty="0"/>
          </a:p>
        </p:txBody>
      </p:sp>
      <p:cxnSp>
        <p:nvCxnSpPr>
          <p:cNvPr id="7" name="Straight Connector 6"/>
          <p:cNvCxnSpPr/>
          <p:nvPr/>
        </p:nvCxnSpPr>
        <p:spPr>
          <a:xfrm>
            <a:off x="565150" y="6087110"/>
            <a:ext cx="5066001"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33" name="Group 32"/>
          <p:cNvGrpSpPr/>
          <p:nvPr userDrawn="1"/>
        </p:nvGrpSpPr>
        <p:grpSpPr>
          <a:xfrm>
            <a:off x="6201388" y="0"/>
            <a:ext cx="5990612" cy="6858001"/>
            <a:chOff x="6201388" y="0"/>
            <a:chExt cx="5990612" cy="6858001"/>
          </a:xfrm>
        </p:grpSpPr>
        <p:sp>
          <p:nvSpPr>
            <p:cNvPr id="34" name="Oval 33"/>
            <p:cNvSpPr/>
            <p:nvPr/>
          </p:nvSpPr>
          <p:spPr>
            <a:xfrm>
              <a:off x="6201388"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46"/>
            <p:cNvSpPr/>
            <p:nvPr/>
          </p:nvSpPr>
          <p:spPr>
            <a:xfrm>
              <a:off x="6201389"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2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4" y="565575"/>
                    <a:pt x="565362" y="565575"/>
                  </a:cubicBezTo>
                  <a:cubicBezTo>
                    <a:pt x="253121" y="565575"/>
                    <a:pt x="0" y="312454"/>
                    <a:pt x="0" y="213"/>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6" name="Freeform 48"/>
            <p:cNvSpPr/>
            <p:nvPr/>
          </p:nvSpPr>
          <p:spPr>
            <a:xfrm>
              <a:off x="7564255" y="6292426"/>
              <a:ext cx="1130723" cy="565575"/>
            </a:xfrm>
            <a:custGeom>
              <a:avLst/>
              <a:gdLst>
                <a:gd name="connsiteX0" fmla="*/ 565362 w 1130723"/>
                <a:gd name="connsiteY0" fmla="*/ 0 h 565575"/>
                <a:gd name="connsiteX1" fmla="*/ 1130723 w 1130723"/>
                <a:gd name="connsiteY1" fmla="*/ 565362 h 565575"/>
                <a:gd name="connsiteX2" fmla="*/ 1130702 w 1130723"/>
                <a:gd name="connsiteY2" fmla="*/ 565575 h 565575"/>
                <a:gd name="connsiteX3" fmla="*/ 21 w 1130723"/>
                <a:gd name="connsiteY3" fmla="*/ 565575 h 565575"/>
                <a:gd name="connsiteX4" fmla="*/ 0 w 1130723"/>
                <a:gd name="connsiteY4" fmla="*/ 565362 h 565575"/>
                <a:gd name="connsiteX5" fmla="*/ 565362 w 1130723"/>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3" h="565575">
                  <a:moveTo>
                    <a:pt x="565362" y="0"/>
                  </a:moveTo>
                  <a:cubicBezTo>
                    <a:pt x="877602" y="0"/>
                    <a:pt x="1130723" y="253121"/>
                    <a:pt x="1130723" y="565362"/>
                  </a:cubicBezTo>
                  <a:lnTo>
                    <a:pt x="1130702" y="565575"/>
                  </a:lnTo>
                  <a:lnTo>
                    <a:pt x="21" y="565575"/>
                  </a:lnTo>
                  <a:lnTo>
                    <a:pt x="0" y="565362"/>
                  </a:lnTo>
                  <a:cubicBezTo>
                    <a:pt x="0" y="253121"/>
                    <a:pt x="253120" y="0"/>
                    <a:pt x="565362" y="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7" name="Oval 36"/>
            <p:cNvSpPr/>
            <p:nvPr/>
          </p:nvSpPr>
          <p:spPr>
            <a:xfrm>
              <a:off x="7564253" y="354939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p:cNvSpPr/>
            <p:nvPr/>
          </p:nvSpPr>
          <p:spPr>
            <a:xfrm>
              <a:off x="7564253" y="2177881"/>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p:cNvSpPr/>
            <p:nvPr/>
          </p:nvSpPr>
          <p:spPr>
            <a:xfrm>
              <a:off x="7564253" y="806366"/>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Freeform 63"/>
            <p:cNvSpPr/>
            <p:nvPr/>
          </p:nvSpPr>
          <p:spPr>
            <a:xfrm>
              <a:off x="7564254"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3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3" y="565575"/>
                    <a:pt x="565363" y="565575"/>
                  </a:cubicBezTo>
                  <a:cubicBezTo>
                    <a:pt x="253121" y="565575"/>
                    <a:pt x="0" y="312454"/>
                    <a:pt x="0" y="213"/>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6" name="Freeform 64"/>
            <p:cNvSpPr/>
            <p:nvPr/>
          </p:nvSpPr>
          <p:spPr>
            <a:xfrm>
              <a:off x="8927118"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2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2" y="565575"/>
                  </a:lnTo>
                  <a:lnTo>
                    <a:pt x="0" y="565362"/>
                  </a:lnTo>
                  <a:cubicBezTo>
                    <a:pt x="0" y="253121"/>
                    <a:pt x="253121" y="0"/>
                    <a:pt x="565362" y="0"/>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7" name="Oval 66"/>
            <p:cNvSpPr/>
            <p:nvPr/>
          </p:nvSpPr>
          <p:spPr>
            <a:xfrm>
              <a:off x="8927118" y="4920911"/>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p:cNvSpPr/>
            <p:nvPr/>
          </p:nvSpPr>
          <p:spPr>
            <a:xfrm>
              <a:off x="8927118" y="3549396"/>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p:cNvSpPr/>
            <p:nvPr/>
          </p:nvSpPr>
          <p:spPr>
            <a:xfrm>
              <a:off x="8927118" y="2177881"/>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0" name="Oval 69"/>
            <p:cNvSpPr/>
            <p:nvPr/>
          </p:nvSpPr>
          <p:spPr>
            <a:xfrm>
              <a:off x="8927118" y="80636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70"/>
            <p:cNvSpPr/>
            <p:nvPr/>
          </p:nvSpPr>
          <p:spPr>
            <a:xfrm>
              <a:off x="8927117" y="0"/>
              <a:ext cx="1130726" cy="565576"/>
            </a:xfrm>
            <a:custGeom>
              <a:avLst/>
              <a:gdLst>
                <a:gd name="connsiteX0" fmla="*/ 22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2" y="0"/>
                  </a:moveTo>
                  <a:lnTo>
                    <a:pt x="1130704" y="0"/>
                  </a:lnTo>
                  <a:lnTo>
                    <a:pt x="1130726" y="214"/>
                  </a:lnTo>
                  <a:cubicBezTo>
                    <a:pt x="1130726" y="312455"/>
                    <a:pt x="877604" y="565576"/>
                    <a:pt x="565363" y="565576"/>
                  </a:cubicBezTo>
                  <a:cubicBezTo>
                    <a:pt x="253122" y="565576"/>
                    <a:pt x="0" y="312455"/>
                    <a:pt x="0" y="214"/>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2" name="Freeform 71"/>
            <p:cNvSpPr/>
            <p:nvPr/>
          </p:nvSpPr>
          <p:spPr>
            <a:xfrm>
              <a:off x="10289984"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1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1" y="565575"/>
                  </a:lnTo>
                  <a:lnTo>
                    <a:pt x="0" y="565362"/>
                  </a:lnTo>
                  <a:cubicBezTo>
                    <a:pt x="0" y="253121"/>
                    <a:pt x="253121" y="0"/>
                    <a:pt x="565362" y="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3" name="Oval 72"/>
            <p:cNvSpPr/>
            <p:nvPr/>
          </p:nvSpPr>
          <p:spPr>
            <a:xfrm>
              <a:off x="10289984" y="4920911"/>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p:cNvSpPr/>
            <p:nvPr/>
          </p:nvSpPr>
          <p:spPr>
            <a:xfrm>
              <a:off x="10289984" y="354939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p:cNvSpPr/>
            <p:nvPr/>
          </p:nvSpPr>
          <p:spPr>
            <a:xfrm>
              <a:off x="10289984" y="80636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Freeform 75"/>
            <p:cNvSpPr/>
            <p:nvPr/>
          </p:nvSpPr>
          <p:spPr>
            <a:xfrm>
              <a:off x="10289983" y="0"/>
              <a:ext cx="1130726" cy="565576"/>
            </a:xfrm>
            <a:custGeom>
              <a:avLst/>
              <a:gdLst>
                <a:gd name="connsiteX0" fmla="*/ 21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1" y="0"/>
                  </a:moveTo>
                  <a:lnTo>
                    <a:pt x="1130704" y="0"/>
                  </a:lnTo>
                  <a:lnTo>
                    <a:pt x="1130726" y="214"/>
                  </a:lnTo>
                  <a:cubicBezTo>
                    <a:pt x="1130726" y="312455"/>
                    <a:pt x="877604" y="565576"/>
                    <a:pt x="565363" y="565576"/>
                  </a:cubicBezTo>
                  <a:cubicBezTo>
                    <a:pt x="253122" y="565576"/>
                    <a:pt x="0" y="312455"/>
                    <a:pt x="0" y="214"/>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7" name="Freeform 76"/>
            <p:cNvSpPr/>
            <p:nvPr/>
          </p:nvSpPr>
          <p:spPr>
            <a:xfrm>
              <a:off x="11652854" y="6295069"/>
              <a:ext cx="539146" cy="562931"/>
            </a:xfrm>
            <a:custGeom>
              <a:avLst/>
              <a:gdLst>
                <a:gd name="connsiteX0" fmla="*/ 539146 w 539146"/>
                <a:gd name="connsiteY0" fmla="*/ 0 h 562931"/>
                <a:gd name="connsiteX1" fmla="*/ 539146 w 539146"/>
                <a:gd name="connsiteY1" fmla="*/ 562931 h 562931"/>
                <a:gd name="connsiteX2" fmla="*/ 21 w 539146"/>
                <a:gd name="connsiteY2" fmla="*/ 562931 h 562931"/>
                <a:gd name="connsiteX3" fmla="*/ 0 w 539146"/>
                <a:gd name="connsiteY3" fmla="*/ 562719 h 562931"/>
                <a:gd name="connsiteX4" fmla="*/ 451422 w 539146"/>
                <a:gd name="connsiteY4" fmla="*/ 8843 h 562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6" h="562931">
                  <a:moveTo>
                    <a:pt x="539146" y="0"/>
                  </a:moveTo>
                  <a:lnTo>
                    <a:pt x="539146" y="562931"/>
                  </a:lnTo>
                  <a:lnTo>
                    <a:pt x="21" y="562931"/>
                  </a:lnTo>
                  <a:lnTo>
                    <a:pt x="0" y="562719"/>
                  </a:lnTo>
                  <a:cubicBezTo>
                    <a:pt x="0" y="289508"/>
                    <a:pt x="193796" y="61561"/>
                    <a:pt x="451422"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8" name="Freeform 77"/>
            <p:cNvSpPr/>
            <p:nvPr/>
          </p:nvSpPr>
          <p:spPr>
            <a:xfrm>
              <a:off x="11652853" y="4923555"/>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9" name="Freeform 78"/>
            <p:cNvSpPr/>
            <p:nvPr/>
          </p:nvSpPr>
          <p:spPr>
            <a:xfrm>
              <a:off x="11652853" y="3552039"/>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0" name="Freeform 79"/>
            <p:cNvSpPr/>
            <p:nvPr/>
          </p:nvSpPr>
          <p:spPr>
            <a:xfrm>
              <a:off x="11652853" y="2180524"/>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9"/>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1" name="Freeform 80"/>
            <p:cNvSpPr/>
            <p:nvPr/>
          </p:nvSpPr>
          <p:spPr>
            <a:xfrm>
              <a:off x="11652853" y="809010"/>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2" name="Freeform 81"/>
            <p:cNvSpPr/>
            <p:nvPr/>
          </p:nvSpPr>
          <p:spPr>
            <a:xfrm>
              <a:off x="11652853" y="1"/>
              <a:ext cx="539147" cy="562933"/>
            </a:xfrm>
            <a:custGeom>
              <a:avLst/>
              <a:gdLst>
                <a:gd name="connsiteX0" fmla="*/ 22 w 539147"/>
                <a:gd name="connsiteY0" fmla="*/ 0 h 562933"/>
                <a:gd name="connsiteX1" fmla="*/ 539147 w 539147"/>
                <a:gd name="connsiteY1" fmla="*/ 0 h 562933"/>
                <a:gd name="connsiteX2" fmla="*/ 539147 w 539147"/>
                <a:gd name="connsiteY2" fmla="*/ 562933 h 562933"/>
                <a:gd name="connsiteX3" fmla="*/ 451423 w 539147"/>
                <a:gd name="connsiteY3" fmla="*/ 554090 h 562933"/>
                <a:gd name="connsiteX4" fmla="*/ 0 w 539147"/>
                <a:gd name="connsiteY4" fmla="*/ 214 h 5629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562933">
                  <a:moveTo>
                    <a:pt x="22" y="0"/>
                  </a:moveTo>
                  <a:lnTo>
                    <a:pt x="539147" y="0"/>
                  </a:lnTo>
                  <a:lnTo>
                    <a:pt x="539147" y="562933"/>
                  </a:lnTo>
                  <a:lnTo>
                    <a:pt x="451423" y="554090"/>
                  </a:lnTo>
                  <a:cubicBezTo>
                    <a:pt x="193797" y="501372"/>
                    <a:pt x="0" y="27342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pic>
        <p:nvPicPr>
          <p:cNvPr id="83" name="Picture 82" descr="A close up of a logo&#10;&#10;AI-generated content may be incorrect."/>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63022" y="5910222"/>
            <a:ext cx="850588" cy="614125"/>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17" name="Group 16"/>
          <p:cNvGrpSpPr/>
          <p:nvPr/>
        </p:nvGrpSpPr>
        <p:grpSpPr>
          <a:xfrm>
            <a:off x="10290315" y="0"/>
            <a:ext cx="1901686" cy="6858000"/>
            <a:chOff x="10290315" y="0"/>
            <a:chExt cx="1901686" cy="6858000"/>
          </a:xfrm>
        </p:grpSpPr>
        <p:sp>
          <p:nvSpPr>
            <p:cNvPr id="18" name="Oval 17"/>
            <p:cNvSpPr/>
            <p:nvPr/>
          </p:nvSpPr>
          <p:spPr>
            <a:xfrm>
              <a:off x="10290315" y="806362"/>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18"/>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22"/>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23"/>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62851" y="2365755"/>
            <a:ext cx="5239512" cy="33954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89638" y="2365755"/>
            <a:ext cx="5239512" cy="33954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5B0A250-5CC0-1746-B209-08E8B0DAE6AF}" type="datetimeFigureOut">
              <a:rPr lang="en-US" smtClean="0"/>
              <a:t>3/20/2026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9ABCAEC-7D34-E549-A96E-FCEDAADBE4B0}" type="slidenum">
              <a:rPr lang="en-US" smtClean="0"/>
              <a:t>‹#›</a:t>
            </a:fld>
            <a:endParaRPr lang="en-US" dirty="0"/>
          </a:p>
        </p:txBody>
      </p:sp>
      <p:cxnSp>
        <p:nvCxnSpPr>
          <p:cNvPr id="8" name="Straight Connector 7"/>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9" name="Picture 8" descr="A close up of a logo&#10;&#10;AI-generated content may be incorrect."/>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63022" y="5910222"/>
            <a:ext cx="850588" cy="614125"/>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19" name="Group 18"/>
          <p:cNvGrpSpPr/>
          <p:nvPr/>
        </p:nvGrpSpPr>
        <p:grpSpPr>
          <a:xfrm>
            <a:off x="10290315" y="0"/>
            <a:ext cx="1901686" cy="6858000"/>
            <a:chOff x="10290315" y="0"/>
            <a:chExt cx="1901686" cy="6858000"/>
          </a:xfrm>
        </p:grpSpPr>
        <p:sp>
          <p:nvSpPr>
            <p:cNvPr id="20" name="Oval 19"/>
            <p:cNvSpPr/>
            <p:nvPr/>
          </p:nvSpPr>
          <p:spPr>
            <a:xfrm>
              <a:off x="10290315" y="806362"/>
              <a:ext cx="1130724" cy="1130723"/>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20"/>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22"/>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23"/>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24"/>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6" name="Freeform 25"/>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title"/>
          </p:nvPr>
        </p:nvSpPr>
        <p:spPr>
          <a:xfrm>
            <a:off x="566928" y="768096"/>
            <a:ext cx="7333488" cy="1271016"/>
          </a:xfrm>
        </p:spPr>
        <p:txBody>
          <a:bodyPr/>
          <a:lstStyle/>
          <a:p>
            <a:r>
              <a:rPr lang="en-US"/>
              <a:t>Click to edit Master title style</a:t>
            </a:r>
            <a:endParaRPr lang="en-US" dirty="0"/>
          </a:p>
        </p:txBody>
      </p:sp>
      <p:sp>
        <p:nvSpPr>
          <p:cNvPr id="3" name="Text Placeholder 2"/>
          <p:cNvSpPr>
            <a:spLocks noGrp="1"/>
          </p:cNvSpPr>
          <p:nvPr>
            <p:ph type="body" idx="1"/>
          </p:nvPr>
        </p:nvSpPr>
        <p:spPr>
          <a:xfrm>
            <a:off x="562149" y="2365756"/>
            <a:ext cx="523951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562149" y="3189668"/>
            <a:ext cx="5239512" cy="2571557"/>
          </a:xfrm>
        </p:spPr>
        <p:txBody>
          <a:bodyPr/>
          <a:lstStyle>
            <a:lvl1pPr>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383066" y="2365756"/>
            <a:ext cx="523951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383066" y="3189668"/>
            <a:ext cx="5239512" cy="2571557"/>
          </a:xfrm>
        </p:spPr>
        <p:txBody>
          <a:bodyPr/>
          <a:lstStyle>
            <a:lvl1pPr>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A5B0A250-5CC0-1746-B209-08E8B0DAE6AF}" type="datetimeFigureOut">
              <a:rPr lang="en-US" smtClean="0"/>
              <a:t>3/20/2026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9ABCAEC-7D34-E549-A96E-FCEDAADBE4B0}" type="slidenum">
              <a:rPr lang="en-US" smtClean="0"/>
              <a:t>‹#›</a:t>
            </a:fld>
            <a:endParaRPr lang="en-US"/>
          </a:p>
        </p:txBody>
      </p:sp>
      <p:cxnSp>
        <p:nvCxnSpPr>
          <p:cNvPr id="10" name="Straight Connector 9"/>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11" name="Picture 10" descr="A close up of a logo&#10;&#10;AI-generated content may be incorrect."/>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63022" y="5910222"/>
            <a:ext cx="850588" cy="614125"/>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15" name="Group 14"/>
          <p:cNvGrpSpPr/>
          <p:nvPr/>
        </p:nvGrpSpPr>
        <p:grpSpPr>
          <a:xfrm>
            <a:off x="10290315" y="0"/>
            <a:ext cx="1901686" cy="6858000"/>
            <a:chOff x="10290315" y="0"/>
            <a:chExt cx="1901686" cy="6858000"/>
          </a:xfrm>
        </p:grpSpPr>
        <p:sp>
          <p:nvSpPr>
            <p:cNvPr id="16" name="Oval 15"/>
            <p:cNvSpPr/>
            <p:nvPr/>
          </p:nvSpPr>
          <p:spPr>
            <a:xfrm>
              <a:off x="10290315" y="806362"/>
              <a:ext cx="1130724" cy="1130723"/>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16"/>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17"/>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18"/>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Freeform 21"/>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A5B0A250-5CC0-1746-B209-08E8B0DAE6AF}" type="datetimeFigureOut">
              <a:rPr lang="en-US" smtClean="0"/>
              <a:t>3/20/2026</a:t>
            </a:fld>
            <a:endParaRPr lang="en-US" dirty="0"/>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9ABCAEC-7D34-E549-A96E-FCEDAADBE4B0}" type="slidenum">
              <a:rPr lang="en-US" smtClean="0"/>
              <a:t>‹#›</a:t>
            </a:fld>
            <a:endParaRPr lang="en-US"/>
          </a:p>
        </p:txBody>
      </p:sp>
      <p:cxnSp>
        <p:nvCxnSpPr>
          <p:cNvPr id="6" name="Straight Connector 5"/>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7" name="Picture 6" descr="A close up of a logo&#10;&#10;AI-generated content may be incorrect."/>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63022" y="5910222"/>
            <a:ext cx="850588" cy="614125"/>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A5B0A250-5CC0-1746-B209-08E8B0DAE6AF}" type="datetimeFigureOut">
              <a:rPr lang="en-US" smtClean="0"/>
              <a:t>3/20/2026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9ABCAEC-7D34-E549-A96E-FCEDAADBE4B0}" type="slidenum">
              <a:rPr lang="en-US" smtClean="0"/>
              <a:t>‹#›</a:t>
            </a:fld>
            <a:endParaRPr lang="en-US" dirty="0"/>
          </a:p>
        </p:txBody>
      </p:sp>
      <p:pic>
        <p:nvPicPr>
          <p:cNvPr id="2" name="Picture 1" descr="A close up of a logo&#10;&#10;AI-generated content may be incorrect."/>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63022" y="5910222"/>
            <a:ext cx="850588" cy="614125"/>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16" name="Group 15"/>
          <p:cNvGrpSpPr/>
          <p:nvPr/>
        </p:nvGrpSpPr>
        <p:grpSpPr>
          <a:xfrm>
            <a:off x="10290315" y="0"/>
            <a:ext cx="1901686" cy="6858000"/>
            <a:chOff x="10290315" y="0"/>
            <a:chExt cx="1901686" cy="6858000"/>
          </a:xfrm>
        </p:grpSpPr>
        <p:sp>
          <p:nvSpPr>
            <p:cNvPr id="18" name="Freeform 17"/>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18"/>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3" name="Freeform 22"/>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title"/>
          </p:nvPr>
        </p:nvSpPr>
        <p:spPr>
          <a:xfrm>
            <a:off x="565151" y="764973"/>
            <a:ext cx="3609982" cy="1395043"/>
          </a:xfrm>
        </p:spPr>
        <p:txBody>
          <a:bodyPr anchor="t"/>
          <a:lstStyle>
            <a:lvl1pPr>
              <a:defRPr sz="3200"/>
            </a:lvl1pPr>
          </a:lstStyle>
          <a:p>
            <a:r>
              <a:rPr lang="en-US" dirty="0"/>
              <a:t>Click to edit Master title style</a:t>
            </a:r>
          </a:p>
        </p:txBody>
      </p:sp>
      <p:sp>
        <p:nvSpPr>
          <p:cNvPr id="3" name="Content Placeholder 2"/>
          <p:cNvSpPr>
            <a:spLocks noGrp="1"/>
          </p:cNvSpPr>
          <p:nvPr>
            <p:ph idx="1"/>
          </p:nvPr>
        </p:nvSpPr>
        <p:spPr>
          <a:xfrm>
            <a:off x="5104832" y="770890"/>
            <a:ext cx="6112517" cy="4800570"/>
          </a:xfrm>
        </p:spPr>
        <p:txBody>
          <a:bodyPr/>
          <a:lstStyle>
            <a:lvl1pPr>
              <a:defRPr sz="2800"/>
            </a:lvl1pPr>
            <a:lvl2pPr>
              <a:defRPr sz="24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565150" y="2160016"/>
            <a:ext cx="3609983" cy="37089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5B0A250-5CC0-1746-B209-08E8B0DAE6AF}" type="datetimeFigureOut">
              <a:rPr lang="en-US" smtClean="0"/>
              <a:t>3/20/2026</a:t>
            </a:fld>
            <a:endParaRPr lang="en-US" dirty="0"/>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ABCAEC-7D34-E549-A96E-FCEDAADBE4B0}" type="slidenum">
              <a:rPr lang="en-US" smtClean="0"/>
              <a:t>‹#›</a:t>
            </a:fld>
            <a:endParaRPr lang="en-US"/>
          </a:p>
        </p:txBody>
      </p:sp>
      <p:cxnSp>
        <p:nvCxnSpPr>
          <p:cNvPr id="8" name="Straight Connector 7"/>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16" name="Group 15"/>
          <p:cNvGrpSpPr/>
          <p:nvPr/>
        </p:nvGrpSpPr>
        <p:grpSpPr>
          <a:xfrm>
            <a:off x="10290315" y="0"/>
            <a:ext cx="1901686" cy="6858000"/>
            <a:chOff x="10290315" y="0"/>
            <a:chExt cx="1901686" cy="6858000"/>
          </a:xfrm>
        </p:grpSpPr>
        <p:sp>
          <p:nvSpPr>
            <p:cNvPr id="17" name="Oval 16"/>
            <p:cNvSpPr/>
            <p:nvPr/>
          </p:nvSpPr>
          <p:spPr>
            <a:xfrm>
              <a:off x="10290315" y="806362"/>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17"/>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18"/>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22"/>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title"/>
          </p:nvPr>
        </p:nvSpPr>
        <p:spPr>
          <a:xfrm>
            <a:off x="565150" y="770889"/>
            <a:ext cx="3609983" cy="1389127"/>
          </a:xfrm>
        </p:spPr>
        <p:txBody>
          <a:bodyPr anchor="t"/>
          <a:lstStyle>
            <a:lvl1pPr>
              <a:defRPr sz="3200"/>
            </a:lvl1pPr>
          </a:lstStyle>
          <a:p>
            <a:r>
              <a:rPr lang="en-US" dirty="0"/>
              <a:t>Click to edit Master title style</a:t>
            </a:r>
          </a:p>
        </p:txBody>
      </p:sp>
      <p:sp>
        <p:nvSpPr>
          <p:cNvPr id="3" name="Picture Placeholder 2"/>
          <p:cNvSpPr>
            <a:spLocks noGrp="1"/>
          </p:cNvSpPr>
          <p:nvPr>
            <p:ph type="pic" idx="1"/>
          </p:nvPr>
        </p:nvSpPr>
        <p:spPr>
          <a:xfrm>
            <a:off x="5223838" y="890816"/>
            <a:ext cx="6060136" cy="4870411"/>
          </a:xfrm>
          <a:solidFill>
            <a:schemeClr val="bg2"/>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565150" y="2160016"/>
            <a:ext cx="3609983" cy="360121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A5B0A250-5CC0-1746-B209-08E8B0DAE6AF}" type="datetimeFigureOut">
              <a:rPr lang="en-US" smtClean="0"/>
              <a:t>3/20/2026</a:t>
            </a:fld>
            <a:endParaRPr lang="en-US" dirty="0"/>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ABCAEC-7D34-E549-A96E-FCEDAADBE4B0}" type="slidenum">
              <a:rPr lang="en-US" smtClean="0"/>
              <a:t>‹#›</a:t>
            </a:fld>
            <a:endParaRPr lang="en-US"/>
          </a:p>
        </p:txBody>
      </p:sp>
      <p:cxnSp>
        <p:nvCxnSpPr>
          <p:cNvPr id="8" name="Straight Connector 7"/>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22" name="Group 21"/>
          <p:cNvGrpSpPr/>
          <p:nvPr/>
        </p:nvGrpSpPr>
        <p:grpSpPr>
          <a:xfrm>
            <a:off x="8928528" y="0"/>
            <a:ext cx="3263472" cy="6858000"/>
            <a:chOff x="8928528" y="0"/>
            <a:chExt cx="3263472" cy="6858000"/>
          </a:xfrm>
        </p:grpSpPr>
        <p:sp>
          <p:nvSpPr>
            <p:cNvPr id="23" name="Oval 22"/>
            <p:cNvSpPr/>
            <p:nvPr/>
          </p:nvSpPr>
          <p:spPr>
            <a:xfrm>
              <a:off x="8928528" y="4918120"/>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23"/>
            <p:cNvSpPr/>
            <p:nvPr/>
          </p:nvSpPr>
          <p:spPr>
            <a:xfrm>
              <a:off x="8928528" y="0"/>
              <a:ext cx="1130724" cy="565573"/>
            </a:xfrm>
            <a:custGeom>
              <a:avLst/>
              <a:gdLst>
                <a:gd name="connsiteX0" fmla="*/ 22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2"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24"/>
            <p:cNvSpPr/>
            <p:nvPr/>
          </p:nvSpPr>
          <p:spPr>
            <a:xfrm>
              <a:off x="10291391" y="6292417"/>
              <a:ext cx="1130724" cy="565583"/>
            </a:xfrm>
            <a:custGeom>
              <a:avLst/>
              <a:gdLst>
                <a:gd name="connsiteX0" fmla="*/ 565362 w 1130724"/>
                <a:gd name="connsiteY0" fmla="*/ 0 h 565583"/>
                <a:gd name="connsiteX1" fmla="*/ 1130724 w 1130724"/>
                <a:gd name="connsiteY1" fmla="*/ 565362 h 565583"/>
                <a:gd name="connsiteX2" fmla="*/ 1130702 w 1130724"/>
                <a:gd name="connsiteY2" fmla="*/ 565583 h 565583"/>
                <a:gd name="connsiteX3" fmla="*/ 22 w 1130724"/>
                <a:gd name="connsiteY3" fmla="*/ 565583 h 565583"/>
                <a:gd name="connsiteX4" fmla="*/ 0 w 1130724"/>
                <a:gd name="connsiteY4" fmla="*/ 565362 h 565583"/>
                <a:gd name="connsiteX5" fmla="*/ 565362 w 1130724"/>
                <a:gd name="connsiteY5" fmla="*/ 0 h 565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83">
                  <a:moveTo>
                    <a:pt x="565362" y="0"/>
                  </a:moveTo>
                  <a:cubicBezTo>
                    <a:pt x="877603" y="0"/>
                    <a:pt x="1130724" y="253121"/>
                    <a:pt x="1130724" y="565362"/>
                  </a:cubicBezTo>
                  <a:lnTo>
                    <a:pt x="1130702" y="565583"/>
                  </a:lnTo>
                  <a:lnTo>
                    <a:pt x="22" y="565583"/>
                  </a:lnTo>
                  <a:lnTo>
                    <a:pt x="0" y="565362"/>
                  </a:lnTo>
                  <a:cubicBezTo>
                    <a:pt x="0" y="253121"/>
                    <a:pt x="253121"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Oval 25"/>
            <p:cNvSpPr/>
            <p:nvPr/>
          </p:nvSpPr>
          <p:spPr>
            <a:xfrm>
              <a:off x="10291392" y="3549390"/>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10291392" y="2177876"/>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a:off x="10291392" y="806363"/>
              <a:ext cx="1130724" cy="113072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28"/>
            <p:cNvSpPr/>
            <p:nvPr/>
          </p:nvSpPr>
          <p:spPr>
            <a:xfrm>
              <a:off x="10291392"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Freeform 29"/>
            <p:cNvSpPr/>
            <p:nvPr/>
          </p:nvSpPr>
          <p:spPr>
            <a:xfrm>
              <a:off x="11654256" y="6295201"/>
              <a:ext cx="537744" cy="562799"/>
            </a:xfrm>
            <a:custGeom>
              <a:avLst/>
              <a:gdLst>
                <a:gd name="connsiteX0" fmla="*/ 537744 w 537744"/>
                <a:gd name="connsiteY0" fmla="*/ 0 h 562799"/>
                <a:gd name="connsiteX1" fmla="*/ 537744 w 537744"/>
                <a:gd name="connsiteY1" fmla="*/ 562799 h 562799"/>
                <a:gd name="connsiteX2" fmla="*/ 22 w 537744"/>
                <a:gd name="connsiteY2" fmla="*/ 562799 h 562799"/>
                <a:gd name="connsiteX3" fmla="*/ 0 w 537744"/>
                <a:gd name="connsiteY3" fmla="*/ 562578 h 562799"/>
                <a:gd name="connsiteX4" fmla="*/ 451422 w 537744"/>
                <a:gd name="connsiteY4" fmla="*/ 8702 h 5627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562799">
                  <a:moveTo>
                    <a:pt x="537744" y="0"/>
                  </a:moveTo>
                  <a:lnTo>
                    <a:pt x="537744" y="562799"/>
                  </a:lnTo>
                  <a:lnTo>
                    <a:pt x="22" y="562799"/>
                  </a:lnTo>
                  <a:lnTo>
                    <a:pt x="0" y="562578"/>
                  </a:lnTo>
                  <a:cubicBezTo>
                    <a:pt x="0" y="289367"/>
                    <a:pt x="193796" y="61420"/>
                    <a:pt x="451422" y="87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Freeform 30"/>
            <p:cNvSpPr/>
            <p:nvPr/>
          </p:nvSpPr>
          <p:spPr>
            <a:xfrm>
              <a:off x="11654256" y="4923687"/>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Freeform 31"/>
            <p:cNvSpPr/>
            <p:nvPr/>
          </p:nvSpPr>
          <p:spPr>
            <a:xfrm>
              <a:off x="11654256" y="3552173"/>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3" name="Freeform 32"/>
            <p:cNvSpPr/>
            <p:nvPr/>
          </p:nvSpPr>
          <p:spPr>
            <a:xfrm>
              <a:off x="11654256" y="2180659"/>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Freeform 33"/>
            <p:cNvSpPr/>
            <p:nvPr/>
          </p:nvSpPr>
          <p:spPr>
            <a:xfrm>
              <a:off x="11654256" y="809146"/>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5" name="Freeform 34"/>
            <p:cNvSpPr/>
            <p:nvPr/>
          </p:nvSpPr>
          <p:spPr>
            <a:xfrm>
              <a:off x="11654256" y="0"/>
              <a:ext cx="537744" cy="562788"/>
            </a:xfrm>
            <a:custGeom>
              <a:avLst/>
              <a:gdLst>
                <a:gd name="connsiteX0" fmla="*/ 21 w 537744"/>
                <a:gd name="connsiteY0" fmla="*/ 0 h 562788"/>
                <a:gd name="connsiteX1" fmla="*/ 537744 w 537744"/>
                <a:gd name="connsiteY1" fmla="*/ 0 h 562788"/>
                <a:gd name="connsiteX2" fmla="*/ 537744 w 537744"/>
                <a:gd name="connsiteY2" fmla="*/ 562788 h 562788"/>
                <a:gd name="connsiteX3" fmla="*/ 451422 w 537744"/>
                <a:gd name="connsiteY3" fmla="*/ 554086 h 562788"/>
                <a:gd name="connsiteX4" fmla="*/ 0 w 537744"/>
                <a:gd name="connsiteY4" fmla="*/ 211 h 5627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562788">
                  <a:moveTo>
                    <a:pt x="21" y="0"/>
                  </a:moveTo>
                  <a:lnTo>
                    <a:pt x="537744" y="0"/>
                  </a:lnTo>
                  <a:lnTo>
                    <a:pt x="537744" y="562788"/>
                  </a:lnTo>
                  <a:lnTo>
                    <a:pt x="451422" y="554086"/>
                  </a:lnTo>
                  <a:cubicBezTo>
                    <a:pt x="193796" y="501368"/>
                    <a:pt x="0" y="273421"/>
                    <a:pt x="0" y="21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5B0A250-5CC0-1746-B209-08E8B0DAE6AF}" type="datetimeFigureOut">
              <a:rPr lang="en-US" smtClean="0"/>
              <a:t>3/20/2026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7086480" y="6141085"/>
            <a:ext cx="813816" cy="365125"/>
          </a:xfrm>
        </p:spPr>
        <p:txBody>
          <a:bodyPr/>
          <a:lstStyle/>
          <a:p>
            <a:fld id="{49ABCAEC-7D34-E549-A96E-FCEDAADBE4B0}" type="slidenum">
              <a:rPr lang="en-US" smtClean="0"/>
              <a:t>‹#›</a:t>
            </a:fld>
            <a:endParaRPr lang="en-US"/>
          </a:p>
        </p:txBody>
      </p:sp>
      <p:cxnSp>
        <p:nvCxnSpPr>
          <p:cNvPr id="7" name="Straight Connector 6"/>
          <p:cNvCxnSpPr/>
          <p:nvPr/>
        </p:nvCxnSpPr>
        <p:spPr>
          <a:xfrm>
            <a:off x="565150" y="6087110"/>
            <a:ext cx="7335146"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15" name="Group 14"/>
          <p:cNvGrpSpPr/>
          <p:nvPr/>
        </p:nvGrpSpPr>
        <p:grpSpPr>
          <a:xfrm>
            <a:off x="10290315" y="0"/>
            <a:ext cx="1901686" cy="6858000"/>
            <a:chOff x="10290315" y="0"/>
            <a:chExt cx="1901686" cy="6858000"/>
          </a:xfrm>
        </p:grpSpPr>
        <p:sp>
          <p:nvSpPr>
            <p:cNvPr id="17" name="Freeform 16"/>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17"/>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18"/>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Vertical Title 1"/>
          <p:cNvSpPr>
            <a:spLocks noGrp="1"/>
          </p:cNvSpPr>
          <p:nvPr>
            <p:ph type="title" orient="vert"/>
          </p:nvPr>
        </p:nvSpPr>
        <p:spPr>
          <a:xfrm>
            <a:off x="8950095" y="976630"/>
            <a:ext cx="2268507" cy="47845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65150" y="976630"/>
            <a:ext cx="8264057" cy="478459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5B0A250-5CC0-1746-B209-08E8B0DAE6AF}" type="datetimeFigureOut">
              <a:rPr lang="en-US" smtClean="0"/>
              <a:t>3/20/2026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ABCAEC-7D34-E549-A96E-FCEDAADBE4B0}" type="slidenum">
              <a:rPr lang="en-US" smtClean="0"/>
              <a:t>‹#›</a:t>
            </a:fld>
            <a:endParaRPr lang="en-US"/>
          </a:p>
        </p:txBody>
      </p:sp>
      <p:cxnSp>
        <p:nvCxnSpPr>
          <p:cNvPr id="7" name="Straight Connector 6"/>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65150" y="770890"/>
            <a:ext cx="7335835" cy="1268984"/>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p:cNvSpPr>
            <a:spLocks noGrp="1"/>
          </p:cNvSpPr>
          <p:nvPr>
            <p:ph type="body" idx="1"/>
          </p:nvPr>
        </p:nvSpPr>
        <p:spPr>
          <a:xfrm>
            <a:off x="565150" y="2160016"/>
            <a:ext cx="7335835" cy="360121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566928" y="457200"/>
            <a:ext cx="3608205" cy="365125"/>
          </a:xfrm>
          <a:prstGeom prst="rect">
            <a:avLst/>
          </a:prstGeom>
        </p:spPr>
        <p:txBody>
          <a:bodyPr vert="horz" lIns="91440" tIns="45720" rIns="91440" bIns="45720" rtlCol="0" anchor="ctr"/>
          <a:lstStyle>
            <a:lvl1pPr algn="l">
              <a:defRPr sz="1050" b="0" i="0">
                <a:solidFill>
                  <a:schemeClr val="tx1">
                    <a:tint val="75000"/>
                  </a:schemeClr>
                </a:solidFill>
                <a:latin typeface="+mn-lt"/>
              </a:defRPr>
            </a:lvl1pPr>
          </a:lstStyle>
          <a:p>
            <a:fld id="{A5B0A250-5CC0-1746-B209-08E8B0DAE6AF}" type="datetimeFigureOut">
              <a:rPr lang="en-US" smtClean="0"/>
              <a:t>3/20/2026</a:t>
            </a:fld>
            <a:endParaRPr lang="en-US" dirty="0"/>
          </a:p>
        </p:txBody>
      </p:sp>
      <p:sp>
        <p:nvSpPr>
          <p:cNvPr id="5" name="Footer Placeholder 4"/>
          <p:cNvSpPr>
            <a:spLocks noGrp="1"/>
          </p:cNvSpPr>
          <p:nvPr>
            <p:ph type="ftr" sz="quarter" idx="3"/>
          </p:nvPr>
        </p:nvSpPr>
        <p:spPr>
          <a:xfrm>
            <a:off x="565150" y="6141085"/>
            <a:ext cx="3608205" cy="365125"/>
          </a:xfrm>
          <a:prstGeom prst="rect">
            <a:avLst/>
          </a:prstGeom>
        </p:spPr>
        <p:txBody>
          <a:bodyPr vert="horz" lIns="91440" tIns="45720" rIns="91440" bIns="45720" rtlCol="0" anchor="ctr"/>
          <a:lstStyle>
            <a:lvl1pPr algn="l">
              <a:defRPr sz="1050" b="0" i="0">
                <a:solidFill>
                  <a:schemeClr val="tx1">
                    <a:tint val="75000"/>
                  </a:schemeClr>
                </a:solidFill>
                <a:latin typeface="+mn-lt"/>
              </a:defRPr>
            </a:lvl1pPr>
          </a:lstStyle>
          <a:p>
            <a:endParaRPr lang="en-US" dirty="0"/>
          </a:p>
        </p:txBody>
      </p:sp>
      <p:sp>
        <p:nvSpPr>
          <p:cNvPr id="6" name="Slide Number Placeholder 5"/>
          <p:cNvSpPr>
            <a:spLocks noGrp="1"/>
          </p:cNvSpPr>
          <p:nvPr>
            <p:ph type="sldNum" sz="quarter" idx="4"/>
          </p:nvPr>
        </p:nvSpPr>
        <p:spPr>
          <a:xfrm>
            <a:off x="10809678" y="6141085"/>
            <a:ext cx="813816" cy="365125"/>
          </a:xfrm>
          <a:prstGeom prst="rect">
            <a:avLst/>
          </a:prstGeom>
        </p:spPr>
        <p:txBody>
          <a:bodyPr vert="horz" lIns="91440" tIns="45720" rIns="91440" bIns="45720" rtlCol="0" anchor="ctr"/>
          <a:lstStyle>
            <a:lvl1pPr algn="r">
              <a:defRPr sz="1050" b="0" i="0">
                <a:solidFill>
                  <a:schemeClr val="tx1">
                    <a:tint val="75000"/>
                  </a:schemeClr>
                </a:solidFill>
                <a:latin typeface="+mn-lt"/>
              </a:defRPr>
            </a:lvl1pPr>
          </a:lstStyle>
          <a:p>
            <a:fld id="{49ABCAEC-7D34-E549-A96E-FCEDAADBE4B0}"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900"/>
        </a:spcBef>
        <a:buFont typeface="Arial" panose="020B0604020202020204" pitchFamily="34" charset="0"/>
        <a:buChar char="•"/>
        <a:defRPr sz="2400" b="0" i="0" kern="1200">
          <a:solidFill>
            <a:schemeClr val="tx1"/>
          </a:solidFill>
          <a:latin typeface="+mn-lt"/>
          <a:ea typeface="+mn-ea"/>
          <a:cs typeface="+mn-cs"/>
        </a:defRPr>
      </a:lvl1pPr>
      <a:lvl2pPr marL="685800" indent="-228600" algn="l" defTabSz="914400" rtl="0" eaLnBrk="1" latinLnBrk="0" hangingPunct="1">
        <a:lnSpc>
          <a:spcPct val="100000"/>
        </a:lnSpc>
        <a:spcBef>
          <a:spcPts val="900"/>
        </a:spcBef>
        <a:buFont typeface="Arial" panose="020B0604020202020204" pitchFamily="34" charset="0"/>
        <a:buChar char="•"/>
        <a:defRPr sz="2000" b="0" i="0" kern="1200">
          <a:solidFill>
            <a:schemeClr val="tx1"/>
          </a:solidFill>
          <a:latin typeface="+mn-lt"/>
          <a:ea typeface="+mn-ea"/>
          <a:cs typeface="+mn-cs"/>
        </a:defRPr>
      </a:lvl2pPr>
      <a:lvl3pPr marL="1143000" indent="-228600" algn="l" defTabSz="914400" rtl="0" eaLnBrk="1" latinLnBrk="0" hangingPunct="1">
        <a:lnSpc>
          <a:spcPct val="100000"/>
        </a:lnSpc>
        <a:spcBef>
          <a:spcPts val="900"/>
        </a:spcBef>
        <a:buFont typeface="Arial" panose="020B0604020202020204" pitchFamily="34" charset="0"/>
        <a:buChar char="•"/>
        <a:defRPr sz="1800" b="0" i="0" kern="1200">
          <a:solidFill>
            <a:schemeClr val="tx1"/>
          </a:solidFill>
          <a:latin typeface="+mn-lt"/>
          <a:ea typeface="+mn-ea"/>
          <a:cs typeface="+mn-cs"/>
        </a:defRPr>
      </a:lvl3pPr>
      <a:lvl4pPr marL="1600200" indent="-228600" algn="l" defTabSz="914400" rtl="0" eaLnBrk="1" latinLnBrk="0" hangingPunct="1">
        <a:lnSpc>
          <a:spcPct val="100000"/>
        </a:lnSpc>
        <a:spcBef>
          <a:spcPts val="900"/>
        </a:spcBef>
        <a:buFont typeface="Arial" panose="020B0604020202020204" pitchFamily="34" charset="0"/>
        <a:buChar char="•"/>
        <a:defRPr sz="1600" b="0" i="0" kern="1200">
          <a:solidFill>
            <a:schemeClr val="tx1"/>
          </a:solidFill>
          <a:latin typeface="+mn-lt"/>
          <a:ea typeface="+mn-ea"/>
          <a:cs typeface="+mn-cs"/>
        </a:defRPr>
      </a:lvl4pPr>
      <a:lvl5pPr marL="2057400" indent="-228600" algn="l" defTabSz="914400" rtl="0" eaLnBrk="1" latinLnBrk="0" hangingPunct="1">
        <a:lnSpc>
          <a:spcPct val="100000"/>
        </a:lnSpc>
        <a:spcBef>
          <a:spcPts val="9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p:cNvSpPr/>
          <p:nvPr/>
        </p:nvSpPr>
        <p:spPr>
          <a:xfrm>
            <a:off x="3265111" y="1531059"/>
            <a:ext cx="5596128" cy="914400"/>
          </a:xfrm>
          <a:prstGeom prst="rect">
            <a:avLst/>
          </a:prstGeom>
          <a:noFill/>
          <a:ln/>
        </p:spPr>
        <p:txBody>
          <a:bodyPr wrap="square" lIns="0" tIns="0" rIns="0" bIns="0" rtlCol="0" anchor="t"/>
          <a:lstStyle/>
          <a:p>
            <a:pPr marL="0" indent="0" algn="ctr">
              <a:lnSpc>
                <a:spcPts val="3600"/>
              </a:lnSpc>
              <a:spcAft>
                <a:spcPts val="1050"/>
              </a:spcAft>
              <a:buNone/>
            </a:pPr>
            <a:r>
              <a:rPr lang="en-US" sz="3600" b="1" dirty="0">
                <a:latin typeface="Segoe UI" pitchFamily="34" charset="0"/>
                <a:ea typeface="Segoe UI" pitchFamily="34" charset="-122"/>
                <a:cs typeface="Segoe UI" pitchFamily="34" charset="-120"/>
              </a:rPr>
              <a:t>Introduction to Computer Vision &amp; CNNs</a:t>
            </a:r>
            <a:endParaRPr lang="en-US" sz="3600" dirty="0"/>
          </a:p>
        </p:txBody>
      </p:sp>
    </p:spTree>
    <p:extLst>
      <p:ext uri="{BB962C8B-B14F-4D97-AF65-F5344CB8AC3E}">
        <p14:creationId xmlns:p14="http://schemas.microsoft.com/office/powerpoint/2010/main" val="31768561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95643" y="1481689"/>
            <a:ext cx="6096000" cy="3416320"/>
          </a:xfrm>
          <a:prstGeom prst="rect">
            <a:avLst/>
          </a:prstGeom>
        </p:spPr>
        <p:txBody>
          <a:bodyPr>
            <a:spAutoFit/>
          </a:bodyPr>
          <a:lstStyle/>
          <a:p>
            <a:r>
              <a:rPr lang="en-US" dirty="0"/>
              <a:t>By the end of this session, participants will be able to:</a:t>
            </a:r>
          </a:p>
          <a:p>
            <a:pPr>
              <a:buFont typeface="Arial" panose="020B0604020202020204" pitchFamily="34" charset="0"/>
              <a:buChar char="•"/>
            </a:pPr>
            <a:r>
              <a:rPr lang="en-US" dirty="0"/>
              <a:t>Explain the core concepts and scope of computer vision</a:t>
            </a:r>
          </a:p>
          <a:p>
            <a:pPr>
              <a:buFont typeface="Arial" panose="020B0604020202020204" pitchFamily="34" charset="0"/>
              <a:buChar char="•"/>
            </a:pPr>
            <a:r>
              <a:rPr lang="en-US" dirty="0"/>
              <a:t>Understand how images are represented and processed by machines</a:t>
            </a:r>
          </a:p>
          <a:p>
            <a:pPr>
              <a:buFont typeface="Arial" panose="020B0604020202020204" pitchFamily="34" charset="0"/>
              <a:buChar char="•"/>
            </a:pPr>
            <a:r>
              <a:rPr lang="en-US" dirty="0"/>
              <a:t>Describe the structure and working principles of Convolutional Neural Networks (CNNs)</a:t>
            </a:r>
          </a:p>
          <a:p>
            <a:pPr>
              <a:buFont typeface="Arial" panose="020B0604020202020204" pitchFamily="34" charset="0"/>
              <a:buChar char="•"/>
            </a:pPr>
            <a:r>
              <a:rPr lang="en-US" dirty="0"/>
              <a:t>Apply basic CNN architectures for image classification tasks</a:t>
            </a:r>
          </a:p>
          <a:p>
            <a:pPr>
              <a:buFont typeface="Arial" panose="020B0604020202020204" pitchFamily="34" charset="0"/>
              <a:buChar char="•"/>
            </a:pPr>
            <a:r>
              <a:rPr lang="en-US" dirty="0"/>
              <a:t>Preprocess image data and prepare it for deep learning models</a:t>
            </a:r>
          </a:p>
          <a:p>
            <a:pPr>
              <a:buFont typeface="Arial" panose="020B0604020202020204" pitchFamily="34" charset="0"/>
              <a:buChar char="•"/>
            </a:pPr>
            <a:r>
              <a:rPr lang="en-US" dirty="0"/>
              <a:t>Build and evaluate a simple image classification model using </a:t>
            </a:r>
            <a:r>
              <a:rPr lang="en-US" dirty="0" err="1"/>
              <a:t>Keras</a:t>
            </a:r>
            <a:r>
              <a:rPr lang="en-US" dirty="0"/>
              <a:t> and </a:t>
            </a:r>
            <a:r>
              <a:rPr lang="en-US" dirty="0" err="1"/>
              <a:t>TensorFlow</a:t>
            </a:r>
            <a:endParaRPr lang="en-US" dirty="0"/>
          </a:p>
        </p:txBody>
      </p:sp>
      <p:sp>
        <p:nvSpPr>
          <p:cNvPr id="5" name="Text 0"/>
          <p:cNvSpPr/>
          <p:nvPr/>
        </p:nvSpPr>
        <p:spPr>
          <a:xfrm>
            <a:off x="895643" y="581172"/>
            <a:ext cx="4206812" cy="323850"/>
          </a:xfrm>
          <a:prstGeom prst="rect">
            <a:avLst/>
          </a:prstGeom>
          <a:noFill/>
          <a:ln/>
        </p:spPr>
        <p:txBody>
          <a:bodyPr wrap="square" lIns="0" tIns="0" rIns="0" bIns="0" rtlCol="0" anchor="t"/>
          <a:lstStyle/>
          <a:p>
            <a:pPr marL="0" indent="0" algn="l">
              <a:lnSpc>
                <a:spcPts val="2550"/>
              </a:lnSpc>
              <a:spcAft>
                <a:spcPts val="1500"/>
              </a:spcAft>
              <a:buNone/>
            </a:pPr>
            <a:r>
              <a:rPr lang="en-US" sz="2550" b="1" dirty="0">
                <a:solidFill>
                  <a:srgbClr val="F59E0B"/>
                </a:solidFill>
                <a:latin typeface="Segoe UI" pitchFamily="34" charset="0"/>
                <a:ea typeface="Segoe UI" pitchFamily="34" charset="-122"/>
                <a:cs typeface="Segoe UI" pitchFamily="34" charset="-120"/>
              </a:rPr>
              <a:t>Learning Objectives</a:t>
            </a:r>
            <a:endParaRPr lang="en-US" sz="2550" dirty="0"/>
          </a:p>
        </p:txBody>
      </p:sp>
    </p:spTree>
    <p:extLst>
      <p:ext uri="{BB962C8B-B14F-4D97-AF65-F5344CB8AC3E}">
        <p14:creationId xmlns:p14="http://schemas.microsoft.com/office/powerpoint/2010/main" val="21526169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p:cNvSpPr/>
          <p:nvPr/>
        </p:nvSpPr>
        <p:spPr>
          <a:xfrm>
            <a:off x="2448077" y="1906001"/>
            <a:ext cx="5795144" cy="457200"/>
          </a:xfrm>
          <a:prstGeom prst="rect">
            <a:avLst/>
          </a:prstGeom>
          <a:noFill/>
          <a:ln/>
        </p:spPr>
        <p:txBody>
          <a:bodyPr wrap="square" lIns="0" tIns="0" rIns="0" bIns="0" rtlCol="0" anchor="t"/>
          <a:lstStyle/>
          <a:p>
            <a:pPr marL="0" indent="0" algn="ctr">
              <a:lnSpc>
                <a:spcPts val="3600"/>
              </a:lnSpc>
              <a:spcAft>
                <a:spcPts val="1050"/>
              </a:spcAft>
              <a:buNone/>
            </a:pPr>
            <a:r>
              <a:rPr lang="en-US" sz="3600" b="1" dirty="0">
                <a:solidFill>
                  <a:srgbClr val="F59E0B"/>
                </a:solidFill>
                <a:latin typeface="Segoe UI" pitchFamily="34" charset="0"/>
                <a:ea typeface="Segoe UI" pitchFamily="34" charset="-122"/>
                <a:cs typeface="Segoe UI" pitchFamily="34" charset="-120"/>
              </a:rPr>
              <a:t>What is Computer Vision?</a:t>
            </a:r>
            <a:endParaRPr lang="en-US" sz="3600" dirty="0"/>
          </a:p>
        </p:txBody>
      </p:sp>
    </p:spTree>
    <p:extLst>
      <p:ext uri="{BB962C8B-B14F-4D97-AF65-F5344CB8AC3E}">
        <p14:creationId xmlns:p14="http://schemas.microsoft.com/office/powerpoint/2010/main" val="31142494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p:cNvSpPr/>
          <p:nvPr/>
        </p:nvSpPr>
        <p:spPr>
          <a:xfrm>
            <a:off x="822960" y="1143880"/>
            <a:ext cx="4206812" cy="323850"/>
          </a:xfrm>
          <a:prstGeom prst="rect">
            <a:avLst/>
          </a:prstGeom>
          <a:noFill/>
          <a:ln/>
        </p:spPr>
        <p:txBody>
          <a:bodyPr wrap="square" lIns="0" tIns="0" rIns="0" bIns="0" rtlCol="0" anchor="t"/>
          <a:lstStyle/>
          <a:p>
            <a:pPr marL="0" indent="0" algn="l">
              <a:lnSpc>
                <a:spcPts val="2550"/>
              </a:lnSpc>
              <a:spcAft>
                <a:spcPts val="1500"/>
              </a:spcAft>
              <a:buNone/>
            </a:pPr>
            <a:r>
              <a:rPr lang="en-US" sz="2550" b="1" dirty="0">
                <a:latin typeface="Segoe UI" pitchFamily="34" charset="0"/>
                <a:ea typeface="Segoe UI" pitchFamily="34" charset="-122"/>
                <a:cs typeface="Segoe UI" pitchFamily="34" charset="-120"/>
              </a:rPr>
              <a:t>What is Computer Vision?</a:t>
            </a:r>
            <a:endParaRPr lang="en-US" sz="2550" dirty="0"/>
          </a:p>
        </p:txBody>
      </p:sp>
      <p:sp>
        <p:nvSpPr>
          <p:cNvPr id="5" name="Text 1"/>
          <p:cNvSpPr/>
          <p:nvPr/>
        </p:nvSpPr>
        <p:spPr>
          <a:xfrm>
            <a:off x="822960" y="1753479"/>
            <a:ext cx="8229600" cy="2681827"/>
          </a:xfrm>
          <a:prstGeom prst="roundRect">
            <a:avLst>
              <a:gd name="adj" fmla="val 5619"/>
            </a:avLst>
          </a:prstGeom>
          <a:solidFill>
            <a:srgbClr val="0EA5E9">
              <a:alpha val="15000"/>
            </a:srgbClr>
          </a:solidFill>
          <a:ln/>
        </p:spPr>
        <p:txBody>
          <a:bodyPr wrap="square" rtlCol="0" anchor="ctr"/>
          <a:lstStyle/>
          <a:p>
            <a:pPr marL="0" indent="0">
              <a:buNone/>
            </a:pPr>
            <a:endParaRPr lang="en-US" dirty="0"/>
          </a:p>
        </p:txBody>
      </p:sp>
      <p:sp>
        <p:nvSpPr>
          <p:cNvPr id="6" name="Shape 2"/>
          <p:cNvSpPr/>
          <p:nvPr/>
        </p:nvSpPr>
        <p:spPr>
          <a:xfrm>
            <a:off x="842010" y="1753480"/>
            <a:ext cx="0" cy="2185474"/>
          </a:xfrm>
          <a:prstGeom prst="line">
            <a:avLst/>
          </a:prstGeom>
          <a:noFill/>
          <a:ln w="38100">
            <a:solidFill>
              <a:srgbClr val="2563EB"/>
            </a:solidFill>
            <a:prstDash val="solid"/>
          </a:ln>
        </p:spPr>
      </p:sp>
      <p:sp>
        <p:nvSpPr>
          <p:cNvPr id="8" name="Text 4"/>
          <p:cNvSpPr/>
          <p:nvPr/>
        </p:nvSpPr>
        <p:spPr>
          <a:xfrm>
            <a:off x="872344" y="4761209"/>
            <a:ext cx="8394192" cy="205680"/>
          </a:xfrm>
          <a:prstGeom prst="rect">
            <a:avLst/>
          </a:prstGeom>
          <a:noFill/>
          <a:ln/>
        </p:spPr>
        <p:txBody>
          <a:bodyPr wrap="square" lIns="0" tIns="0" rIns="0" bIns="0" rtlCol="0" anchor="t"/>
          <a:lstStyle/>
          <a:p>
            <a:pPr marL="0" indent="0" algn="l">
              <a:lnSpc>
                <a:spcPts val="1620"/>
              </a:lnSpc>
              <a:spcBef>
                <a:spcPts val="1200"/>
              </a:spcBef>
              <a:spcAft>
                <a:spcPts val="300"/>
              </a:spcAft>
              <a:buNone/>
            </a:pPr>
            <a:r>
              <a:rPr lang="en-US" sz="1200" b="1" dirty="0">
                <a:latin typeface="Arial" pitchFamily="34" charset="0"/>
                <a:ea typeface="Arial" pitchFamily="34" charset="-122"/>
                <a:cs typeface="Arial" pitchFamily="34" charset="-120"/>
              </a:rPr>
              <a:t>Goal:</a:t>
            </a:r>
            <a:r>
              <a:rPr lang="en-US" sz="1200" dirty="0">
                <a:latin typeface="Arial" pitchFamily="34" charset="0"/>
                <a:ea typeface="Arial" pitchFamily="34" charset="-122"/>
                <a:cs typeface="Arial" pitchFamily="34" charset="-120"/>
              </a:rPr>
              <a:t> Extract meaningful information from visual data to make decisions or take actions</a:t>
            </a:r>
            <a:endParaRPr lang="en-US" sz="1200" dirty="0"/>
          </a:p>
        </p:txBody>
      </p:sp>
      <p:sp>
        <p:nvSpPr>
          <p:cNvPr id="9" name="Text 5"/>
          <p:cNvSpPr/>
          <p:nvPr/>
        </p:nvSpPr>
        <p:spPr>
          <a:xfrm>
            <a:off x="872344" y="5119289"/>
            <a:ext cx="8394192" cy="205680"/>
          </a:xfrm>
          <a:prstGeom prst="rect">
            <a:avLst/>
          </a:prstGeom>
          <a:noFill/>
          <a:ln/>
        </p:spPr>
        <p:txBody>
          <a:bodyPr wrap="square" lIns="0" tIns="0" rIns="0" bIns="0" rtlCol="0" anchor="t"/>
          <a:lstStyle/>
          <a:p>
            <a:pPr marL="0" indent="0" algn="l">
              <a:lnSpc>
                <a:spcPts val="1620"/>
              </a:lnSpc>
              <a:spcBef>
                <a:spcPts val="900"/>
              </a:spcBef>
              <a:spcAft>
                <a:spcPts val="300"/>
              </a:spcAft>
              <a:buNone/>
            </a:pPr>
            <a:r>
              <a:rPr lang="en-US" sz="1200" b="1" dirty="0">
                <a:latin typeface="Arial" pitchFamily="34" charset="0"/>
                <a:ea typeface="Arial" pitchFamily="34" charset="-122"/>
                <a:cs typeface="Arial" pitchFamily="34" charset="-120"/>
              </a:rPr>
              <a:t>Just like humans use eyes to understand the world, CV gives machines the ability to "see"</a:t>
            </a:r>
            <a:endParaRPr lang="en-US" sz="1200" dirty="0"/>
          </a:p>
        </p:txBody>
      </p:sp>
      <p:sp>
        <p:nvSpPr>
          <p:cNvPr id="10" name="Rectangle 9"/>
          <p:cNvSpPr/>
          <p:nvPr/>
        </p:nvSpPr>
        <p:spPr>
          <a:xfrm>
            <a:off x="872344" y="1697584"/>
            <a:ext cx="8149883" cy="2585323"/>
          </a:xfrm>
          <a:prstGeom prst="rect">
            <a:avLst/>
          </a:prstGeom>
        </p:spPr>
        <p:txBody>
          <a:bodyPr wrap="square">
            <a:spAutoFit/>
          </a:bodyPr>
          <a:lstStyle/>
          <a:p>
            <a:r>
              <a:rPr lang="en-US" dirty="0"/>
              <a:t>Computer vision (CV) is a field of artificial intelligence focused on enabling machines to interpret and understand visual information from the world. It involves processing images or videos to extract meaningful features and make decisions or predictions.</a:t>
            </a:r>
          </a:p>
          <a:p>
            <a:r>
              <a:rPr lang="en-US" dirty="0"/>
              <a:t>Applications range from object classification, detection, and segmentation to more advanced tasks like facial recognition, medical imaging analysis, and autonomous driving. CV relies on algorithms and models, especially convolutional neural networks, to learn patterns and representations from visual data.</a:t>
            </a:r>
          </a:p>
        </p:txBody>
      </p:sp>
    </p:spTree>
    <p:extLst>
      <p:ext uri="{BB962C8B-B14F-4D97-AF65-F5344CB8AC3E}">
        <p14:creationId xmlns:p14="http://schemas.microsoft.com/office/powerpoint/2010/main" val="20969421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p:cNvSpPr/>
          <p:nvPr/>
        </p:nvSpPr>
        <p:spPr>
          <a:xfrm>
            <a:off x="752621" y="862526"/>
            <a:ext cx="4760595" cy="323850"/>
          </a:xfrm>
          <a:prstGeom prst="rect">
            <a:avLst/>
          </a:prstGeom>
          <a:noFill/>
          <a:ln/>
        </p:spPr>
        <p:txBody>
          <a:bodyPr wrap="square" lIns="0" tIns="0" rIns="0" bIns="0" rtlCol="0" anchor="t"/>
          <a:lstStyle/>
          <a:p>
            <a:pPr marL="0" indent="0" algn="l">
              <a:lnSpc>
                <a:spcPts val="2550"/>
              </a:lnSpc>
              <a:spcAft>
                <a:spcPts val="1500"/>
              </a:spcAft>
              <a:buNone/>
            </a:pPr>
            <a:r>
              <a:rPr lang="en-US" sz="2550" b="1" dirty="0">
                <a:solidFill>
                  <a:srgbClr val="F59E0B"/>
                </a:solidFill>
                <a:latin typeface="Segoe UI" pitchFamily="34" charset="0"/>
                <a:ea typeface="Segoe UI" pitchFamily="34" charset="-122"/>
                <a:cs typeface="Segoe UI" pitchFamily="34" charset="-120"/>
              </a:rPr>
              <a:t>How Computers "See" Images</a:t>
            </a:r>
            <a:endParaRPr lang="en-US" sz="2550" dirty="0"/>
          </a:p>
        </p:txBody>
      </p:sp>
      <p:pic>
        <p:nvPicPr>
          <p:cNvPr id="5" name="Image 0" descr="/tmp/rasterized-svg-aab4a927.png"/>
          <p:cNvPicPr>
            <a:picLocks noChangeAspect="1"/>
          </p:cNvPicPr>
          <p:nvPr/>
        </p:nvPicPr>
        <p:blipFill>
          <a:blip r:embed="rId2"/>
          <a:stretch>
            <a:fillRect/>
          </a:stretch>
        </p:blipFill>
        <p:spPr>
          <a:xfrm>
            <a:off x="1449265" y="3577297"/>
            <a:ext cx="6667500" cy="2095500"/>
          </a:xfrm>
          <a:prstGeom prst="rect">
            <a:avLst/>
          </a:prstGeom>
        </p:spPr>
      </p:pic>
      <p:sp>
        <p:nvSpPr>
          <p:cNvPr id="6" name="Rectangle 5"/>
          <p:cNvSpPr/>
          <p:nvPr/>
        </p:nvSpPr>
        <p:spPr>
          <a:xfrm>
            <a:off x="445476" y="1322590"/>
            <a:ext cx="8417169" cy="2031325"/>
          </a:xfrm>
          <a:prstGeom prst="rect">
            <a:avLst/>
          </a:prstGeom>
        </p:spPr>
        <p:txBody>
          <a:bodyPr wrap="square">
            <a:spAutoFit/>
          </a:bodyPr>
          <a:lstStyle/>
          <a:p>
            <a:r>
              <a:rPr lang="en-US" dirty="0"/>
              <a:t>Computers interpret images as arrays of numerical values, where each pixel is represented by intensity values for one or more channels (e.g., grayscale or RGB). These arrays, also called image tensors, allow algorithms to perform mathematical operations to detect patterns, edges, and features.</a:t>
            </a:r>
          </a:p>
          <a:p>
            <a:r>
              <a:rPr lang="en-US" dirty="0"/>
              <a:t>Processing begins with basic pixel-level information, and higher-level structures such as shapes, textures, and objects are learned through layers in models like Convolutional Neural Networks (CNNs).</a:t>
            </a:r>
          </a:p>
        </p:txBody>
      </p:sp>
    </p:spTree>
    <p:extLst>
      <p:ext uri="{BB962C8B-B14F-4D97-AF65-F5344CB8AC3E}">
        <p14:creationId xmlns:p14="http://schemas.microsoft.com/office/powerpoint/2010/main" val="10874879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39372" y="1472979"/>
            <a:ext cx="6096000" cy="2308324"/>
          </a:xfrm>
          <a:prstGeom prst="rect">
            <a:avLst/>
          </a:prstGeom>
        </p:spPr>
        <p:txBody>
          <a:bodyPr>
            <a:spAutoFit/>
          </a:bodyPr>
          <a:lstStyle/>
          <a:p>
            <a:r>
              <a:rPr lang="en-US" dirty="0"/>
              <a:t>Computer vision began in the 1960s with simple image analysis and object recognition using basic rules. From the 1980s to the 1990s, research focused on feature extraction and early neural networks. In the 2000s, machine learning approaches started to advance image-related tasks. Since the 2010s, deep learning and convolutional neural networks (CNNs) have enabled high-accuracy recognition, detection, and segmentation.</a:t>
            </a:r>
          </a:p>
        </p:txBody>
      </p:sp>
      <p:sp>
        <p:nvSpPr>
          <p:cNvPr id="5" name="Text 0"/>
          <p:cNvSpPr/>
          <p:nvPr/>
        </p:nvSpPr>
        <p:spPr>
          <a:xfrm>
            <a:off x="839372" y="595240"/>
            <a:ext cx="5120068" cy="323850"/>
          </a:xfrm>
          <a:prstGeom prst="rect">
            <a:avLst/>
          </a:prstGeom>
          <a:noFill/>
          <a:ln/>
        </p:spPr>
        <p:txBody>
          <a:bodyPr wrap="square" lIns="0" tIns="0" rIns="0" bIns="0" rtlCol="0" anchor="t"/>
          <a:lstStyle/>
          <a:p>
            <a:pPr marL="0" indent="0" algn="l">
              <a:lnSpc>
                <a:spcPts val="2550"/>
              </a:lnSpc>
              <a:spcAft>
                <a:spcPts val="1500"/>
              </a:spcAft>
              <a:buNone/>
            </a:pPr>
            <a:r>
              <a:rPr lang="en-US" sz="2550" b="1" dirty="0">
                <a:latin typeface="Segoe UI" pitchFamily="34" charset="0"/>
                <a:ea typeface="Segoe UI" pitchFamily="34" charset="-122"/>
                <a:cs typeface="Segoe UI" pitchFamily="34" charset="-120"/>
              </a:rPr>
              <a:t>Brief History of Computer Vision</a:t>
            </a:r>
            <a:endParaRPr lang="en-US" sz="2550" dirty="0"/>
          </a:p>
        </p:txBody>
      </p:sp>
    </p:spTree>
    <p:extLst>
      <p:ext uri="{BB962C8B-B14F-4D97-AF65-F5344CB8AC3E}">
        <p14:creationId xmlns:p14="http://schemas.microsoft.com/office/powerpoint/2010/main" val="20652191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86154" y="1292277"/>
            <a:ext cx="8079544" cy="2031325"/>
          </a:xfrm>
          <a:prstGeom prst="rect">
            <a:avLst/>
          </a:prstGeom>
        </p:spPr>
        <p:txBody>
          <a:bodyPr wrap="square">
            <a:spAutoFit/>
          </a:bodyPr>
          <a:lstStyle/>
          <a:p>
            <a:r>
              <a:rPr lang="en-US" dirty="0"/>
              <a:t>Computer vision focuses on several key tasks that enable machines to interpret visual data. Image classification assigns labels to entire images based on their content. Object detection identifies and locates multiple objects within an image. Image segmentation separates an image into meaningful regions or segments, often at the pixel level. Other tasks include facial recognition, pose estimation, and scene understanding, all of which extract structured information from raw visual data.</a:t>
            </a:r>
          </a:p>
        </p:txBody>
      </p:sp>
      <p:sp>
        <p:nvSpPr>
          <p:cNvPr id="5" name="Text 0"/>
          <p:cNvSpPr/>
          <p:nvPr/>
        </p:nvSpPr>
        <p:spPr>
          <a:xfrm>
            <a:off x="965982" y="707781"/>
            <a:ext cx="4488561" cy="323850"/>
          </a:xfrm>
          <a:prstGeom prst="rect">
            <a:avLst/>
          </a:prstGeom>
          <a:noFill/>
          <a:ln/>
        </p:spPr>
        <p:txBody>
          <a:bodyPr wrap="square" lIns="0" tIns="0" rIns="0" bIns="0" rtlCol="0" anchor="t"/>
          <a:lstStyle/>
          <a:p>
            <a:pPr marL="0" indent="0" algn="l">
              <a:lnSpc>
                <a:spcPts val="2550"/>
              </a:lnSpc>
              <a:spcAft>
                <a:spcPts val="1500"/>
              </a:spcAft>
              <a:buNone/>
            </a:pPr>
            <a:r>
              <a:rPr lang="en-US" sz="2550" b="1" dirty="0">
                <a:solidFill>
                  <a:srgbClr val="F59E0B"/>
                </a:solidFill>
                <a:latin typeface="Segoe UI" pitchFamily="34" charset="0"/>
                <a:ea typeface="Segoe UI" pitchFamily="34" charset="-122"/>
                <a:cs typeface="Segoe UI" pitchFamily="34" charset="-120"/>
              </a:rPr>
              <a:t>Core Computer Vision Tasks</a:t>
            </a:r>
            <a:endParaRPr lang="en-US" sz="2550" dirty="0"/>
          </a:p>
        </p:txBody>
      </p:sp>
      <p:sp>
        <p:nvSpPr>
          <p:cNvPr id="6" name="Text 1"/>
          <p:cNvSpPr/>
          <p:nvPr/>
        </p:nvSpPr>
        <p:spPr>
          <a:xfrm>
            <a:off x="586154" y="3584248"/>
            <a:ext cx="2647950" cy="934938"/>
          </a:xfrm>
          <a:prstGeom prst="roundRect">
            <a:avLst>
              <a:gd name="adj" fmla="val 5094"/>
            </a:avLst>
          </a:prstGeom>
          <a:solidFill>
            <a:srgbClr val="0F172A">
              <a:alpha val="60000"/>
            </a:srgbClr>
          </a:solidFill>
          <a:ln w="19050">
            <a:solidFill>
              <a:srgbClr val="2563EB"/>
            </a:solidFill>
          </a:ln>
        </p:spPr>
        <p:txBody>
          <a:bodyPr wrap="square" rtlCol="0" anchor="ctr"/>
          <a:lstStyle/>
          <a:p>
            <a:pPr marL="0" indent="0">
              <a:buNone/>
            </a:pPr>
            <a:endParaRPr lang="en-US" dirty="0"/>
          </a:p>
        </p:txBody>
      </p:sp>
      <p:sp>
        <p:nvSpPr>
          <p:cNvPr id="7" name="Text 2"/>
          <p:cNvSpPr/>
          <p:nvPr/>
        </p:nvSpPr>
        <p:spPr>
          <a:xfrm>
            <a:off x="1278622" y="3793798"/>
            <a:ext cx="1263015" cy="169218"/>
          </a:xfrm>
          <a:prstGeom prst="rect">
            <a:avLst/>
          </a:prstGeom>
          <a:noFill/>
          <a:ln/>
        </p:spPr>
        <p:txBody>
          <a:bodyPr wrap="square" lIns="0" tIns="0" rIns="0" bIns="0" rtlCol="0" anchor="t"/>
          <a:lstStyle/>
          <a:p>
            <a:pPr marL="0" indent="0" algn="ctr">
              <a:lnSpc>
                <a:spcPts val="1333"/>
              </a:lnSpc>
              <a:spcBef>
                <a:spcPts val="900"/>
              </a:spcBef>
              <a:spcAft>
                <a:spcPts val="600"/>
              </a:spcAft>
              <a:buNone/>
            </a:pPr>
            <a:r>
              <a:rPr lang="en-US" sz="1200" b="1" dirty="0">
                <a:latin typeface="Arial" pitchFamily="34" charset="0"/>
                <a:ea typeface="Arial" pitchFamily="34" charset="-122"/>
                <a:cs typeface="Arial" pitchFamily="34" charset="-120"/>
              </a:rPr>
              <a:t>Classification</a:t>
            </a:r>
            <a:endParaRPr lang="en-US" sz="1200" dirty="0"/>
          </a:p>
        </p:txBody>
      </p:sp>
      <p:sp>
        <p:nvSpPr>
          <p:cNvPr id="8" name="Text 3"/>
          <p:cNvSpPr/>
          <p:nvPr/>
        </p:nvSpPr>
        <p:spPr>
          <a:xfrm>
            <a:off x="656830" y="4039216"/>
            <a:ext cx="2506599" cy="167134"/>
          </a:xfrm>
          <a:prstGeom prst="rect">
            <a:avLst/>
          </a:prstGeom>
          <a:noFill/>
          <a:ln/>
        </p:spPr>
        <p:txBody>
          <a:bodyPr wrap="square" lIns="0" tIns="0" rIns="0" bIns="0" rtlCol="0" anchor="t"/>
          <a:lstStyle/>
          <a:p>
            <a:pPr marL="0" indent="0" algn="ctr">
              <a:lnSpc>
                <a:spcPts val="1316"/>
              </a:lnSpc>
              <a:spcBef>
                <a:spcPts val="300"/>
              </a:spcBef>
              <a:spcAft>
                <a:spcPts val="300"/>
              </a:spcAft>
              <a:buNone/>
            </a:pPr>
            <a:r>
              <a:rPr lang="en-US" sz="975" dirty="0">
                <a:latin typeface="Arial" pitchFamily="34" charset="0"/>
                <a:ea typeface="Arial" pitchFamily="34" charset="-122"/>
                <a:cs typeface="Arial" pitchFamily="34" charset="-120"/>
              </a:rPr>
              <a:t>What is it?</a:t>
            </a:r>
            <a:endParaRPr lang="en-US" sz="975" dirty="0"/>
          </a:p>
        </p:txBody>
      </p:sp>
      <p:sp>
        <p:nvSpPr>
          <p:cNvPr id="9" name="Text 4"/>
          <p:cNvSpPr/>
          <p:nvPr/>
        </p:nvSpPr>
        <p:spPr>
          <a:xfrm>
            <a:off x="656830" y="4244450"/>
            <a:ext cx="2506599" cy="141387"/>
          </a:xfrm>
          <a:prstGeom prst="rect">
            <a:avLst/>
          </a:prstGeom>
          <a:noFill/>
          <a:ln/>
        </p:spPr>
        <p:txBody>
          <a:bodyPr wrap="square" lIns="0" tIns="0" rIns="0" bIns="0" rtlCol="0" anchor="t"/>
          <a:lstStyle/>
          <a:p>
            <a:pPr marL="0" indent="0" algn="ctr">
              <a:lnSpc>
                <a:spcPts val="1114"/>
              </a:lnSpc>
              <a:spcBef>
                <a:spcPts val="300"/>
              </a:spcBef>
              <a:spcAft>
                <a:spcPts val="300"/>
              </a:spcAft>
              <a:buNone/>
            </a:pPr>
            <a:r>
              <a:rPr lang="en-US" sz="825" dirty="0">
                <a:latin typeface="Arial" pitchFamily="34" charset="0"/>
                <a:ea typeface="Arial" pitchFamily="34" charset="-122"/>
                <a:cs typeface="Arial" pitchFamily="34" charset="-120"/>
              </a:rPr>
              <a:t>Dog, Cat, Bird</a:t>
            </a:r>
            <a:endParaRPr lang="en-US" sz="825" dirty="0"/>
          </a:p>
        </p:txBody>
      </p:sp>
      <p:sp>
        <p:nvSpPr>
          <p:cNvPr id="10" name="Text 5"/>
          <p:cNvSpPr/>
          <p:nvPr/>
        </p:nvSpPr>
        <p:spPr>
          <a:xfrm>
            <a:off x="3376979" y="3584248"/>
            <a:ext cx="2647950" cy="934938"/>
          </a:xfrm>
          <a:prstGeom prst="roundRect">
            <a:avLst>
              <a:gd name="adj" fmla="val 5094"/>
            </a:avLst>
          </a:prstGeom>
          <a:solidFill>
            <a:srgbClr val="0F172A">
              <a:alpha val="60000"/>
            </a:srgbClr>
          </a:solidFill>
          <a:ln w="19050">
            <a:solidFill>
              <a:srgbClr val="2563EB"/>
            </a:solidFill>
          </a:ln>
        </p:spPr>
        <p:txBody>
          <a:bodyPr wrap="square" rtlCol="0" anchor="ctr"/>
          <a:lstStyle/>
          <a:p>
            <a:pPr marL="0" indent="0">
              <a:buNone/>
            </a:pPr>
            <a:endParaRPr lang="en-US" dirty="0"/>
          </a:p>
        </p:txBody>
      </p:sp>
      <p:sp>
        <p:nvSpPr>
          <p:cNvPr id="11" name="Text 6"/>
          <p:cNvSpPr/>
          <p:nvPr/>
        </p:nvSpPr>
        <p:spPr>
          <a:xfrm>
            <a:off x="4069447" y="3793798"/>
            <a:ext cx="1263015" cy="169218"/>
          </a:xfrm>
          <a:prstGeom prst="rect">
            <a:avLst/>
          </a:prstGeom>
          <a:noFill/>
          <a:ln/>
        </p:spPr>
        <p:txBody>
          <a:bodyPr wrap="square" lIns="0" tIns="0" rIns="0" bIns="0" rtlCol="0" anchor="t"/>
          <a:lstStyle/>
          <a:p>
            <a:pPr marL="0" indent="0" algn="ctr">
              <a:lnSpc>
                <a:spcPts val="1333"/>
              </a:lnSpc>
              <a:spcBef>
                <a:spcPts val="900"/>
              </a:spcBef>
              <a:spcAft>
                <a:spcPts val="600"/>
              </a:spcAft>
              <a:buNone/>
            </a:pPr>
            <a:r>
              <a:rPr lang="en-US" sz="1200" b="1" dirty="0">
                <a:latin typeface="Arial" pitchFamily="34" charset="0"/>
                <a:ea typeface="Arial" pitchFamily="34" charset="-122"/>
                <a:cs typeface="Arial" pitchFamily="34" charset="-120"/>
              </a:rPr>
              <a:t>Detection</a:t>
            </a:r>
            <a:endParaRPr lang="en-US" sz="1200" dirty="0"/>
          </a:p>
        </p:txBody>
      </p:sp>
      <p:sp>
        <p:nvSpPr>
          <p:cNvPr id="12" name="Text 7"/>
          <p:cNvSpPr/>
          <p:nvPr/>
        </p:nvSpPr>
        <p:spPr>
          <a:xfrm>
            <a:off x="3447655" y="4039216"/>
            <a:ext cx="2506599" cy="167134"/>
          </a:xfrm>
          <a:prstGeom prst="rect">
            <a:avLst/>
          </a:prstGeom>
          <a:noFill/>
          <a:ln/>
        </p:spPr>
        <p:txBody>
          <a:bodyPr wrap="square" lIns="0" tIns="0" rIns="0" bIns="0" rtlCol="0" anchor="t"/>
          <a:lstStyle/>
          <a:p>
            <a:pPr marL="0" indent="0" algn="ctr">
              <a:lnSpc>
                <a:spcPts val="1316"/>
              </a:lnSpc>
              <a:spcBef>
                <a:spcPts val="300"/>
              </a:spcBef>
              <a:spcAft>
                <a:spcPts val="300"/>
              </a:spcAft>
              <a:buNone/>
            </a:pPr>
            <a:r>
              <a:rPr lang="en-US" sz="975" dirty="0">
                <a:latin typeface="Arial" pitchFamily="34" charset="0"/>
                <a:ea typeface="Arial" pitchFamily="34" charset="-122"/>
                <a:cs typeface="Arial" pitchFamily="34" charset="-120"/>
              </a:rPr>
              <a:t>What &amp; Where?</a:t>
            </a:r>
            <a:endParaRPr lang="en-US" sz="975" dirty="0"/>
          </a:p>
        </p:txBody>
      </p:sp>
      <p:sp>
        <p:nvSpPr>
          <p:cNvPr id="13" name="Text 8"/>
          <p:cNvSpPr/>
          <p:nvPr/>
        </p:nvSpPr>
        <p:spPr>
          <a:xfrm>
            <a:off x="3447655" y="4244450"/>
            <a:ext cx="2506599" cy="141387"/>
          </a:xfrm>
          <a:prstGeom prst="rect">
            <a:avLst/>
          </a:prstGeom>
          <a:noFill/>
          <a:ln/>
        </p:spPr>
        <p:txBody>
          <a:bodyPr wrap="square" lIns="0" tIns="0" rIns="0" bIns="0" rtlCol="0" anchor="t"/>
          <a:lstStyle/>
          <a:p>
            <a:pPr marL="0" indent="0" algn="ctr">
              <a:lnSpc>
                <a:spcPts val="1114"/>
              </a:lnSpc>
              <a:spcBef>
                <a:spcPts val="300"/>
              </a:spcBef>
              <a:spcAft>
                <a:spcPts val="300"/>
              </a:spcAft>
              <a:buNone/>
            </a:pPr>
            <a:r>
              <a:rPr lang="en-US" sz="825" dirty="0">
                <a:latin typeface="Arial" pitchFamily="34" charset="0"/>
                <a:ea typeface="Arial" pitchFamily="34" charset="-122"/>
                <a:cs typeface="Arial" pitchFamily="34" charset="-120"/>
              </a:rPr>
              <a:t>Find all objects</a:t>
            </a:r>
            <a:endParaRPr lang="en-US" sz="825" dirty="0"/>
          </a:p>
        </p:txBody>
      </p:sp>
      <p:sp>
        <p:nvSpPr>
          <p:cNvPr id="14" name="Text 9"/>
          <p:cNvSpPr/>
          <p:nvPr/>
        </p:nvSpPr>
        <p:spPr>
          <a:xfrm>
            <a:off x="6167804" y="3584248"/>
            <a:ext cx="2647950" cy="934938"/>
          </a:xfrm>
          <a:prstGeom prst="roundRect">
            <a:avLst>
              <a:gd name="adj" fmla="val 5094"/>
            </a:avLst>
          </a:prstGeom>
          <a:solidFill>
            <a:srgbClr val="0F172A">
              <a:alpha val="60000"/>
            </a:srgbClr>
          </a:solidFill>
          <a:ln w="19050">
            <a:solidFill>
              <a:srgbClr val="2563EB"/>
            </a:solidFill>
          </a:ln>
        </p:spPr>
        <p:txBody>
          <a:bodyPr wrap="square" rtlCol="0" anchor="ctr"/>
          <a:lstStyle/>
          <a:p>
            <a:pPr marL="0" indent="0">
              <a:buNone/>
            </a:pPr>
            <a:endParaRPr lang="en-US" dirty="0"/>
          </a:p>
        </p:txBody>
      </p:sp>
      <p:sp>
        <p:nvSpPr>
          <p:cNvPr id="15" name="Text 10"/>
          <p:cNvSpPr/>
          <p:nvPr/>
        </p:nvSpPr>
        <p:spPr>
          <a:xfrm>
            <a:off x="6860272" y="3793798"/>
            <a:ext cx="1263015" cy="169218"/>
          </a:xfrm>
          <a:prstGeom prst="rect">
            <a:avLst/>
          </a:prstGeom>
          <a:noFill/>
          <a:ln/>
        </p:spPr>
        <p:txBody>
          <a:bodyPr wrap="square" lIns="0" tIns="0" rIns="0" bIns="0" rtlCol="0" anchor="t"/>
          <a:lstStyle/>
          <a:p>
            <a:pPr marL="0" indent="0" algn="ctr">
              <a:lnSpc>
                <a:spcPts val="1333"/>
              </a:lnSpc>
              <a:spcBef>
                <a:spcPts val="900"/>
              </a:spcBef>
              <a:spcAft>
                <a:spcPts val="600"/>
              </a:spcAft>
              <a:buNone/>
            </a:pPr>
            <a:r>
              <a:rPr lang="en-US" sz="1200" b="1" dirty="0">
                <a:latin typeface="Arial" pitchFamily="34" charset="0"/>
                <a:ea typeface="Arial" pitchFamily="34" charset="-122"/>
                <a:cs typeface="Arial" pitchFamily="34" charset="-120"/>
              </a:rPr>
              <a:t>Segmentation</a:t>
            </a:r>
            <a:endParaRPr lang="en-US" sz="1200" dirty="0"/>
          </a:p>
        </p:txBody>
      </p:sp>
      <p:sp>
        <p:nvSpPr>
          <p:cNvPr id="16" name="Text 11"/>
          <p:cNvSpPr/>
          <p:nvPr/>
        </p:nvSpPr>
        <p:spPr>
          <a:xfrm>
            <a:off x="6238479" y="4039216"/>
            <a:ext cx="2506599" cy="167134"/>
          </a:xfrm>
          <a:prstGeom prst="rect">
            <a:avLst/>
          </a:prstGeom>
          <a:noFill/>
          <a:ln/>
        </p:spPr>
        <p:txBody>
          <a:bodyPr wrap="square" lIns="0" tIns="0" rIns="0" bIns="0" rtlCol="0" anchor="t"/>
          <a:lstStyle/>
          <a:p>
            <a:pPr marL="0" indent="0" algn="ctr">
              <a:lnSpc>
                <a:spcPts val="1316"/>
              </a:lnSpc>
              <a:spcBef>
                <a:spcPts val="300"/>
              </a:spcBef>
              <a:spcAft>
                <a:spcPts val="300"/>
              </a:spcAft>
              <a:buNone/>
            </a:pPr>
            <a:r>
              <a:rPr lang="en-US" sz="975" dirty="0">
                <a:latin typeface="Arial" pitchFamily="34" charset="0"/>
                <a:ea typeface="Arial" pitchFamily="34" charset="-122"/>
                <a:cs typeface="Arial" pitchFamily="34" charset="-120"/>
              </a:rPr>
              <a:t>Pixel-level</a:t>
            </a:r>
            <a:endParaRPr lang="en-US" sz="975" dirty="0"/>
          </a:p>
        </p:txBody>
      </p:sp>
      <p:sp>
        <p:nvSpPr>
          <p:cNvPr id="17" name="Text 12"/>
          <p:cNvSpPr/>
          <p:nvPr/>
        </p:nvSpPr>
        <p:spPr>
          <a:xfrm>
            <a:off x="6238479" y="4244450"/>
            <a:ext cx="2506599" cy="141387"/>
          </a:xfrm>
          <a:prstGeom prst="rect">
            <a:avLst/>
          </a:prstGeom>
          <a:noFill/>
          <a:ln/>
        </p:spPr>
        <p:txBody>
          <a:bodyPr wrap="square" lIns="0" tIns="0" rIns="0" bIns="0" rtlCol="0" anchor="t"/>
          <a:lstStyle/>
          <a:p>
            <a:pPr marL="0" indent="0" algn="ctr">
              <a:lnSpc>
                <a:spcPts val="1114"/>
              </a:lnSpc>
              <a:spcBef>
                <a:spcPts val="300"/>
              </a:spcBef>
              <a:spcAft>
                <a:spcPts val="300"/>
              </a:spcAft>
              <a:buNone/>
            </a:pPr>
            <a:r>
              <a:rPr lang="en-US" sz="825" dirty="0">
                <a:latin typeface="Arial" pitchFamily="34" charset="0"/>
                <a:ea typeface="Arial" pitchFamily="34" charset="-122"/>
                <a:cs typeface="Arial" pitchFamily="34" charset="-120"/>
              </a:rPr>
              <a:t>Precise boundaries</a:t>
            </a:r>
            <a:endParaRPr lang="en-US" sz="825" dirty="0"/>
          </a:p>
        </p:txBody>
      </p:sp>
      <p:sp>
        <p:nvSpPr>
          <p:cNvPr id="18" name="Text 13"/>
          <p:cNvSpPr/>
          <p:nvPr/>
        </p:nvSpPr>
        <p:spPr>
          <a:xfrm>
            <a:off x="586154" y="4766836"/>
            <a:ext cx="4061079" cy="205680"/>
          </a:xfrm>
          <a:prstGeom prst="rect">
            <a:avLst/>
          </a:prstGeom>
          <a:noFill/>
          <a:ln/>
        </p:spPr>
        <p:txBody>
          <a:bodyPr wrap="square" lIns="0" tIns="0" rIns="0" bIns="0" rtlCol="0" anchor="t"/>
          <a:lstStyle/>
          <a:p>
            <a:pPr marL="0" indent="0" algn="l">
              <a:lnSpc>
                <a:spcPts val="1620"/>
              </a:lnSpc>
              <a:spcBef>
                <a:spcPts val="300"/>
              </a:spcBef>
              <a:spcAft>
                <a:spcPts val="300"/>
              </a:spcAft>
              <a:buNone/>
            </a:pPr>
            <a:r>
              <a:rPr lang="en-US" sz="1200" b="1" dirty="0">
                <a:latin typeface="Arial" pitchFamily="34" charset="0"/>
                <a:ea typeface="Arial" pitchFamily="34" charset="-122"/>
                <a:cs typeface="Arial" pitchFamily="34" charset="-120"/>
              </a:rPr>
              <a:t>Face Recognition:</a:t>
            </a:r>
            <a:r>
              <a:rPr lang="en-US" sz="1200" dirty="0">
                <a:latin typeface="Arial" pitchFamily="34" charset="0"/>
                <a:ea typeface="Arial" pitchFamily="34" charset="-122"/>
                <a:cs typeface="Arial" pitchFamily="34" charset="-120"/>
              </a:rPr>
              <a:t> Identify people</a:t>
            </a:r>
            <a:endParaRPr lang="en-US" sz="1200" dirty="0"/>
          </a:p>
        </p:txBody>
      </p:sp>
      <p:sp>
        <p:nvSpPr>
          <p:cNvPr id="19" name="Text 14"/>
          <p:cNvSpPr/>
          <p:nvPr/>
        </p:nvSpPr>
        <p:spPr>
          <a:xfrm>
            <a:off x="586154" y="5010617"/>
            <a:ext cx="4061079" cy="205680"/>
          </a:xfrm>
          <a:prstGeom prst="rect">
            <a:avLst/>
          </a:prstGeom>
          <a:noFill/>
          <a:ln/>
        </p:spPr>
        <p:txBody>
          <a:bodyPr wrap="square" lIns="0" tIns="0" rIns="0" bIns="0" rtlCol="0" anchor="t"/>
          <a:lstStyle/>
          <a:p>
            <a:pPr marL="0" indent="0" algn="l">
              <a:lnSpc>
                <a:spcPts val="1620"/>
              </a:lnSpc>
              <a:spcBef>
                <a:spcPts val="300"/>
              </a:spcBef>
              <a:spcAft>
                <a:spcPts val="300"/>
              </a:spcAft>
              <a:buNone/>
            </a:pPr>
            <a:r>
              <a:rPr lang="en-US" sz="1200" b="1" dirty="0">
                <a:latin typeface="Arial" pitchFamily="34" charset="0"/>
                <a:ea typeface="Arial" pitchFamily="34" charset="-122"/>
                <a:cs typeface="Arial" pitchFamily="34" charset="-120"/>
              </a:rPr>
              <a:t>Optical Character Recognition:</a:t>
            </a:r>
            <a:r>
              <a:rPr lang="en-US" sz="1200" dirty="0">
                <a:latin typeface="Arial" pitchFamily="34" charset="0"/>
                <a:ea typeface="Arial" pitchFamily="34" charset="-122"/>
                <a:cs typeface="Arial" pitchFamily="34" charset="-120"/>
              </a:rPr>
              <a:t> Read text</a:t>
            </a:r>
            <a:endParaRPr lang="en-US" sz="1200" dirty="0"/>
          </a:p>
        </p:txBody>
      </p:sp>
      <p:sp>
        <p:nvSpPr>
          <p:cNvPr id="20" name="Text 15"/>
          <p:cNvSpPr/>
          <p:nvPr/>
        </p:nvSpPr>
        <p:spPr>
          <a:xfrm>
            <a:off x="4834304" y="4766836"/>
            <a:ext cx="4061079" cy="205680"/>
          </a:xfrm>
          <a:prstGeom prst="rect">
            <a:avLst/>
          </a:prstGeom>
          <a:noFill/>
          <a:ln/>
        </p:spPr>
        <p:txBody>
          <a:bodyPr wrap="square" lIns="0" tIns="0" rIns="0" bIns="0" rtlCol="0" anchor="t"/>
          <a:lstStyle/>
          <a:p>
            <a:pPr marL="0" indent="0" algn="l">
              <a:lnSpc>
                <a:spcPts val="1620"/>
              </a:lnSpc>
              <a:spcBef>
                <a:spcPts val="300"/>
              </a:spcBef>
              <a:spcAft>
                <a:spcPts val="300"/>
              </a:spcAft>
              <a:buNone/>
            </a:pPr>
            <a:r>
              <a:rPr lang="en-US" sz="1200" b="1" dirty="0">
                <a:latin typeface="Arial" pitchFamily="34" charset="0"/>
                <a:ea typeface="Arial" pitchFamily="34" charset="-122"/>
                <a:cs typeface="Arial" pitchFamily="34" charset="-120"/>
              </a:rPr>
              <a:t>Motion Tracking:</a:t>
            </a:r>
            <a:r>
              <a:rPr lang="en-US" sz="1200" dirty="0">
                <a:latin typeface="Arial" pitchFamily="34" charset="0"/>
                <a:ea typeface="Arial" pitchFamily="34" charset="-122"/>
                <a:cs typeface="Arial" pitchFamily="34" charset="-120"/>
              </a:rPr>
              <a:t> Follow movement</a:t>
            </a:r>
            <a:endParaRPr lang="en-US" sz="1200" dirty="0"/>
          </a:p>
        </p:txBody>
      </p:sp>
      <p:sp>
        <p:nvSpPr>
          <p:cNvPr id="21" name="Text 16"/>
          <p:cNvSpPr/>
          <p:nvPr/>
        </p:nvSpPr>
        <p:spPr>
          <a:xfrm>
            <a:off x="4834304" y="5010617"/>
            <a:ext cx="4061079" cy="205680"/>
          </a:xfrm>
          <a:prstGeom prst="rect">
            <a:avLst/>
          </a:prstGeom>
          <a:noFill/>
          <a:ln/>
        </p:spPr>
        <p:txBody>
          <a:bodyPr wrap="square" lIns="0" tIns="0" rIns="0" bIns="0" rtlCol="0" anchor="t"/>
          <a:lstStyle/>
          <a:p>
            <a:pPr marL="0" indent="0" algn="l">
              <a:lnSpc>
                <a:spcPts val="1620"/>
              </a:lnSpc>
              <a:spcBef>
                <a:spcPts val="300"/>
              </a:spcBef>
              <a:spcAft>
                <a:spcPts val="300"/>
              </a:spcAft>
              <a:buNone/>
            </a:pPr>
            <a:r>
              <a:rPr lang="en-US" sz="1200" b="1" dirty="0">
                <a:latin typeface="Arial" pitchFamily="34" charset="0"/>
                <a:ea typeface="Arial" pitchFamily="34" charset="-122"/>
                <a:cs typeface="Arial" pitchFamily="34" charset="-120"/>
              </a:rPr>
              <a:t>Image Generation:</a:t>
            </a:r>
            <a:r>
              <a:rPr lang="en-US" sz="1200" dirty="0">
                <a:latin typeface="Arial" pitchFamily="34" charset="0"/>
                <a:ea typeface="Arial" pitchFamily="34" charset="-122"/>
                <a:cs typeface="Arial" pitchFamily="34" charset="-120"/>
              </a:rPr>
              <a:t> Create new images</a:t>
            </a:r>
            <a:endParaRPr lang="en-US" sz="1200" dirty="0"/>
          </a:p>
        </p:txBody>
      </p:sp>
    </p:spTree>
    <p:extLst>
      <p:ext uri="{BB962C8B-B14F-4D97-AF65-F5344CB8AC3E}">
        <p14:creationId xmlns:p14="http://schemas.microsoft.com/office/powerpoint/2010/main" val="40907933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p:cNvSpPr/>
          <p:nvPr/>
        </p:nvSpPr>
        <p:spPr>
          <a:xfrm>
            <a:off x="485335" y="637442"/>
            <a:ext cx="4702302" cy="323850"/>
          </a:xfrm>
          <a:prstGeom prst="rect">
            <a:avLst/>
          </a:prstGeom>
          <a:noFill/>
          <a:ln/>
        </p:spPr>
        <p:txBody>
          <a:bodyPr wrap="square" lIns="0" tIns="0" rIns="0" bIns="0" rtlCol="0" anchor="t"/>
          <a:lstStyle/>
          <a:p>
            <a:pPr marL="0" indent="0" algn="l">
              <a:lnSpc>
                <a:spcPts val="2550"/>
              </a:lnSpc>
              <a:spcAft>
                <a:spcPts val="1500"/>
              </a:spcAft>
              <a:buNone/>
            </a:pPr>
            <a:r>
              <a:rPr lang="en-US" sz="2550" b="1" dirty="0">
                <a:latin typeface="Segoe UI" pitchFamily="34" charset="0"/>
                <a:ea typeface="Segoe UI" pitchFamily="34" charset="-122"/>
                <a:cs typeface="Segoe UI" pitchFamily="34" charset="-120"/>
              </a:rPr>
              <a:t>Computer Vision Applications</a:t>
            </a:r>
            <a:endParaRPr lang="en-US" sz="2550" dirty="0"/>
          </a:p>
        </p:txBody>
      </p:sp>
      <p:sp>
        <p:nvSpPr>
          <p:cNvPr id="5" name="Text 1"/>
          <p:cNvSpPr/>
          <p:nvPr/>
        </p:nvSpPr>
        <p:spPr>
          <a:xfrm>
            <a:off x="485335" y="1266092"/>
            <a:ext cx="2040255" cy="253901"/>
          </a:xfrm>
          <a:prstGeom prst="rect">
            <a:avLst/>
          </a:prstGeom>
          <a:noFill/>
          <a:ln/>
        </p:spPr>
        <p:txBody>
          <a:bodyPr wrap="square" lIns="0" tIns="0" rIns="0" bIns="0" rtlCol="0" anchor="t"/>
          <a:lstStyle/>
          <a:p>
            <a:pPr marL="0" indent="0" algn="l">
              <a:lnSpc>
                <a:spcPts val="2000"/>
              </a:lnSpc>
              <a:spcBef>
                <a:spcPts val="900"/>
              </a:spcBef>
              <a:spcAft>
                <a:spcPts val="600"/>
              </a:spcAft>
              <a:buNone/>
            </a:pPr>
            <a:r>
              <a:rPr lang="en-US" sz="1800" b="1" dirty="0">
                <a:latin typeface="Arial" pitchFamily="34" charset="0"/>
                <a:ea typeface="Arial" pitchFamily="34" charset="-122"/>
                <a:cs typeface="Arial" pitchFamily="34" charset="-120"/>
              </a:rPr>
              <a:t>Everyday Life</a:t>
            </a:r>
            <a:endParaRPr lang="en-US" sz="1800" dirty="0"/>
          </a:p>
        </p:txBody>
      </p:sp>
      <p:sp>
        <p:nvSpPr>
          <p:cNvPr id="6" name="Text 2"/>
          <p:cNvSpPr/>
          <p:nvPr/>
        </p:nvSpPr>
        <p:spPr>
          <a:xfrm>
            <a:off x="485335" y="1596193"/>
            <a:ext cx="3981450" cy="1752302"/>
          </a:xfrm>
          <a:prstGeom prst="rect">
            <a:avLst/>
          </a:prstGeom>
          <a:noFill/>
          <a:ln/>
        </p:spPr>
        <p:txBody>
          <a:bodyPr wrap="square" lIns="114300" tIns="0" rIns="0" bIns="0" rtlCol="0" anchor="t"/>
          <a:lstStyle/>
          <a:p>
            <a:pPr marL="114300" indent="-114300" algn="l">
              <a:lnSpc>
                <a:spcPts val="1620"/>
              </a:lnSpc>
              <a:spcAft>
                <a:spcPts val="450"/>
              </a:spcAft>
              <a:buSzPct val="100000"/>
              <a:buChar char="•"/>
            </a:pPr>
            <a:r>
              <a:rPr lang="en-US" sz="1200" dirty="0">
                <a:latin typeface="Arial" pitchFamily="34" charset="0"/>
                <a:ea typeface="Arial" pitchFamily="34" charset="-122"/>
                <a:cs typeface="Arial" pitchFamily="34" charset="-120"/>
              </a:rPr>
              <a:t>Face unlock on phones</a:t>
            </a:r>
            <a:endParaRPr lang="en-US" sz="1200" dirty="0"/>
          </a:p>
          <a:p>
            <a:pPr marL="114300" indent="-114300" algn="l">
              <a:lnSpc>
                <a:spcPts val="1620"/>
              </a:lnSpc>
              <a:spcAft>
                <a:spcPts val="450"/>
              </a:spcAft>
              <a:buSzPct val="100000"/>
              <a:buChar char="•"/>
            </a:pPr>
            <a:r>
              <a:rPr lang="en-US" sz="1200" dirty="0">
                <a:latin typeface="Arial" pitchFamily="34" charset="0"/>
                <a:ea typeface="Arial" pitchFamily="34" charset="-122"/>
                <a:cs typeface="Arial" pitchFamily="34" charset="-120"/>
              </a:rPr>
              <a:t>Photo organization</a:t>
            </a:r>
            <a:endParaRPr lang="en-US" sz="1200" dirty="0"/>
          </a:p>
          <a:p>
            <a:pPr marL="114300" indent="-114300" algn="l">
              <a:lnSpc>
                <a:spcPts val="1620"/>
              </a:lnSpc>
              <a:spcAft>
                <a:spcPts val="450"/>
              </a:spcAft>
              <a:buSzPct val="100000"/>
              <a:buChar char="•"/>
            </a:pPr>
            <a:r>
              <a:rPr lang="en-US" sz="1200" dirty="0">
                <a:latin typeface="Arial" pitchFamily="34" charset="0"/>
                <a:ea typeface="Arial" pitchFamily="34" charset="-122"/>
                <a:cs typeface="Arial" pitchFamily="34" charset="-120"/>
              </a:rPr>
              <a:t>Social media filters</a:t>
            </a:r>
            <a:endParaRPr lang="en-US" sz="1200" dirty="0"/>
          </a:p>
          <a:p>
            <a:pPr marL="114300" indent="-114300" algn="l">
              <a:lnSpc>
                <a:spcPts val="1620"/>
              </a:lnSpc>
              <a:spcAft>
                <a:spcPts val="450"/>
              </a:spcAft>
              <a:buSzPct val="100000"/>
              <a:buChar char="•"/>
            </a:pPr>
            <a:r>
              <a:rPr lang="en-US" sz="1200" dirty="0">
                <a:latin typeface="Arial" pitchFamily="34" charset="0"/>
                <a:ea typeface="Arial" pitchFamily="34" charset="-122"/>
                <a:cs typeface="Arial" pitchFamily="34" charset="-120"/>
              </a:rPr>
              <a:t>Self-driving cars</a:t>
            </a:r>
            <a:endParaRPr lang="en-US" sz="1200" dirty="0"/>
          </a:p>
          <a:p>
            <a:pPr marL="114300" indent="-114300" algn="l">
              <a:lnSpc>
                <a:spcPts val="1620"/>
              </a:lnSpc>
              <a:spcAft>
                <a:spcPts val="450"/>
              </a:spcAft>
              <a:buSzPct val="100000"/>
              <a:buChar char="•"/>
            </a:pPr>
            <a:r>
              <a:rPr lang="en-US" sz="1200" dirty="0">
                <a:latin typeface="Arial" pitchFamily="34" charset="0"/>
                <a:ea typeface="Arial" pitchFamily="34" charset="-122"/>
                <a:cs typeface="Arial" pitchFamily="34" charset="-120"/>
              </a:rPr>
              <a:t>Security cameras</a:t>
            </a:r>
            <a:endParaRPr lang="en-US" sz="1200" dirty="0"/>
          </a:p>
        </p:txBody>
      </p:sp>
      <p:sp>
        <p:nvSpPr>
          <p:cNvPr id="7" name="Text 3"/>
          <p:cNvSpPr/>
          <p:nvPr/>
        </p:nvSpPr>
        <p:spPr>
          <a:xfrm>
            <a:off x="4733485" y="1266092"/>
            <a:ext cx="2040255" cy="253901"/>
          </a:xfrm>
          <a:prstGeom prst="rect">
            <a:avLst/>
          </a:prstGeom>
          <a:noFill/>
          <a:ln/>
        </p:spPr>
        <p:txBody>
          <a:bodyPr wrap="square" lIns="0" tIns="0" rIns="0" bIns="0" rtlCol="0" anchor="t"/>
          <a:lstStyle/>
          <a:p>
            <a:pPr marL="0" indent="0" algn="l">
              <a:lnSpc>
                <a:spcPts val="2000"/>
              </a:lnSpc>
              <a:spcBef>
                <a:spcPts val="900"/>
              </a:spcBef>
              <a:spcAft>
                <a:spcPts val="600"/>
              </a:spcAft>
              <a:buNone/>
            </a:pPr>
            <a:r>
              <a:rPr lang="en-US" sz="1800" b="1" dirty="0">
                <a:latin typeface="Arial" pitchFamily="34" charset="0"/>
                <a:ea typeface="Arial" pitchFamily="34" charset="-122"/>
                <a:cs typeface="Arial" pitchFamily="34" charset="-120"/>
              </a:rPr>
              <a:t>Industries</a:t>
            </a:r>
            <a:endParaRPr lang="en-US" sz="1800" dirty="0"/>
          </a:p>
        </p:txBody>
      </p:sp>
      <p:sp>
        <p:nvSpPr>
          <p:cNvPr id="8" name="Text 4"/>
          <p:cNvSpPr/>
          <p:nvPr/>
        </p:nvSpPr>
        <p:spPr>
          <a:xfrm>
            <a:off x="4733485" y="1596193"/>
            <a:ext cx="3981450" cy="1752302"/>
          </a:xfrm>
          <a:prstGeom prst="rect">
            <a:avLst/>
          </a:prstGeom>
          <a:noFill/>
          <a:ln/>
        </p:spPr>
        <p:txBody>
          <a:bodyPr wrap="square" lIns="114300" tIns="0" rIns="0" bIns="0" rtlCol="0" anchor="t"/>
          <a:lstStyle/>
          <a:p>
            <a:pPr marL="114300" indent="-114300" algn="l">
              <a:lnSpc>
                <a:spcPts val="1620"/>
              </a:lnSpc>
              <a:spcAft>
                <a:spcPts val="450"/>
              </a:spcAft>
              <a:buSzPct val="100000"/>
              <a:buChar char="•"/>
            </a:pPr>
            <a:r>
              <a:rPr lang="en-US" sz="1200" dirty="0">
                <a:latin typeface="Arial" pitchFamily="34" charset="0"/>
                <a:ea typeface="Arial" pitchFamily="34" charset="-122"/>
                <a:cs typeface="Arial" pitchFamily="34" charset="-120"/>
              </a:rPr>
              <a:t>Healthcare diagnosis</a:t>
            </a:r>
            <a:endParaRPr lang="en-US" sz="1200" dirty="0"/>
          </a:p>
          <a:p>
            <a:pPr marL="114300" indent="-114300" algn="l">
              <a:lnSpc>
                <a:spcPts val="1620"/>
              </a:lnSpc>
              <a:spcAft>
                <a:spcPts val="450"/>
              </a:spcAft>
              <a:buSzPct val="100000"/>
              <a:buChar char="•"/>
            </a:pPr>
            <a:r>
              <a:rPr lang="en-US" sz="1200" dirty="0">
                <a:latin typeface="Arial" pitchFamily="34" charset="0"/>
                <a:ea typeface="Arial" pitchFamily="34" charset="-122"/>
                <a:cs typeface="Arial" pitchFamily="34" charset="-120"/>
              </a:rPr>
              <a:t>Manufacturing QC</a:t>
            </a:r>
            <a:endParaRPr lang="en-US" sz="1200" dirty="0"/>
          </a:p>
          <a:p>
            <a:pPr marL="114300" indent="-114300" algn="l">
              <a:lnSpc>
                <a:spcPts val="1620"/>
              </a:lnSpc>
              <a:spcAft>
                <a:spcPts val="450"/>
              </a:spcAft>
              <a:buSzPct val="100000"/>
              <a:buChar char="•"/>
            </a:pPr>
            <a:r>
              <a:rPr lang="en-US" sz="1200" dirty="0">
                <a:latin typeface="Arial" pitchFamily="34" charset="0"/>
                <a:ea typeface="Arial" pitchFamily="34" charset="-122"/>
                <a:cs typeface="Arial" pitchFamily="34" charset="-120"/>
              </a:rPr>
              <a:t>Retail checkout</a:t>
            </a:r>
            <a:endParaRPr lang="en-US" sz="1200" dirty="0"/>
          </a:p>
          <a:p>
            <a:pPr marL="114300" indent="-114300" algn="l">
              <a:lnSpc>
                <a:spcPts val="1620"/>
              </a:lnSpc>
              <a:spcAft>
                <a:spcPts val="450"/>
              </a:spcAft>
              <a:buSzPct val="100000"/>
              <a:buChar char="•"/>
            </a:pPr>
            <a:r>
              <a:rPr lang="en-US" sz="1200" dirty="0">
                <a:latin typeface="Arial" pitchFamily="34" charset="0"/>
                <a:ea typeface="Arial" pitchFamily="34" charset="-122"/>
                <a:cs typeface="Arial" pitchFamily="34" charset="-120"/>
              </a:rPr>
              <a:t>Agriculture monitoring</a:t>
            </a:r>
            <a:endParaRPr lang="en-US" sz="1200" dirty="0"/>
          </a:p>
          <a:p>
            <a:pPr marL="114300" indent="-114300" algn="l">
              <a:lnSpc>
                <a:spcPts val="1620"/>
              </a:lnSpc>
              <a:spcAft>
                <a:spcPts val="450"/>
              </a:spcAft>
              <a:buSzPct val="100000"/>
              <a:buChar char="•"/>
            </a:pPr>
            <a:r>
              <a:rPr lang="en-US" sz="1200" dirty="0">
                <a:latin typeface="Arial" pitchFamily="34" charset="0"/>
                <a:ea typeface="Arial" pitchFamily="34" charset="-122"/>
                <a:cs typeface="Arial" pitchFamily="34" charset="-120"/>
              </a:rPr>
              <a:t>Sports analytics</a:t>
            </a:r>
            <a:endParaRPr lang="en-US" sz="1200" dirty="0"/>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1924" y="3170675"/>
            <a:ext cx="5129725" cy="2704098"/>
          </a:xfrm>
          <a:prstGeom prst="rect">
            <a:avLst/>
          </a:prstGeom>
        </p:spPr>
      </p:pic>
    </p:spTree>
    <p:extLst>
      <p:ext uri="{BB962C8B-B14F-4D97-AF65-F5344CB8AC3E}">
        <p14:creationId xmlns:p14="http://schemas.microsoft.com/office/powerpoint/2010/main" val="31131187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p:cNvSpPr/>
          <p:nvPr/>
        </p:nvSpPr>
        <p:spPr>
          <a:xfrm>
            <a:off x="569741" y="862525"/>
            <a:ext cx="4206812" cy="323850"/>
          </a:xfrm>
          <a:prstGeom prst="rect">
            <a:avLst/>
          </a:prstGeom>
          <a:noFill/>
          <a:ln/>
        </p:spPr>
        <p:txBody>
          <a:bodyPr wrap="square" lIns="0" tIns="0" rIns="0" bIns="0" rtlCol="0" anchor="t"/>
          <a:lstStyle/>
          <a:p>
            <a:pPr marL="0" indent="0" algn="l">
              <a:lnSpc>
                <a:spcPts val="2550"/>
              </a:lnSpc>
              <a:spcAft>
                <a:spcPts val="1500"/>
              </a:spcAft>
              <a:buNone/>
            </a:pPr>
            <a:r>
              <a:rPr lang="en-US" sz="2550" b="1" dirty="0">
                <a:latin typeface="Segoe UI" pitchFamily="34" charset="0"/>
                <a:ea typeface="Segoe UI" pitchFamily="34" charset="-122"/>
                <a:cs typeface="Segoe UI" pitchFamily="34" charset="-120"/>
              </a:rPr>
              <a:t>CV in Agriculture</a:t>
            </a:r>
            <a:endParaRPr lang="en-US" sz="2550" dirty="0"/>
          </a:p>
        </p:txBody>
      </p:sp>
      <p:sp>
        <p:nvSpPr>
          <p:cNvPr id="5" name="Text 1"/>
          <p:cNvSpPr/>
          <p:nvPr/>
        </p:nvSpPr>
        <p:spPr>
          <a:xfrm>
            <a:off x="569741" y="1453075"/>
            <a:ext cx="8229600" cy="2110383"/>
          </a:xfrm>
          <a:prstGeom prst="rect">
            <a:avLst/>
          </a:prstGeom>
          <a:noFill/>
          <a:ln/>
        </p:spPr>
        <p:txBody>
          <a:bodyPr wrap="square" lIns="114300" tIns="0" rIns="0" bIns="0" rtlCol="0" anchor="t"/>
          <a:lstStyle/>
          <a:p>
            <a:pPr marL="114300" indent="-114300" algn="l">
              <a:lnSpc>
                <a:spcPts val="1620"/>
              </a:lnSpc>
              <a:spcAft>
                <a:spcPts val="450"/>
              </a:spcAft>
              <a:buSzPct val="100000"/>
              <a:buChar char="•"/>
            </a:pPr>
            <a:r>
              <a:rPr lang="en-US" sz="1200" b="1" dirty="0">
                <a:latin typeface="Arial" pitchFamily="34" charset="0"/>
                <a:ea typeface="Arial" pitchFamily="34" charset="-122"/>
                <a:cs typeface="Arial" pitchFamily="34" charset="-120"/>
              </a:rPr>
              <a:t>Crop Health Monitoring:</a:t>
            </a:r>
            <a:r>
              <a:rPr lang="en-US" sz="1200" dirty="0">
                <a:latin typeface="Arial" pitchFamily="34" charset="0"/>
                <a:ea typeface="Arial" pitchFamily="34" charset="-122"/>
                <a:cs typeface="Arial" pitchFamily="34" charset="-120"/>
              </a:rPr>
              <a:t> Detect diseases early using drone imagery</a:t>
            </a:r>
            <a:endParaRPr lang="en-US" sz="1200" dirty="0"/>
          </a:p>
          <a:p>
            <a:pPr marL="114300" indent="-114300" algn="l">
              <a:lnSpc>
                <a:spcPts val="1620"/>
              </a:lnSpc>
              <a:spcAft>
                <a:spcPts val="450"/>
              </a:spcAft>
              <a:buSzPct val="100000"/>
              <a:buChar char="•"/>
            </a:pPr>
            <a:r>
              <a:rPr lang="en-US" sz="1200" b="1" dirty="0">
                <a:latin typeface="Arial" pitchFamily="34" charset="0"/>
                <a:ea typeface="Arial" pitchFamily="34" charset="-122"/>
                <a:cs typeface="Arial" pitchFamily="34" charset="-120"/>
              </a:rPr>
              <a:t>Pest Detection:</a:t>
            </a:r>
            <a:r>
              <a:rPr lang="en-US" sz="1200" dirty="0">
                <a:latin typeface="Arial" pitchFamily="34" charset="0"/>
                <a:ea typeface="Arial" pitchFamily="34" charset="-122"/>
                <a:cs typeface="Arial" pitchFamily="34" charset="-120"/>
              </a:rPr>
              <a:t> Identify and count insects threatening crops</a:t>
            </a:r>
            <a:endParaRPr lang="en-US" sz="1200" dirty="0"/>
          </a:p>
          <a:p>
            <a:pPr marL="114300" indent="-114300" algn="l">
              <a:lnSpc>
                <a:spcPts val="1620"/>
              </a:lnSpc>
              <a:spcAft>
                <a:spcPts val="450"/>
              </a:spcAft>
              <a:buSzPct val="100000"/>
              <a:buChar char="•"/>
            </a:pPr>
            <a:r>
              <a:rPr lang="en-US" sz="1200" b="1" dirty="0">
                <a:latin typeface="Arial" pitchFamily="34" charset="0"/>
                <a:ea typeface="Arial" pitchFamily="34" charset="-122"/>
                <a:cs typeface="Arial" pitchFamily="34" charset="-120"/>
              </a:rPr>
              <a:t>Yield Prediction:</a:t>
            </a:r>
            <a:r>
              <a:rPr lang="en-US" sz="1200" dirty="0">
                <a:latin typeface="Arial" pitchFamily="34" charset="0"/>
                <a:ea typeface="Arial" pitchFamily="34" charset="-122"/>
                <a:cs typeface="Arial" pitchFamily="34" charset="-120"/>
              </a:rPr>
              <a:t> Estimate harvest output by counting fruits</a:t>
            </a:r>
            <a:endParaRPr lang="en-US" sz="1200" dirty="0"/>
          </a:p>
          <a:p>
            <a:pPr marL="114300" indent="-114300" algn="l">
              <a:lnSpc>
                <a:spcPts val="1620"/>
              </a:lnSpc>
              <a:spcAft>
                <a:spcPts val="450"/>
              </a:spcAft>
              <a:buSzPct val="100000"/>
              <a:buChar char="•"/>
            </a:pPr>
            <a:r>
              <a:rPr lang="en-US" sz="1200" b="1" dirty="0">
                <a:latin typeface="Arial" pitchFamily="34" charset="0"/>
                <a:ea typeface="Arial" pitchFamily="34" charset="-122"/>
                <a:cs typeface="Arial" pitchFamily="34" charset="-120"/>
              </a:rPr>
              <a:t>Automated Harvesting:</a:t>
            </a:r>
            <a:r>
              <a:rPr lang="en-US" sz="1200" dirty="0">
                <a:latin typeface="Arial" pitchFamily="34" charset="0"/>
                <a:ea typeface="Arial" pitchFamily="34" charset="-122"/>
                <a:cs typeface="Arial" pitchFamily="34" charset="-120"/>
              </a:rPr>
              <a:t> Robots identify ripe produce</a:t>
            </a:r>
            <a:endParaRPr lang="en-US" sz="1200" dirty="0"/>
          </a:p>
          <a:p>
            <a:pPr marL="114300" indent="-114300" algn="l">
              <a:lnSpc>
                <a:spcPts val="1620"/>
              </a:lnSpc>
              <a:spcAft>
                <a:spcPts val="450"/>
              </a:spcAft>
              <a:buSzPct val="100000"/>
              <a:buChar char="•"/>
            </a:pPr>
            <a:r>
              <a:rPr lang="en-US" sz="1200" b="1" dirty="0">
                <a:latin typeface="Arial" pitchFamily="34" charset="0"/>
                <a:ea typeface="Arial" pitchFamily="34" charset="-122"/>
                <a:cs typeface="Arial" pitchFamily="34" charset="-120"/>
              </a:rPr>
              <a:t>Weed Detection:</a:t>
            </a:r>
            <a:r>
              <a:rPr lang="en-US" sz="1200" dirty="0">
                <a:latin typeface="Arial" pitchFamily="34" charset="0"/>
                <a:ea typeface="Arial" pitchFamily="34" charset="-122"/>
                <a:cs typeface="Arial" pitchFamily="34" charset="-120"/>
              </a:rPr>
              <a:t> Target herbicide application precisely</a:t>
            </a:r>
            <a:endParaRPr lang="en-US" sz="1200" dirty="0"/>
          </a:p>
          <a:p>
            <a:pPr marL="114300" indent="-114300" algn="l">
              <a:lnSpc>
                <a:spcPts val="1620"/>
              </a:lnSpc>
              <a:spcAft>
                <a:spcPts val="450"/>
              </a:spcAft>
              <a:buSzPct val="100000"/>
              <a:buChar char="•"/>
            </a:pPr>
            <a:r>
              <a:rPr lang="en-US" sz="1200" b="1" dirty="0">
                <a:latin typeface="Arial" pitchFamily="34" charset="0"/>
                <a:ea typeface="Arial" pitchFamily="34" charset="-122"/>
                <a:cs typeface="Arial" pitchFamily="34" charset="-120"/>
              </a:rPr>
              <a:t>Livestock Monitoring:</a:t>
            </a:r>
            <a:r>
              <a:rPr lang="en-US" sz="1200" dirty="0">
                <a:latin typeface="Arial" pitchFamily="34" charset="0"/>
                <a:ea typeface="Arial" pitchFamily="34" charset="-122"/>
                <a:cs typeface="Arial" pitchFamily="34" charset="-120"/>
              </a:rPr>
              <a:t> Track animal health and behavior</a:t>
            </a:r>
            <a:endParaRPr lang="en-US" sz="1200" dirty="0"/>
          </a:p>
        </p:txBody>
      </p:sp>
    </p:spTree>
    <p:extLst>
      <p:ext uri="{BB962C8B-B14F-4D97-AF65-F5344CB8AC3E}">
        <p14:creationId xmlns:p14="http://schemas.microsoft.com/office/powerpoint/2010/main" val="39810938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p:cNvSpPr/>
          <p:nvPr/>
        </p:nvSpPr>
        <p:spPr>
          <a:xfrm>
            <a:off x="457200" y="285750"/>
            <a:ext cx="4206812" cy="323850"/>
          </a:xfrm>
          <a:prstGeom prst="rect">
            <a:avLst/>
          </a:prstGeom>
          <a:noFill/>
          <a:ln/>
        </p:spPr>
        <p:txBody>
          <a:bodyPr wrap="square" lIns="0" tIns="0" rIns="0" bIns="0" rtlCol="0" anchor="t"/>
          <a:lstStyle/>
          <a:p>
            <a:pPr marL="0" indent="0" algn="l">
              <a:lnSpc>
                <a:spcPts val="2550"/>
              </a:lnSpc>
              <a:spcAft>
                <a:spcPts val="1500"/>
              </a:spcAft>
              <a:buNone/>
            </a:pPr>
            <a:r>
              <a:rPr lang="en-US" sz="2550" b="1" dirty="0">
                <a:latin typeface="Segoe UI" pitchFamily="34" charset="0"/>
                <a:ea typeface="Segoe UI" pitchFamily="34" charset="-122"/>
                <a:cs typeface="Segoe UI" pitchFamily="34" charset="-120"/>
              </a:rPr>
              <a:t>CV in Healthcare</a:t>
            </a:r>
            <a:endParaRPr lang="en-US" sz="2550" dirty="0"/>
          </a:p>
        </p:txBody>
      </p:sp>
      <p:sp>
        <p:nvSpPr>
          <p:cNvPr id="5" name="Text 1"/>
          <p:cNvSpPr/>
          <p:nvPr/>
        </p:nvSpPr>
        <p:spPr>
          <a:xfrm>
            <a:off x="457200" y="876300"/>
            <a:ext cx="8229600" cy="2110383"/>
          </a:xfrm>
          <a:prstGeom prst="rect">
            <a:avLst/>
          </a:prstGeom>
          <a:noFill/>
          <a:ln/>
        </p:spPr>
        <p:txBody>
          <a:bodyPr wrap="square" lIns="114300" tIns="0" rIns="0" bIns="0" rtlCol="0" anchor="t"/>
          <a:lstStyle/>
          <a:p>
            <a:pPr marL="114300" indent="-114300" algn="l">
              <a:lnSpc>
                <a:spcPts val="1620"/>
              </a:lnSpc>
              <a:spcAft>
                <a:spcPts val="450"/>
              </a:spcAft>
              <a:buSzPct val="100000"/>
              <a:buChar char="•"/>
            </a:pPr>
            <a:r>
              <a:rPr lang="en-US" sz="1200" b="1" dirty="0">
                <a:latin typeface="Arial" pitchFamily="34" charset="0"/>
                <a:ea typeface="Arial" pitchFamily="34" charset="-122"/>
                <a:cs typeface="Arial" pitchFamily="34" charset="-120"/>
              </a:rPr>
              <a:t>Medical Imaging:</a:t>
            </a:r>
            <a:r>
              <a:rPr lang="en-US" sz="1200" dirty="0">
                <a:latin typeface="Arial" pitchFamily="34" charset="0"/>
                <a:ea typeface="Arial" pitchFamily="34" charset="-122"/>
                <a:cs typeface="Arial" pitchFamily="34" charset="-120"/>
              </a:rPr>
              <a:t> Analyze X-rays, MRIs, CT scans</a:t>
            </a:r>
            <a:endParaRPr lang="en-US" sz="1200" dirty="0"/>
          </a:p>
          <a:p>
            <a:pPr marL="114300" indent="-114300" algn="l">
              <a:lnSpc>
                <a:spcPts val="1620"/>
              </a:lnSpc>
              <a:spcAft>
                <a:spcPts val="450"/>
              </a:spcAft>
              <a:buSzPct val="100000"/>
              <a:buChar char="•"/>
            </a:pPr>
            <a:r>
              <a:rPr lang="en-US" sz="1200" b="1" dirty="0">
                <a:latin typeface="Arial" pitchFamily="34" charset="0"/>
                <a:ea typeface="Arial" pitchFamily="34" charset="-122"/>
                <a:cs typeface="Arial" pitchFamily="34" charset="-120"/>
              </a:rPr>
              <a:t>Disease Detection:</a:t>
            </a:r>
            <a:r>
              <a:rPr lang="en-US" sz="1200" dirty="0">
                <a:latin typeface="Arial" pitchFamily="34" charset="0"/>
                <a:ea typeface="Arial" pitchFamily="34" charset="-122"/>
                <a:cs typeface="Arial" pitchFamily="34" charset="-120"/>
              </a:rPr>
              <a:t> Identify cancer, tumors, abnormalities</a:t>
            </a:r>
            <a:endParaRPr lang="en-US" sz="1200" dirty="0"/>
          </a:p>
          <a:p>
            <a:pPr marL="114300" indent="-114300" algn="l">
              <a:lnSpc>
                <a:spcPts val="1620"/>
              </a:lnSpc>
              <a:spcAft>
                <a:spcPts val="450"/>
              </a:spcAft>
              <a:buSzPct val="100000"/>
              <a:buChar char="•"/>
            </a:pPr>
            <a:r>
              <a:rPr lang="en-US" sz="1200" b="1" dirty="0">
                <a:latin typeface="Arial" pitchFamily="34" charset="0"/>
                <a:ea typeface="Arial" pitchFamily="34" charset="-122"/>
                <a:cs typeface="Arial" pitchFamily="34" charset="-120"/>
              </a:rPr>
              <a:t>Surgical Assistance:</a:t>
            </a:r>
            <a:r>
              <a:rPr lang="en-US" sz="1200" dirty="0">
                <a:latin typeface="Arial" pitchFamily="34" charset="0"/>
                <a:ea typeface="Arial" pitchFamily="34" charset="-122"/>
                <a:cs typeface="Arial" pitchFamily="34" charset="-120"/>
              </a:rPr>
              <a:t> Guide procedures with real-time imaging</a:t>
            </a:r>
            <a:endParaRPr lang="en-US" sz="1200" dirty="0"/>
          </a:p>
          <a:p>
            <a:pPr marL="114300" indent="-114300" algn="l">
              <a:lnSpc>
                <a:spcPts val="1620"/>
              </a:lnSpc>
              <a:spcAft>
                <a:spcPts val="450"/>
              </a:spcAft>
              <a:buSzPct val="100000"/>
              <a:buChar char="•"/>
            </a:pPr>
            <a:r>
              <a:rPr lang="en-US" sz="1200" b="1" dirty="0">
                <a:latin typeface="Arial" pitchFamily="34" charset="0"/>
                <a:ea typeface="Arial" pitchFamily="34" charset="-122"/>
                <a:cs typeface="Arial" pitchFamily="34" charset="-120"/>
              </a:rPr>
              <a:t>Patient Monitoring:</a:t>
            </a:r>
            <a:r>
              <a:rPr lang="en-US" sz="1200" dirty="0">
                <a:latin typeface="Arial" pitchFamily="34" charset="0"/>
                <a:ea typeface="Arial" pitchFamily="34" charset="-122"/>
                <a:cs typeface="Arial" pitchFamily="34" charset="-120"/>
              </a:rPr>
              <a:t> Track vital signs and movement</a:t>
            </a:r>
            <a:endParaRPr lang="en-US" sz="1200" dirty="0"/>
          </a:p>
          <a:p>
            <a:pPr marL="114300" indent="-114300" algn="l">
              <a:lnSpc>
                <a:spcPts val="1620"/>
              </a:lnSpc>
              <a:spcAft>
                <a:spcPts val="450"/>
              </a:spcAft>
              <a:buSzPct val="100000"/>
              <a:buChar char="•"/>
            </a:pPr>
            <a:r>
              <a:rPr lang="en-US" sz="1200" b="1" dirty="0">
                <a:latin typeface="Arial" pitchFamily="34" charset="0"/>
                <a:ea typeface="Arial" pitchFamily="34" charset="-122"/>
                <a:cs typeface="Arial" pitchFamily="34" charset="-120"/>
              </a:rPr>
              <a:t>Skin Analysis:</a:t>
            </a:r>
            <a:r>
              <a:rPr lang="en-US" sz="1200" dirty="0">
                <a:latin typeface="Arial" pitchFamily="34" charset="0"/>
                <a:ea typeface="Arial" pitchFamily="34" charset="-122"/>
                <a:cs typeface="Arial" pitchFamily="34" charset="-120"/>
              </a:rPr>
              <a:t> Detect melanoma and skin conditions</a:t>
            </a:r>
            <a:endParaRPr lang="en-US" sz="1200" dirty="0"/>
          </a:p>
          <a:p>
            <a:pPr marL="114300" indent="-114300" algn="l">
              <a:lnSpc>
                <a:spcPts val="1620"/>
              </a:lnSpc>
              <a:spcAft>
                <a:spcPts val="450"/>
              </a:spcAft>
              <a:buSzPct val="100000"/>
              <a:buChar char="•"/>
            </a:pPr>
            <a:r>
              <a:rPr lang="en-US" sz="1200" b="1" dirty="0">
                <a:latin typeface="Arial" pitchFamily="34" charset="0"/>
                <a:ea typeface="Arial" pitchFamily="34" charset="-122"/>
                <a:cs typeface="Arial" pitchFamily="34" charset="-120"/>
              </a:rPr>
              <a:t>Retinal Screening:</a:t>
            </a:r>
            <a:r>
              <a:rPr lang="en-US" sz="1200" dirty="0">
                <a:latin typeface="Arial" pitchFamily="34" charset="0"/>
                <a:ea typeface="Arial" pitchFamily="34" charset="-122"/>
                <a:cs typeface="Arial" pitchFamily="34" charset="-120"/>
              </a:rPr>
              <a:t> Diagnose diabetic retinopathy</a:t>
            </a:r>
            <a:endParaRPr lang="en-US" sz="1200" dirty="0"/>
          </a:p>
        </p:txBody>
      </p:sp>
    </p:spTree>
    <p:extLst>
      <p:ext uri="{BB962C8B-B14F-4D97-AF65-F5344CB8AC3E}">
        <p14:creationId xmlns:p14="http://schemas.microsoft.com/office/powerpoint/2010/main" val="25517988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p:cNvSpPr/>
          <p:nvPr/>
        </p:nvSpPr>
        <p:spPr>
          <a:xfrm>
            <a:off x="457200" y="285750"/>
            <a:ext cx="4537139" cy="323850"/>
          </a:xfrm>
          <a:prstGeom prst="rect">
            <a:avLst/>
          </a:prstGeom>
          <a:noFill/>
          <a:ln/>
        </p:spPr>
        <p:txBody>
          <a:bodyPr wrap="square" lIns="0" tIns="0" rIns="0" bIns="0" rtlCol="0" anchor="t"/>
          <a:lstStyle/>
          <a:p>
            <a:pPr marL="0" indent="0" algn="l">
              <a:lnSpc>
                <a:spcPts val="2550"/>
              </a:lnSpc>
              <a:spcAft>
                <a:spcPts val="1500"/>
              </a:spcAft>
              <a:buNone/>
            </a:pPr>
            <a:r>
              <a:rPr lang="en-US" sz="2550" b="1" dirty="0">
                <a:latin typeface="Segoe UI" pitchFamily="34" charset="0"/>
                <a:ea typeface="Segoe UI" pitchFamily="34" charset="-122"/>
                <a:cs typeface="Segoe UI" pitchFamily="34" charset="-120"/>
              </a:rPr>
              <a:t>CV in Manufacturing &amp; Retail</a:t>
            </a:r>
            <a:endParaRPr lang="en-US" sz="2550" dirty="0"/>
          </a:p>
        </p:txBody>
      </p:sp>
      <p:sp>
        <p:nvSpPr>
          <p:cNvPr id="5" name="Text 1"/>
          <p:cNvSpPr/>
          <p:nvPr/>
        </p:nvSpPr>
        <p:spPr>
          <a:xfrm>
            <a:off x="457200" y="914400"/>
            <a:ext cx="2040255" cy="253901"/>
          </a:xfrm>
          <a:prstGeom prst="rect">
            <a:avLst/>
          </a:prstGeom>
          <a:noFill/>
          <a:ln/>
        </p:spPr>
        <p:txBody>
          <a:bodyPr wrap="square" lIns="0" tIns="0" rIns="0" bIns="0" rtlCol="0" anchor="t"/>
          <a:lstStyle/>
          <a:p>
            <a:pPr marL="0" indent="0" algn="l">
              <a:lnSpc>
                <a:spcPts val="2000"/>
              </a:lnSpc>
              <a:spcBef>
                <a:spcPts val="900"/>
              </a:spcBef>
              <a:spcAft>
                <a:spcPts val="600"/>
              </a:spcAft>
              <a:buNone/>
            </a:pPr>
            <a:r>
              <a:rPr lang="en-US" sz="1800" b="1" dirty="0">
                <a:latin typeface="Arial" pitchFamily="34" charset="0"/>
                <a:ea typeface="Arial" pitchFamily="34" charset="-122"/>
                <a:cs typeface="Arial" pitchFamily="34" charset="-120"/>
              </a:rPr>
              <a:t>Manufacturing</a:t>
            </a:r>
            <a:endParaRPr lang="en-US" sz="1800" dirty="0"/>
          </a:p>
        </p:txBody>
      </p:sp>
      <p:sp>
        <p:nvSpPr>
          <p:cNvPr id="6" name="Text 2"/>
          <p:cNvSpPr/>
          <p:nvPr/>
        </p:nvSpPr>
        <p:spPr>
          <a:xfrm>
            <a:off x="457200" y="1244501"/>
            <a:ext cx="3981450" cy="1752302"/>
          </a:xfrm>
          <a:prstGeom prst="rect">
            <a:avLst/>
          </a:prstGeom>
          <a:noFill/>
          <a:ln/>
        </p:spPr>
        <p:txBody>
          <a:bodyPr wrap="square" lIns="114300" tIns="0" rIns="0" bIns="0" rtlCol="0" anchor="t"/>
          <a:lstStyle/>
          <a:p>
            <a:pPr marL="114300" indent="-114300" algn="l">
              <a:lnSpc>
                <a:spcPts val="1620"/>
              </a:lnSpc>
              <a:spcAft>
                <a:spcPts val="450"/>
              </a:spcAft>
              <a:buSzPct val="100000"/>
              <a:buChar char="•"/>
            </a:pPr>
            <a:r>
              <a:rPr lang="en-US" sz="1200" dirty="0">
                <a:latin typeface="Arial" pitchFamily="34" charset="0"/>
                <a:ea typeface="Arial" pitchFamily="34" charset="-122"/>
                <a:cs typeface="Arial" pitchFamily="34" charset="-120"/>
              </a:rPr>
              <a:t>Defect inspection</a:t>
            </a:r>
            <a:endParaRPr lang="en-US" sz="1200" dirty="0"/>
          </a:p>
          <a:p>
            <a:pPr marL="114300" indent="-114300" algn="l">
              <a:lnSpc>
                <a:spcPts val="1620"/>
              </a:lnSpc>
              <a:spcAft>
                <a:spcPts val="450"/>
              </a:spcAft>
              <a:buSzPct val="100000"/>
              <a:buChar char="•"/>
            </a:pPr>
            <a:r>
              <a:rPr lang="en-US" sz="1200" dirty="0">
                <a:latin typeface="Arial" pitchFamily="34" charset="0"/>
                <a:ea typeface="Arial" pitchFamily="34" charset="-122"/>
                <a:cs typeface="Arial" pitchFamily="34" charset="-120"/>
              </a:rPr>
              <a:t>Quality control automation</a:t>
            </a:r>
            <a:endParaRPr lang="en-US" sz="1200" dirty="0"/>
          </a:p>
          <a:p>
            <a:pPr marL="114300" indent="-114300" algn="l">
              <a:lnSpc>
                <a:spcPts val="1620"/>
              </a:lnSpc>
              <a:spcAft>
                <a:spcPts val="450"/>
              </a:spcAft>
              <a:buSzPct val="100000"/>
              <a:buChar char="•"/>
            </a:pPr>
            <a:r>
              <a:rPr lang="en-US" sz="1200" dirty="0">
                <a:latin typeface="Arial" pitchFamily="34" charset="0"/>
                <a:ea typeface="Arial" pitchFamily="34" charset="-122"/>
                <a:cs typeface="Arial" pitchFamily="34" charset="-120"/>
              </a:rPr>
              <a:t>Safety monitoring</a:t>
            </a:r>
            <a:endParaRPr lang="en-US" sz="1200" dirty="0"/>
          </a:p>
          <a:p>
            <a:pPr marL="114300" indent="-114300" algn="l">
              <a:lnSpc>
                <a:spcPts val="1620"/>
              </a:lnSpc>
              <a:spcAft>
                <a:spcPts val="450"/>
              </a:spcAft>
              <a:buSzPct val="100000"/>
              <a:buChar char="•"/>
            </a:pPr>
            <a:r>
              <a:rPr lang="en-US" sz="1200" dirty="0">
                <a:latin typeface="Arial" pitchFamily="34" charset="0"/>
                <a:ea typeface="Arial" pitchFamily="34" charset="-122"/>
                <a:cs typeface="Arial" pitchFamily="34" charset="-120"/>
              </a:rPr>
              <a:t>Assembly verification</a:t>
            </a:r>
            <a:endParaRPr lang="en-US" sz="1200" dirty="0"/>
          </a:p>
          <a:p>
            <a:pPr marL="114300" indent="-114300" algn="l">
              <a:lnSpc>
                <a:spcPts val="1620"/>
              </a:lnSpc>
              <a:spcAft>
                <a:spcPts val="450"/>
              </a:spcAft>
              <a:buSzPct val="100000"/>
              <a:buChar char="•"/>
            </a:pPr>
            <a:r>
              <a:rPr lang="en-US" sz="1200" dirty="0">
                <a:latin typeface="Arial" pitchFamily="34" charset="0"/>
                <a:ea typeface="Arial" pitchFamily="34" charset="-122"/>
                <a:cs typeface="Arial" pitchFamily="34" charset="-120"/>
              </a:rPr>
              <a:t>Predictive maintenance</a:t>
            </a:r>
            <a:endParaRPr lang="en-US" sz="1200" dirty="0"/>
          </a:p>
        </p:txBody>
      </p:sp>
      <p:sp>
        <p:nvSpPr>
          <p:cNvPr id="7" name="Text 3"/>
          <p:cNvSpPr/>
          <p:nvPr/>
        </p:nvSpPr>
        <p:spPr>
          <a:xfrm>
            <a:off x="4705350" y="914400"/>
            <a:ext cx="2040255" cy="253901"/>
          </a:xfrm>
          <a:prstGeom prst="rect">
            <a:avLst/>
          </a:prstGeom>
          <a:noFill/>
          <a:ln/>
        </p:spPr>
        <p:txBody>
          <a:bodyPr wrap="square" lIns="0" tIns="0" rIns="0" bIns="0" rtlCol="0" anchor="t"/>
          <a:lstStyle/>
          <a:p>
            <a:pPr marL="0" indent="0" algn="l">
              <a:lnSpc>
                <a:spcPts val="2000"/>
              </a:lnSpc>
              <a:spcBef>
                <a:spcPts val="900"/>
              </a:spcBef>
              <a:spcAft>
                <a:spcPts val="600"/>
              </a:spcAft>
              <a:buNone/>
            </a:pPr>
            <a:r>
              <a:rPr lang="en-US" sz="1800" b="1" dirty="0">
                <a:latin typeface="Arial" pitchFamily="34" charset="0"/>
                <a:ea typeface="Arial" pitchFamily="34" charset="-122"/>
                <a:cs typeface="Arial" pitchFamily="34" charset="-120"/>
              </a:rPr>
              <a:t>Retail</a:t>
            </a:r>
            <a:endParaRPr lang="en-US" sz="1800" dirty="0"/>
          </a:p>
        </p:txBody>
      </p:sp>
      <p:sp>
        <p:nvSpPr>
          <p:cNvPr id="8" name="Text 4"/>
          <p:cNvSpPr/>
          <p:nvPr/>
        </p:nvSpPr>
        <p:spPr>
          <a:xfrm>
            <a:off x="4705350" y="1244501"/>
            <a:ext cx="3981450" cy="1752302"/>
          </a:xfrm>
          <a:prstGeom prst="rect">
            <a:avLst/>
          </a:prstGeom>
          <a:noFill/>
          <a:ln/>
        </p:spPr>
        <p:txBody>
          <a:bodyPr wrap="square" lIns="114300" tIns="0" rIns="0" bIns="0" rtlCol="0" anchor="t"/>
          <a:lstStyle/>
          <a:p>
            <a:pPr marL="114300" indent="-114300" algn="l">
              <a:lnSpc>
                <a:spcPts val="1620"/>
              </a:lnSpc>
              <a:spcAft>
                <a:spcPts val="450"/>
              </a:spcAft>
              <a:buSzPct val="100000"/>
              <a:buChar char="•"/>
            </a:pPr>
            <a:r>
              <a:rPr lang="en-US" sz="1200" dirty="0">
                <a:latin typeface="Arial" pitchFamily="34" charset="0"/>
                <a:ea typeface="Arial" pitchFamily="34" charset="-122"/>
                <a:cs typeface="Arial" pitchFamily="34" charset="-120"/>
              </a:rPr>
              <a:t>Self-checkout systems</a:t>
            </a:r>
            <a:endParaRPr lang="en-US" sz="1200" dirty="0"/>
          </a:p>
          <a:p>
            <a:pPr marL="114300" indent="-114300" algn="l">
              <a:lnSpc>
                <a:spcPts val="1620"/>
              </a:lnSpc>
              <a:spcAft>
                <a:spcPts val="450"/>
              </a:spcAft>
              <a:buSzPct val="100000"/>
              <a:buChar char="•"/>
            </a:pPr>
            <a:r>
              <a:rPr lang="en-US" sz="1200" dirty="0">
                <a:latin typeface="Arial" pitchFamily="34" charset="0"/>
                <a:ea typeface="Arial" pitchFamily="34" charset="-122"/>
                <a:cs typeface="Arial" pitchFamily="34" charset="-120"/>
              </a:rPr>
              <a:t>Inventory tracking</a:t>
            </a:r>
            <a:endParaRPr lang="en-US" sz="1200" dirty="0"/>
          </a:p>
          <a:p>
            <a:pPr marL="114300" indent="-114300" algn="l">
              <a:lnSpc>
                <a:spcPts val="1620"/>
              </a:lnSpc>
              <a:spcAft>
                <a:spcPts val="450"/>
              </a:spcAft>
              <a:buSzPct val="100000"/>
              <a:buChar char="•"/>
            </a:pPr>
            <a:r>
              <a:rPr lang="en-US" sz="1200" dirty="0">
                <a:latin typeface="Arial" pitchFamily="34" charset="0"/>
                <a:ea typeface="Arial" pitchFamily="34" charset="-122"/>
                <a:cs typeface="Arial" pitchFamily="34" charset="-120"/>
              </a:rPr>
              <a:t>Customer analytics</a:t>
            </a:r>
            <a:endParaRPr lang="en-US" sz="1200" dirty="0"/>
          </a:p>
          <a:p>
            <a:pPr marL="114300" indent="-114300" algn="l">
              <a:lnSpc>
                <a:spcPts val="1620"/>
              </a:lnSpc>
              <a:spcAft>
                <a:spcPts val="450"/>
              </a:spcAft>
              <a:buSzPct val="100000"/>
              <a:buChar char="•"/>
            </a:pPr>
            <a:r>
              <a:rPr lang="en-US" sz="1200" dirty="0">
                <a:latin typeface="Arial" pitchFamily="34" charset="0"/>
                <a:ea typeface="Arial" pitchFamily="34" charset="-122"/>
                <a:cs typeface="Arial" pitchFamily="34" charset="-120"/>
              </a:rPr>
              <a:t>Product recognition</a:t>
            </a:r>
            <a:endParaRPr lang="en-US" sz="1200" dirty="0"/>
          </a:p>
          <a:p>
            <a:pPr marL="114300" indent="-114300" algn="l">
              <a:lnSpc>
                <a:spcPts val="1620"/>
              </a:lnSpc>
              <a:spcAft>
                <a:spcPts val="450"/>
              </a:spcAft>
              <a:buSzPct val="100000"/>
              <a:buChar char="•"/>
            </a:pPr>
            <a:r>
              <a:rPr lang="en-US" sz="1200" dirty="0">
                <a:latin typeface="Arial" pitchFamily="34" charset="0"/>
                <a:ea typeface="Arial" pitchFamily="34" charset="-122"/>
                <a:cs typeface="Arial" pitchFamily="34" charset="-120"/>
              </a:rPr>
              <a:t>Loss prevention</a:t>
            </a:r>
            <a:endParaRPr lang="en-US" sz="1200" dirty="0"/>
          </a:p>
        </p:txBody>
      </p:sp>
    </p:spTree>
    <p:extLst>
      <p:ext uri="{BB962C8B-B14F-4D97-AF65-F5344CB8AC3E}">
        <p14:creationId xmlns:p14="http://schemas.microsoft.com/office/powerpoint/2010/main" val="19849819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p:cNvSpPr/>
          <p:nvPr/>
        </p:nvSpPr>
        <p:spPr>
          <a:xfrm>
            <a:off x="457200" y="285750"/>
            <a:ext cx="4206812" cy="323850"/>
          </a:xfrm>
          <a:prstGeom prst="rect">
            <a:avLst/>
          </a:prstGeom>
          <a:noFill/>
          <a:ln/>
        </p:spPr>
        <p:txBody>
          <a:bodyPr wrap="square" lIns="0" tIns="0" rIns="0" bIns="0" rtlCol="0" anchor="t"/>
          <a:lstStyle/>
          <a:p>
            <a:pPr marL="0" indent="0" algn="l">
              <a:lnSpc>
                <a:spcPts val="2550"/>
              </a:lnSpc>
              <a:spcAft>
                <a:spcPts val="1500"/>
              </a:spcAft>
              <a:buNone/>
            </a:pPr>
            <a:r>
              <a:rPr lang="en-US" sz="2550" b="1" dirty="0">
                <a:latin typeface="Segoe UI" pitchFamily="34" charset="0"/>
                <a:ea typeface="Segoe UI" pitchFamily="34" charset="-122"/>
                <a:cs typeface="Segoe UI" pitchFamily="34" charset="-120"/>
              </a:rPr>
              <a:t>Nigerian CV Opportunities</a:t>
            </a:r>
            <a:endParaRPr lang="en-US" sz="2550" dirty="0"/>
          </a:p>
        </p:txBody>
      </p:sp>
      <p:sp>
        <p:nvSpPr>
          <p:cNvPr id="5" name="Text 1"/>
          <p:cNvSpPr/>
          <p:nvPr/>
        </p:nvSpPr>
        <p:spPr>
          <a:xfrm>
            <a:off x="457200" y="876300"/>
            <a:ext cx="8229600" cy="2110383"/>
          </a:xfrm>
          <a:prstGeom prst="rect">
            <a:avLst/>
          </a:prstGeom>
          <a:noFill/>
          <a:ln/>
        </p:spPr>
        <p:txBody>
          <a:bodyPr wrap="square" lIns="114300" tIns="0" rIns="0" bIns="0" rtlCol="0" anchor="t"/>
          <a:lstStyle/>
          <a:p>
            <a:pPr marL="114300" indent="-114300" algn="l">
              <a:lnSpc>
                <a:spcPts val="1620"/>
              </a:lnSpc>
              <a:spcAft>
                <a:spcPts val="450"/>
              </a:spcAft>
              <a:buSzPct val="100000"/>
              <a:buChar char="•"/>
            </a:pPr>
            <a:r>
              <a:rPr lang="en-US" sz="1200" b="1" dirty="0">
                <a:latin typeface="Arial" pitchFamily="34" charset="0"/>
                <a:ea typeface="Arial" pitchFamily="34" charset="-122"/>
                <a:cs typeface="Arial" pitchFamily="34" charset="-120"/>
              </a:rPr>
              <a:t>Agriculture:</a:t>
            </a:r>
            <a:r>
              <a:rPr lang="en-US" sz="1200" dirty="0">
                <a:latin typeface="Arial" pitchFamily="34" charset="0"/>
                <a:ea typeface="Arial" pitchFamily="34" charset="-122"/>
                <a:cs typeface="Arial" pitchFamily="34" charset="-120"/>
              </a:rPr>
              <a:t> Cassava disease detection, yam quality grading</a:t>
            </a:r>
            <a:endParaRPr lang="en-US" sz="1200" dirty="0"/>
          </a:p>
          <a:p>
            <a:pPr marL="114300" indent="-114300" algn="l">
              <a:lnSpc>
                <a:spcPts val="1620"/>
              </a:lnSpc>
              <a:spcAft>
                <a:spcPts val="450"/>
              </a:spcAft>
              <a:buSzPct val="100000"/>
              <a:buChar char="•"/>
            </a:pPr>
            <a:r>
              <a:rPr lang="en-US" sz="1200" b="1" dirty="0">
                <a:latin typeface="Arial" pitchFamily="34" charset="0"/>
                <a:ea typeface="Arial" pitchFamily="34" charset="-122"/>
                <a:cs typeface="Arial" pitchFamily="34" charset="-120"/>
              </a:rPr>
              <a:t>Healthcare:</a:t>
            </a:r>
            <a:r>
              <a:rPr lang="en-US" sz="1200" dirty="0">
                <a:latin typeface="Arial" pitchFamily="34" charset="0"/>
                <a:ea typeface="Arial" pitchFamily="34" charset="-122"/>
                <a:cs typeface="Arial" pitchFamily="34" charset="-120"/>
              </a:rPr>
              <a:t> Malaria diagnosis, TB screening in remote areas</a:t>
            </a:r>
            <a:endParaRPr lang="en-US" sz="1200" dirty="0"/>
          </a:p>
          <a:p>
            <a:pPr marL="114300" indent="-114300" algn="l">
              <a:lnSpc>
                <a:spcPts val="1620"/>
              </a:lnSpc>
              <a:spcAft>
                <a:spcPts val="450"/>
              </a:spcAft>
              <a:buSzPct val="100000"/>
              <a:buChar char="•"/>
            </a:pPr>
            <a:r>
              <a:rPr lang="en-US" sz="1200" b="1" dirty="0">
                <a:latin typeface="Arial" pitchFamily="34" charset="0"/>
                <a:ea typeface="Arial" pitchFamily="34" charset="-122"/>
                <a:cs typeface="Arial" pitchFamily="34" charset="-120"/>
              </a:rPr>
              <a:t>Security:</a:t>
            </a:r>
            <a:r>
              <a:rPr lang="en-US" sz="1200" dirty="0">
                <a:latin typeface="Arial" pitchFamily="34" charset="0"/>
                <a:ea typeface="Arial" pitchFamily="34" charset="-122"/>
                <a:cs typeface="Arial" pitchFamily="34" charset="-120"/>
              </a:rPr>
              <a:t> Crowd monitoring, facial recognition systems</a:t>
            </a:r>
            <a:endParaRPr lang="en-US" sz="1200" dirty="0"/>
          </a:p>
          <a:p>
            <a:pPr marL="114300" indent="-114300" algn="l">
              <a:lnSpc>
                <a:spcPts val="1620"/>
              </a:lnSpc>
              <a:spcAft>
                <a:spcPts val="450"/>
              </a:spcAft>
              <a:buSzPct val="100000"/>
              <a:buChar char="•"/>
            </a:pPr>
            <a:r>
              <a:rPr lang="en-US" sz="1200" b="1" dirty="0">
                <a:latin typeface="Arial" pitchFamily="34" charset="0"/>
                <a:ea typeface="Arial" pitchFamily="34" charset="-122"/>
                <a:cs typeface="Arial" pitchFamily="34" charset="-120"/>
              </a:rPr>
              <a:t>Transportation:</a:t>
            </a:r>
            <a:r>
              <a:rPr lang="en-US" sz="1200" dirty="0">
                <a:latin typeface="Arial" pitchFamily="34" charset="0"/>
                <a:ea typeface="Arial" pitchFamily="34" charset="-122"/>
                <a:cs typeface="Arial" pitchFamily="34" charset="-120"/>
              </a:rPr>
              <a:t> Traffic monitoring, accident detection</a:t>
            </a:r>
            <a:endParaRPr lang="en-US" sz="1200" dirty="0"/>
          </a:p>
          <a:p>
            <a:pPr marL="114300" indent="-114300" algn="l">
              <a:lnSpc>
                <a:spcPts val="1620"/>
              </a:lnSpc>
              <a:spcAft>
                <a:spcPts val="450"/>
              </a:spcAft>
              <a:buSzPct val="100000"/>
              <a:buChar char="•"/>
            </a:pPr>
            <a:r>
              <a:rPr lang="en-US" sz="1200" b="1" dirty="0">
                <a:latin typeface="Arial" pitchFamily="34" charset="0"/>
                <a:ea typeface="Arial" pitchFamily="34" charset="-122"/>
                <a:cs typeface="Arial" pitchFamily="34" charset="-120"/>
              </a:rPr>
              <a:t>Education:</a:t>
            </a:r>
            <a:r>
              <a:rPr lang="en-US" sz="1200" dirty="0">
                <a:latin typeface="Arial" pitchFamily="34" charset="0"/>
                <a:ea typeface="Arial" pitchFamily="34" charset="-122"/>
                <a:cs typeface="Arial" pitchFamily="34" charset="-120"/>
              </a:rPr>
              <a:t> Automated attendance, exam proctoring</a:t>
            </a:r>
            <a:endParaRPr lang="en-US" sz="1200" dirty="0"/>
          </a:p>
          <a:p>
            <a:pPr marL="114300" indent="-114300" algn="l">
              <a:lnSpc>
                <a:spcPts val="1620"/>
              </a:lnSpc>
              <a:spcAft>
                <a:spcPts val="450"/>
              </a:spcAft>
              <a:buSzPct val="100000"/>
              <a:buChar char="•"/>
            </a:pPr>
            <a:r>
              <a:rPr lang="en-US" sz="1200" b="1" dirty="0">
                <a:latin typeface="Arial" pitchFamily="34" charset="0"/>
                <a:ea typeface="Arial" pitchFamily="34" charset="-122"/>
                <a:cs typeface="Arial" pitchFamily="34" charset="-120"/>
              </a:rPr>
              <a:t>Retail:</a:t>
            </a:r>
            <a:r>
              <a:rPr lang="en-US" sz="1200" dirty="0">
                <a:latin typeface="Arial" pitchFamily="34" charset="0"/>
                <a:ea typeface="Arial" pitchFamily="34" charset="-122"/>
                <a:cs typeface="Arial" pitchFamily="34" charset="-120"/>
              </a:rPr>
              <a:t> Contactless shopping, inventory management</a:t>
            </a:r>
            <a:endParaRPr lang="en-US" sz="1200" dirty="0"/>
          </a:p>
        </p:txBody>
      </p:sp>
    </p:spTree>
    <p:extLst>
      <p:ext uri="{BB962C8B-B14F-4D97-AF65-F5344CB8AC3E}">
        <p14:creationId xmlns:p14="http://schemas.microsoft.com/office/powerpoint/2010/main" val="11507616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p:cNvSpPr/>
          <p:nvPr/>
        </p:nvSpPr>
        <p:spPr>
          <a:xfrm>
            <a:off x="2224024" y="1934136"/>
            <a:ext cx="6918499" cy="457200"/>
          </a:xfrm>
          <a:prstGeom prst="rect">
            <a:avLst/>
          </a:prstGeom>
          <a:noFill/>
          <a:ln/>
        </p:spPr>
        <p:txBody>
          <a:bodyPr wrap="square" lIns="0" tIns="0" rIns="0" bIns="0" rtlCol="0" anchor="t"/>
          <a:lstStyle/>
          <a:p>
            <a:pPr marL="0" indent="0" algn="ctr">
              <a:lnSpc>
                <a:spcPts val="3600"/>
              </a:lnSpc>
              <a:spcAft>
                <a:spcPts val="1050"/>
              </a:spcAft>
              <a:buNone/>
            </a:pPr>
            <a:r>
              <a:rPr lang="en-US" sz="3600" b="1" dirty="0">
                <a:latin typeface="Segoe UI" pitchFamily="34" charset="0"/>
                <a:ea typeface="Segoe UI" pitchFamily="34" charset="-122"/>
                <a:cs typeface="Segoe UI" pitchFamily="34" charset="-120"/>
              </a:rPr>
              <a:t>Convolutional Neural Networks</a:t>
            </a:r>
            <a:endParaRPr lang="en-US" sz="3600" dirty="0"/>
          </a:p>
        </p:txBody>
      </p:sp>
      <p:sp>
        <p:nvSpPr>
          <p:cNvPr id="5" name="Text 1"/>
          <p:cNvSpPr/>
          <p:nvPr/>
        </p:nvSpPr>
        <p:spPr>
          <a:xfrm>
            <a:off x="3757250" y="2591361"/>
            <a:ext cx="3852196" cy="269974"/>
          </a:xfrm>
          <a:prstGeom prst="rect">
            <a:avLst/>
          </a:prstGeom>
          <a:noFill/>
          <a:ln/>
        </p:spPr>
        <p:txBody>
          <a:bodyPr wrap="square" lIns="0" tIns="0" rIns="0" bIns="0" rtlCol="0" anchor="t"/>
          <a:lstStyle/>
          <a:p>
            <a:pPr marL="0" indent="0" algn="ctr">
              <a:lnSpc>
                <a:spcPts val="2126"/>
              </a:lnSpc>
              <a:spcBef>
                <a:spcPts val="525"/>
              </a:spcBef>
              <a:spcAft>
                <a:spcPts val="525"/>
              </a:spcAft>
              <a:buNone/>
            </a:pPr>
            <a:r>
              <a:rPr lang="en-US" sz="1575" dirty="0">
                <a:latin typeface="Arial" pitchFamily="34" charset="0"/>
                <a:ea typeface="Arial" pitchFamily="34" charset="-122"/>
                <a:cs typeface="Arial" pitchFamily="34" charset="-120"/>
              </a:rPr>
              <a:t>The Backbone of Modern Computer Vision</a:t>
            </a:r>
            <a:endParaRPr lang="en-US" sz="1575" dirty="0"/>
          </a:p>
        </p:txBody>
      </p:sp>
    </p:spTree>
    <p:extLst>
      <p:ext uri="{BB962C8B-B14F-4D97-AF65-F5344CB8AC3E}">
        <p14:creationId xmlns:p14="http://schemas.microsoft.com/office/powerpoint/2010/main" val="12538862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p:cNvSpPr/>
          <p:nvPr/>
        </p:nvSpPr>
        <p:spPr>
          <a:xfrm>
            <a:off x="583809" y="932863"/>
            <a:ext cx="4206812" cy="323850"/>
          </a:xfrm>
          <a:prstGeom prst="rect">
            <a:avLst/>
          </a:prstGeom>
          <a:noFill/>
          <a:ln/>
        </p:spPr>
        <p:txBody>
          <a:bodyPr wrap="square" lIns="0" tIns="0" rIns="0" bIns="0" rtlCol="0" anchor="t"/>
          <a:lstStyle/>
          <a:p>
            <a:pPr marL="0" indent="0" algn="l">
              <a:lnSpc>
                <a:spcPts val="2550"/>
              </a:lnSpc>
              <a:spcAft>
                <a:spcPts val="1500"/>
              </a:spcAft>
              <a:buNone/>
            </a:pPr>
            <a:r>
              <a:rPr lang="en-US" sz="2550" b="1" dirty="0">
                <a:latin typeface="Segoe UI" pitchFamily="34" charset="0"/>
                <a:ea typeface="Segoe UI" pitchFamily="34" charset="-122"/>
                <a:cs typeface="Segoe UI" pitchFamily="34" charset="-120"/>
              </a:rPr>
              <a:t>Why CNNs for Images?</a:t>
            </a:r>
            <a:endParaRPr lang="en-US" sz="2550" dirty="0"/>
          </a:p>
        </p:txBody>
      </p:sp>
      <p:sp>
        <p:nvSpPr>
          <p:cNvPr id="5" name="Text 1"/>
          <p:cNvSpPr/>
          <p:nvPr/>
        </p:nvSpPr>
        <p:spPr>
          <a:xfrm>
            <a:off x="583809" y="1542463"/>
            <a:ext cx="8229600" cy="2002707"/>
          </a:xfrm>
          <a:prstGeom prst="roundRect">
            <a:avLst>
              <a:gd name="adj" fmla="val 3969"/>
            </a:avLst>
          </a:prstGeom>
          <a:solidFill>
            <a:srgbClr val="0EA5E9">
              <a:alpha val="15000"/>
            </a:srgbClr>
          </a:solidFill>
          <a:ln/>
        </p:spPr>
        <p:txBody>
          <a:bodyPr wrap="square" rtlCol="0" anchor="ctr"/>
          <a:lstStyle/>
          <a:p>
            <a:pPr marL="0" indent="0">
              <a:buNone/>
            </a:pPr>
            <a:endParaRPr lang="en-US" dirty="0"/>
          </a:p>
        </p:txBody>
      </p:sp>
      <p:sp>
        <p:nvSpPr>
          <p:cNvPr id="6" name="Shape 2"/>
          <p:cNvSpPr/>
          <p:nvPr/>
        </p:nvSpPr>
        <p:spPr>
          <a:xfrm>
            <a:off x="602859" y="1542463"/>
            <a:ext cx="0" cy="2002707"/>
          </a:xfrm>
          <a:prstGeom prst="line">
            <a:avLst/>
          </a:prstGeom>
          <a:noFill/>
          <a:ln w="38100">
            <a:solidFill>
              <a:srgbClr val="2563EB"/>
            </a:solidFill>
            <a:prstDash val="solid"/>
          </a:ln>
        </p:spPr>
      </p:sp>
      <p:sp>
        <p:nvSpPr>
          <p:cNvPr id="10" name="Text 6"/>
          <p:cNvSpPr/>
          <p:nvPr/>
        </p:nvSpPr>
        <p:spPr>
          <a:xfrm>
            <a:off x="583809" y="4025231"/>
            <a:ext cx="8394192" cy="205680"/>
          </a:xfrm>
          <a:prstGeom prst="rect">
            <a:avLst/>
          </a:prstGeom>
          <a:noFill/>
          <a:ln/>
        </p:spPr>
        <p:txBody>
          <a:bodyPr wrap="square" lIns="0" tIns="0" rIns="0" bIns="0" rtlCol="0" anchor="t"/>
          <a:lstStyle/>
          <a:p>
            <a:pPr marL="0" indent="0" algn="l">
              <a:lnSpc>
                <a:spcPts val="1620"/>
              </a:lnSpc>
              <a:spcBef>
                <a:spcPts val="1050"/>
              </a:spcBef>
              <a:spcAft>
                <a:spcPts val="300"/>
              </a:spcAft>
              <a:buNone/>
            </a:pPr>
            <a:r>
              <a:rPr lang="en-US" sz="1200" b="1" dirty="0">
                <a:latin typeface="Arial" pitchFamily="34" charset="0"/>
                <a:ea typeface="Arial" pitchFamily="34" charset="-122"/>
                <a:cs typeface="Arial" pitchFamily="34" charset="-120"/>
              </a:rPr>
              <a:t>CNN Solutions:</a:t>
            </a:r>
            <a:endParaRPr lang="en-US" sz="1200" dirty="0"/>
          </a:p>
        </p:txBody>
      </p:sp>
      <p:sp>
        <p:nvSpPr>
          <p:cNvPr id="11" name="Text 7"/>
          <p:cNvSpPr/>
          <p:nvPr/>
        </p:nvSpPr>
        <p:spPr>
          <a:xfrm>
            <a:off x="583809" y="4345212"/>
            <a:ext cx="8229600" cy="1036141"/>
          </a:xfrm>
          <a:prstGeom prst="rect">
            <a:avLst/>
          </a:prstGeom>
          <a:noFill/>
          <a:ln/>
        </p:spPr>
        <p:txBody>
          <a:bodyPr wrap="square" lIns="114300" tIns="0" rIns="0" bIns="0" rtlCol="0" anchor="t"/>
          <a:lstStyle/>
          <a:p>
            <a:pPr marL="114300" indent="-114300" algn="l">
              <a:lnSpc>
                <a:spcPts val="1620"/>
              </a:lnSpc>
              <a:spcAft>
                <a:spcPts val="450"/>
              </a:spcAft>
              <a:buSzPct val="100000"/>
              <a:buChar char="•"/>
            </a:pPr>
            <a:r>
              <a:rPr lang="en-US" sz="1200" b="1" dirty="0">
                <a:latin typeface="Arial" pitchFamily="34" charset="0"/>
                <a:ea typeface="Arial" pitchFamily="34" charset="-122"/>
                <a:cs typeface="Arial" pitchFamily="34" charset="-120"/>
              </a:rPr>
              <a:t>Parameter sharing:</a:t>
            </a:r>
            <a:r>
              <a:rPr lang="en-US" sz="1200" dirty="0">
                <a:latin typeface="Arial" pitchFamily="34" charset="0"/>
                <a:ea typeface="Arial" pitchFamily="34" charset="-122"/>
                <a:cs typeface="Arial" pitchFamily="34" charset="-120"/>
              </a:rPr>
              <a:t> Use same filter across image</a:t>
            </a:r>
            <a:endParaRPr lang="en-US" sz="1200" dirty="0"/>
          </a:p>
          <a:p>
            <a:pPr marL="114300" indent="-114300" algn="l">
              <a:lnSpc>
                <a:spcPts val="1620"/>
              </a:lnSpc>
              <a:spcAft>
                <a:spcPts val="450"/>
              </a:spcAft>
              <a:buSzPct val="100000"/>
              <a:buChar char="•"/>
            </a:pPr>
            <a:r>
              <a:rPr lang="en-US" sz="1200" b="1" dirty="0">
                <a:latin typeface="Arial" pitchFamily="34" charset="0"/>
                <a:ea typeface="Arial" pitchFamily="34" charset="-122"/>
                <a:cs typeface="Arial" pitchFamily="34" charset="-120"/>
              </a:rPr>
              <a:t>Spatial structure:</a:t>
            </a:r>
            <a:r>
              <a:rPr lang="en-US" sz="1200" dirty="0">
                <a:latin typeface="Arial" pitchFamily="34" charset="0"/>
                <a:ea typeface="Arial" pitchFamily="34" charset="-122"/>
                <a:cs typeface="Arial" pitchFamily="34" charset="-120"/>
              </a:rPr>
              <a:t> Preserve pixel relationships</a:t>
            </a:r>
            <a:endParaRPr lang="en-US" sz="1200" dirty="0"/>
          </a:p>
          <a:p>
            <a:pPr marL="114300" indent="-114300" algn="l">
              <a:lnSpc>
                <a:spcPts val="1620"/>
              </a:lnSpc>
              <a:spcAft>
                <a:spcPts val="450"/>
              </a:spcAft>
              <a:buSzPct val="100000"/>
              <a:buChar char="•"/>
            </a:pPr>
            <a:r>
              <a:rPr lang="en-US" sz="1200" b="1" dirty="0">
                <a:latin typeface="Arial" pitchFamily="34" charset="0"/>
                <a:ea typeface="Arial" pitchFamily="34" charset="-122"/>
                <a:cs typeface="Arial" pitchFamily="34" charset="-120"/>
              </a:rPr>
              <a:t>Translation invariance:</a:t>
            </a:r>
            <a:r>
              <a:rPr lang="en-US" sz="1200" dirty="0">
                <a:latin typeface="Arial" pitchFamily="34" charset="0"/>
                <a:ea typeface="Arial" pitchFamily="34" charset="-122"/>
                <a:cs typeface="Arial" pitchFamily="34" charset="-120"/>
              </a:rPr>
              <a:t> Detect features anywhere</a:t>
            </a:r>
            <a:endParaRPr lang="en-US" sz="1200" dirty="0"/>
          </a:p>
        </p:txBody>
      </p:sp>
      <p:sp>
        <p:nvSpPr>
          <p:cNvPr id="12" name="Rectangle 11"/>
          <p:cNvSpPr/>
          <p:nvPr/>
        </p:nvSpPr>
        <p:spPr>
          <a:xfrm>
            <a:off x="621910" y="1526445"/>
            <a:ext cx="8057856" cy="2031325"/>
          </a:xfrm>
          <a:prstGeom prst="rect">
            <a:avLst/>
          </a:prstGeom>
        </p:spPr>
        <p:txBody>
          <a:bodyPr wrap="square">
            <a:spAutoFit/>
          </a:bodyPr>
          <a:lstStyle/>
          <a:p>
            <a:r>
              <a:rPr lang="en-US" dirty="0"/>
              <a:t>Convolutional Neural Networks are specifically designed to process image data efficiently. They automatically learn spatial hierarchies of features, from simple edges to complex patterns, without manual feature engineering. CNNs exploit parameter sharing and local connectivity, reducing the number of parameters and computational cost. They are robust to translations and distortions in images, making them highly effective for tasks like classification, detection, and segmentation.</a:t>
            </a:r>
          </a:p>
        </p:txBody>
      </p:sp>
    </p:spTree>
    <p:extLst>
      <p:ext uri="{BB962C8B-B14F-4D97-AF65-F5344CB8AC3E}">
        <p14:creationId xmlns:p14="http://schemas.microsoft.com/office/powerpoint/2010/main" val="24438172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634648" y="571395"/>
            <a:ext cx="2310889" cy="425758"/>
          </a:xfrm>
          <a:prstGeom prst="rect">
            <a:avLst/>
          </a:prstGeom>
        </p:spPr>
        <p:txBody>
          <a:bodyPr wrap="none">
            <a:spAutoFit/>
          </a:bodyPr>
          <a:lstStyle/>
          <a:p>
            <a:pPr>
              <a:lnSpc>
                <a:spcPts val="2550"/>
              </a:lnSpc>
              <a:spcAft>
                <a:spcPts val="1500"/>
              </a:spcAft>
            </a:pPr>
            <a:r>
              <a:rPr lang="en-US" b="1" dirty="0">
                <a:solidFill>
                  <a:srgbClr val="F59E0B"/>
                </a:solidFill>
                <a:latin typeface="Segoe UI" pitchFamily="34" charset="0"/>
                <a:ea typeface="Segoe UI" pitchFamily="34" charset="-122"/>
                <a:cs typeface="Segoe UI" pitchFamily="34" charset="-120"/>
              </a:rPr>
              <a:t>Regular NN vs CNN</a:t>
            </a:r>
            <a:endParaRPr lang="en-US" dirty="0"/>
          </a:p>
        </p:txBody>
      </p:sp>
      <p:sp>
        <p:nvSpPr>
          <p:cNvPr id="5" name="Rectangle 4"/>
          <p:cNvSpPr/>
          <p:nvPr/>
        </p:nvSpPr>
        <p:spPr>
          <a:xfrm>
            <a:off x="656492" y="1332302"/>
            <a:ext cx="7460565" cy="2031325"/>
          </a:xfrm>
          <a:prstGeom prst="rect">
            <a:avLst/>
          </a:prstGeom>
        </p:spPr>
        <p:txBody>
          <a:bodyPr wrap="square">
            <a:spAutoFit/>
          </a:bodyPr>
          <a:lstStyle/>
          <a:p>
            <a:r>
              <a:rPr lang="en-US" dirty="0"/>
              <a:t>Regular neural networks (fully connected networks) treat all input features equally and require flattening of image data, which can lead to a large number of parameters and loss of spatial information. CNNs, in contrast, preserve the spatial structure of images through convolution and pooling layers. They use local receptive fields and shared weights to efficiently detect patterns and features, making them more effective and scalable for image-related tasks.</a:t>
            </a:r>
          </a:p>
        </p:txBody>
      </p:sp>
      <p:pic>
        <p:nvPicPr>
          <p:cNvPr id="6" name="Image 0" descr="/tmp/rasterized-svg-3f9da2a8.png"/>
          <p:cNvPicPr>
            <a:picLocks noChangeAspect="1"/>
          </p:cNvPicPr>
          <p:nvPr/>
        </p:nvPicPr>
        <p:blipFill>
          <a:blip r:embed="rId2"/>
          <a:stretch>
            <a:fillRect/>
          </a:stretch>
        </p:blipFill>
        <p:spPr>
          <a:xfrm>
            <a:off x="789109" y="3732040"/>
            <a:ext cx="7143750" cy="1905000"/>
          </a:xfrm>
          <a:prstGeom prst="rect">
            <a:avLst/>
          </a:prstGeom>
        </p:spPr>
      </p:pic>
    </p:spTree>
    <p:extLst>
      <p:ext uri="{BB962C8B-B14F-4D97-AF65-F5344CB8AC3E}">
        <p14:creationId xmlns:p14="http://schemas.microsoft.com/office/powerpoint/2010/main" val="11656908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980049" y="402583"/>
            <a:ext cx="3183372" cy="425758"/>
          </a:xfrm>
          <a:prstGeom prst="rect">
            <a:avLst/>
          </a:prstGeom>
        </p:spPr>
        <p:txBody>
          <a:bodyPr wrap="none">
            <a:spAutoFit/>
          </a:bodyPr>
          <a:lstStyle/>
          <a:p>
            <a:pPr>
              <a:lnSpc>
                <a:spcPts val="2550"/>
              </a:lnSpc>
              <a:spcAft>
                <a:spcPts val="1500"/>
              </a:spcAft>
            </a:pPr>
            <a:r>
              <a:rPr lang="en-US" b="1" dirty="0">
                <a:solidFill>
                  <a:srgbClr val="F59E0B"/>
                </a:solidFill>
                <a:latin typeface="Segoe UI" pitchFamily="34" charset="0"/>
                <a:ea typeface="Segoe UI" pitchFamily="34" charset="-122"/>
                <a:cs typeface="Segoe UI" pitchFamily="34" charset="-120"/>
              </a:rPr>
              <a:t>CNN Architecture Overview</a:t>
            </a:r>
            <a:endParaRPr lang="en-US" dirty="0"/>
          </a:p>
        </p:txBody>
      </p:sp>
      <p:sp>
        <p:nvSpPr>
          <p:cNvPr id="5" name="Rectangle 4"/>
          <p:cNvSpPr/>
          <p:nvPr/>
        </p:nvSpPr>
        <p:spPr>
          <a:xfrm>
            <a:off x="548641" y="1099684"/>
            <a:ext cx="6471138" cy="2862322"/>
          </a:xfrm>
          <a:prstGeom prst="rect">
            <a:avLst/>
          </a:prstGeom>
        </p:spPr>
        <p:txBody>
          <a:bodyPr wrap="square">
            <a:spAutoFit/>
          </a:bodyPr>
          <a:lstStyle/>
          <a:p>
            <a:r>
              <a:rPr lang="en-US" dirty="0"/>
              <a:t>A typical Convolutional Neural Network consists of a sequence of layers that progressively extract higher-level features from images. Convolution layers apply filters to detect patterns such as edges or textures. Activation functions introduce non-linearity, enabling the network to model complex relationships. Pooling layers reduce spatial dimensions and help prevent overfitting. Finally, fully connected layers map the extracted features to output classes for classification or other tasks. This layered structure allows CNNs to learn hierarchical representations efficiently.</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99426" y="1099684"/>
            <a:ext cx="4017312" cy="2257219"/>
          </a:xfrm>
          <a:prstGeom prst="rect">
            <a:avLst/>
          </a:prstGeom>
        </p:spPr>
      </p:pic>
      <p:pic>
        <p:nvPicPr>
          <p:cNvPr id="7" name="Image 0" descr="/tmp/rasterized-svg-cd40aa60.png"/>
          <p:cNvPicPr>
            <a:picLocks noChangeAspect="1"/>
          </p:cNvPicPr>
          <p:nvPr/>
        </p:nvPicPr>
        <p:blipFill>
          <a:blip r:embed="rId3"/>
          <a:stretch>
            <a:fillRect/>
          </a:stretch>
        </p:blipFill>
        <p:spPr>
          <a:xfrm>
            <a:off x="1311832" y="4209217"/>
            <a:ext cx="8096250" cy="1714500"/>
          </a:xfrm>
          <a:prstGeom prst="rect">
            <a:avLst/>
          </a:prstGeom>
        </p:spPr>
      </p:pic>
    </p:spTree>
    <p:extLst>
      <p:ext uri="{BB962C8B-B14F-4D97-AF65-F5344CB8AC3E}">
        <p14:creationId xmlns:p14="http://schemas.microsoft.com/office/powerpoint/2010/main" val="7843639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608894" y="472920"/>
            <a:ext cx="3511746" cy="425758"/>
          </a:xfrm>
          <a:prstGeom prst="rect">
            <a:avLst/>
          </a:prstGeom>
        </p:spPr>
        <p:txBody>
          <a:bodyPr wrap="square">
            <a:spAutoFit/>
          </a:bodyPr>
          <a:lstStyle/>
          <a:p>
            <a:pPr>
              <a:lnSpc>
                <a:spcPts val="2550"/>
              </a:lnSpc>
              <a:spcAft>
                <a:spcPts val="1500"/>
              </a:spcAft>
            </a:pPr>
            <a:r>
              <a:rPr lang="en-US" b="1" dirty="0">
                <a:solidFill>
                  <a:srgbClr val="F59E0B"/>
                </a:solidFill>
                <a:latin typeface="Segoe UI" pitchFamily="34" charset="0"/>
                <a:ea typeface="Segoe UI" pitchFamily="34" charset="-122"/>
                <a:cs typeface="Segoe UI" pitchFamily="34" charset="-120"/>
              </a:rPr>
              <a:t>Convolution Operation</a:t>
            </a:r>
            <a:endParaRPr lang="en-US" dirty="0"/>
          </a:p>
        </p:txBody>
      </p:sp>
      <p:sp>
        <p:nvSpPr>
          <p:cNvPr id="5" name="Rectangle 4"/>
          <p:cNvSpPr/>
          <p:nvPr/>
        </p:nvSpPr>
        <p:spPr>
          <a:xfrm>
            <a:off x="909708" y="1191625"/>
            <a:ext cx="9866143" cy="1477328"/>
          </a:xfrm>
          <a:prstGeom prst="rect">
            <a:avLst/>
          </a:prstGeom>
        </p:spPr>
        <p:txBody>
          <a:bodyPr wrap="square">
            <a:spAutoFit/>
          </a:bodyPr>
          <a:lstStyle/>
          <a:p>
            <a:r>
              <a:rPr lang="en-US" dirty="0"/>
              <a:t>Convolution is the core operation in CNNs where a filter (or kernel) slides over an image to extract features. Each filter highlights specific patterns, such as edges, textures, or shapes, producing a feature map that represents the presence and location of those patterns. By stacking multiple convolution layers, CNNs can learn increasingly complex features, enabling accurate image understanding and classification.</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9708" y="2668953"/>
            <a:ext cx="8182219" cy="3237444"/>
          </a:xfrm>
          <a:prstGeom prst="rect">
            <a:avLst/>
          </a:prstGeom>
        </p:spPr>
      </p:pic>
    </p:spTree>
    <p:extLst>
      <p:ext uri="{BB962C8B-B14F-4D97-AF65-F5344CB8AC3E}">
        <p14:creationId xmlns:p14="http://schemas.microsoft.com/office/powerpoint/2010/main" val="41459014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0"/>
          <p:cNvSpPr/>
          <p:nvPr/>
        </p:nvSpPr>
        <p:spPr>
          <a:xfrm>
            <a:off x="668215" y="820323"/>
            <a:ext cx="4206812" cy="323850"/>
          </a:xfrm>
          <a:prstGeom prst="rect">
            <a:avLst/>
          </a:prstGeom>
          <a:noFill/>
          <a:ln/>
        </p:spPr>
        <p:txBody>
          <a:bodyPr wrap="square" lIns="0" tIns="0" rIns="0" bIns="0" rtlCol="0" anchor="t"/>
          <a:lstStyle/>
          <a:p>
            <a:pPr marL="0" indent="0" algn="l">
              <a:lnSpc>
                <a:spcPts val="2550"/>
              </a:lnSpc>
              <a:spcAft>
                <a:spcPts val="1500"/>
              </a:spcAft>
              <a:buNone/>
            </a:pPr>
            <a:r>
              <a:rPr lang="en-US" sz="2550" b="1" dirty="0">
                <a:latin typeface="Segoe UI" pitchFamily="34" charset="0"/>
                <a:ea typeface="Segoe UI" pitchFamily="34" charset="-122"/>
                <a:cs typeface="Segoe UI" pitchFamily="34" charset="-120"/>
              </a:rPr>
              <a:t>What Do Filters Detect?</a:t>
            </a:r>
            <a:endParaRPr lang="en-US" sz="2550" dirty="0"/>
          </a:p>
        </p:txBody>
      </p:sp>
      <p:sp>
        <p:nvSpPr>
          <p:cNvPr id="7" name="Text 1"/>
          <p:cNvSpPr/>
          <p:nvPr/>
        </p:nvSpPr>
        <p:spPr>
          <a:xfrm>
            <a:off x="668215" y="1372773"/>
            <a:ext cx="8394192" cy="205680"/>
          </a:xfrm>
          <a:prstGeom prst="rect">
            <a:avLst/>
          </a:prstGeom>
          <a:noFill/>
          <a:ln/>
        </p:spPr>
        <p:txBody>
          <a:bodyPr wrap="square" lIns="0" tIns="0" rIns="0" bIns="0" rtlCol="0" anchor="t"/>
          <a:lstStyle/>
          <a:p>
            <a:pPr marL="0" indent="0" algn="l">
              <a:lnSpc>
                <a:spcPts val="1620"/>
              </a:lnSpc>
              <a:spcBef>
                <a:spcPts val="300"/>
              </a:spcBef>
              <a:spcAft>
                <a:spcPts val="300"/>
              </a:spcAft>
              <a:buNone/>
            </a:pPr>
            <a:r>
              <a:rPr lang="en-US" sz="1200" b="1" dirty="0">
                <a:latin typeface="Arial" pitchFamily="34" charset="0"/>
                <a:ea typeface="Arial" pitchFamily="34" charset="-122"/>
                <a:cs typeface="Arial" pitchFamily="34" charset="-120"/>
              </a:rPr>
              <a:t>Early layers learn simple features:</a:t>
            </a:r>
            <a:endParaRPr lang="en-US" sz="1200" dirty="0"/>
          </a:p>
        </p:txBody>
      </p:sp>
      <p:sp>
        <p:nvSpPr>
          <p:cNvPr id="8" name="Text 2"/>
          <p:cNvSpPr/>
          <p:nvPr/>
        </p:nvSpPr>
        <p:spPr>
          <a:xfrm>
            <a:off x="668215" y="1692753"/>
            <a:ext cx="8229600" cy="1036141"/>
          </a:xfrm>
          <a:prstGeom prst="rect">
            <a:avLst/>
          </a:prstGeom>
          <a:noFill/>
          <a:ln/>
        </p:spPr>
        <p:txBody>
          <a:bodyPr wrap="square" lIns="114300" tIns="0" rIns="0" bIns="0" rtlCol="0" anchor="t"/>
          <a:lstStyle/>
          <a:p>
            <a:pPr marL="114300" indent="-114300" algn="l">
              <a:lnSpc>
                <a:spcPts val="1620"/>
              </a:lnSpc>
              <a:spcAft>
                <a:spcPts val="450"/>
              </a:spcAft>
              <a:buSzPct val="100000"/>
              <a:buChar char="•"/>
            </a:pPr>
            <a:r>
              <a:rPr lang="en-US" sz="1200" b="1" dirty="0">
                <a:latin typeface="Arial" pitchFamily="34" charset="0"/>
                <a:ea typeface="Arial" pitchFamily="34" charset="-122"/>
                <a:cs typeface="Arial" pitchFamily="34" charset="-120"/>
              </a:rPr>
              <a:t>Edges:</a:t>
            </a:r>
            <a:r>
              <a:rPr lang="en-US" sz="1200" dirty="0">
                <a:latin typeface="Arial" pitchFamily="34" charset="0"/>
                <a:ea typeface="Arial" pitchFamily="34" charset="-122"/>
                <a:cs typeface="Arial" pitchFamily="34" charset="-120"/>
              </a:rPr>
              <a:t> Horizontal, vertical, diagonal lines</a:t>
            </a:r>
            <a:endParaRPr lang="en-US" sz="1200" dirty="0"/>
          </a:p>
          <a:p>
            <a:pPr marL="114300" indent="-114300" algn="l">
              <a:lnSpc>
                <a:spcPts val="1620"/>
              </a:lnSpc>
              <a:spcAft>
                <a:spcPts val="450"/>
              </a:spcAft>
              <a:buSzPct val="100000"/>
              <a:buChar char="•"/>
            </a:pPr>
            <a:r>
              <a:rPr lang="en-US" sz="1200" b="1" dirty="0">
                <a:latin typeface="Arial" pitchFamily="34" charset="0"/>
                <a:ea typeface="Arial" pitchFamily="34" charset="-122"/>
                <a:cs typeface="Arial" pitchFamily="34" charset="-120"/>
              </a:rPr>
              <a:t>Colors:</a:t>
            </a:r>
            <a:r>
              <a:rPr lang="en-US" sz="1200" dirty="0">
                <a:latin typeface="Arial" pitchFamily="34" charset="0"/>
                <a:ea typeface="Arial" pitchFamily="34" charset="-122"/>
                <a:cs typeface="Arial" pitchFamily="34" charset="-120"/>
              </a:rPr>
              <a:t> Specific color blobs and gradients</a:t>
            </a:r>
            <a:endParaRPr lang="en-US" sz="1200" dirty="0"/>
          </a:p>
          <a:p>
            <a:pPr marL="114300" indent="-114300" algn="l">
              <a:lnSpc>
                <a:spcPts val="1620"/>
              </a:lnSpc>
              <a:spcAft>
                <a:spcPts val="450"/>
              </a:spcAft>
              <a:buSzPct val="100000"/>
              <a:buChar char="•"/>
            </a:pPr>
            <a:r>
              <a:rPr lang="en-US" sz="1200" b="1" dirty="0">
                <a:latin typeface="Arial" pitchFamily="34" charset="0"/>
                <a:ea typeface="Arial" pitchFamily="34" charset="-122"/>
                <a:cs typeface="Arial" pitchFamily="34" charset="-120"/>
              </a:rPr>
              <a:t>Textures:</a:t>
            </a:r>
            <a:r>
              <a:rPr lang="en-US" sz="1200" dirty="0">
                <a:latin typeface="Arial" pitchFamily="34" charset="0"/>
                <a:ea typeface="Arial" pitchFamily="34" charset="-122"/>
                <a:cs typeface="Arial" pitchFamily="34" charset="-120"/>
              </a:rPr>
              <a:t> Simple patterns and textures</a:t>
            </a:r>
            <a:endParaRPr lang="en-US" sz="1200" dirty="0"/>
          </a:p>
        </p:txBody>
      </p:sp>
      <p:sp>
        <p:nvSpPr>
          <p:cNvPr id="9" name="Text 3"/>
          <p:cNvSpPr/>
          <p:nvPr/>
        </p:nvSpPr>
        <p:spPr>
          <a:xfrm>
            <a:off x="668215" y="2919395"/>
            <a:ext cx="8394192" cy="205680"/>
          </a:xfrm>
          <a:prstGeom prst="rect">
            <a:avLst/>
          </a:prstGeom>
          <a:noFill/>
          <a:ln/>
        </p:spPr>
        <p:txBody>
          <a:bodyPr wrap="square" lIns="0" tIns="0" rIns="0" bIns="0" rtlCol="0" anchor="t"/>
          <a:lstStyle/>
          <a:p>
            <a:pPr marL="0" indent="0" algn="l">
              <a:lnSpc>
                <a:spcPts val="1620"/>
              </a:lnSpc>
              <a:spcBef>
                <a:spcPts val="900"/>
              </a:spcBef>
              <a:spcAft>
                <a:spcPts val="300"/>
              </a:spcAft>
              <a:buNone/>
            </a:pPr>
            <a:r>
              <a:rPr lang="en-US" sz="1200" b="1" dirty="0">
                <a:latin typeface="Arial" pitchFamily="34" charset="0"/>
                <a:ea typeface="Arial" pitchFamily="34" charset="-122"/>
                <a:cs typeface="Arial" pitchFamily="34" charset="-120"/>
              </a:rPr>
              <a:t>Deeper layers learn complex features:</a:t>
            </a:r>
            <a:endParaRPr lang="en-US" sz="1200" dirty="0"/>
          </a:p>
        </p:txBody>
      </p:sp>
      <p:sp>
        <p:nvSpPr>
          <p:cNvPr id="10" name="Text 4"/>
          <p:cNvSpPr/>
          <p:nvPr/>
        </p:nvSpPr>
        <p:spPr>
          <a:xfrm>
            <a:off x="668215" y="3239375"/>
            <a:ext cx="8229600" cy="1036141"/>
          </a:xfrm>
          <a:prstGeom prst="rect">
            <a:avLst/>
          </a:prstGeom>
          <a:noFill/>
          <a:ln/>
        </p:spPr>
        <p:txBody>
          <a:bodyPr wrap="square" lIns="114300" tIns="0" rIns="0" bIns="0" rtlCol="0" anchor="t"/>
          <a:lstStyle/>
          <a:p>
            <a:pPr marL="114300" indent="-114300" algn="l">
              <a:lnSpc>
                <a:spcPts val="1620"/>
              </a:lnSpc>
              <a:spcAft>
                <a:spcPts val="450"/>
              </a:spcAft>
              <a:buSzPct val="100000"/>
              <a:buChar char="•"/>
            </a:pPr>
            <a:r>
              <a:rPr lang="en-US" sz="1200" b="1" dirty="0">
                <a:latin typeface="Arial" pitchFamily="34" charset="0"/>
                <a:ea typeface="Arial" pitchFamily="34" charset="-122"/>
                <a:cs typeface="Arial" pitchFamily="34" charset="-120"/>
              </a:rPr>
              <a:t>Shapes:</a:t>
            </a:r>
            <a:r>
              <a:rPr lang="en-US" sz="1200" dirty="0">
                <a:latin typeface="Arial" pitchFamily="34" charset="0"/>
                <a:ea typeface="Arial" pitchFamily="34" charset="-122"/>
                <a:cs typeface="Arial" pitchFamily="34" charset="-120"/>
              </a:rPr>
              <a:t> Circles, curves, corners</a:t>
            </a:r>
            <a:endParaRPr lang="en-US" sz="1200" dirty="0"/>
          </a:p>
          <a:p>
            <a:pPr marL="114300" indent="-114300" algn="l">
              <a:lnSpc>
                <a:spcPts val="1620"/>
              </a:lnSpc>
              <a:spcAft>
                <a:spcPts val="450"/>
              </a:spcAft>
              <a:buSzPct val="100000"/>
              <a:buChar char="•"/>
            </a:pPr>
            <a:r>
              <a:rPr lang="en-US" sz="1200" b="1" dirty="0">
                <a:latin typeface="Arial" pitchFamily="34" charset="0"/>
                <a:ea typeface="Arial" pitchFamily="34" charset="-122"/>
                <a:cs typeface="Arial" pitchFamily="34" charset="-120"/>
              </a:rPr>
              <a:t>Parts:</a:t>
            </a:r>
            <a:r>
              <a:rPr lang="en-US" sz="1200" dirty="0">
                <a:latin typeface="Arial" pitchFamily="34" charset="0"/>
                <a:ea typeface="Arial" pitchFamily="34" charset="-122"/>
                <a:cs typeface="Arial" pitchFamily="34" charset="-120"/>
              </a:rPr>
              <a:t> Eyes, wheels, windows</a:t>
            </a:r>
            <a:endParaRPr lang="en-US" sz="1200" dirty="0"/>
          </a:p>
          <a:p>
            <a:pPr marL="114300" indent="-114300" algn="l">
              <a:lnSpc>
                <a:spcPts val="1620"/>
              </a:lnSpc>
              <a:spcAft>
                <a:spcPts val="450"/>
              </a:spcAft>
              <a:buSzPct val="100000"/>
              <a:buChar char="•"/>
            </a:pPr>
            <a:r>
              <a:rPr lang="en-US" sz="1200" b="1" dirty="0">
                <a:latin typeface="Arial" pitchFamily="34" charset="0"/>
                <a:ea typeface="Arial" pitchFamily="34" charset="-122"/>
                <a:cs typeface="Arial" pitchFamily="34" charset="-120"/>
              </a:rPr>
              <a:t>Objects:</a:t>
            </a:r>
            <a:r>
              <a:rPr lang="en-US" sz="1200" dirty="0">
                <a:latin typeface="Arial" pitchFamily="34" charset="0"/>
                <a:ea typeface="Arial" pitchFamily="34" charset="-122"/>
                <a:cs typeface="Arial" pitchFamily="34" charset="-120"/>
              </a:rPr>
              <a:t> Entire faces, cars, animals</a:t>
            </a:r>
            <a:endParaRPr lang="en-US" sz="1200" dirty="0"/>
          </a:p>
        </p:txBody>
      </p:sp>
    </p:spTree>
    <p:extLst>
      <p:ext uri="{BB962C8B-B14F-4D97-AF65-F5344CB8AC3E}">
        <p14:creationId xmlns:p14="http://schemas.microsoft.com/office/powerpoint/2010/main" val="249369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p:cNvSpPr/>
          <p:nvPr/>
        </p:nvSpPr>
        <p:spPr>
          <a:xfrm>
            <a:off x="457200" y="285750"/>
            <a:ext cx="4663440" cy="323850"/>
          </a:xfrm>
          <a:prstGeom prst="rect">
            <a:avLst/>
          </a:prstGeom>
          <a:noFill/>
          <a:ln/>
        </p:spPr>
        <p:txBody>
          <a:bodyPr wrap="square" lIns="0" tIns="0" rIns="0" bIns="0" rtlCol="0" anchor="t"/>
          <a:lstStyle/>
          <a:p>
            <a:pPr marL="0" indent="0" algn="l">
              <a:lnSpc>
                <a:spcPts val="2550"/>
              </a:lnSpc>
              <a:spcAft>
                <a:spcPts val="1500"/>
              </a:spcAft>
              <a:buNone/>
            </a:pPr>
            <a:r>
              <a:rPr lang="en-US" sz="2550" b="1" dirty="0">
                <a:solidFill>
                  <a:srgbClr val="F59E0B"/>
                </a:solidFill>
                <a:latin typeface="Segoe UI" pitchFamily="34" charset="0"/>
                <a:ea typeface="Segoe UI" pitchFamily="34" charset="-122"/>
                <a:cs typeface="Segoe UI" pitchFamily="34" charset="-120"/>
              </a:rPr>
              <a:t>Hierarchical Feature Learning</a:t>
            </a:r>
            <a:endParaRPr lang="en-US" sz="2550" dirty="0"/>
          </a:p>
        </p:txBody>
      </p:sp>
      <p:sp>
        <p:nvSpPr>
          <p:cNvPr id="5" name="Rectangle 4"/>
          <p:cNvSpPr/>
          <p:nvPr/>
        </p:nvSpPr>
        <p:spPr>
          <a:xfrm>
            <a:off x="457199" y="884314"/>
            <a:ext cx="7997483" cy="1754326"/>
          </a:xfrm>
          <a:prstGeom prst="rect">
            <a:avLst/>
          </a:prstGeom>
        </p:spPr>
        <p:txBody>
          <a:bodyPr wrap="square">
            <a:spAutoFit/>
          </a:bodyPr>
          <a:lstStyle/>
          <a:p>
            <a:r>
              <a:rPr lang="en-US" dirty="0"/>
              <a:t>CNNs learn features in a hierarchical manner. Early layers capture low-level patterns such as edges and textures. Intermediate layers combine these patterns into more complex structures like shapes or object parts. Deeper layers represent high-level, abstract features, enabling the network to recognize entire objects or scenes. This layered approach allows CNNs to progressively understand images from simple to complex representations.</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9112" y="2913354"/>
            <a:ext cx="9526329" cy="2699655"/>
          </a:xfrm>
          <a:prstGeom prst="rect">
            <a:avLst/>
          </a:prstGeom>
        </p:spPr>
      </p:pic>
    </p:spTree>
    <p:extLst>
      <p:ext uri="{BB962C8B-B14F-4D97-AF65-F5344CB8AC3E}">
        <p14:creationId xmlns:p14="http://schemas.microsoft.com/office/powerpoint/2010/main" val="22412106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036320" y="515123"/>
            <a:ext cx="1760675" cy="425758"/>
          </a:xfrm>
          <a:prstGeom prst="rect">
            <a:avLst/>
          </a:prstGeom>
        </p:spPr>
        <p:txBody>
          <a:bodyPr wrap="none">
            <a:spAutoFit/>
          </a:bodyPr>
          <a:lstStyle/>
          <a:p>
            <a:pPr>
              <a:lnSpc>
                <a:spcPts val="2550"/>
              </a:lnSpc>
              <a:spcAft>
                <a:spcPts val="1500"/>
              </a:spcAft>
            </a:pPr>
            <a:r>
              <a:rPr lang="en-US" b="1" dirty="0">
                <a:solidFill>
                  <a:srgbClr val="F59E0B"/>
                </a:solidFill>
                <a:latin typeface="Segoe UI" pitchFamily="34" charset="0"/>
                <a:ea typeface="Segoe UI" pitchFamily="34" charset="-122"/>
                <a:cs typeface="Segoe UI" pitchFamily="34" charset="-120"/>
              </a:rPr>
              <a:t>Pooling Layers</a:t>
            </a:r>
            <a:endParaRPr lang="en-US" dirty="0"/>
          </a:p>
        </p:txBody>
      </p:sp>
      <p:sp>
        <p:nvSpPr>
          <p:cNvPr id="5" name="Rectangle 4"/>
          <p:cNvSpPr/>
          <p:nvPr/>
        </p:nvSpPr>
        <p:spPr>
          <a:xfrm>
            <a:off x="1036320" y="1250074"/>
            <a:ext cx="6321083" cy="2585323"/>
          </a:xfrm>
          <a:prstGeom prst="rect">
            <a:avLst/>
          </a:prstGeom>
        </p:spPr>
        <p:txBody>
          <a:bodyPr wrap="square">
            <a:spAutoFit/>
          </a:bodyPr>
          <a:lstStyle/>
          <a:p>
            <a:r>
              <a:rPr lang="en-US" dirty="0"/>
              <a:t>Pooling layers reduce the spatial size of feature maps while retaining the most important information. They help decrease computational complexity, control overfitting, and make the model more robust to small spatial changes in the input. Common pooling methods include max pooling, which keeps the strongest feature responses, and average pooling, which computes the average value within a region. Pooling enables CNNs to focus on dominant features rather than exact pixel locations.</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09804" y="940881"/>
            <a:ext cx="2743200" cy="4515356"/>
          </a:xfrm>
          <a:prstGeom prst="rect">
            <a:avLst/>
          </a:prstGeom>
        </p:spPr>
      </p:pic>
      <p:pic>
        <p:nvPicPr>
          <p:cNvPr id="8" name="Image 0" descr="/tmp/rasterized-svg-1ca16b5c.png"/>
          <p:cNvPicPr>
            <a:picLocks noChangeAspect="1"/>
          </p:cNvPicPr>
          <p:nvPr/>
        </p:nvPicPr>
        <p:blipFill>
          <a:blip r:embed="rId3"/>
          <a:stretch>
            <a:fillRect/>
          </a:stretch>
        </p:blipFill>
        <p:spPr>
          <a:xfrm>
            <a:off x="1232097" y="4144590"/>
            <a:ext cx="5715000" cy="1809750"/>
          </a:xfrm>
          <a:prstGeom prst="rect">
            <a:avLst/>
          </a:prstGeom>
        </p:spPr>
      </p:pic>
    </p:spTree>
    <p:extLst>
      <p:ext uri="{BB962C8B-B14F-4D97-AF65-F5344CB8AC3E}">
        <p14:creationId xmlns:p14="http://schemas.microsoft.com/office/powerpoint/2010/main" val="41737355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p:cNvSpPr/>
          <p:nvPr/>
        </p:nvSpPr>
        <p:spPr>
          <a:xfrm>
            <a:off x="1118382" y="1115744"/>
            <a:ext cx="4206812" cy="323850"/>
          </a:xfrm>
          <a:prstGeom prst="rect">
            <a:avLst/>
          </a:prstGeom>
          <a:noFill/>
          <a:ln/>
        </p:spPr>
        <p:txBody>
          <a:bodyPr wrap="square" lIns="0" tIns="0" rIns="0" bIns="0" rtlCol="0" anchor="t"/>
          <a:lstStyle/>
          <a:p>
            <a:pPr marL="0" indent="0" algn="l">
              <a:lnSpc>
                <a:spcPts val="2550"/>
              </a:lnSpc>
              <a:spcAft>
                <a:spcPts val="1500"/>
              </a:spcAft>
              <a:buNone/>
            </a:pPr>
            <a:r>
              <a:rPr lang="en-US" sz="2550" b="1" dirty="0">
                <a:latin typeface="Segoe UI" pitchFamily="34" charset="0"/>
                <a:ea typeface="Segoe UI" pitchFamily="34" charset="-122"/>
                <a:cs typeface="Segoe UI" pitchFamily="34" charset="-120"/>
              </a:rPr>
              <a:t>Why Use Pooling?</a:t>
            </a:r>
            <a:endParaRPr lang="en-US" sz="2550" dirty="0"/>
          </a:p>
        </p:txBody>
      </p:sp>
      <p:sp>
        <p:nvSpPr>
          <p:cNvPr id="5" name="Text 1"/>
          <p:cNvSpPr/>
          <p:nvPr/>
        </p:nvSpPr>
        <p:spPr>
          <a:xfrm>
            <a:off x="1118382" y="1706294"/>
            <a:ext cx="8229600" cy="1394222"/>
          </a:xfrm>
          <a:prstGeom prst="rect">
            <a:avLst/>
          </a:prstGeom>
          <a:noFill/>
          <a:ln/>
        </p:spPr>
        <p:txBody>
          <a:bodyPr wrap="square" lIns="114300" tIns="0" rIns="0" bIns="0" rtlCol="0" anchor="t"/>
          <a:lstStyle/>
          <a:p>
            <a:pPr marL="114300" indent="-114300" algn="l">
              <a:lnSpc>
                <a:spcPts val="1620"/>
              </a:lnSpc>
              <a:spcAft>
                <a:spcPts val="450"/>
              </a:spcAft>
              <a:buSzPct val="100000"/>
              <a:buChar char="•"/>
            </a:pPr>
            <a:r>
              <a:rPr lang="en-US" sz="1200" b="1" dirty="0">
                <a:latin typeface="Arial" pitchFamily="34" charset="0"/>
                <a:ea typeface="Arial" pitchFamily="34" charset="-122"/>
                <a:cs typeface="Arial" pitchFamily="34" charset="-120"/>
              </a:rPr>
              <a:t>Dimensionality Reduction:</a:t>
            </a:r>
            <a:r>
              <a:rPr lang="en-US" sz="1200" dirty="0">
                <a:latin typeface="Arial" pitchFamily="34" charset="0"/>
                <a:ea typeface="Arial" pitchFamily="34" charset="-122"/>
                <a:cs typeface="Arial" pitchFamily="34" charset="-120"/>
              </a:rPr>
              <a:t> Smaller feature maps → fewer parameters</a:t>
            </a:r>
            <a:endParaRPr lang="en-US" sz="1200" dirty="0"/>
          </a:p>
          <a:p>
            <a:pPr marL="114300" indent="-114300" algn="l">
              <a:lnSpc>
                <a:spcPts val="1620"/>
              </a:lnSpc>
              <a:spcAft>
                <a:spcPts val="450"/>
              </a:spcAft>
              <a:buSzPct val="100000"/>
              <a:buChar char="•"/>
            </a:pPr>
            <a:r>
              <a:rPr lang="en-US" sz="1200" b="1" dirty="0">
                <a:latin typeface="Arial" pitchFamily="34" charset="0"/>
                <a:ea typeface="Arial" pitchFamily="34" charset="-122"/>
                <a:cs typeface="Arial" pitchFamily="34" charset="-120"/>
              </a:rPr>
              <a:t>Translation Invariance:</a:t>
            </a:r>
            <a:r>
              <a:rPr lang="en-US" sz="1200" dirty="0">
                <a:latin typeface="Arial" pitchFamily="34" charset="0"/>
                <a:ea typeface="Arial" pitchFamily="34" charset="-122"/>
                <a:cs typeface="Arial" pitchFamily="34" charset="-120"/>
              </a:rPr>
              <a:t> Small shifts don't matter</a:t>
            </a:r>
            <a:endParaRPr lang="en-US" sz="1200" dirty="0"/>
          </a:p>
          <a:p>
            <a:pPr marL="114300" indent="-114300" algn="l">
              <a:lnSpc>
                <a:spcPts val="1620"/>
              </a:lnSpc>
              <a:spcAft>
                <a:spcPts val="450"/>
              </a:spcAft>
              <a:buSzPct val="100000"/>
              <a:buChar char="•"/>
            </a:pPr>
            <a:r>
              <a:rPr lang="en-US" sz="1200" b="1" dirty="0">
                <a:latin typeface="Arial" pitchFamily="34" charset="0"/>
                <a:ea typeface="Arial" pitchFamily="34" charset="-122"/>
                <a:cs typeface="Arial" pitchFamily="34" charset="-120"/>
              </a:rPr>
              <a:t>Computational Efficiency:</a:t>
            </a:r>
            <a:r>
              <a:rPr lang="en-US" sz="1200" dirty="0">
                <a:latin typeface="Arial" pitchFamily="34" charset="0"/>
                <a:ea typeface="Arial" pitchFamily="34" charset="-122"/>
                <a:cs typeface="Arial" pitchFamily="34" charset="-120"/>
              </a:rPr>
              <a:t> Faster training and inference</a:t>
            </a:r>
            <a:endParaRPr lang="en-US" sz="1200" dirty="0"/>
          </a:p>
          <a:p>
            <a:pPr marL="114300" indent="-114300" algn="l">
              <a:lnSpc>
                <a:spcPts val="1620"/>
              </a:lnSpc>
              <a:spcAft>
                <a:spcPts val="450"/>
              </a:spcAft>
              <a:buSzPct val="100000"/>
              <a:buChar char="•"/>
            </a:pPr>
            <a:r>
              <a:rPr lang="en-US" sz="1200" b="1" dirty="0">
                <a:latin typeface="Arial" pitchFamily="34" charset="0"/>
                <a:ea typeface="Arial" pitchFamily="34" charset="-122"/>
                <a:cs typeface="Arial" pitchFamily="34" charset="-120"/>
              </a:rPr>
              <a:t>Overfitting Prevention:</a:t>
            </a:r>
            <a:r>
              <a:rPr lang="en-US" sz="1200" dirty="0">
                <a:latin typeface="Arial" pitchFamily="34" charset="0"/>
                <a:ea typeface="Arial" pitchFamily="34" charset="-122"/>
                <a:cs typeface="Arial" pitchFamily="34" charset="-120"/>
              </a:rPr>
              <a:t> Reduces model complexity</a:t>
            </a:r>
            <a:endParaRPr lang="en-US" sz="1200" dirty="0"/>
          </a:p>
        </p:txBody>
      </p:sp>
      <p:sp>
        <p:nvSpPr>
          <p:cNvPr id="6" name="Text 2"/>
          <p:cNvSpPr/>
          <p:nvPr/>
        </p:nvSpPr>
        <p:spPr>
          <a:xfrm>
            <a:off x="1118382" y="3310066"/>
            <a:ext cx="8229600" cy="959941"/>
          </a:xfrm>
          <a:prstGeom prst="roundRect">
            <a:avLst>
              <a:gd name="adj" fmla="val 3969"/>
            </a:avLst>
          </a:prstGeom>
          <a:solidFill>
            <a:srgbClr val="0EA5E9">
              <a:alpha val="15000"/>
            </a:srgbClr>
          </a:solidFill>
          <a:ln/>
        </p:spPr>
        <p:txBody>
          <a:bodyPr wrap="square" rtlCol="0" anchor="ctr"/>
          <a:lstStyle/>
          <a:p>
            <a:pPr marL="0" indent="0">
              <a:buNone/>
            </a:pPr>
            <a:endParaRPr lang="en-US" dirty="0"/>
          </a:p>
        </p:txBody>
      </p:sp>
      <p:sp>
        <p:nvSpPr>
          <p:cNvPr id="7" name="Shape 3"/>
          <p:cNvSpPr/>
          <p:nvPr/>
        </p:nvSpPr>
        <p:spPr>
          <a:xfrm>
            <a:off x="1137432" y="3310066"/>
            <a:ext cx="0" cy="959941"/>
          </a:xfrm>
          <a:prstGeom prst="line">
            <a:avLst/>
          </a:prstGeom>
          <a:noFill/>
          <a:ln w="38100">
            <a:solidFill>
              <a:srgbClr val="2563EB"/>
            </a:solidFill>
            <a:prstDash val="solid"/>
          </a:ln>
        </p:spPr>
      </p:sp>
      <p:sp>
        <p:nvSpPr>
          <p:cNvPr id="8" name="Text 4"/>
          <p:cNvSpPr/>
          <p:nvPr/>
        </p:nvSpPr>
        <p:spPr>
          <a:xfrm>
            <a:off x="1251732" y="3443416"/>
            <a:ext cx="8161020" cy="205680"/>
          </a:xfrm>
          <a:prstGeom prst="rect">
            <a:avLst/>
          </a:prstGeom>
          <a:noFill/>
          <a:ln/>
        </p:spPr>
        <p:txBody>
          <a:bodyPr wrap="square" lIns="0" tIns="0" rIns="0" bIns="0" rtlCol="0" anchor="t"/>
          <a:lstStyle/>
          <a:p>
            <a:pPr marL="0" indent="0" algn="l">
              <a:lnSpc>
                <a:spcPts val="1620"/>
              </a:lnSpc>
              <a:spcBef>
                <a:spcPts val="300"/>
              </a:spcBef>
              <a:spcAft>
                <a:spcPts val="300"/>
              </a:spcAft>
              <a:buNone/>
            </a:pPr>
            <a:r>
              <a:rPr lang="en-US" sz="1200" b="1" dirty="0">
                <a:latin typeface="Arial" pitchFamily="34" charset="0"/>
                <a:ea typeface="Arial" pitchFamily="34" charset="-122"/>
                <a:cs typeface="Arial" pitchFamily="34" charset="-120"/>
              </a:rPr>
              <a:t>Types of Pooling:</a:t>
            </a:r>
            <a:endParaRPr lang="en-US" sz="1200" dirty="0"/>
          </a:p>
        </p:txBody>
      </p:sp>
      <p:sp>
        <p:nvSpPr>
          <p:cNvPr id="9" name="Text 5"/>
          <p:cNvSpPr/>
          <p:nvPr/>
        </p:nvSpPr>
        <p:spPr>
          <a:xfrm>
            <a:off x="1251732" y="3687196"/>
            <a:ext cx="8161020" cy="205680"/>
          </a:xfrm>
          <a:prstGeom prst="rect">
            <a:avLst/>
          </a:prstGeom>
          <a:noFill/>
          <a:ln/>
        </p:spPr>
        <p:txBody>
          <a:bodyPr wrap="square" lIns="0" tIns="0" rIns="0" bIns="0" rtlCol="0" anchor="t"/>
          <a:lstStyle/>
          <a:p>
            <a:pPr marL="0" indent="0" algn="l">
              <a:lnSpc>
                <a:spcPts val="1620"/>
              </a:lnSpc>
              <a:spcBef>
                <a:spcPts val="300"/>
              </a:spcBef>
              <a:spcAft>
                <a:spcPts val="300"/>
              </a:spcAft>
              <a:buNone/>
            </a:pPr>
            <a:r>
              <a:rPr lang="en-US" sz="1200" b="1" dirty="0">
                <a:latin typeface="Arial" pitchFamily="34" charset="0"/>
                <a:ea typeface="Arial" pitchFamily="34" charset="-122"/>
                <a:cs typeface="Arial" pitchFamily="34" charset="-120"/>
              </a:rPr>
              <a:t>Max Pooling:</a:t>
            </a:r>
            <a:r>
              <a:rPr lang="en-US" sz="1200" dirty="0">
                <a:latin typeface="Arial" pitchFamily="34" charset="0"/>
                <a:ea typeface="Arial" pitchFamily="34" charset="-122"/>
                <a:cs typeface="Arial" pitchFamily="34" charset="-120"/>
              </a:rPr>
              <a:t> Takes maximum value (most common)</a:t>
            </a:r>
            <a:endParaRPr lang="en-US" sz="1200" dirty="0"/>
          </a:p>
        </p:txBody>
      </p:sp>
      <p:sp>
        <p:nvSpPr>
          <p:cNvPr id="10" name="Text 6"/>
          <p:cNvSpPr/>
          <p:nvPr/>
        </p:nvSpPr>
        <p:spPr>
          <a:xfrm>
            <a:off x="1251732" y="3930977"/>
            <a:ext cx="8161020" cy="205680"/>
          </a:xfrm>
          <a:prstGeom prst="rect">
            <a:avLst/>
          </a:prstGeom>
          <a:noFill/>
          <a:ln/>
        </p:spPr>
        <p:txBody>
          <a:bodyPr wrap="square" lIns="0" tIns="0" rIns="0" bIns="0" rtlCol="0" anchor="t"/>
          <a:lstStyle/>
          <a:p>
            <a:pPr marL="0" indent="0" algn="l">
              <a:lnSpc>
                <a:spcPts val="1620"/>
              </a:lnSpc>
              <a:spcBef>
                <a:spcPts val="300"/>
              </a:spcBef>
              <a:spcAft>
                <a:spcPts val="300"/>
              </a:spcAft>
              <a:buNone/>
            </a:pPr>
            <a:r>
              <a:rPr lang="en-US" sz="1200" b="1" dirty="0">
                <a:latin typeface="Arial" pitchFamily="34" charset="0"/>
                <a:ea typeface="Arial" pitchFamily="34" charset="-122"/>
                <a:cs typeface="Arial" pitchFamily="34" charset="-120"/>
              </a:rPr>
              <a:t>Average Pooling:</a:t>
            </a:r>
            <a:r>
              <a:rPr lang="en-US" sz="1200" dirty="0">
                <a:latin typeface="Arial" pitchFamily="34" charset="0"/>
                <a:ea typeface="Arial" pitchFamily="34" charset="-122"/>
                <a:cs typeface="Arial" pitchFamily="34" charset="-120"/>
              </a:rPr>
              <a:t> Takes average value</a:t>
            </a:r>
            <a:endParaRPr lang="en-US" sz="1200" dirty="0"/>
          </a:p>
        </p:txBody>
      </p:sp>
    </p:spTree>
    <p:extLst>
      <p:ext uri="{BB962C8B-B14F-4D97-AF65-F5344CB8AC3E}">
        <p14:creationId xmlns:p14="http://schemas.microsoft.com/office/powerpoint/2010/main" val="1121834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7"/>
          <p:cNvSpPr>
            <a:spLocks noChangeArrowheads="1"/>
          </p:cNvSpPr>
          <p:nvPr/>
        </p:nvSpPr>
        <p:spPr bwMode="auto">
          <a:xfrm>
            <a:off x="464458" y="1366468"/>
            <a:ext cx="5247025"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rPr>
              <a:t>Activation functions introduce non linearity into CNNs, allowing the network to learn complex patterns beyond simple linear relationships. They determine which features are activated and passed to the next layer. The most commonly used activation function in CNNs is </a:t>
            </a:r>
            <a:r>
              <a:rPr kumimoji="0" lang="en-US" altLang="en-US" sz="1800" b="0" i="0" u="none" strike="noStrike" cap="none" normalizeH="0" baseline="0" dirty="0" err="1" smtClean="0">
                <a:ln>
                  <a:noFill/>
                </a:ln>
                <a:solidFill>
                  <a:schemeClr val="tx1"/>
                </a:solidFill>
                <a:effectLst/>
                <a:latin typeface="Arial" panose="020B0604020202020204" pitchFamily="34" charset="0"/>
              </a:rPr>
              <a:t>ReLU</a:t>
            </a:r>
            <a:r>
              <a:rPr kumimoji="0" lang="en-US" altLang="en-US" sz="1800" b="0" i="0" u="none" strike="noStrike" cap="none" normalizeH="0" baseline="0" dirty="0" smtClean="0">
                <a:ln>
                  <a:noFill/>
                </a:ln>
                <a:solidFill>
                  <a:schemeClr val="tx1"/>
                </a:solidFill>
                <a:effectLst/>
                <a:latin typeface="Arial" panose="020B0604020202020204" pitchFamily="34" charset="0"/>
              </a:rPr>
              <a:t>, which helps reduce vanishing gradient issues and speeds up training. Activation functions enable CNNs to model real world visual patterns effectively.</a:t>
            </a:r>
          </a:p>
        </p:txBody>
      </p:sp>
      <p:sp>
        <p:nvSpPr>
          <p:cNvPr id="22" name="Text 0"/>
          <p:cNvSpPr/>
          <p:nvPr/>
        </p:nvSpPr>
        <p:spPr>
          <a:xfrm>
            <a:off x="464458" y="749984"/>
            <a:ext cx="4644009" cy="323850"/>
          </a:xfrm>
          <a:prstGeom prst="rect">
            <a:avLst/>
          </a:prstGeom>
          <a:noFill/>
          <a:ln/>
        </p:spPr>
        <p:txBody>
          <a:bodyPr wrap="square" lIns="0" tIns="0" rIns="0" bIns="0" rtlCol="0" anchor="t"/>
          <a:lstStyle/>
          <a:p>
            <a:pPr marL="0" indent="0" algn="l">
              <a:lnSpc>
                <a:spcPts val="2550"/>
              </a:lnSpc>
              <a:spcAft>
                <a:spcPts val="1500"/>
              </a:spcAft>
              <a:buNone/>
            </a:pPr>
            <a:r>
              <a:rPr lang="en-US" sz="2550" b="1" dirty="0">
                <a:solidFill>
                  <a:srgbClr val="F59E0B"/>
                </a:solidFill>
                <a:latin typeface="Segoe UI" pitchFamily="34" charset="0"/>
                <a:ea typeface="Segoe UI" pitchFamily="34" charset="-122"/>
                <a:cs typeface="Segoe UI" pitchFamily="34" charset="-120"/>
              </a:rPr>
              <a:t>Activation Functions in CNNs</a:t>
            </a:r>
            <a:endParaRPr lang="en-US" sz="2550" dirty="0"/>
          </a:p>
        </p:txBody>
      </p:sp>
      <p:pic>
        <p:nvPicPr>
          <p:cNvPr id="23" name="Picture 2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86732" y="1566592"/>
            <a:ext cx="4916805" cy="2950083"/>
          </a:xfrm>
          <a:prstGeom prst="rect">
            <a:avLst/>
          </a:prstGeom>
        </p:spPr>
      </p:pic>
      <p:sp>
        <p:nvSpPr>
          <p:cNvPr id="24" name="Text 2"/>
          <p:cNvSpPr/>
          <p:nvPr/>
        </p:nvSpPr>
        <p:spPr>
          <a:xfrm>
            <a:off x="464458" y="4516675"/>
            <a:ext cx="2448306" cy="253901"/>
          </a:xfrm>
          <a:prstGeom prst="rect">
            <a:avLst/>
          </a:prstGeom>
          <a:noFill/>
          <a:ln/>
        </p:spPr>
        <p:txBody>
          <a:bodyPr wrap="square" lIns="0" tIns="0" rIns="0" bIns="0" rtlCol="0" anchor="t"/>
          <a:lstStyle/>
          <a:p>
            <a:pPr marL="0" indent="0" algn="l">
              <a:lnSpc>
                <a:spcPts val="2000"/>
              </a:lnSpc>
              <a:spcBef>
                <a:spcPts val="900"/>
              </a:spcBef>
              <a:spcAft>
                <a:spcPts val="600"/>
              </a:spcAft>
              <a:buNone/>
            </a:pPr>
            <a:r>
              <a:rPr lang="en-US" sz="1800" b="1" dirty="0">
                <a:latin typeface="Arial" pitchFamily="34" charset="0"/>
                <a:ea typeface="Arial" pitchFamily="34" charset="-122"/>
                <a:cs typeface="Arial" pitchFamily="34" charset="-120"/>
              </a:rPr>
              <a:t>ReLU (Most Common)</a:t>
            </a:r>
            <a:endParaRPr lang="en-US" sz="1800" dirty="0"/>
          </a:p>
        </p:txBody>
      </p:sp>
      <p:sp>
        <p:nvSpPr>
          <p:cNvPr id="25" name="Text 3"/>
          <p:cNvSpPr/>
          <p:nvPr/>
        </p:nvSpPr>
        <p:spPr>
          <a:xfrm>
            <a:off x="464458" y="4846776"/>
            <a:ext cx="4061079" cy="179933"/>
          </a:xfrm>
          <a:prstGeom prst="rect">
            <a:avLst/>
          </a:prstGeom>
          <a:noFill/>
          <a:ln/>
        </p:spPr>
        <p:txBody>
          <a:bodyPr wrap="square" lIns="0" tIns="0" rIns="0" bIns="0" rtlCol="0" anchor="t"/>
          <a:lstStyle/>
          <a:p>
            <a:pPr marL="0" indent="0" algn="l">
              <a:lnSpc>
                <a:spcPts val="1418"/>
              </a:lnSpc>
              <a:spcBef>
                <a:spcPts val="300"/>
              </a:spcBef>
              <a:spcAft>
                <a:spcPts val="300"/>
              </a:spcAft>
              <a:buNone/>
            </a:pPr>
            <a:r>
              <a:rPr lang="en-US" sz="1050" dirty="0">
                <a:latin typeface="Arial" pitchFamily="34" charset="0"/>
                <a:ea typeface="Arial" pitchFamily="34" charset="-122"/>
                <a:cs typeface="Arial" pitchFamily="34" charset="-120"/>
              </a:rPr>
              <a:t>Rectified Linear Unit</a:t>
            </a:r>
            <a:endParaRPr lang="en-US" sz="1050" dirty="0"/>
          </a:p>
        </p:txBody>
      </p:sp>
      <p:sp>
        <p:nvSpPr>
          <p:cNvPr id="26" name="Text 4"/>
          <p:cNvSpPr/>
          <p:nvPr/>
        </p:nvSpPr>
        <p:spPr>
          <a:xfrm>
            <a:off x="464458" y="5064809"/>
            <a:ext cx="4061079" cy="179933"/>
          </a:xfrm>
          <a:prstGeom prst="rect">
            <a:avLst/>
          </a:prstGeom>
          <a:noFill/>
          <a:ln/>
        </p:spPr>
        <p:txBody>
          <a:bodyPr wrap="square" lIns="0" tIns="0" rIns="0" bIns="0" rtlCol="0" anchor="t"/>
          <a:lstStyle/>
          <a:p>
            <a:pPr marL="0" indent="0" algn="l">
              <a:lnSpc>
                <a:spcPts val="1418"/>
              </a:lnSpc>
              <a:spcBef>
                <a:spcPts val="300"/>
              </a:spcBef>
              <a:spcAft>
                <a:spcPts val="300"/>
              </a:spcAft>
              <a:buNone/>
            </a:pPr>
            <a:r>
              <a:rPr lang="en-US" sz="1050" dirty="0">
                <a:latin typeface="Arial" pitchFamily="34" charset="0"/>
                <a:ea typeface="Arial" pitchFamily="34" charset="-122"/>
                <a:cs typeface="Arial" pitchFamily="34" charset="-120"/>
              </a:rPr>
              <a:t>Negative → 0</a:t>
            </a:r>
            <a:endParaRPr lang="en-US" sz="1050" dirty="0"/>
          </a:p>
        </p:txBody>
      </p:sp>
      <p:sp>
        <p:nvSpPr>
          <p:cNvPr id="27" name="Text 5"/>
          <p:cNvSpPr/>
          <p:nvPr/>
        </p:nvSpPr>
        <p:spPr>
          <a:xfrm>
            <a:off x="464458" y="5282843"/>
            <a:ext cx="4061079" cy="179933"/>
          </a:xfrm>
          <a:prstGeom prst="rect">
            <a:avLst/>
          </a:prstGeom>
          <a:noFill/>
          <a:ln/>
        </p:spPr>
        <p:txBody>
          <a:bodyPr wrap="square" lIns="0" tIns="0" rIns="0" bIns="0" rtlCol="0" anchor="t"/>
          <a:lstStyle/>
          <a:p>
            <a:pPr marL="0" indent="0" algn="l">
              <a:lnSpc>
                <a:spcPts val="1418"/>
              </a:lnSpc>
              <a:spcBef>
                <a:spcPts val="300"/>
              </a:spcBef>
              <a:spcAft>
                <a:spcPts val="300"/>
              </a:spcAft>
              <a:buNone/>
            </a:pPr>
            <a:r>
              <a:rPr lang="en-US" sz="1050" dirty="0">
                <a:latin typeface="Arial" pitchFamily="34" charset="0"/>
                <a:ea typeface="Arial" pitchFamily="34" charset="-122"/>
                <a:cs typeface="Arial" pitchFamily="34" charset="-120"/>
              </a:rPr>
              <a:t>Positive → keeps value</a:t>
            </a:r>
            <a:endParaRPr lang="en-US" sz="1050" dirty="0"/>
          </a:p>
        </p:txBody>
      </p:sp>
      <p:sp>
        <p:nvSpPr>
          <p:cNvPr id="28" name="Text 6"/>
          <p:cNvSpPr/>
          <p:nvPr/>
        </p:nvSpPr>
        <p:spPr>
          <a:xfrm>
            <a:off x="464458" y="5538976"/>
            <a:ext cx="4061079" cy="205680"/>
          </a:xfrm>
          <a:prstGeom prst="rect">
            <a:avLst/>
          </a:prstGeom>
          <a:noFill/>
          <a:ln/>
        </p:spPr>
        <p:txBody>
          <a:bodyPr wrap="square" lIns="0" tIns="0" rIns="0" bIns="0" rtlCol="0" anchor="t"/>
          <a:lstStyle/>
          <a:p>
            <a:pPr marL="0" indent="0" algn="l">
              <a:lnSpc>
                <a:spcPts val="1620"/>
              </a:lnSpc>
              <a:spcBef>
                <a:spcPts val="600"/>
              </a:spcBef>
              <a:spcAft>
                <a:spcPts val="300"/>
              </a:spcAft>
              <a:buNone/>
            </a:pPr>
            <a:r>
              <a:rPr lang="en-US" sz="1200" b="1" dirty="0">
                <a:latin typeface="Arial" pitchFamily="34" charset="0"/>
                <a:ea typeface="Arial" pitchFamily="34" charset="-122"/>
                <a:cs typeface="Arial" pitchFamily="34" charset="-120"/>
              </a:rPr>
              <a:t>Fast, effective</a:t>
            </a:r>
            <a:endParaRPr lang="en-US" sz="1200" dirty="0"/>
          </a:p>
        </p:txBody>
      </p:sp>
      <p:sp>
        <p:nvSpPr>
          <p:cNvPr id="29" name="Text 7"/>
          <p:cNvSpPr/>
          <p:nvPr/>
        </p:nvSpPr>
        <p:spPr>
          <a:xfrm>
            <a:off x="4712608" y="4516675"/>
            <a:ext cx="2040255" cy="253901"/>
          </a:xfrm>
          <a:prstGeom prst="rect">
            <a:avLst/>
          </a:prstGeom>
          <a:noFill/>
          <a:ln/>
        </p:spPr>
        <p:txBody>
          <a:bodyPr wrap="square" lIns="0" tIns="0" rIns="0" bIns="0" rtlCol="0" anchor="t"/>
          <a:lstStyle/>
          <a:p>
            <a:pPr marL="0" indent="0" algn="l">
              <a:lnSpc>
                <a:spcPts val="2000"/>
              </a:lnSpc>
              <a:spcBef>
                <a:spcPts val="900"/>
              </a:spcBef>
              <a:spcAft>
                <a:spcPts val="600"/>
              </a:spcAft>
              <a:buNone/>
            </a:pPr>
            <a:r>
              <a:rPr lang="en-US" sz="1800" b="1" dirty="0">
                <a:latin typeface="Arial" pitchFamily="34" charset="0"/>
                <a:ea typeface="Arial" pitchFamily="34" charset="-122"/>
                <a:cs typeface="Arial" pitchFamily="34" charset="-120"/>
              </a:rPr>
              <a:t>Others</a:t>
            </a:r>
            <a:endParaRPr lang="en-US" sz="1800" dirty="0"/>
          </a:p>
        </p:txBody>
      </p:sp>
      <p:sp>
        <p:nvSpPr>
          <p:cNvPr id="30" name="Text 8"/>
          <p:cNvSpPr/>
          <p:nvPr/>
        </p:nvSpPr>
        <p:spPr>
          <a:xfrm>
            <a:off x="4712608" y="4890881"/>
            <a:ext cx="4061079" cy="179933"/>
          </a:xfrm>
          <a:prstGeom prst="rect">
            <a:avLst/>
          </a:prstGeom>
          <a:noFill/>
          <a:ln/>
        </p:spPr>
        <p:txBody>
          <a:bodyPr wrap="square" lIns="0" tIns="0" rIns="0" bIns="0" rtlCol="0" anchor="t"/>
          <a:lstStyle/>
          <a:p>
            <a:pPr marL="0" indent="0" algn="l">
              <a:lnSpc>
                <a:spcPts val="1418"/>
              </a:lnSpc>
              <a:spcBef>
                <a:spcPts val="300"/>
              </a:spcBef>
              <a:spcAft>
                <a:spcPts val="300"/>
              </a:spcAft>
              <a:buNone/>
            </a:pPr>
            <a:r>
              <a:rPr lang="en-US" sz="1050" b="1" dirty="0">
                <a:latin typeface="Arial" pitchFamily="34" charset="0"/>
                <a:ea typeface="Arial" pitchFamily="34" charset="-122"/>
                <a:cs typeface="Arial" pitchFamily="34" charset="-120"/>
              </a:rPr>
              <a:t>Sigmoid:</a:t>
            </a:r>
            <a:r>
              <a:rPr lang="en-US" sz="1050" dirty="0">
                <a:latin typeface="Arial" pitchFamily="34" charset="0"/>
                <a:ea typeface="Arial" pitchFamily="34" charset="-122"/>
                <a:cs typeface="Arial" pitchFamily="34" charset="-120"/>
              </a:rPr>
              <a:t> Output 0-1</a:t>
            </a:r>
            <a:endParaRPr lang="en-US" sz="1050" dirty="0"/>
          </a:p>
        </p:txBody>
      </p:sp>
      <p:sp>
        <p:nvSpPr>
          <p:cNvPr id="31" name="Text 9"/>
          <p:cNvSpPr/>
          <p:nvPr/>
        </p:nvSpPr>
        <p:spPr>
          <a:xfrm>
            <a:off x="4712608" y="5108914"/>
            <a:ext cx="4061079" cy="179933"/>
          </a:xfrm>
          <a:prstGeom prst="rect">
            <a:avLst/>
          </a:prstGeom>
          <a:noFill/>
          <a:ln/>
        </p:spPr>
        <p:txBody>
          <a:bodyPr wrap="square" lIns="0" tIns="0" rIns="0" bIns="0" rtlCol="0" anchor="t"/>
          <a:lstStyle/>
          <a:p>
            <a:pPr marL="0" indent="0" algn="l">
              <a:lnSpc>
                <a:spcPts val="1418"/>
              </a:lnSpc>
              <a:spcBef>
                <a:spcPts val="300"/>
              </a:spcBef>
              <a:spcAft>
                <a:spcPts val="300"/>
              </a:spcAft>
              <a:buNone/>
            </a:pPr>
            <a:r>
              <a:rPr lang="en-US" sz="1050" b="1" dirty="0">
                <a:latin typeface="Arial" pitchFamily="34" charset="0"/>
                <a:ea typeface="Arial" pitchFamily="34" charset="-122"/>
                <a:cs typeface="Arial" pitchFamily="34" charset="-120"/>
              </a:rPr>
              <a:t>Tanh:</a:t>
            </a:r>
            <a:r>
              <a:rPr lang="en-US" sz="1050" dirty="0">
                <a:latin typeface="Arial" pitchFamily="34" charset="0"/>
                <a:ea typeface="Arial" pitchFamily="34" charset="-122"/>
                <a:cs typeface="Arial" pitchFamily="34" charset="-120"/>
              </a:rPr>
              <a:t> Output -1 to 1</a:t>
            </a:r>
            <a:endParaRPr lang="en-US" sz="1050" dirty="0"/>
          </a:p>
        </p:txBody>
      </p:sp>
      <p:sp>
        <p:nvSpPr>
          <p:cNvPr id="32" name="Text 10"/>
          <p:cNvSpPr/>
          <p:nvPr/>
        </p:nvSpPr>
        <p:spPr>
          <a:xfrm>
            <a:off x="4712608" y="5326948"/>
            <a:ext cx="4061079" cy="179933"/>
          </a:xfrm>
          <a:prstGeom prst="rect">
            <a:avLst/>
          </a:prstGeom>
          <a:noFill/>
          <a:ln/>
        </p:spPr>
        <p:txBody>
          <a:bodyPr wrap="square" lIns="0" tIns="0" rIns="0" bIns="0" rtlCol="0" anchor="t"/>
          <a:lstStyle/>
          <a:p>
            <a:pPr marL="0" indent="0" algn="l">
              <a:lnSpc>
                <a:spcPts val="1418"/>
              </a:lnSpc>
              <a:spcBef>
                <a:spcPts val="300"/>
              </a:spcBef>
              <a:spcAft>
                <a:spcPts val="300"/>
              </a:spcAft>
              <a:buNone/>
            </a:pPr>
            <a:r>
              <a:rPr lang="en-US" sz="1050" b="1" dirty="0">
                <a:latin typeface="Arial" pitchFamily="34" charset="0"/>
                <a:ea typeface="Arial" pitchFamily="34" charset="-122"/>
                <a:cs typeface="Arial" pitchFamily="34" charset="-120"/>
              </a:rPr>
              <a:t>Leaky ReLU:</a:t>
            </a:r>
            <a:r>
              <a:rPr lang="en-US" sz="1050" dirty="0">
                <a:latin typeface="Arial" pitchFamily="34" charset="0"/>
                <a:ea typeface="Arial" pitchFamily="34" charset="-122"/>
                <a:cs typeface="Arial" pitchFamily="34" charset="-120"/>
              </a:rPr>
              <a:t> Small negative slope</a:t>
            </a:r>
            <a:endParaRPr lang="en-US" sz="1050" dirty="0"/>
          </a:p>
        </p:txBody>
      </p:sp>
    </p:spTree>
    <p:extLst>
      <p:ext uri="{BB962C8B-B14F-4D97-AF65-F5344CB8AC3E}">
        <p14:creationId xmlns:p14="http://schemas.microsoft.com/office/powerpoint/2010/main" val="300422519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p:cNvSpPr/>
          <p:nvPr/>
        </p:nvSpPr>
        <p:spPr>
          <a:xfrm>
            <a:off x="654148" y="623375"/>
            <a:ext cx="4206812" cy="323850"/>
          </a:xfrm>
          <a:prstGeom prst="rect">
            <a:avLst/>
          </a:prstGeom>
          <a:noFill/>
          <a:ln/>
        </p:spPr>
        <p:txBody>
          <a:bodyPr wrap="square" lIns="0" tIns="0" rIns="0" bIns="0" rtlCol="0" anchor="t"/>
          <a:lstStyle/>
          <a:p>
            <a:pPr marL="0" indent="0" algn="l">
              <a:lnSpc>
                <a:spcPts val="2550"/>
              </a:lnSpc>
              <a:spcAft>
                <a:spcPts val="1500"/>
              </a:spcAft>
              <a:buNone/>
            </a:pPr>
            <a:r>
              <a:rPr lang="en-US" sz="2550" b="1" dirty="0">
                <a:latin typeface="Segoe UI" pitchFamily="34" charset="0"/>
                <a:ea typeface="Segoe UI" pitchFamily="34" charset="-122"/>
                <a:cs typeface="Segoe UI" pitchFamily="34" charset="-120"/>
              </a:rPr>
              <a:t>Parameter Sharing</a:t>
            </a:r>
            <a:endParaRPr lang="en-US" sz="2550" dirty="0"/>
          </a:p>
        </p:txBody>
      </p:sp>
      <p:sp>
        <p:nvSpPr>
          <p:cNvPr id="5" name="Text 1"/>
          <p:cNvSpPr/>
          <p:nvPr/>
        </p:nvSpPr>
        <p:spPr>
          <a:xfrm>
            <a:off x="654148" y="1232975"/>
            <a:ext cx="8229600" cy="716161"/>
          </a:xfrm>
          <a:prstGeom prst="roundRect">
            <a:avLst>
              <a:gd name="adj" fmla="val 5320"/>
            </a:avLst>
          </a:prstGeom>
          <a:solidFill>
            <a:srgbClr val="0EA5E9">
              <a:alpha val="15000"/>
            </a:srgbClr>
          </a:solidFill>
          <a:ln/>
        </p:spPr>
        <p:txBody>
          <a:bodyPr wrap="square" rtlCol="0" anchor="ctr"/>
          <a:lstStyle/>
          <a:p>
            <a:pPr marL="0" indent="0">
              <a:buNone/>
            </a:pPr>
            <a:endParaRPr lang="en-US" dirty="0"/>
          </a:p>
        </p:txBody>
      </p:sp>
      <p:sp>
        <p:nvSpPr>
          <p:cNvPr id="6" name="Shape 2"/>
          <p:cNvSpPr/>
          <p:nvPr/>
        </p:nvSpPr>
        <p:spPr>
          <a:xfrm>
            <a:off x="673198" y="1232975"/>
            <a:ext cx="0" cy="716161"/>
          </a:xfrm>
          <a:prstGeom prst="line">
            <a:avLst/>
          </a:prstGeom>
          <a:noFill/>
          <a:ln w="38100">
            <a:solidFill>
              <a:srgbClr val="2563EB"/>
            </a:solidFill>
            <a:prstDash val="solid"/>
          </a:ln>
        </p:spPr>
      </p:sp>
      <p:sp>
        <p:nvSpPr>
          <p:cNvPr id="7" name="Text 3"/>
          <p:cNvSpPr/>
          <p:nvPr/>
        </p:nvSpPr>
        <p:spPr>
          <a:xfrm>
            <a:off x="787498" y="1366325"/>
            <a:ext cx="8161020" cy="205680"/>
          </a:xfrm>
          <a:prstGeom prst="rect">
            <a:avLst/>
          </a:prstGeom>
          <a:noFill/>
          <a:ln/>
        </p:spPr>
        <p:txBody>
          <a:bodyPr wrap="square" lIns="0" tIns="0" rIns="0" bIns="0" rtlCol="0" anchor="t"/>
          <a:lstStyle/>
          <a:p>
            <a:pPr marL="0" indent="0" algn="l">
              <a:lnSpc>
                <a:spcPts val="1620"/>
              </a:lnSpc>
              <a:spcBef>
                <a:spcPts val="300"/>
              </a:spcBef>
              <a:spcAft>
                <a:spcPts val="300"/>
              </a:spcAft>
              <a:buNone/>
            </a:pPr>
            <a:r>
              <a:rPr lang="en-US" sz="1200" b="1" dirty="0">
                <a:latin typeface="Arial" pitchFamily="34" charset="0"/>
                <a:ea typeface="Arial" pitchFamily="34" charset="-122"/>
                <a:cs typeface="Arial" pitchFamily="34" charset="-120"/>
              </a:rPr>
              <a:t>Key Insight:</a:t>
            </a:r>
            <a:r>
              <a:rPr lang="en-US" sz="1200" dirty="0">
                <a:latin typeface="Arial" pitchFamily="34" charset="0"/>
                <a:ea typeface="Arial" pitchFamily="34" charset="-122"/>
                <a:cs typeface="Arial" pitchFamily="34" charset="-120"/>
              </a:rPr>
              <a:t> Same filter applies to entire image</a:t>
            </a:r>
            <a:endParaRPr lang="en-US" sz="1200" dirty="0"/>
          </a:p>
        </p:txBody>
      </p:sp>
      <p:sp>
        <p:nvSpPr>
          <p:cNvPr id="8" name="Text 4"/>
          <p:cNvSpPr/>
          <p:nvPr/>
        </p:nvSpPr>
        <p:spPr>
          <a:xfrm>
            <a:off x="787498" y="1610105"/>
            <a:ext cx="8161020" cy="205680"/>
          </a:xfrm>
          <a:prstGeom prst="rect">
            <a:avLst/>
          </a:prstGeom>
          <a:noFill/>
          <a:ln/>
        </p:spPr>
        <p:txBody>
          <a:bodyPr wrap="square" lIns="0" tIns="0" rIns="0" bIns="0" rtlCol="0" anchor="t"/>
          <a:lstStyle/>
          <a:p>
            <a:pPr marL="0" indent="0" algn="l">
              <a:lnSpc>
                <a:spcPts val="1620"/>
              </a:lnSpc>
              <a:spcBef>
                <a:spcPts val="300"/>
              </a:spcBef>
              <a:spcAft>
                <a:spcPts val="300"/>
              </a:spcAft>
              <a:buNone/>
            </a:pPr>
            <a:r>
              <a:rPr lang="en-US" sz="1200" dirty="0">
                <a:latin typeface="Arial" pitchFamily="34" charset="0"/>
                <a:ea typeface="Arial" pitchFamily="34" charset="-122"/>
                <a:cs typeface="Arial" pitchFamily="34" charset="-120"/>
              </a:rPr>
              <a:t>One 3x3 filter = only 9 parameters, regardless of image size!</a:t>
            </a:r>
            <a:endParaRPr lang="en-US" sz="1200" dirty="0"/>
          </a:p>
        </p:txBody>
      </p:sp>
      <p:sp>
        <p:nvSpPr>
          <p:cNvPr id="9" name="Text 5"/>
          <p:cNvSpPr/>
          <p:nvPr/>
        </p:nvSpPr>
        <p:spPr>
          <a:xfrm>
            <a:off x="654148" y="2177736"/>
            <a:ext cx="8229600" cy="1036141"/>
          </a:xfrm>
          <a:prstGeom prst="rect">
            <a:avLst/>
          </a:prstGeom>
          <a:noFill/>
          <a:ln/>
        </p:spPr>
        <p:txBody>
          <a:bodyPr wrap="square" lIns="114300" tIns="0" rIns="0" bIns="0" rtlCol="0" anchor="t"/>
          <a:lstStyle/>
          <a:p>
            <a:pPr marL="114300" indent="-114300" algn="l">
              <a:lnSpc>
                <a:spcPts val="1620"/>
              </a:lnSpc>
              <a:spcAft>
                <a:spcPts val="450"/>
              </a:spcAft>
              <a:buSzPct val="100000"/>
              <a:buChar char="•"/>
            </a:pPr>
            <a:r>
              <a:rPr lang="en-US" sz="1200" b="1" dirty="0">
                <a:latin typeface="Arial" pitchFamily="34" charset="0"/>
                <a:ea typeface="Arial" pitchFamily="34" charset="-122"/>
                <a:cs typeface="Arial" pitchFamily="34" charset="-120"/>
              </a:rPr>
              <a:t>Efficiency:</a:t>
            </a:r>
            <a:r>
              <a:rPr lang="en-US" sz="1200" dirty="0">
                <a:latin typeface="Arial" pitchFamily="34" charset="0"/>
                <a:ea typeface="Arial" pitchFamily="34" charset="-122"/>
                <a:cs typeface="Arial" pitchFamily="34" charset="-120"/>
              </a:rPr>
              <a:t> Drastically fewer parameters than fully connected</a:t>
            </a:r>
            <a:endParaRPr lang="en-US" sz="1200" dirty="0"/>
          </a:p>
          <a:p>
            <a:pPr marL="114300" indent="-114300" algn="l">
              <a:lnSpc>
                <a:spcPts val="1620"/>
              </a:lnSpc>
              <a:spcAft>
                <a:spcPts val="450"/>
              </a:spcAft>
              <a:buSzPct val="100000"/>
              <a:buChar char="•"/>
            </a:pPr>
            <a:r>
              <a:rPr lang="en-US" sz="1200" b="1" dirty="0">
                <a:latin typeface="Arial" pitchFamily="34" charset="0"/>
                <a:ea typeface="Arial" pitchFamily="34" charset="-122"/>
                <a:cs typeface="Arial" pitchFamily="34" charset="-120"/>
              </a:rPr>
              <a:t>Translation Invariance:</a:t>
            </a:r>
            <a:r>
              <a:rPr lang="en-US" sz="1200" dirty="0">
                <a:latin typeface="Arial" pitchFamily="34" charset="0"/>
                <a:ea typeface="Arial" pitchFamily="34" charset="-122"/>
                <a:cs typeface="Arial" pitchFamily="34" charset="-120"/>
              </a:rPr>
              <a:t> Detect features anywhere in image</a:t>
            </a:r>
            <a:endParaRPr lang="en-US" sz="1200" dirty="0"/>
          </a:p>
          <a:p>
            <a:pPr marL="114300" indent="-114300" algn="l">
              <a:lnSpc>
                <a:spcPts val="1620"/>
              </a:lnSpc>
              <a:spcAft>
                <a:spcPts val="450"/>
              </a:spcAft>
              <a:buSzPct val="100000"/>
              <a:buChar char="•"/>
            </a:pPr>
            <a:r>
              <a:rPr lang="en-US" sz="1200" b="1" dirty="0">
                <a:latin typeface="Arial" pitchFamily="34" charset="0"/>
                <a:ea typeface="Arial" pitchFamily="34" charset="-122"/>
                <a:cs typeface="Arial" pitchFamily="34" charset="-120"/>
              </a:rPr>
              <a:t>Scale:</a:t>
            </a:r>
            <a:r>
              <a:rPr lang="en-US" sz="1200" dirty="0">
                <a:latin typeface="Arial" pitchFamily="34" charset="0"/>
                <a:ea typeface="Arial" pitchFamily="34" charset="-122"/>
                <a:cs typeface="Arial" pitchFamily="34" charset="-120"/>
              </a:rPr>
              <a:t> Works on images of any size</a:t>
            </a:r>
            <a:endParaRPr lang="en-US" sz="1200" dirty="0"/>
          </a:p>
        </p:txBody>
      </p:sp>
      <p:sp>
        <p:nvSpPr>
          <p:cNvPr id="10" name="Text 6"/>
          <p:cNvSpPr/>
          <p:nvPr/>
        </p:nvSpPr>
        <p:spPr>
          <a:xfrm>
            <a:off x="654148" y="3404377"/>
            <a:ext cx="8394192" cy="205680"/>
          </a:xfrm>
          <a:prstGeom prst="rect">
            <a:avLst/>
          </a:prstGeom>
          <a:noFill/>
          <a:ln/>
        </p:spPr>
        <p:txBody>
          <a:bodyPr wrap="square" lIns="0" tIns="0" rIns="0" bIns="0" rtlCol="0" anchor="t"/>
          <a:lstStyle/>
          <a:p>
            <a:pPr marL="0" indent="0" algn="l">
              <a:lnSpc>
                <a:spcPts val="1620"/>
              </a:lnSpc>
              <a:spcBef>
                <a:spcPts val="900"/>
              </a:spcBef>
              <a:spcAft>
                <a:spcPts val="300"/>
              </a:spcAft>
              <a:buNone/>
            </a:pPr>
            <a:r>
              <a:rPr lang="en-US" sz="1200" b="1" dirty="0">
                <a:latin typeface="Arial" pitchFamily="34" charset="0"/>
                <a:ea typeface="Arial" pitchFamily="34" charset="-122"/>
                <a:cs typeface="Arial" pitchFamily="34" charset="-120"/>
              </a:rPr>
              <a:t>Example: 64 filters of 3x3 = 576 parameters vs millions in fully connected!</a:t>
            </a:r>
            <a:endParaRPr lang="en-US" sz="1200" dirty="0"/>
          </a:p>
        </p:txBody>
      </p:sp>
    </p:spTree>
    <p:extLst>
      <p:ext uri="{BB962C8B-B14F-4D97-AF65-F5344CB8AC3E}">
        <p14:creationId xmlns:p14="http://schemas.microsoft.com/office/powerpoint/2010/main" val="25450526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p:cNvSpPr/>
          <p:nvPr/>
        </p:nvSpPr>
        <p:spPr>
          <a:xfrm>
            <a:off x="2223908" y="1863797"/>
            <a:ext cx="6046533" cy="457200"/>
          </a:xfrm>
          <a:prstGeom prst="rect">
            <a:avLst/>
          </a:prstGeom>
          <a:noFill/>
          <a:ln/>
        </p:spPr>
        <p:txBody>
          <a:bodyPr wrap="square" lIns="0" tIns="0" rIns="0" bIns="0" rtlCol="0" anchor="t"/>
          <a:lstStyle/>
          <a:p>
            <a:pPr marL="0" indent="0" algn="ctr">
              <a:lnSpc>
                <a:spcPts val="3600"/>
              </a:lnSpc>
              <a:spcAft>
                <a:spcPts val="1050"/>
              </a:spcAft>
              <a:buNone/>
            </a:pPr>
            <a:r>
              <a:rPr lang="en-US" sz="3600" b="1" dirty="0">
                <a:latin typeface="Segoe UI" pitchFamily="34" charset="0"/>
                <a:ea typeface="Segoe UI" pitchFamily="34" charset="-122"/>
                <a:cs typeface="Segoe UI" pitchFamily="34" charset="-120"/>
              </a:rPr>
              <a:t>Famous CNN Architectures</a:t>
            </a:r>
            <a:endParaRPr lang="en-US" sz="3600" dirty="0"/>
          </a:p>
        </p:txBody>
      </p:sp>
      <p:sp>
        <p:nvSpPr>
          <p:cNvPr id="5" name="Text 1"/>
          <p:cNvSpPr/>
          <p:nvPr/>
        </p:nvSpPr>
        <p:spPr>
          <a:xfrm>
            <a:off x="3564798" y="2521022"/>
            <a:ext cx="3364903" cy="269974"/>
          </a:xfrm>
          <a:prstGeom prst="rect">
            <a:avLst/>
          </a:prstGeom>
          <a:noFill/>
          <a:ln/>
        </p:spPr>
        <p:txBody>
          <a:bodyPr wrap="square" lIns="0" tIns="0" rIns="0" bIns="0" rtlCol="0" anchor="t"/>
          <a:lstStyle/>
          <a:p>
            <a:pPr marL="0" indent="0" algn="ctr">
              <a:lnSpc>
                <a:spcPts val="2126"/>
              </a:lnSpc>
              <a:spcBef>
                <a:spcPts val="525"/>
              </a:spcBef>
              <a:spcAft>
                <a:spcPts val="525"/>
              </a:spcAft>
              <a:buNone/>
            </a:pPr>
            <a:r>
              <a:rPr lang="en-US" sz="1575" dirty="0">
                <a:latin typeface="Arial" pitchFamily="34" charset="0"/>
                <a:ea typeface="Arial" pitchFamily="34" charset="-122"/>
                <a:cs typeface="Arial" pitchFamily="34" charset="-120"/>
              </a:rPr>
              <a:t>Evolution of Deep Learning for Vision</a:t>
            </a:r>
            <a:endParaRPr lang="en-US" sz="1575" dirty="0"/>
          </a:p>
        </p:txBody>
      </p:sp>
    </p:spTree>
    <p:extLst>
      <p:ext uri="{BB962C8B-B14F-4D97-AF65-F5344CB8AC3E}">
        <p14:creationId xmlns:p14="http://schemas.microsoft.com/office/powerpoint/2010/main" val="11853075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p:cNvSpPr/>
          <p:nvPr/>
        </p:nvSpPr>
        <p:spPr>
          <a:xfrm>
            <a:off x="457200" y="285750"/>
            <a:ext cx="4206812" cy="323850"/>
          </a:xfrm>
          <a:prstGeom prst="rect">
            <a:avLst/>
          </a:prstGeom>
          <a:noFill/>
          <a:ln/>
        </p:spPr>
        <p:txBody>
          <a:bodyPr wrap="square" lIns="0" tIns="0" rIns="0" bIns="0" rtlCol="0" anchor="t"/>
          <a:lstStyle/>
          <a:p>
            <a:pPr marL="0" indent="0" algn="l">
              <a:lnSpc>
                <a:spcPts val="2550"/>
              </a:lnSpc>
              <a:spcAft>
                <a:spcPts val="1500"/>
              </a:spcAft>
              <a:buNone/>
            </a:pPr>
            <a:r>
              <a:rPr lang="en-US" sz="2550" b="1" dirty="0">
                <a:latin typeface="Segoe UI" pitchFamily="34" charset="0"/>
                <a:ea typeface="Segoe UI" pitchFamily="34" charset="-122"/>
                <a:cs typeface="Segoe UI" pitchFamily="34" charset="-120"/>
              </a:rPr>
              <a:t>LeNet-5 (1998)</a:t>
            </a:r>
            <a:endParaRPr lang="en-US" sz="2550" dirty="0"/>
          </a:p>
        </p:txBody>
      </p:sp>
      <p:sp>
        <p:nvSpPr>
          <p:cNvPr id="9" name="Text 5"/>
          <p:cNvSpPr/>
          <p:nvPr/>
        </p:nvSpPr>
        <p:spPr>
          <a:xfrm>
            <a:off x="549212" y="4212568"/>
            <a:ext cx="8229600" cy="1394222"/>
          </a:xfrm>
          <a:prstGeom prst="rect">
            <a:avLst/>
          </a:prstGeom>
          <a:noFill/>
          <a:ln/>
        </p:spPr>
        <p:txBody>
          <a:bodyPr wrap="square" lIns="114300" tIns="0" rIns="0" bIns="0" rtlCol="0" anchor="t"/>
          <a:lstStyle/>
          <a:p>
            <a:pPr marL="114300" indent="-114300" algn="l">
              <a:lnSpc>
                <a:spcPts val="1620"/>
              </a:lnSpc>
              <a:spcAft>
                <a:spcPts val="450"/>
              </a:spcAft>
              <a:buSzPct val="100000"/>
              <a:buChar char="•"/>
            </a:pPr>
            <a:r>
              <a:rPr lang="en-US" b="1" dirty="0">
                <a:latin typeface="Arial" pitchFamily="34" charset="0"/>
                <a:ea typeface="Arial" pitchFamily="34" charset="-122"/>
                <a:cs typeface="Arial" pitchFamily="34" charset="-120"/>
              </a:rPr>
              <a:t>First successful CNN:</a:t>
            </a:r>
            <a:r>
              <a:rPr lang="en-US" dirty="0">
                <a:latin typeface="Arial" pitchFamily="34" charset="0"/>
                <a:ea typeface="Arial" pitchFamily="34" charset="-122"/>
                <a:cs typeface="Arial" pitchFamily="34" charset="-120"/>
              </a:rPr>
              <a:t> Used by banks to read checks</a:t>
            </a:r>
            <a:endParaRPr lang="en-US" dirty="0"/>
          </a:p>
          <a:p>
            <a:pPr marL="114300" indent="-114300" algn="l">
              <a:lnSpc>
                <a:spcPts val="1620"/>
              </a:lnSpc>
              <a:spcAft>
                <a:spcPts val="450"/>
              </a:spcAft>
              <a:buSzPct val="100000"/>
              <a:buChar char="•"/>
            </a:pPr>
            <a:r>
              <a:rPr lang="en-US" b="1" dirty="0">
                <a:latin typeface="Arial" pitchFamily="34" charset="0"/>
                <a:ea typeface="Arial" pitchFamily="34" charset="-122"/>
                <a:cs typeface="Arial" pitchFamily="34" charset="-120"/>
              </a:rPr>
              <a:t>Architecture:</a:t>
            </a:r>
            <a:r>
              <a:rPr lang="en-US" dirty="0">
                <a:latin typeface="Arial" pitchFamily="34" charset="0"/>
                <a:ea typeface="Arial" pitchFamily="34" charset="-122"/>
                <a:cs typeface="Arial" pitchFamily="34" charset="-120"/>
              </a:rPr>
              <a:t> 7 layers total</a:t>
            </a:r>
            <a:endParaRPr lang="en-US" dirty="0"/>
          </a:p>
          <a:p>
            <a:pPr marL="114300" indent="-114300" algn="l">
              <a:lnSpc>
                <a:spcPts val="1620"/>
              </a:lnSpc>
              <a:spcAft>
                <a:spcPts val="450"/>
              </a:spcAft>
              <a:buSzPct val="100000"/>
              <a:buChar char="•"/>
            </a:pPr>
            <a:r>
              <a:rPr lang="en-US" b="1" dirty="0">
                <a:latin typeface="Arial" pitchFamily="34" charset="0"/>
                <a:ea typeface="Arial" pitchFamily="34" charset="-122"/>
                <a:cs typeface="Arial" pitchFamily="34" charset="-120"/>
              </a:rPr>
              <a:t>Innovation:</a:t>
            </a:r>
            <a:r>
              <a:rPr lang="en-US" dirty="0">
                <a:latin typeface="Arial" pitchFamily="34" charset="0"/>
                <a:ea typeface="Arial" pitchFamily="34" charset="-122"/>
                <a:cs typeface="Arial" pitchFamily="34" charset="-120"/>
              </a:rPr>
              <a:t> Proved CNNs work for real applications</a:t>
            </a:r>
            <a:endParaRPr lang="en-US" dirty="0"/>
          </a:p>
          <a:p>
            <a:pPr marL="114300" indent="-114300" algn="l">
              <a:lnSpc>
                <a:spcPts val="1620"/>
              </a:lnSpc>
              <a:spcAft>
                <a:spcPts val="450"/>
              </a:spcAft>
              <a:buSzPct val="100000"/>
              <a:buChar char="•"/>
            </a:pPr>
            <a:r>
              <a:rPr lang="en-US" dirty="0">
                <a:latin typeface="Arial" pitchFamily="34" charset="0"/>
                <a:ea typeface="Arial" pitchFamily="34" charset="-122"/>
                <a:cs typeface="Arial" pitchFamily="34" charset="-120"/>
              </a:rPr>
              <a:t>Small by today's standards but revolutionary</a:t>
            </a:r>
            <a:endParaRPr lang="en-US" dirty="0"/>
          </a:p>
        </p:txBody>
      </p:sp>
      <p:sp>
        <p:nvSpPr>
          <p:cNvPr id="10" name="Rectangle 9"/>
          <p:cNvSpPr/>
          <p:nvPr/>
        </p:nvSpPr>
        <p:spPr>
          <a:xfrm>
            <a:off x="549212" y="1034518"/>
            <a:ext cx="6259551" cy="2308324"/>
          </a:xfrm>
          <a:prstGeom prst="rect">
            <a:avLst/>
          </a:prstGeom>
        </p:spPr>
        <p:txBody>
          <a:bodyPr wrap="square">
            <a:spAutoFit/>
          </a:bodyPr>
          <a:lstStyle/>
          <a:p>
            <a:r>
              <a:rPr lang="en-US" dirty="0" err="1"/>
              <a:t>LeNet</a:t>
            </a:r>
            <a:r>
              <a:rPr lang="en-US" dirty="0"/>
              <a:t> 5 is one of the earliest convolutional neural networks and was designed primarily for handwritten digit recognition. It introduced the core CNN structure of alternating convolution and pooling layers followed by fully connected layers. </a:t>
            </a:r>
            <a:r>
              <a:rPr lang="en-US" dirty="0" err="1"/>
              <a:t>LeNet</a:t>
            </a:r>
            <a:r>
              <a:rPr lang="en-US" dirty="0"/>
              <a:t> 5 demonstrated that convolutional networks could automatically learn useful features from images, laying the foundation for modern deep learning based computer vision models.</a:t>
            </a:r>
          </a:p>
        </p:txBody>
      </p:sp>
      <p:pic>
        <p:nvPicPr>
          <p:cNvPr id="11" name="Picture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08763" y="1515764"/>
            <a:ext cx="4830899" cy="3654156"/>
          </a:xfrm>
          <a:prstGeom prst="rect">
            <a:avLst/>
          </a:prstGeom>
        </p:spPr>
      </p:pic>
    </p:spTree>
    <p:extLst>
      <p:ext uri="{BB962C8B-B14F-4D97-AF65-F5344CB8AC3E}">
        <p14:creationId xmlns:p14="http://schemas.microsoft.com/office/powerpoint/2010/main" val="3577790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p:cNvSpPr/>
          <p:nvPr/>
        </p:nvSpPr>
        <p:spPr>
          <a:xfrm>
            <a:off x="457200" y="285750"/>
            <a:ext cx="4206812" cy="323850"/>
          </a:xfrm>
          <a:prstGeom prst="rect">
            <a:avLst/>
          </a:prstGeom>
          <a:noFill/>
          <a:ln/>
        </p:spPr>
        <p:txBody>
          <a:bodyPr wrap="square" lIns="0" tIns="0" rIns="0" bIns="0" rtlCol="0" anchor="t"/>
          <a:lstStyle/>
          <a:p>
            <a:pPr marL="0" indent="0" algn="l">
              <a:lnSpc>
                <a:spcPts val="2550"/>
              </a:lnSpc>
              <a:spcAft>
                <a:spcPts val="1500"/>
              </a:spcAft>
              <a:buNone/>
            </a:pPr>
            <a:r>
              <a:rPr lang="en-US" b="1" dirty="0">
                <a:latin typeface="Segoe UI" pitchFamily="34" charset="0"/>
                <a:ea typeface="Segoe UI" pitchFamily="34" charset="-122"/>
                <a:cs typeface="Segoe UI" pitchFamily="34" charset="-120"/>
              </a:rPr>
              <a:t>AlexNet (2012)</a:t>
            </a:r>
            <a:endParaRPr lang="en-US" dirty="0"/>
          </a:p>
        </p:txBody>
      </p:sp>
      <p:sp>
        <p:nvSpPr>
          <p:cNvPr id="5" name="Text 1"/>
          <p:cNvSpPr/>
          <p:nvPr/>
        </p:nvSpPr>
        <p:spPr>
          <a:xfrm>
            <a:off x="457200" y="895350"/>
            <a:ext cx="8229600" cy="2565302"/>
          </a:xfrm>
          <a:prstGeom prst="roundRect">
            <a:avLst>
              <a:gd name="adj" fmla="val 5320"/>
            </a:avLst>
          </a:prstGeom>
          <a:solidFill>
            <a:srgbClr val="0EA5E9">
              <a:alpha val="15000"/>
            </a:srgbClr>
          </a:solidFill>
          <a:ln/>
        </p:spPr>
        <p:txBody>
          <a:bodyPr wrap="square" rtlCol="0" anchor="ctr"/>
          <a:lstStyle/>
          <a:p>
            <a:r>
              <a:rPr lang="en-US" dirty="0" err="1"/>
              <a:t>AlexNet</a:t>
            </a:r>
            <a:r>
              <a:rPr lang="en-US" dirty="0"/>
              <a:t> marked a major breakthrough in computer vision by dramatically improving image classification performance in the ImageNet competition. It demonstrated the power of deep convolutional networks trained on large datasets using GPUs. </a:t>
            </a:r>
            <a:r>
              <a:rPr lang="en-US" dirty="0" err="1"/>
              <a:t>AlexNet</a:t>
            </a:r>
            <a:r>
              <a:rPr lang="en-US" dirty="0"/>
              <a:t> introduced key ideas such as </a:t>
            </a:r>
            <a:r>
              <a:rPr lang="en-US" dirty="0" err="1"/>
              <a:t>ReLU</a:t>
            </a:r>
            <a:r>
              <a:rPr lang="en-US" dirty="0"/>
              <a:t> activation, dropout for regularization, and deeper network architectures, which became standard practices in modern CNN design.</a:t>
            </a:r>
          </a:p>
        </p:txBody>
      </p:sp>
      <p:sp>
        <p:nvSpPr>
          <p:cNvPr id="6" name="Shape 2"/>
          <p:cNvSpPr/>
          <p:nvPr/>
        </p:nvSpPr>
        <p:spPr>
          <a:xfrm flipH="1">
            <a:off x="457200" y="895350"/>
            <a:ext cx="19050" cy="2410558"/>
          </a:xfrm>
          <a:prstGeom prst="line">
            <a:avLst/>
          </a:prstGeom>
          <a:noFill/>
          <a:ln w="38100">
            <a:solidFill>
              <a:srgbClr val="2563EB"/>
            </a:solidFill>
            <a:prstDash val="solid"/>
          </a:ln>
        </p:spPr>
      </p:sp>
      <p:sp>
        <p:nvSpPr>
          <p:cNvPr id="9" name="Text 5"/>
          <p:cNvSpPr/>
          <p:nvPr/>
        </p:nvSpPr>
        <p:spPr>
          <a:xfrm>
            <a:off x="457200" y="4296974"/>
            <a:ext cx="8229600" cy="1394222"/>
          </a:xfrm>
          <a:prstGeom prst="rect">
            <a:avLst/>
          </a:prstGeom>
          <a:noFill/>
          <a:ln/>
        </p:spPr>
        <p:txBody>
          <a:bodyPr wrap="square" lIns="114300" tIns="0" rIns="0" bIns="0" rtlCol="0" anchor="t"/>
          <a:lstStyle/>
          <a:p>
            <a:pPr marL="114300" indent="-114300" algn="l">
              <a:lnSpc>
                <a:spcPts val="1620"/>
              </a:lnSpc>
              <a:spcAft>
                <a:spcPts val="450"/>
              </a:spcAft>
              <a:buSzPct val="100000"/>
              <a:buChar char="•"/>
            </a:pPr>
            <a:r>
              <a:rPr lang="en-US" b="1" dirty="0">
                <a:latin typeface="Arial" pitchFamily="34" charset="0"/>
                <a:ea typeface="Arial" pitchFamily="34" charset="-122"/>
                <a:cs typeface="Arial" pitchFamily="34" charset="-120"/>
              </a:rPr>
              <a:t>8 layers:</a:t>
            </a:r>
            <a:r>
              <a:rPr lang="en-US" dirty="0">
                <a:latin typeface="Arial" pitchFamily="34" charset="0"/>
                <a:ea typeface="Arial" pitchFamily="34" charset="-122"/>
                <a:cs typeface="Arial" pitchFamily="34" charset="-120"/>
              </a:rPr>
              <a:t> 5 convolutional + 3 fully connected</a:t>
            </a:r>
            <a:endParaRPr lang="en-US" dirty="0"/>
          </a:p>
          <a:p>
            <a:pPr marL="114300" indent="-114300" algn="l">
              <a:lnSpc>
                <a:spcPts val="1620"/>
              </a:lnSpc>
              <a:spcAft>
                <a:spcPts val="450"/>
              </a:spcAft>
              <a:buSzPct val="100000"/>
              <a:buChar char="•"/>
            </a:pPr>
            <a:r>
              <a:rPr lang="en-US" b="1" dirty="0">
                <a:latin typeface="Arial" pitchFamily="34" charset="0"/>
                <a:ea typeface="Arial" pitchFamily="34" charset="-122"/>
                <a:cs typeface="Arial" pitchFamily="34" charset="-120"/>
              </a:rPr>
              <a:t>60 million parameters</a:t>
            </a:r>
            <a:endParaRPr lang="en-US" dirty="0"/>
          </a:p>
          <a:p>
            <a:pPr marL="114300" indent="-114300" algn="l">
              <a:lnSpc>
                <a:spcPts val="1620"/>
              </a:lnSpc>
              <a:spcAft>
                <a:spcPts val="450"/>
              </a:spcAft>
              <a:buSzPct val="100000"/>
              <a:buChar char="•"/>
            </a:pPr>
            <a:r>
              <a:rPr lang="en-US" b="1" dirty="0">
                <a:latin typeface="Arial" pitchFamily="34" charset="0"/>
                <a:ea typeface="Arial" pitchFamily="34" charset="-122"/>
                <a:cs typeface="Arial" pitchFamily="34" charset="-120"/>
              </a:rPr>
              <a:t>Innovations:</a:t>
            </a:r>
            <a:r>
              <a:rPr lang="en-US" dirty="0">
                <a:latin typeface="Arial" pitchFamily="34" charset="0"/>
                <a:ea typeface="Arial" pitchFamily="34" charset="-122"/>
                <a:cs typeface="Arial" pitchFamily="34" charset="-120"/>
              </a:rPr>
              <a:t> ReLU, Dropout, GPU training</a:t>
            </a:r>
            <a:endParaRPr lang="en-US" dirty="0"/>
          </a:p>
          <a:p>
            <a:pPr marL="114300" indent="-114300" algn="l">
              <a:lnSpc>
                <a:spcPts val="1620"/>
              </a:lnSpc>
              <a:spcAft>
                <a:spcPts val="450"/>
              </a:spcAft>
              <a:buSzPct val="100000"/>
              <a:buChar char="•"/>
            </a:pPr>
            <a:r>
              <a:rPr lang="en-US" dirty="0">
                <a:latin typeface="Arial" pitchFamily="34" charset="0"/>
                <a:ea typeface="Arial" pitchFamily="34" charset="-122"/>
                <a:cs typeface="Arial" pitchFamily="34" charset="-120"/>
              </a:rPr>
              <a:t>Reduced error from 26% to 15% on ImageNet</a:t>
            </a:r>
            <a:endParaRPr lang="en-US" dirty="0"/>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95364" y="3750615"/>
            <a:ext cx="5530656" cy="1940581"/>
          </a:xfrm>
          <a:prstGeom prst="rect">
            <a:avLst/>
          </a:prstGeom>
        </p:spPr>
      </p:pic>
    </p:spTree>
    <p:extLst>
      <p:ext uri="{BB962C8B-B14F-4D97-AF65-F5344CB8AC3E}">
        <p14:creationId xmlns:p14="http://schemas.microsoft.com/office/powerpoint/2010/main" val="32866421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p:cNvSpPr/>
          <p:nvPr/>
        </p:nvSpPr>
        <p:spPr>
          <a:xfrm>
            <a:off x="879230" y="1143879"/>
            <a:ext cx="4206812" cy="323850"/>
          </a:xfrm>
          <a:prstGeom prst="rect">
            <a:avLst/>
          </a:prstGeom>
          <a:noFill/>
          <a:ln/>
        </p:spPr>
        <p:txBody>
          <a:bodyPr wrap="square" lIns="0" tIns="0" rIns="0" bIns="0" rtlCol="0" anchor="t"/>
          <a:lstStyle/>
          <a:p>
            <a:pPr marL="0" indent="0" algn="l">
              <a:lnSpc>
                <a:spcPts val="2550"/>
              </a:lnSpc>
              <a:spcAft>
                <a:spcPts val="1500"/>
              </a:spcAft>
              <a:buNone/>
            </a:pPr>
            <a:r>
              <a:rPr lang="en-US" sz="2550" b="1" dirty="0">
                <a:latin typeface="Segoe UI" pitchFamily="34" charset="0"/>
                <a:ea typeface="Segoe UI" pitchFamily="34" charset="-122"/>
                <a:cs typeface="Segoe UI" pitchFamily="34" charset="-120"/>
              </a:rPr>
              <a:t>VGG (2014)</a:t>
            </a:r>
            <a:endParaRPr lang="en-US" sz="2550" dirty="0"/>
          </a:p>
        </p:txBody>
      </p:sp>
      <p:sp>
        <p:nvSpPr>
          <p:cNvPr id="5" name="Text 1"/>
          <p:cNvSpPr/>
          <p:nvPr/>
        </p:nvSpPr>
        <p:spPr>
          <a:xfrm>
            <a:off x="879230" y="1753478"/>
            <a:ext cx="6263934" cy="2016663"/>
          </a:xfrm>
          <a:prstGeom prst="roundRect">
            <a:avLst>
              <a:gd name="adj" fmla="val 8066"/>
            </a:avLst>
          </a:prstGeom>
          <a:solidFill>
            <a:srgbClr val="0EA5E9">
              <a:alpha val="15000"/>
            </a:srgbClr>
          </a:solidFill>
          <a:ln/>
        </p:spPr>
        <p:txBody>
          <a:bodyPr wrap="square" rtlCol="0" anchor="ctr"/>
          <a:lstStyle/>
          <a:p>
            <a:r>
              <a:rPr lang="en-US" dirty="0"/>
              <a:t>VGG introduced deeper convolutional neural networks using a simple and consistent architecture based on small 3×3 convolution filters. By increasing depth while keeping the design uniform, VGG achieved improved accuracy in image classification tasks. Its straightforward structure made it highly influential and widely used as a backbone for many modern computer vision models.</a:t>
            </a:r>
          </a:p>
        </p:txBody>
      </p:sp>
      <p:sp>
        <p:nvSpPr>
          <p:cNvPr id="6" name="Shape 2"/>
          <p:cNvSpPr/>
          <p:nvPr/>
        </p:nvSpPr>
        <p:spPr>
          <a:xfrm flipH="1">
            <a:off x="879230" y="1753478"/>
            <a:ext cx="19050" cy="1805647"/>
          </a:xfrm>
          <a:prstGeom prst="line">
            <a:avLst/>
          </a:prstGeom>
          <a:noFill/>
          <a:ln w="38100">
            <a:solidFill>
              <a:srgbClr val="2563EB"/>
            </a:solidFill>
            <a:prstDash val="solid"/>
          </a:ln>
        </p:spPr>
      </p:sp>
      <p:sp>
        <p:nvSpPr>
          <p:cNvPr id="8" name="Text 4"/>
          <p:cNvSpPr/>
          <p:nvPr/>
        </p:nvSpPr>
        <p:spPr>
          <a:xfrm>
            <a:off x="944000" y="4165735"/>
            <a:ext cx="8229600" cy="1752302"/>
          </a:xfrm>
          <a:prstGeom prst="rect">
            <a:avLst/>
          </a:prstGeom>
          <a:noFill/>
          <a:ln/>
        </p:spPr>
        <p:txBody>
          <a:bodyPr wrap="square" lIns="114300" tIns="0" rIns="0" bIns="0" rtlCol="0" anchor="t"/>
          <a:lstStyle/>
          <a:p>
            <a:pPr marL="114300" indent="-114300" algn="l">
              <a:lnSpc>
                <a:spcPts val="1620"/>
              </a:lnSpc>
              <a:spcAft>
                <a:spcPts val="450"/>
              </a:spcAft>
              <a:buSzPct val="100000"/>
              <a:buChar char="•"/>
            </a:pPr>
            <a:r>
              <a:rPr lang="en-US" sz="1200" b="1" dirty="0">
                <a:latin typeface="Arial" pitchFamily="34" charset="0"/>
                <a:ea typeface="Arial" pitchFamily="34" charset="-122"/>
                <a:cs typeface="Arial" pitchFamily="34" charset="-120"/>
              </a:rPr>
              <a:t>VGG-16:</a:t>
            </a:r>
            <a:r>
              <a:rPr lang="en-US" sz="1200" dirty="0">
                <a:latin typeface="Arial" pitchFamily="34" charset="0"/>
                <a:ea typeface="Arial" pitchFamily="34" charset="-122"/>
                <a:cs typeface="Arial" pitchFamily="34" charset="-120"/>
              </a:rPr>
              <a:t> 16 layers, VGG-19: 19 layers</a:t>
            </a:r>
            <a:endParaRPr lang="en-US" sz="1200" dirty="0"/>
          </a:p>
          <a:p>
            <a:pPr marL="114300" indent="-114300" algn="l">
              <a:lnSpc>
                <a:spcPts val="1620"/>
              </a:lnSpc>
              <a:spcAft>
                <a:spcPts val="450"/>
              </a:spcAft>
              <a:buSzPct val="100000"/>
              <a:buChar char="•"/>
            </a:pPr>
            <a:r>
              <a:rPr lang="en-US" sz="1200" b="1" dirty="0">
                <a:latin typeface="Arial" pitchFamily="34" charset="0"/>
                <a:ea typeface="Arial" pitchFamily="34" charset="-122"/>
                <a:cs typeface="Arial" pitchFamily="34" charset="-120"/>
              </a:rPr>
              <a:t>Simple architecture:</a:t>
            </a:r>
            <a:r>
              <a:rPr lang="en-US" sz="1200" dirty="0">
                <a:latin typeface="Arial" pitchFamily="34" charset="0"/>
                <a:ea typeface="Arial" pitchFamily="34" charset="-122"/>
                <a:cs typeface="Arial" pitchFamily="34" charset="-120"/>
              </a:rPr>
              <a:t> Only 3x3 filters</a:t>
            </a:r>
            <a:endParaRPr lang="en-US" sz="1200" dirty="0"/>
          </a:p>
          <a:p>
            <a:pPr marL="114300" indent="-114300" algn="l">
              <a:lnSpc>
                <a:spcPts val="1620"/>
              </a:lnSpc>
              <a:spcAft>
                <a:spcPts val="450"/>
              </a:spcAft>
              <a:buSzPct val="100000"/>
              <a:buChar char="•"/>
            </a:pPr>
            <a:r>
              <a:rPr lang="en-US" sz="1200" b="1" dirty="0">
                <a:latin typeface="Arial" pitchFamily="34" charset="0"/>
                <a:ea typeface="Arial" pitchFamily="34" charset="-122"/>
                <a:cs typeface="Arial" pitchFamily="34" charset="-120"/>
              </a:rPr>
              <a:t>138 million parameters</a:t>
            </a:r>
            <a:endParaRPr lang="en-US" sz="1200" dirty="0"/>
          </a:p>
          <a:p>
            <a:pPr marL="114300" indent="-114300" algn="l">
              <a:lnSpc>
                <a:spcPts val="1620"/>
              </a:lnSpc>
              <a:spcAft>
                <a:spcPts val="450"/>
              </a:spcAft>
              <a:buSzPct val="100000"/>
              <a:buChar char="•"/>
            </a:pPr>
            <a:r>
              <a:rPr lang="en-US" sz="1200" dirty="0">
                <a:latin typeface="Arial" pitchFamily="34" charset="0"/>
                <a:ea typeface="Arial" pitchFamily="34" charset="-122"/>
                <a:cs typeface="Arial" pitchFamily="34" charset="-120"/>
              </a:rPr>
              <a:t>Very deep, uniform structure</a:t>
            </a:r>
            <a:endParaRPr lang="en-US" sz="1200" dirty="0"/>
          </a:p>
          <a:p>
            <a:pPr marL="114300" indent="-114300" algn="l">
              <a:lnSpc>
                <a:spcPts val="1620"/>
              </a:lnSpc>
              <a:spcAft>
                <a:spcPts val="450"/>
              </a:spcAft>
              <a:buSzPct val="100000"/>
              <a:buChar char="•"/>
            </a:pPr>
            <a:r>
              <a:rPr lang="en-US" sz="1200" dirty="0">
                <a:latin typeface="Arial" pitchFamily="34" charset="0"/>
                <a:ea typeface="Arial" pitchFamily="34" charset="-122"/>
                <a:cs typeface="Arial" pitchFamily="34" charset="-120"/>
              </a:rPr>
              <a:t>Still widely used for transfer learning</a:t>
            </a:r>
            <a:endParaRPr lang="en-US" sz="1200" dirty="0"/>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44131" y="2322926"/>
            <a:ext cx="4414995" cy="2472397"/>
          </a:xfrm>
          <a:prstGeom prst="rect">
            <a:avLst/>
          </a:prstGeom>
        </p:spPr>
      </p:pic>
    </p:spTree>
    <p:extLst>
      <p:ext uri="{BB962C8B-B14F-4D97-AF65-F5344CB8AC3E}">
        <p14:creationId xmlns:p14="http://schemas.microsoft.com/office/powerpoint/2010/main" val="22203820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p:cNvSpPr/>
          <p:nvPr/>
        </p:nvSpPr>
        <p:spPr>
          <a:xfrm>
            <a:off x="457200" y="876594"/>
            <a:ext cx="4206812" cy="323850"/>
          </a:xfrm>
          <a:prstGeom prst="rect">
            <a:avLst/>
          </a:prstGeom>
          <a:noFill/>
          <a:ln/>
        </p:spPr>
        <p:txBody>
          <a:bodyPr wrap="square" lIns="0" tIns="0" rIns="0" bIns="0" rtlCol="0" anchor="t"/>
          <a:lstStyle/>
          <a:p>
            <a:pPr marL="0" indent="0" algn="l">
              <a:lnSpc>
                <a:spcPts val="2550"/>
              </a:lnSpc>
              <a:spcAft>
                <a:spcPts val="1500"/>
              </a:spcAft>
              <a:buNone/>
            </a:pPr>
            <a:r>
              <a:rPr lang="en-US" sz="2550" b="1" dirty="0">
                <a:latin typeface="Segoe UI" pitchFamily="34" charset="0"/>
                <a:ea typeface="Segoe UI" pitchFamily="34" charset="-122"/>
                <a:cs typeface="Segoe UI" pitchFamily="34" charset="-120"/>
              </a:rPr>
              <a:t>ResNet (2015)</a:t>
            </a:r>
            <a:endParaRPr lang="en-US" sz="2550" dirty="0"/>
          </a:p>
        </p:txBody>
      </p:sp>
      <p:sp>
        <p:nvSpPr>
          <p:cNvPr id="5" name="Text 1"/>
          <p:cNvSpPr/>
          <p:nvPr/>
        </p:nvSpPr>
        <p:spPr>
          <a:xfrm>
            <a:off x="457200" y="1486194"/>
            <a:ext cx="8229600" cy="2143271"/>
          </a:xfrm>
          <a:prstGeom prst="roundRect">
            <a:avLst>
              <a:gd name="adj" fmla="val 5320"/>
            </a:avLst>
          </a:prstGeom>
          <a:solidFill>
            <a:srgbClr val="0EA5E9">
              <a:alpha val="15000"/>
            </a:srgbClr>
          </a:solidFill>
          <a:ln/>
        </p:spPr>
        <p:txBody>
          <a:bodyPr wrap="square" rtlCol="0" anchor="ctr"/>
          <a:lstStyle/>
          <a:p>
            <a:pPr marL="0" indent="0">
              <a:buNone/>
            </a:pPr>
            <a:endParaRPr lang="en-US" dirty="0"/>
          </a:p>
        </p:txBody>
      </p:sp>
      <p:sp>
        <p:nvSpPr>
          <p:cNvPr id="6" name="Shape 2"/>
          <p:cNvSpPr/>
          <p:nvPr/>
        </p:nvSpPr>
        <p:spPr>
          <a:xfrm>
            <a:off x="476250" y="1486194"/>
            <a:ext cx="0" cy="2143271"/>
          </a:xfrm>
          <a:prstGeom prst="line">
            <a:avLst/>
          </a:prstGeom>
          <a:noFill/>
          <a:ln w="38100">
            <a:solidFill>
              <a:srgbClr val="2563EB"/>
            </a:solidFill>
            <a:prstDash val="solid"/>
          </a:ln>
        </p:spPr>
      </p:sp>
      <p:sp>
        <p:nvSpPr>
          <p:cNvPr id="9" name="Text 5"/>
          <p:cNvSpPr/>
          <p:nvPr/>
        </p:nvSpPr>
        <p:spPr>
          <a:xfrm>
            <a:off x="590550" y="4057825"/>
            <a:ext cx="8229600" cy="1394222"/>
          </a:xfrm>
          <a:prstGeom prst="rect">
            <a:avLst/>
          </a:prstGeom>
          <a:noFill/>
          <a:ln/>
        </p:spPr>
        <p:txBody>
          <a:bodyPr wrap="square" lIns="114300" tIns="0" rIns="0" bIns="0" rtlCol="0" anchor="t"/>
          <a:lstStyle/>
          <a:p>
            <a:pPr marL="114300" indent="-114300" algn="l">
              <a:lnSpc>
                <a:spcPts val="1620"/>
              </a:lnSpc>
              <a:spcAft>
                <a:spcPts val="450"/>
              </a:spcAft>
              <a:buSzPct val="100000"/>
              <a:buChar char="•"/>
            </a:pPr>
            <a:r>
              <a:rPr lang="en-US" sz="1200" b="1" dirty="0">
                <a:latin typeface="Arial" pitchFamily="34" charset="0"/>
                <a:ea typeface="Arial" pitchFamily="34" charset="-122"/>
                <a:cs typeface="Arial" pitchFamily="34" charset="-120"/>
              </a:rPr>
              <a:t>Residual Learning:</a:t>
            </a:r>
            <a:r>
              <a:rPr lang="en-US" sz="1200" dirty="0">
                <a:latin typeface="Arial" pitchFamily="34" charset="0"/>
                <a:ea typeface="Arial" pitchFamily="34" charset="-122"/>
                <a:cs typeface="Arial" pitchFamily="34" charset="-120"/>
              </a:rPr>
              <a:t> Learn difference from identity</a:t>
            </a:r>
            <a:endParaRPr lang="en-US" sz="1200" dirty="0"/>
          </a:p>
          <a:p>
            <a:pPr marL="114300" indent="-114300" algn="l">
              <a:lnSpc>
                <a:spcPts val="1620"/>
              </a:lnSpc>
              <a:spcAft>
                <a:spcPts val="450"/>
              </a:spcAft>
              <a:buSzPct val="100000"/>
              <a:buChar char="•"/>
            </a:pPr>
            <a:r>
              <a:rPr lang="en-US" sz="1200" b="1" dirty="0">
                <a:latin typeface="Arial" pitchFamily="34" charset="0"/>
                <a:ea typeface="Arial" pitchFamily="34" charset="-122"/>
                <a:cs typeface="Arial" pitchFamily="34" charset="-120"/>
              </a:rPr>
              <a:t>Skip Connections:</a:t>
            </a:r>
            <a:r>
              <a:rPr lang="en-US" sz="1200" dirty="0">
                <a:latin typeface="Arial" pitchFamily="34" charset="0"/>
                <a:ea typeface="Arial" pitchFamily="34" charset="-122"/>
                <a:cs typeface="Arial" pitchFamily="34" charset="-120"/>
              </a:rPr>
              <a:t> Direct paths through network</a:t>
            </a:r>
            <a:endParaRPr lang="en-US" sz="1200" dirty="0"/>
          </a:p>
          <a:p>
            <a:pPr marL="114300" indent="-114300" algn="l">
              <a:lnSpc>
                <a:spcPts val="1620"/>
              </a:lnSpc>
              <a:spcAft>
                <a:spcPts val="450"/>
              </a:spcAft>
              <a:buSzPct val="100000"/>
              <a:buChar char="•"/>
            </a:pPr>
            <a:r>
              <a:rPr lang="en-US" sz="1200" dirty="0">
                <a:latin typeface="Arial" pitchFamily="34" charset="0"/>
                <a:ea typeface="Arial" pitchFamily="34" charset="-122"/>
                <a:cs typeface="Arial" pitchFamily="34" charset="-120"/>
              </a:rPr>
              <a:t>Won ImageNet 2015</a:t>
            </a:r>
            <a:endParaRPr lang="en-US" sz="1200" dirty="0"/>
          </a:p>
          <a:p>
            <a:pPr marL="114300" indent="-114300" algn="l">
              <a:lnSpc>
                <a:spcPts val="1620"/>
              </a:lnSpc>
              <a:spcAft>
                <a:spcPts val="450"/>
              </a:spcAft>
              <a:buSzPct val="100000"/>
              <a:buChar char="•"/>
            </a:pPr>
            <a:r>
              <a:rPr lang="en-US" sz="1200" dirty="0">
                <a:latin typeface="Arial" pitchFamily="34" charset="0"/>
                <a:ea typeface="Arial" pitchFamily="34" charset="-122"/>
                <a:cs typeface="Arial" pitchFamily="34" charset="-120"/>
              </a:rPr>
              <a:t>Revolutionary architecture still dominant today</a:t>
            </a:r>
            <a:endParaRPr lang="en-US" sz="1200" dirty="0"/>
          </a:p>
        </p:txBody>
      </p:sp>
      <p:sp>
        <p:nvSpPr>
          <p:cNvPr id="10" name="Rectangle 9"/>
          <p:cNvSpPr/>
          <p:nvPr/>
        </p:nvSpPr>
        <p:spPr>
          <a:xfrm>
            <a:off x="590549" y="1486194"/>
            <a:ext cx="7245155" cy="2031325"/>
          </a:xfrm>
          <a:prstGeom prst="rect">
            <a:avLst/>
          </a:prstGeom>
        </p:spPr>
        <p:txBody>
          <a:bodyPr wrap="square">
            <a:spAutoFit/>
          </a:bodyPr>
          <a:lstStyle/>
          <a:p>
            <a:r>
              <a:rPr lang="en-US" dirty="0" err="1"/>
              <a:t>ResNet</a:t>
            </a:r>
            <a:r>
              <a:rPr lang="en-US" dirty="0"/>
              <a:t> addressed the challenge of training very deep neural networks by introducing residual connections, which allow information to flow directly across layers. These skip connections help prevent vanishing gradients and enable the training of extremely deep models with improved accuracy. </a:t>
            </a:r>
            <a:r>
              <a:rPr lang="en-US" dirty="0" err="1"/>
              <a:t>ResNet</a:t>
            </a:r>
            <a:r>
              <a:rPr lang="en-US" dirty="0"/>
              <a:t> significantly advanced computer vision performance and remains a foundation for many modern deep learning architectures.</a:t>
            </a:r>
          </a:p>
        </p:txBody>
      </p:sp>
      <p:pic>
        <p:nvPicPr>
          <p:cNvPr id="11" name="Picture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71635" y="3915215"/>
            <a:ext cx="5125916" cy="2088797"/>
          </a:xfrm>
          <a:prstGeom prst="rect">
            <a:avLst/>
          </a:prstGeom>
        </p:spPr>
      </p:pic>
    </p:spTree>
    <p:extLst>
      <p:ext uri="{BB962C8B-B14F-4D97-AF65-F5344CB8AC3E}">
        <p14:creationId xmlns:p14="http://schemas.microsoft.com/office/powerpoint/2010/main" val="40926289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p:cNvSpPr/>
          <p:nvPr/>
        </p:nvSpPr>
        <p:spPr>
          <a:xfrm>
            <a:off x="696350" y="575079"/>
            <a:ext cx="4206812" cy="323850"/>
          </a:xfrm>
          <a:prstGeom prst="rect">
            <a:avLst/>
          </a:prstGeom>
          <a:noFill/>
          <a:ln/>
        </p:spPr>
        <p:txBody>
          <a:bodyPr wrap="square" lIns="0" tIns="0" rIns="0" bIns="0" rtlCol="0" anchor="t"/>
          <a:lstStyle/>
          <a:p>
            <a:pPr marL="0" indent="0" algn="l">
              <a:lnSpc>
                <a:spcPts val="2550"/>
              </a:lnSpc>
              <a:spcAft>
                <a:spcPts val="1500"/>
              </a:spcAft>
              <a:buNone/>
            </a:pPr>
            <a:r>
              <a:rPr lang="en-US" sz="2550" b="1" dirty="0">
                <a:latin typeface="Segoe UI" pitchFamily="34" charset="0"/>
                <a:ea typeface="Segoe UI" pitchFamily="34" charset="-122"/>
                <a:cs typeface="Segoe UI" pitchFamily="34" charset="-120"/>
              </a:rPr>
              <a:t>Modern Architectures</a:t>
            </a:r>
            <a:endParaRPr lang="en-US" sz="2550" dirty="0"/>
          </a:p>
        </p:txBody>
      </p:sp>
      <p:sp>
        <p:nvSpPr>
          <p:cNvPr id="5" name="Text 1"/>
          <p:cNvSpPr/>
          <p:nvPr/>
        </p:nvSpPr>
        <p:spPr>
          <a:xfrm>
            <a:off x="1024260" y="3891175"/>
            <a:ext cx="2516315" cy="253901"/>
          </a:xfrm>
          <a:prstGeom prst="rect">
            <a:avLst/>
          </a:prstGeom>
          <a:noFill/>
          <a:ln/>
        </p:spPr>
        <p:txBody>
          <a:bodyPr wrap="square" lIns="0" tIns="0" rIns="0" bIns="0" rtlCol="0" anchor="t"/>
          <a:lstStyle/>
          <a:p>
            <a:pPr marL="0" indent="0" algn="l">
              <a:lnSpc>
                <a:spcPts val="2000"/>
              </a:lnSpc>
              <a:spcBef>
                <a:spcPts val="900"/>
              </a:spcBef>
              <a:spcAft>
                <a:spcPts val="600"/>
              </a:spcAft>
              <a:buNone/>
            </a:pPr>
            <a:r>
              <a:rPr lang="en-US" sz="1800" b="1" dirty="0">
                <a:latin typeface="Arial" pitchFamily="34" charset="0"/>
                <a:ea typeface="Arial" pitchFamily="34" charset="-122"/>
                <a:cs typeface="Arial" pitchFamily="34" charset="-120"/>
              </a:rPr>
              <a:t>Inception (GoogLeNet)</a:t>
            </a:r>
            <a:endParaRPr lang="en-US" sz="1800" dirty="0"/>
          </a:p>
        </p:txBody>
      </p:sp>
      <p:sp>
        <p:nvSpPr>
          <p:cNvPr id="6" name="Text 2"/>
          <p:cNvSpPr/>
          <p:nvPr/>
        </p:nvSpPr>
        <p:spPr>
          <a:xfrm>
            <a:off x="1024260" y="4221276"/>
            <a:ext cx="4061079" cy="179933"/>
          </a:xfrm>
          <a:prstGeom prst="rect">
            <a:avLst/>
          </a:prstGeom>
          <a:noFill/>
          <a:ln/>
        </p:spPr>
        <p:txBody>
          <a:bodyPr wrap="square" lIns="0" tIns="0" rIns="0" bIns="0" rtlCol="0" anchor="t"/>
          <a:lstStyle/>
          <a:p>
            <a:pPr marL="0" indent="0" algn="l">
              <a:lnSpc>
                <a:spcPts val="1418"/>
              </a:lnSpc>
              <a:spcBef>
                <a:spcPts val="300"/>
              </a:spcBef>
              <a:spcAft>
                <a:spcPts val="300"/>
              </a:spcAft>
              <a:buNone/>
            </a:pPr>
            <a:r>
              <a:rPr lang="en-US" sz="1050" dirty="0">
                <a:latin typeface="Arial" pitchFamily="34" charset="0"/>
                <a:ea typeface="Arial" pitchFamily="34" charset="-122"/>
                <a:cs typeface="Arial" pitchFamily="34" charset="-120"/>
              </a:rPr>
              <a:t>Multiple filter sizes in parallel</a:t>
            </a:r>
            <a:endParaRPr lang="en-US" sz="1050" dirty="0"/>
          </a:p>
        </p:txBody>
      </p:sp>
      <p:sp>
        <p:nvSpPr>
          <p:cNvPr id="7" name="Text 3"/>
          <p:cNvSpPr/>
          <p:nvPr/>
        </p:nvSpPr>
        <p:spPr>
          <a:xfrm>
            <a:off x="1024260" y="4439309"/>
            <a:ext cx="4061079" cy="179933"/>
          </a:xfrm>
          <a:prstGeom prst="rect">
            <a:avLst/>
          </a:prstGeom>
          <a:noFill/>
          <a:ln/>
        </p:spPr>
        <p:txBody>
          <a:bodyPr wrap="square" lIns="0" tIns="0" rIns="0" bIns="0" rtlCol="0" anchor="t"/>
          <a:lstStyle/>
          <a:p>
            <a:pPr marL="0" indent="0" algn="l">
              <a:lnSpc>
                <a:spcPts val="1418"/>
              </a:lnSpc>
              <a:spcBef>
                <a:spcPts val="300"/>
              </a:spcBef>
              <a:spcAft>
                <a:spcPts val="300"/>
              </a:spcAft>
              <a:buNone/>
            </a:pPr>
            <a:r>
              <a:rPr lang="en-US" sz="1050" dirty="0">
                <a:latin typeface="Arial" pitchFamily="34" charset="0"/>
                <a:ea typeface="Arial" pitchFamily="34" charset="-122"/>
                <a:cs typeface="Arial" pitchFamily="34" charset="-120"/>
              </a:rPr>
              <a:t>Efficient with fewer parameters</a:t>
            </a:r>
            <a:endParaRPr lang="en-US" sz="1050" dirty="0"/>
          </a:p>
        </p:txBody>
      </p:sp>
      <p:sp>
        <p:nvSpPr>
          <p:cNvPr id="8" name="Text 4"/>
          <p:cNvSpPr/>
          <p:nvPr/>
        </p:nvSpPr>
        <p:spPr>
          <a:xfrm>
            <a:off x="5272410" y="3891175"/>
            <a:ext cx="2040255" cy="253901"/>
          </a:xfrm>
          <a:prstGeom prst="rect">
            <a:avLst/>
          </a:prstGeom>
          <a:noFill/>
          <a:ln/>
        </p:spPr>
        <p:txBody>
          <a:bodyPr wrap="square" lIns="0" tIns="0" rIns="0" bIns="0" rtlCol="0" anchor="t"/>
          <a:lstStyle/>
          <a:p>
            <a:pPr marL="0" indent="0" algn="l">
              <a:lnSpc>
                <a:spcPts val="2000"/>
              </a:lnSpc>
              <a:spcBef>
                <a:spcPts val="900"/>
              </a:spcBef>
              <a:spcAft>
                <a:spcPts val="600"/>
              </a:spcAft>
              <a:buNone/>
            </a:pPr>
            <a:r>
              <a:rPr lang="en-US" sz="1800" b="1" dirty="0">
                <a:latin typeface="Arial" pitchFamily="34" charset="0"/>
                <a:ea typeface="Arial" pitchFamily="34" charset="-122"/>
                <a:cs typeface="Arial" pitchFamily="34" charset="-120"/>
              </a:rPr>
              <a:t>EfficientNet</a:t>
            </a:r>
            <a:endParaRPr lang="en-US" sz="1800" dirty="0"/>
          </a:p>
        </p:txBody>
      </p:sp>
      <p:sp>
        <p:nvSpPr>
          <p:cNvPr id="9" name="Text 5"/>
          <p:cNvSpPr/>
          <p:nvPr/>
        </p:nvSpPr>
        <p:spPr>
          <a:xfrm>
            <a:off x="5272410" y="4221276"/>
            <a:ext cx="4061079" cy="179933"/>
          </a:xfrm>
          <a:prstGeom prst="rect">
            <a:avLst/>
          </a:prstGeom>
          <a:noFill/>
          <a:ln/>
        </p:spPr>
        <p:txBody>
          <a:bodyPr wrap="square" lIns="0" tIns="0" rIns="0" bIns="0" rtlCol="0" anchor="t"/>
          <a:lstStyle/>
          <a:p>
            <a:pPr marL="0" indent="0" algn="l">
              <a:lnSpc>
                <a:spcPts val="1418"/>
              </a:lnSpc>
              <a:spcBef>
                <a:spcPts val="300"/>
              </a:spcBef>
              <a:spcAft>
                <a:spcPts val="300"/>
              </a:spcAft>
              <a:buNone/>
            </a:pPr>
            <a:r>
              <a:rPr lang="en-US" sz="1050" dirty="0">
                <a:latin typeface="Arial" pitchFamily="34" charset="0"/>
                <a:ea typeface="Arial" pitchFamily="34" charset="-122"/>
                <a:cs typeface="Arial" pitchFamily="34" charset="-120"/>
              </a:rPr>
              <a:t>Optimally scales depth, width, resolution</a:t>
            </a:r>
            <a:endParaRPr lang="en-US" sz="1050" dirty="0"/>
          </a:p>
        </p:txBody>
      </p:sp>
      <p:sp>
        <p:nvSpPr>
          <p:cNvPr id="10" name="Text 6"/>
          <p:cNvSpPr/>
          <p:nvPr/>
        </p:nvSpPr>
        <p:spPr>
          <a:xfrm>
            <a:off x="5272410" y="4439309"/>
            <a:ext cx="4061079" cy="179933"/>
          </a:xfrm>
          <a:prstGeom prst="rect">
            <a:avLst/>
          </a:prstGeom>
          <a:noFill/>
          <a:ln/>
        </p:spPr>
        <p:txBody>
          <a:bodyPr wrap="square" lIns="0" tIns="0" rIns="0" bIns="0" rtlCol="0" anchor="t"/>
          <a:lstStyle/>
          <a:p>
            <a:pPr marL="0" indent="0" algn="l">
              <a:lnSpc>
                <a:spcPts val="1418"/>
              </a:lnSpc>
              <a:spcBef>
                <a:spcPts val="300"/>
              </a:spcBef>
              <a:spcAft>
                <a:spcPts val="300"/>
              </a:spcAft>
              <a:buNone/>
            </a:pPr>
            <a:r>
              <a:rPr lang="en-US" sz="1050" dirty="0">
                <a:latin typeface="Arial" pitchFamily="34" charset="0"/>
                <a:ea typeface="Arial" pitchFamily="34" charset="-122"/>
                <a:cs typeface="Arial" pitchFamily="34" charset="-120"/>
              </a:rPr>
              <a:t>State-of-the-art efficiency</a:t>
            </a:r>
            <a:endParaRPr lang="en-US" sz="1050" dirty="0"/>
          </a:p>
        </p:txBody>
      </p:sp>
      <p:sp>
        <p:nvSpPr>
          <p:cNvPr id="11" name="Text 7"/>
          <p:cNvSpPr/>
          <p:nvPr/>
        </p:nvSpPr>
        <p:spPr>
          <a:xfrm>
            <a:off x="1033976" y="5082393"/>
            <a:ext cx="2040255" cy="253901"/>
          </a:xfrm>
          <a:prstGeom prst="rect">
            <a:avLst/>
          </a:prstGeom>
          <a:noFill/>
          <a:ln/>
        </p:spPr>
        <p:txBody>
          <a:bodyPr wrap="square" lIns="0" tIns="0" rIns="0" bIns="0" rtlCol="0" anchor="t"/>
          <a:lstStyle/>
          <a:p>
            <a:pPr marL="0" indent="0" algn="l">
              <a:lnSpc>
                <a:spcPts val="2000"/>
              </a:lnSpc>
              <a:spcBef>
                <a:spcPts val="900"/>
              </a:spcBef>
              <a:spcAft>
                <a:spcPts val="600"/>
              </a:spcAft>
              <a:buNone/>
            </a:pPr>
            <a:r>
              <a:rPr lang="en-US" sz="1800" b="1" dirty="0">
                <a:latin typeface="Arial" pitchFamily="34" charset="0"/>
                <a:ea typeface="Arial" pitchFamily="34" charset="-122"/>
                <a:cs typeface="Arial" pitchFamily="34" charset="-120"/>
              </a:rPr>
              <a:t>MobileNet</a:t>
            </a:r>
            <a:endParaRPr lang="en-US" sz="1800" dirty="0"/>
          </a:p>
        </p:txBody>
      </p:sp>
      <p:sp>
        <p:nvSpPr>
          <p:cNvPr id="12" name="Text 8"/>
          <p:cNvSpPr/>
          <p:nvPr/>
        </p:nvSpPr>
        <p:spPr>
          <a:xfrm>
            <a:off x="1033976" y="5412494"/>
            <a:ext cx="4061079" cy="179933"/>
          </a:xfrm>
          <a:prstGeom prst="rect">
            <a:avLst/>
          </a:prstGeom>
          <a:noFill/>
          <a:ln/>
        </p:spPr>
        <p:txBody>
          <a:bodyPr wrap="square" lIns="0" tIns="0" rIns="0" bIns="0" rtlCol="0" anchor="t"/>
          <a:lstStyle/>
          <a:p>
            <a:pPr marL="0" indent="0" algn="l">
              <a:lnSpc>
                <a:spcPts val="1418"/>
              </a:lnSpc>
              <a:spcBef>
                <a:spcPts val="300"/>
              </a:spcBef>
              <a:spcAft>
                <a:spcPts val="300"/>
              </a:spcAft>
              <a:buNone/>
            </a:pPr>
            <a:r>
              <a:rPr lang="en-US" sz="1050" dirty="0">
                <a:latin typeface="Arial" pitchFamily="34" charset="0"/>
                <a:ea typeface="Arial" pitchFamily="34" charset="-122"/>
                <a:cs typeface="Arial" pitchFamily="34" charset="-120"/>
              </a:rPr>
              <a:t>For mobile/edge devices</a:t>
            </a:r>
            <a:endParaRPr lang="en-US" sz="1050" dirty="0"/>
          </a:p>
        </p:txBody>
      </p:sp>
      <p:sp>
        <p:nvSpPr>
          <p:cNvPr id="13" name="Text 9"/>
          <p:cNvSpPr/>
          <p:nvPr/>
        </p:nvSpPr>
        <p:spPr>
          <a:xfrm>
            <a:off x="5282126" y="5082393"/>
            <a:ext cx="2253996" cy="253901"/>
          </a:xfrm>
          <a:prstGeom prst="rect">
            <a:avLst/>
          </a:prstGeom>
          <a:noFill/>
          <a:ln/>
        </p:spPr>
        <p:txBody>
          <a:bodyPr wrap="square" lIns="0" tIns="0" rIns="0" bIns="0" rtlCol="0" anchor="t"/>
          <a:lstStyle/>
          <a:p>
            <a:pPr marL="0" indent="0" algn="l">
              <a:lnSpc>
                <a:spcPts val="2000"/>
              </a:lnSpc>
              <a:spcBef>
                <a:spcPts val="900"/>
              </a:spcBef>
              <a:spcAft>
                <a:spcPts val="600"/>
              </a:spcAft>
              <a:buNone/>
            </a:pPr>
            <a:r>
              <a:rPr lang="en-US" sz="1800" b="1" dirty="0">
                <a:latin typeface="Arial" pitchFamily="34" charset="0"/>
                <a:ea typeface="Arial" pitchFamily="34" charset="-122"/>
                <a:cs typeface="Arial" pitchFamily="34" charset="-120"/>
              </a:rPr>
              <a:t>Vision Transformers</a:t>
            </a:r>
            <a:endParaRPr lang="en-US" sz="1800" dirty="0"/>
          </a:p>
        </p:txBody>
      </p:sp>
      <p:sp>
        <p:nvSpPr>
          <p:cNvPr id="14" name="Text 10"/>
          <p:cNvSpPr/>
          <p:nvPr/>
        </p:nvSpPr>
        <p:spPr>
          <a:xfrm>
            <a:off x="5282126" y="5412494"/>
            <a:ext cx="4061079" cy="179933"/>
          </a:xfrm>
          <a:prstGeom prst="rect">
            <a:avLst/>
          </a:prstGeom>
          <a:noFill/>
          <a:ln/>
        </p:spPr>
        <p:txBody>
          <a:bodyPr wrap="square" lIns="0" tIns="0" rIns="0" bIns="0" rtlCol="0" anchor="t"/>
          <a:lstStyle/>
          <a:p>
            <a:pPr marL="0" indent="0" algn="l">
              <a:lnSpc>
                <a:spcPts val="1418"/>
              </a:lnSpc>
              <a:spcBef>
                <a:spcPts val="300"/>
              </a:spcBef>
              <a:spcAft>
                <a:spcPts val="300"/>
              </a:spcAft>
              <a:buNone/>
            </a:pPr>
            <a:r>
              <a:rPr lang="en-US" sz="1050" dirty="0">
                <a:latin typeface="Arial" pitchFamily="34" charset="0"/>
                <a:ea typeface="Arial" pitchFamily="34" charset="-122"/>
                <a:cs typeface="Arial" pitchFamily="34" charset="-120"/>
              </a:rPr>
              <a:t>Attention-based (newer approach)</a:t>
            </a:r>
            <a:endParaRPr lang="en-US" sz="1050" dirty="0"/>
          </a:p>
        </p:txBody>
      </p:sp>
      <p:sp>
        <p:nvSpPr>
          <p:cNvPr id="15" name="Rectangle 14"/>
          <p:cNvSpPr/>
          <p:nvPr/>
        </p:nvSpPr>
        <p:spPr>
          <a:xfrm>
            <a:off x="696350" y="1242646"/>
            <a:ext cx="8532055" cy="2031325"/>
          </a:xfrm>
          <a:prstGeom prst="rect">
            <a:avLst/>
          </a:prstGeom>
        </p:spPr>
        <p:txBody>
          <a:bodyPr wrap="square">
            <a:spAutoFit/>
          </a:bodyPr>
          <a:lstStyle/>
          <a:p>
            <a:r>
              <a:rPr lang="en-US" dirty="0"/>
              <a:t>Modern computer vision architectures focus on improving accuracy, efficiency, and scalability. Models such as Inception optimize computation through multi scale feature extraction, while </a:t>
            </a:r>
            <a:r>
              <a:rPr lang="en-US" dirty="0" err="1"/>
              <a:t>MobileNet</a:t>
            </a:r>
            <a:r>
              <a:rPr lang="en-US" dirty="0"/>
              <a:t> and </a:t>
            </a:r>
            <a:r>
              <a:rPr lang="en-US" dirty="0" err="1"/>
              <a:t>EfficientNet</a:t>
            </a:r>
            <a:r>
              <a:rPr lang="en-US" dirty="0"/>
              <a:t> are designed for lightweight and resource constrained environments. Recent approaches also include transformer based models, which capture global image relationships more effectively. These architectures enable high performance vision systems across mobile, cloud, and real time applications.</a:t>
            </a:r>
          </a:p>
        </p:txBody>
      </p:sp>
    </p:spTree>
    <p:extLst>
      <p:ext uri="{BB962C8B-B14F-4D97-AF65-F5344CB8AC3E}">
        <p14:creationId xmlns:p14="http://schemas.microsoft.com/office/powerpoint/2010/main" val="13896705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p:cNvSpPr/>
          <p:nvPr/>
        </p:nvSpPr>
        <p:spPr>
          <a:xfrm>
            <a:off x="2704023" y="2271761"/>
            <a:ext cx="5536469" cy="457200"/>
          </a:xfrm>
          <a:prstGeom prst="rect">
            <a:avLst/>
          </a:prstGeom>
          <a:noFill/>
          <a:ln/>
        </p:spPr>
        <p:txBody>
          <a:bodyPr wrap="square" lIns="0" tIns="0" rIns="0" bIns="0" rtlCol="0" anchor="t"/>
          <a:lstStyle/>
          <a:p>
            <a:pPr marL="0" indent="0" algn="ctr">
              <a:lnSpc>
                <a:spcPts val="3600"/>
              </a:lnSpc>
              <a:spcAft>
                <a:spcPts val="1050"/>
              </a:spcAft>
              <a:buNone/>
            </a:pPr>
            <a:r>
              <a:rPr lang="en-US" sz="3600" b="1" dirty="0">
                <a:latin typeface="Segoe UI" pitchFamily="34" charset="0"/>
                <a:ea typeface="Segoe UI" pitchFamily="34" charset="-122"/>
                <a:cs typeface="Segoe UI" pitchFamily="34" charset="-120"/>
              </a:rPr>
              <a:t>Working with Image Data</a:t>
            </a:r>
            <a:endParaRPr lang="en-US" sz="3600" dirty="0"/>
          </a:p>
        </p:txBody>
      </p:sp>
      <p:sp>
        <p:nvSpPr>
          <p:cNvPr id="5" name="Text 1"/>
          <p:cNvSpPr/>
          <p:nvPr/>
        </p:nvSpPr>
        <p:spPr>
          <a:xfrm>
            <a:off x="4088632" y="2928986"/>
            <a:ext cx="2767399" cy="269974"/>
          </a:xfrm>
          <a:prstGeom prst="rect">
            <a:avLst/>
          </a:prstGeom>
          <a:noFill/>
          <a:ln/>
        </p:spPr>
        <p:txBody>
          <a:bodyPr wrap="square" lIns="0" tIns="0" rIns="0" bIns="0" rtlCol="0" anchor="t"/>
          <a:lstStyle/>
          <a:p>
            <a:pPr marL="0" indent="0" algn="ctr">
              <a:lnSpc>
                <a:spcPts val="2126"/>
              </a:lnSpc>
              <a:spcBef>
                <a:spcPts val="525"/>
              </a:spcBef>
              <a:spcAft>
                <a:spcPts val="525"/>
              </a:spcAft>
              <a:buNone/>
            </a:pPr>
            <a:r>
              <a:rPr lang="en-US" sz="1575" dirty="0">
                <a:latin typeface="Arial" pitchFamily="34" charset="0"/>
                <a:ea typeface="Arial" pitchFamily="34" charset="-122"/>
                <a:cs typeface="Arial" pitchFamily="34" charset="-120"/>
              </a:rPr>
              <a:t>Preprocessing &amp; Data Loading</a:t>
            </a:r>
            <a:endParaRPr lang="en-US" sz="1575" dirty="0"/>
          </a:p>
        </p:txBody>
      </p:sp>
    </p:spTree>
    <p:extLst>
      <p:ext uri="{BB962C8B-B14F-4D97-AF65-F5344CB8AC3E}">
        <p14:creationId xmlns:p14="http://schemas.microsoft.com/office/powerpoint/2010/main" val="21417860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125129" y="416650"/>
            <a:ext cx="3414333" cy="425758"/>
          </a:xfrm>
          <a:prstGeom prst="rect">
            <a:avLst/>
          </a:prstGeom>
        </p:spPr>
        <p:txBody>
          <a:bodyPr wrap="none">
            <a:spAutoFit/>
          </a:bodyPr>
          <a:lstStyle/>
          <a:p>
            <a:pPr>
              <a:lnSpc>
                <a:spcPts val="2550"/>
              </a:lnSpc>
              <a:spcAft>
                <a:spcPts val="1500"/>
              </a:spcAft>
            </a:pPr>
            <a:r>
              <a:rPr lang="en-US" b="1" dirty="0">
                <a:solidFill>
                  <a:srgbClr val="F59E0B"/>
                </a:solidFill>
                <a:latin typeface="Segoe UI" pitchFamily="34" charset="0"/>
                <a:ea typeface="Segoe UI" pitchFamily="34" charset="-122"/>
                <a:cs typeface="Segoe UI" pitchFamily="34" charset="-120"/>
              </a:rPr>
              <a:t>Understanding Image Tensors</a:t>
            </a:r>
            <a:endParaRPr lang="en-US" dirty="0"/>
          </a:p>
        </p:txBody>
      </p:sp>
      <p:sp>
        <p:nvSpPr>
          <p:cNvPr id="5" name="Rectangle 4"/>
          <p:cNvSpPr/>
          <p:nvPr/>
        </p:nvSpPr>
        <p:spPr>
          <a:xfrm>
            <a:off x="965980" y="1123465"/>
            <a:ext cx="8628185" cy="1754326"/>
          </a:xfrm>
          <a:prstGeom prst="rect">
            <a:avLst/>
          </a:prstGeom>
        </p:spPr>
        <p:txBody>
          <a:bodyPr wrap="square">
            <a:spAutoFit/>
          </a:bodyPr>
          <a:lstStyle/>
          <a:p>
            <a:r>
              <a:rPr lang="en-US" dirty="0"/>
              <a:t>Images are represented in deep learning as tensors, which are multi dimensional arrays of numerical values. A typical image tensor is structured as height × width × channels, where channels represent color information such as grayscale or RGB. This tensor format allows neural networks to perform mathematical operations for feature extraction and pattern learning. Understanding image tensors is essential for preprocessing, model design, and debugging computer vision systems.</a:t>
            </a:r>
          </a:p>
        </p:txBody>
      </p:sp>
      <p:pic>
        <p:nvPicPr>
          <p:cNvPr id="6" name="Image 0" descr="/tmp/rasterized-svg-1ba1fe8b.png"/>
          <p:cNvPicPr>
            <a:picLocks noChangeAspect="1"/>
          </p:cNvPicPr>
          <p:nvPr/>
        </p:nvPicPr>
        <p:blipFill>
          <a:blip r:embed="rId2"/>
          <a:stretch>
            <a:fillRect/>
          </a:stretch>
        </p:blipFill>
        <p:spPr>
          <a:xfrm>
            <a:off x="2832295" y="3281875"/>
            <a:ext cx="5238750" cy="2000250"/>
          </a:xfrm>
          <a:prstGeom prst="rect">
            <a:avLst/>
          </a:prstGeom>
        </p:spPr>
      </p:pic>
    </p:spTree>
    <p:extLst>
      <p:ext uri="{BB962C8B-B14F-4D97-AF65-F5344CB8AC3E}">
        <p14:creationId xmlns:p14="http://schemas.microsoft.com/office/powerpoint/2010/main" val="4008050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p:cNvSpPr/>
          <p:nvPr/>
        </p:nvSpPr>
        <p:spPr>
          <a:xfrm>
            <a:off x="457200" y="285750"/>
            <a:ext cx="4333113" cy="323850"/>
          </a:xfrm>
          <a:prstGeom prst="rect">
            <a:avLst/>
          </a:prstGeom>
          <a:noFill/>
          <a:ln/>
        </p:spPr>
        <p:txBody>
          <a:bodyPr wrap="square" lIns="0" tIns="0" rIns="0" bIns="0" rtlCol="0" anchor="t"/>
          <a:lstStyle/>
          <a:p>
            <a:pPr marL="0" indent="0" algn="l">
              <a:lnSpc>
                <a:spcPts val="2550"/>
              </a:lnSpc>
              <a:spcAft>
                <a:spcPts val="1500"/>
              </a:spcAft>
              <a:buNone/>
            </a:pPr>
            <a:r>
              <a:rPr lang="en-US" b="1" dirty="0">
                <a:latin typeface="Segoe UI" pitchFamily="34" charset="0"/>
                <a:ea typeface="Segoe UI" pitchFamily="34" charset="-122"/>
                <a:cs typeface="Segoe UI" pitchFamily="34" charset="-120"/>
              </a:rPr>
              <a:t>Image Preprocessing Steps</a:t>
            </a:r>
            <a:endParaRPr lang="en-US" dirty="0"/>
          </a:p>
        </p:txBody>
      </p:sp>
      <p:sp>
        <p:nvSpPr>
          <p:cNvPr id="5" name="Text 1"/>
          <p:cNvSpPr/>
          <p:nvPr/>
        </p:nvSpPr>
        <p:spPr>
          <a:xfrm>
            <a:off x="457200" y="876300"/>
            <a:ext cx="8229600" cy="1752302"/>
          </a:xfrm>
          <a:prstGeom prst="rect">
            <a:avLst/>
          </a:prstGeom>
          <a:noFill/>
          <a:ln/>
        </p:spPr>
        <p:txBody>
          <a:bodyPr wrap="square" lIns="114300" tIns="0" rIns="0" bIns="0" rtlCol="0" anchor="t"/>
          <a:lstStyle/>
          <a:p>
            <a:pPr marL="114300" indent="-114300" algn="l">
              <a:lnSpc>
                <a:spcPts val="1620"/>
              </a:lnSpc>
              <a:spcAft>
                <a:spcPts val="450"/>
              </a:spcAft>
              <a:buSzPct val="100000"/>
              <a:buChar char="•"/>
            </a:pPr>
            <a:r>
              <a:rPr lang="en-US" b="1" dirty="0">
                <a:latin typeface="Arial" pitchFamily="34" charset="0"/>
                <a:ea typeface="Arial" pitchFamily="34" charset="-122"/>
                <a:cs typeface="Arial" pitchFamily="34" charset="-120"/>
              </a:rPr>
              <a:t>Resizing:</a:t>
            </a:r>
            <a:r>
              <a:rPr lang="en-US" dirty="0">
                <a:latin typeface="Arial" pitchFamily="34" charset="0"/>
                <a:ea typeface="Arial" pitchFamily="34" charset="-122"/>
                <a:cs typeface="Arial" pitchFamily="34" charset="-120"/>
              </a:rPr>
              <a:t> Make all images same dimensions (e.g., 224x224)</a:t>
            </a:r>
            <a:endParaRPr lang="en-US" dirty="0"/>
          </a:p>
          <a:p>
            <a:pPr marL="114300" indent="-114300" algn="l">
              <a:lnSpc>
                <a:spcPts val="1620"/>
              </a:lnSpc>
              <a:spcAft>
                <a:spcPts val="450"/>
              </a:spcAft>
              <a:buSzPct val="100000"/>
              <a:buChar char="•"/>
            </a:pPr>
            <a:r>
              <a:rPr lang="en-US" b="1" dirty="0">
                <a:latin typeface="Arial" pitchFamily="34" charset="0"/>
                <a:ea typeface="Arial" pitchFamily="34" charset="-122"/>
                <a:cs typeface="Arial" pitchFamily="34" charset="-120"/>
              </a:rPr>
              <a:t>Normalization:</a:t>
            </a:r>
            <a:r>
              <a:rPr lang="en-US" dirty="0">
                <a:latin typeface="Arial" pitchFamily="34" charset="0"/>
                <a:ea typeface="Arial" pitchFamily="34" charset="-122"/>
                <a:cs typeface="Arial" pitchFamily="34" charset="-120"/>
              </a:rPr>
              <a:t> Scale pixel values to 0-1 or standardize</a:t>
            </a:r>
            <a:endParaRPr lang="en-US" dirty="0"/>
          </a:p>
          <a:p>
            <a:pPr marL="114300" indent="-114300" algn="l">
              <a:lnSpc>
                <a:spcPts val="1620"/>
              </a:lnSpc>
              <a:spcAft>
                <a:spcPts val="450"/>
              </a:spcAft>
              <a:buSzPct val="100000"/>
              <a:buChar char="•"/>
            </a:pPr>
            <a:r>
              <a:rPr lang="en-US" b="1" dirty="0">
                <a:latin typeface="Arial" pitchFamily="34" charset="0"/>
                <a:ea typeface="Arial" pitchFamily="34" charset="-122"/>
                <a:cs typeface="Arial" pitchFamily="34" charset="-120"/>
              </a:rPr>
              <a:t>Data Augmentation:</a:t>
            </a:r>
            <a:r>
              <a:rPr lang="en-US" dirty="0">
                <a:latin typeface="Arial" pitchFamily="34" charset="0"/>
                <a:ea typeface="Arial" pitchFamily="34" charset="-122"/>
                <a:cs typeface="Arial" pitchFamily="34" charset="-120"/>
              </a:rPr>
              <a:t> Rotation, flipping, zooming</a:t>
            </a:r>
            <a:endParaRPr lang="en-US" dirty="0"/>
          </a:p>
          <a:p>
            <a:pPr marL="114300" indent="-114300" algn="l">
              <a:lnSpc>
                <a:spcPts val="1620"/>
              </a:lnSpc>
              <a:spcAft>
                <a:spcPts val="450"/>
              </a:spcAft>
              <a:buSzPct val="100000"/>
              <a:buChar char="•"/>
            </a:pPr>
            <a:r>
              <a:rPr lang="en-US" b="1" dirty="0">
                <a:latin typeface="Arial" pitchFamily="34" charset="0"/>
                <a:ea typeface="Arial" pitchFamily="34" charset="-122"/>
                <a:cs typeface="Arial" pitchFamily="34" charset="-120"/>
              </a:rPr>
              <a:t>Color Conversion:</a:t>
            </a:r>
            <a:r>
              <a:rPr lang="en-US" dirty="0">
                <a:latin typeface="Arial" pitchFamily="34" charset="0"/>
                <a:ea typeface="Arial" pitchFamily="34" charset="-122"/>
                <a:cs typeface="Arial" pitchFamily="34" charset="-120"/>
              </a:rPr>
              <a:t> RGB, grayscale conversions</a:t>
            </a:r>
            <a:endParaRPr lang="en-US" dirty="0"/>
          </a:p>
          <a:p>
            <a:pPr marL="114300" indent="-114300" algn="l">
              <a:lnSpc>
                <a:spcPts val="1620"/>
              </a:lnSpc>
              <a:spcAft>
                <a:spcPts val="450"/>
              </a:spcAft>
              <a:buSzPct val="100000"/>
              <a:buChar char="•"/>
            </a:pPr>
            <a:r>
              <a:rPr lang="en-US" b="1" dirty="0">
                <a:latin typeface="Arial" pitchFamily="34" charset="0"/>
                <a:ea typeface="Arial" pitchFamily="34" charset="-122"/>
                <a:cs typeface="Arial" pitchFamily="34" charset="-120"/>
              </a:rPr>
              <a:t>Cropping:</a:t>
            </a:r>
            <a:r>
              <a:rPr lang="en-US" dirty="0">
                <a:latin typeface="Arial" pitchFamily="34" charset="0"/>
                <a:ea typeface="Arial" pitchFamily="34" charset="-122"/>
                <a:cs typeface="Arial" pitchFamily="34" charset="-120"/>
              </a:rPr>
              <a:t> Center crop, random crop</a:t>
            </a:r>
            <a:endParaRPr lang="en-US" dirty="0"/>
          </a:p>
        </p:txBody>
      </p:sp>
      <p:sp>
        <p:nvSpPr>
          <p:cNvPr id="6" name="Text 2"/>
          <p:cNvSpPr/>
          <p:nvPr/>
        </p:nvSpPr>
        <p:spPr>
          <a:xfrm>
            <a:off x="457200" y="2819102"/>
            <a:ext cx="8229600" cy="510480"/>
          </a:xfrm>
          <a:prstGeom prst="roundRect">
            <a:avLst>
              <a:gd name="adj" fmla="val 9329"/>
            </a:avLst>
          </a:prstGeom>
          <a:solidFill>
            <a:srgbClr val="8B5CF6">
              <a:alpha val="15000"/>
            </a:srgbClr>
          </a:solidFill>
          <a:ln w="19050">
            <a:solidFill>
              <a:srgbClr val="7C3AED"/>
            </a:solidFill>
          </a:ln>
        </p:spPr>
        <p:txBody>
          <a:bodyPr wrap="square" rtlCol="0" anchor="ctr"/>
          <a:lstStyle/>
          <a:p>
            <a:pPr marL="0" indent="0">
              <a:buNone/>
            </a:pPr>
            <a:endParaRPr lang="en-US" dirty="0"/>
          </a:p>
        </p:txBody>
      </p:sp>
      <p:sp>
        <p:nvSpPr>
          <p:cNvPr id="7" name="Text 3"/>
          <p:cNvSpPr/>
          <p:nvPr/>
        </p:nvSpPr>
        <p:spPr>
          <a:xfrm>
            <a:off x="571500" y="2971502"/>
            <a:ext cx="8161020" cy="205680"/>
          </a:xfrm>
          <a:prstGeom prst="rect">
            <a:avLst/>
          </a:prstGeom>
          <a:noFill/>
          <a:ln/>
        </p:spPr>
        <p:txBody>
          <a:bodyPr wrap="square" lIns="0" tIns="0" rIns="0" bIns="0" rtlCol="0" anchor="t"/>
          <a:lstStyle/>
          <a:p>
            <a:pPr marL="0" indent="0" algn="l">
              <a:lnSpc>
                <a:spcPts val="1620"/>
              </a:lnSpc>
              <a:spcBef>
                <a:spcPts val="300"/>
              </a:spcBef>
              <a:spcAft>
                <a:spcPts val="300"/>
              </a:spcAft>
              <a:buNone/>
            </a:pPr>
            <a:r>
              <a:rPr lang="en-US" b="1" dirty="0">
                <a:latin typeface="Arial" pitchFamily="34" charset="0"/>
                <a:ea typeface="Arial" pitchFamily="34" charset="-122"/>
                <a:cs typeface="Arial" pitchFamily="34" charset="-120"/>
              </a:rPr>
              <a:t>Why preprocess?</a:t>
            </a:r>
            <a:r>
              <a:rPr lang="en-US" dirty="0">
                <a:latin typeface="Arial" pitchFamily="34" charset="0"/>
                <a:ea typeface="Arial" pitchFamily="34" charset="-122"/>
                <a:cs typeface="Arial" pitchFamily="34" charset="-120"/>
              </a:rPr>
              <a:t> Consistent input, better training, prevent overfitting</a:t>
            </a:r>
            <a:endParaRPr lang="en-US" dirty="0"/>
          </a:p>
        </p:txBody>
      </p:sp>
    </p:spTree>
    <p:extLst>
      <p:ext uri="{BB962C8B-B14F-4D97-AF65-F5344CB8AC3E}">
        <p14:creationId xmlns:p14="http://schemas.microsoft.com/office/powerpoint/2010/main" val="24333966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p:cNvSpPr/>
          <p:nvPr/>
        </p:nvSpPr>
        <p:spPr>
          <a:xfrm>
            <a:off x="457200" y="285750"/>
            <a:ext cx="4206812" cy="323850"/>
          </a:xfrm>
          <a:prstGeom prst="rect">
            <a:avLst/>
          </a:prstGeom>
          <a:noFill/>
          <a:ln/>
        </p:spPr>
        <p:txBody>
          <a:bodyPr wrap="square" lIns="0" tIns="0" rIns="0" bIns="0" rtlCol="0" anchor="t"/>
          <a:lstStyle/>
          <a:p>
            <a:pPr marL="0" indent="0" algn="l">
              <a:lnSpc>
                <a:spcPts val="2550"/>
              </a:lnSpc>
              <a:spcAft>
                <a:spcPts val="1500"/>
              </a:spcAft>
              <a:buNone/>
            </a:pPr>
            <a:r>
              <a:rPr lang="en-US" sz="2550" b="1" dirty="0">
                <a:latin typeface="Segoe UI" pitchFamily="34" charset="0"/>
                <a:ea typeface="Segoe UI" pitchFamily="34" charset="-122"/>
                <a:cs typeface="Segoe UI" pitchFamily="34" charset="-120"/>
              </a:rPr>
              <a:t>Image Normalization</a:t>
            </a:r>
            <a:endParaRPr lang="en-US" sz="2550" dirty="0"/>
          </a:p>
        </p:txBody>
      </p:sp>
      <p:sp>
        <p:nvSpPr>
          <p:cNvPr id="5" name="Text 1"/>
          <p:cNvSpPr/>
          <p:nvPr/>
        </p:nvSpPr>
        <p:spPr>
          <a:xfrm>
            <a:off x="457200" y="3418449"/>
            <a:ext cx="2040255" cy="253901"/>
          </a:xfrm>
          <a:prstGeom prst="rect">
            <a:avLst/>
          </a:prstGeom>
          <a:noFill/>
          <a:ln/>
        </p:spPr>
        <p:txBody>
          <a:bodyPr wrap="square" lIns="0" tIns="0" rIns="0" bIns="0" rtlCol="0" anchor="t"/>
          <a:lstStyle/>
          <a:p>
            <a:pPr marL="0" indent="0" algn="l">
              <a:lnSpc>
                <a:spcPts val="2000"/>
              </a:lnSpc>
              <a:spcBef>
                <a:spcPts val="900"/>
              </a:spcBef>
              <a:spcAft>
                <a:spcPts val="600"/>
              </a:spcAft>
              <a:buNone/>
            </a:pPr>
            <a:r>
              <a:rPr lang="en-US" sz="1800" b="1" dirty="0">
                <a:latin typeface="Arial" pitchFamily="34" charset="0"/>
                <a:ea typeface="Arial" pitchFamily="34" charset="-122"/>
                <a:cs typeface="Arial" pitchFamily="34" charset="-120"/>
              </a:rPr>
              <a:t>Min-Max Scaling</a:t>
            </a:r>
            <a:endParaRPr lang="en-US" sz="1800" dirty="0"/>
          </a:p>
        </p:txBody>
      </p:sp>
      <p:sp>
        <p:nvSpPr>
          <p:cNvPr id="6" name="Text 2"/>
          <p:cNvSpPr/>
          <p:nvPr/>
        </p:nvSpPr>
        <p:spPr>
          <a:xfrm>
            <a:off x="457200" y="3748550"/>
            <a:ext cx="4061079" cy="179933"/>
          </a:xfrm>
          <a:prstGeom prst="rect">
            <a:avLst/>
          </a:prstGeom>
          <a:noFill/>
          <a:ln/>
        </p:spPr>
        <p:txBody>
          <a:bodyPr wrap="square" lIns="0" tIns="0" rIns="0" bIns="0" rtlCol="0" anchor="t"/>
          <a:lstStyle/>
          <a:p>
            <a:pPr marL="0" indent="0" algn="l">
              <a:lnSpc>
                <a:spcPts val="1418"/>
              </a:lnSpc>
              <a:spcBef>
                <a:spcPts val="300"/>
              </a:spcBef>
              <a:spcAft>
                <a:spcPts val="300"/>
              </a:spcAft>
              <a:buNone/>
            </a:pPr>
            <a:r>
              <a:rPr lang="en-US" sz="1050" dirty="0">
                <a:latin typeface="Arial" pitchFamily="34" charset="0"/>
                <a:ea typeface="Arial" pitchFamily="34" charset="-122"/>
                <a:cs typeface="Arial" pitchFamily="34" charset="-120"/>
              </a:rPr>
              <a:t>Pixel values: 0-255</a:t>
            </a:r>
            <a:endParaRPr lang="en-US" sz="1050" dirty="0"/>
          </a:p>
        </p:txBody>
      </p:sp>
      <p:sp>
        <p:nvSpPr>
          <p:cNvPr id="7" name="Text 3"/>
          <p:cNvSpPr/>
          <p:nvPr/>
        </p:nvSpPr>
        <p:spPr>
          <a:xfrm>
            <a:off x="457200" y="3966583"/>
            <a:ext cx="4061079" cy="179933"/>
          </a:xfrm>
          <a:prstGeom prst="rect">
            <a:avLst/>
          </a:prstGeom>
          <a:noFill/>
          <a:ln/>
        </p:spPr>
        <p:txBody>
          <a:bodyPr wrap="square" lIns="0" tIns="0" rIns="0" bIns="0" rtlCol="0" anchor="t"/>
          <a:lstStyle/>
          <a:p>
            <a:pPr marL="0" indent="0" algn="l">
              <a:lnSpc>
                <a:spcPts val="1418"/>
              </a:lnSpc>
              <a:spcBef>
                <a:spcPts val="300"/>
              </a:spcBef>
              <a:spcAft>
                <a:spcPts val="300"/>
              </a:spcAft>
              <a:buNone/>
            </a:pPr>
            <a:r>
              <a:rPr lang="en-US" sz="1050" dirty="0">
                <a:latin typeface="Arial" pitchFamily="34" charset="0"/>
                <a:ea typeface="Arial" pitchFamily="34" charset="-122"/>
                <a:cs typeface="Arial" pitchFamily="34" charset="-120"/>
              </a:rPr>
              <a:t>Divide by 255</a:t>
            </a:r>
            <a:endParaRPr lang="en-US" sz="1050" dirty="0"/>
          </a:p>
        </p:txBody>
      </p:sp>
      <p:sp>
        <p:nvSpPr>
          <p:cNvPr id="8" name="Text 4"/>
          <p:cNvSpPr/>
          <p:nvPr/>
        </p:nvSpPr>
        <p:spPr>
          <a:xfrm>
            <a:off x="457200" y="4184616"/>
            <a:ext cx="4061079" cy="179933"/>
          </a:xfrm>
          <a:prstGeom prst="rect">
            <a:avLst/>
          </a:prstGeom>
          <a:noFill/>
          <a:ln/>
        </p:spPr>
        <p:txBody>
          <a:bodyPr wrap="square" lIns="0" tIns="0" rIns="0" bIns="0" rtlCol="0" anchor="t"/>
          <a:lstStyle/>
          <a:p>
            <a:pPr marL="0" indent="0" algn="l">
              <a:lnSpc>
                <a:spcPts val="1418"/>
              </a:lnSpc>
              <a:spcBef>
                <a:spcPts val="300"/>
              </a:spcBef>
              <a:spcAft>
                <a:spcPts val="300"/>
              </a:spcAft>
              <a:buNone/>
            </a:pPr>
            <a:r>
              <a:rPr lang="en-US" sz="1050" dirty="0">
                <a:latin typeface="Arial" pitchFamily="34" charset="0"/>
                <a:ea typeface="Arial" pitchFamily="34" charset="-122"/>
                <a:cs typeface="Arial" pitchFamily="34" charset="-120"/>
              </a:rPr>
              <a:t>Result: 0.0-1.0</a:t>
            </a:r>
            <a:endParaRPr lang="en-US" sz="1050" dirty="0"/>
          </a:p>
        </p:txBody>
      </p:sp>
      <p:sp>
        <p:nvSpPr>
          <p:cNvPr id="9" name="Text 5"/>
          <p:cNvSpPr/>
          <p:nvPr/>
        </p:nvSpPr>
        <p:spPr>
          <a:xfrm>
            <a:off x="457200" y="4440749"/>
            <a:ext cx="4061079" cy="205680"/>
          </a:xfrm>
          <a:prstGeom prst="rect">
            <a:avLst/>
          </a:prstGeom>
          <a:noFill/>
          <a:ln/>
        </p:spPr>
        <p:txBody>
          <a:bodyPr wrap="square" lIns="0" tIns="0" rIns="0" bIns="0" rtlCol="0" anchor="t"/>
          <a:lstStyle/>
          <a:p>
            <a:pPr marL="0" indent="0" algn="l">
              <a:lnSpc>
                <a:spcPts val="1620"/>
              </a:lnSpc>
              <a:spcBef>
                <a:spcPts val="600"/>
              </a:spcBef>
              <a:spcAft>
                <a:spcPts val="300"/>
              </a:spcAft>
              <a:buNone/>
            </a:pPr>
            <a:r>
              <a:rPr lang="en-US" sz="1200" b="1" dirty="0">
                <a:latin typeface="Arial" pitchFamily="34" charset="0"/>
                <a:ea typeface="Arial" pitchFamily="34" charset="-122"/>
                <a:cs typeface="Arial" pitchFamily="34" charset="-120"/>
              </a:rPr>
              <a:t>Simple, common</a:t>
            </a:r>
            <a:endParaRPr lang="en-US" sz="1200" dirty="0"/>
          </a:p>
        </p:txBody>
      </p:sp>
      <p:sp>
        <p:nvSpPr>
          <p:cNvPr id="10" name="Text 6"/>
          <p:cNvSpPr/>
          <p:nvPr/>
        </p:nvSpPr>
        <p:spPr>
          <a:xfrm>
            <a:off x="4705350" y="3418449"/>
            <a:ext cx="2040255" cy="253901"/>
          </a:xfrm>
          <a:prstGeom prst="rect">
            <a:avLst/>
          </a:prstGeom>
          <a:noFill/>
          <a:ln/>
        </p:spPr>
        <p:txBody>
          <a:bodyPr wrap="square" lIns="0" tIns="0" rIns="0" bIns="0" rtlCol="0" anchor="t"/>
          <a:lstStyle/>
          <a:p>
            <a:pPr marL="0" indent="0" algn="l">
              <a:lnSpc>
                <a:spcPts val="2000"/>
              </a:lnSpc>
              <a:spcBef>
                <a:spcPts val="900"/>
              </a:spcBef>
              <a:spcAft>
                <a:spcPts val="600"/>
              </a:spcAft>
              <a:buNone/>
            </a:pPr>
            <a:r>
              <a:rPr lang="en-US" sz="1800" b="1" dirty="0">
                <a:latin typeface="Arial" pitchFamily="34" charset="0"/>
                <a:ea typeface="Arial" pitchFamily="34" charset="-122"/>
                <a:cs typeface="Arial" pitchFamily="34" charset="-120"/>
              </a:rPr>
              <a:t>Standardization</a:t>
            </a:r>
            <a:endParaRPr lang="en-US" sz="1800" dirty="0"/>
          </a:p>
        </p:txBody>
      </p:sp>
      <p:sp>
        <p:nvSpPr>
          <p:cNvPr id="11" name="Text 7"/>
          <p:cNvSpPr/>
          <p:nvPr/>
        </p:nvSpPr>
        <p:spPr>
          <a:xfrm>
            <a:off x="4705350" y="3748550"/>
            <a:ext cx="4061079" cy="179933"/>
          </a:xfrm>
          <a:prstGeom prst="rect">
            <a:avLst/>
          </a:prstGeom>
          <a:noFill/>
          <a:ln/>
        </p:spPr>
        <p:txBody>
          <a:bodyPr wrap="square" lIns="0" tIns="0" rIns="0" bIns="0" rtlCol="0" anchor="t"/>
          <a:lstStyle/>
          <a:p>
            <a:pPr marL="0" indent="0" algn="l">
              <a:lnSpc>
                <a:spcPts val="1418"/>
              </a:lnSpc>
              <a:spcBef>
                <a:spcPts val="300"/>
              </a:spcBef>
              <a:spcAft>
                <a:spcPts val="300"/>
              </a:spcAft>
              <a:buNone/>
            </a:pPr>
            <a:r>
              <a:rPr lang="en-US" sz="1050" dirty="0">
                <a:latin typeface="Arial" pitchFamily="34" charset="0"/>
                <a:ea typeface="Arial" pitchFamily="34" charset="-122"/>
                <a:cs typeface="Arial" pitchFamily="34" charset="-120"/>
              </a:rPr>
              <a:t>Subtract mean</a:t>
            </a:r>
            <a:endParaRPr lang="en-US" sz="1050" dirty="0"/>
          </a:p>
        </p:txBody>
      </p:sp>
      <p:sp>
        <p:nvSpPr>
          <p:cNvPr id="12" name="Text 8"/>
          <p:cNvSpPr/>
          <p:nvPr/>
        </p:nvSpPr>
        <p:spPr>
          <a:xfrm>
            <a:off x="4705350" y="3966583"/>
            <a:ext cx="4061079" cy="179933"/>
          </a:xfrm>
          <a:prstGeom prst="rect">
            <a:avLst/>
          </a:prstGeom>
          <a:noFill/>
          <a:ln/>
        </p:spPr>
        <p:txBody>
          <a:bodyPr wrap="square" lIns="0" tIns="0" rIns="0" bIns="0" rtlCol="0" anchor="t"/>
          <a:lstStyle/>
          <a:p>
            <a:pPr marL="0" indent="0" algn="l">
              <a:lnSpc>
                <a:spcPts val="1418"/>
              </a:lnSpc>
              <a:spcBef>
                <a:spcPts val="300"/>
              </a:spcBef>
              <a:spcAft>
                <a:spcPts val="300"/>
              </a:spcAft>
              <a:buNone/>
            </a:pPr>
            <a:r>
              <a:rPr lang="en-US" sz="1050" dirty="0">
                <a:latin typeface="Arial" pitchFamily="34" charset="0"/>
                <a:ea typeface="Arial" pitchFamily="34" charset="-122"/>
                <a:cs typeface="Arial" pitchFamily="34" charset="-120"/>
              </a:rPr>
              <a:t>Divide by std dev</a:t>
            </a:r>
            <a:endParaRPr lang="en-US" sz="1050" dirty="0"/>
          </a:p>
        </p:txBody>
      </p:sp>
      <p:sp>
        <p:nvSpPr>
          <p:cNvPr id="13" name="Text 9"/>
          <p:cNvSpPr/>
          <p:nvPr/>
        </p:nvSpPr>
        <p:spPr>
          <a:xfrm>
            <a:off x="4705350" y="4184616"/>
            <a:ext cx="4061079" cy="179933"/>
          </a:xfrm>
          <a:prstGeom prst="rect">
            <a:avLst/>
          </a:prstGeom>
          <a:noFill/>
          <a:ln/>
        </p:spPr>
        <p:txBody>
          <a:bodyPr wrap="square" lIns="0" tIns="0" rIns="0" bIns="0" rtlCol="0" anchor="t"/>
          <a:lstStyle/>
          <a:p>
            <a:pPr marL="0" indent="0" algn="l">
              <a:lnSpc>
                <a:spcPts val="1418"/>
              </a:lnSpc>
              <a:spcBef>
                <a:spcPts val="300"/>
              </a:spcBef>
              <a:spcAft>
                <a:spcPts val="300"/>
              </a:spcAft>
              <a:buNone/>
            </a:pPr>
            <a:r>
              <a:rPr lang="en-US" sz="1050" dirty="0">
                <a:latin typeface="Arial" pitchFamily="34" charset="0"/>
                <a:ea typeface="Arial" pitchFamily="34" charset="-122"/>
                <a:cs typeface="Arial" pitchFamily="34" charset="-120"/>
              </a:rPr>
              <a:t>Result: Mean=0, Std=1</a:t>
            </a:r>
            <a:endParaRPr lang="en-US" sz="1050" dirty="0"/>
          </a:p>
        </p:txBody>
      </p:sp>
      <p:sp>
        <p:nvSpPr>
          <p:cNvPr id="14" name="Text 10"/>
          <p:cNvSpPr/>
          <p:nvPr/>
        </p:nvSpPr>
        <p:spPr>
          <a:xfrm>
            <a:off x="4705350" y="4440749"/>
            <a:ext cx="4061079" cy="205680"/>
          </a:xfrm>
          <a:prstGeom prst="rect">
            <a:avLst/>
          </a:prstGeom>
          <a:noFill/>
          <a:ln/>
        </p:spPr>
        <p:txBody>
          <a:bodyPr wrap="square" lIns="0" tIns="0" rIns="0" bIns="0" rtlCol="0" anchor="t"/>
          <a:lstStyle/>
          <a:p>
            <a:pPr marL="0" indent="0" algn="l">
              <a:lnSpc>
                <a:spcPts val="1620"/>
              </a:lnSpc>
              <a:spcBef>
                <a:spcPts val="600"/>
              </a:spcBef>
              <a:spcAft>
                <a:spcPts val="300"/>
              </a:spcAft>
              <a:buNone/>
            </a:pPr>
            <a:r>
              <a:rPr lang="en-US" sz="1200" b="1" dirty="0">
                <a:latin typeface="Arial" pitchFamily="34" charset="0"/>
                <a:ea typeface="Arial" pitchFamily="34" charset="-122"/>
                <a:cs typeface="Arial" pitchFamily="34" charset="-120"/>
              </a:rPr>
              <a:t>ImageNet standard</a:t>
            </a:r>
            <a:endParaRPr lang="en-US" sz="1200" dirty="0"/>
          </a:p>
        </p:txBody>
      </p:sp>
      <p:sp>
        <p:nvSpPr>
          <p:cNvPr id="15" name="Rectangle 14"/>
          <p:cNvSpPr/>
          <p:nvPr/>
        </p:nvSpPr>
        <p:spPr>
          <a:xfrm>
            <a:off x="457200" y="919596"/>
            <a:ext cx="6096000" cy="2031325"/>
          </a:xfrm>
          <a:prstGeom prst="rect">
            <a:avLst/>
          </a:prstGeom>
        </p:spPr>
        <p:txBody>
          <a:bodyPr>
            <a:spAutoFit/>
          </a:bodyPr>
          <a:lstStyle/>
          <a:p>
            <a:r>
              <a:rPr lang="en-US"/>
              <a:t>Image normalization scales pixel values to a standard range, usually between 0 and 1 or around a mean of zero. </a:t>
            </a:r>
            <a:r>
              <a:rPr lang="en-US" dirty="0"/>
              <a:t>This process improves training stability and helps neural networks learn more efficiently. Normalization reduces the effect of lighting variations and ensures that all input features contribute proportionally during model training, leading to faster convergence and better performance.</a:t>
            </a:r>
          </a:p>
        </p:txBody>
      </p:sp>
    </p:spTree>
    <p:extLst>
      <p:ext uri="{BB962C8B-B14F-4D97-AF65-F5344CB8AC3E}">
        <p14:creationId xmlns:p14="http://schemas.microsoft.com/office/powerpoint/2010/main" val="11561442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p:cNvSpPr/>
          <p:nvPr/>
        </p:nvSpPr>
        <p:spPr>
          <a:xfrm>
            <a:off x="485335" y="806254"/>
            <a:ext cx="4206812" cy="323850"/>
          </a:xfrm>
          <a:prstGeom prst="rect">
            <a:avLst/>
          </a:prstGeom>
          <a:noFill/>
          <a:ln/>
        </p:spPr>
        <p:txBody>
          <a:bodyPr wrap="square" lIns="0" tIns="0" rIns="0" bIns="0" rtlCol="0" anchor="t"/>
          <a:lstStyle/>
          <a:p>
            <a:pPr marL="0" indent="0" algn="l">
              <a:lnSpc>
                <a:spcPts val="2550"/>
              </a:lnSpc>
              <a:spcAft>
                <a:spcPts val="1500"/>
              </a:spcAft>
              <a:buNone/>
            </a:pPr>
            <a:r>
              <a:rPr lang="en-US" sz="2550" b="1" dirty="0">
                <a:latin typeface="Segoe UI" pitchFamily="34" charset="0"/>
                <a:ea typeface="Segoe UI" pitchFamily="34" charset="-122"/>
                <a:cs typeface="Segoe UI" pitchFamily="34" charset="-120"/>
              </a:rPr>
              <a:t>Data Augmentation</a:t>
            </a:r>
            <a:endParaRPr lang="en-US" sz="2550" dirty="0"/>
          </a:p>
        </p:txBody>
      </p:sp>
      <p:sp>
        <p:nvSpPr>
          <p:cNvPr id="5" name="Text 1"/>
          <p:cNvSpPr/>
          <p:nvPr/>
        </p:nvSpPr>
        <p:spPr>
          <a:xfrm>
            <a:off x="464805" y="3342249"/>
            <a:ext cx="8394192" cy="205680"/>
          </a:xfrm>
          <a:prstGeom prst="rect">
            <a:avLst/>
          </a:prstGeom>
          <a:noFill/>
          <a:ln/>
        </p:spPr>
        <p:txBody>
          <a:bodyPr wrap="square" lIns="0" tIns="0" rIns="0" bIns="0" rtlCol="0" anchor="t"/>
          <a:lstStyle/>
          <a:p>
            <a:pPr marL="0" indent="0" algn="l">
              <a:lnSpc>
                <a:spcPts val="1620"/>
              </a:lnSpc>
              <a:spcBef>
                <a:spcPts val="300"/>
              </a:spcBef>
              <a:spcAft>
                <a:spcPts val="300"/>
              </a:spcAft>
              <a:buNone/>
            </a:pPr>
            <a:r>
              <a:rPr lang="en-US" sz="1200" b="1" dirty="0">
                <a:latin typeface="Arial" pitchFamily="34" charset="0"/>
                <a:ea typeface="Arial" pitchFamily="34" charset="-122"/>
                <a:cs typeface="Arial" pitchFamily="34" charset="-120"/>
              </a:rPr>
              <a:t>Create variations of training images to prevent overfitting</a:t>
            </a:r>
            <a:endParaRPr lang="en-US" sz="1200" dirty="0"/>
          </a:p>
        </p:txBody>
      </p:sp>
      <p:sp>
        <p:nvSpPr>
          <p:cNvPr id="6" name="Text 2"/>
          <p:cNvSpPr/>
          <p:nvPr/>
        </p:nvSpPr>
        <p:spPr>
          <a:xfrm>
            <a:off x="464805" y="3700329"/>
            <a:ext cx="2647950" cy="913656"/>
          </a:xfrm>
          <a:prstGeom prst="roundRect">
            <a:avLst>
              <a:gd name="adj" fmla="val 5213"/>
            </a:avLst>
          </a:prstGeom>
          <a:solidFill>
            <a:srgbClr val="0F172A">
              <a:alpha val="60000"/>
            </a:srgbClr>
          </a:solidFill>
          <a:ln w="19050">
            <a:solidFill>
              <a:srgbClr val="2563EB"/>
            </a:solidFill>
          </a:ln>
        </p:spPr>
        <p:txBody>
          <a:bodyPr wrap="square" rtlCol="0" anchor="ctr"/>
          <a:lstStyle/>
          <a:p>
            <a:pPr marL="0" indent="0">
              <a:buNone/>
            </a:pPr>
            <a:endParaRPr lang="en-US" dirty="0"/>
          </a:p>
        </p:txBody>
      </p:sp>
      <p:sp>
        <p:nvSpPr>
          <p:cNvPr id="7" name="Text 3"/>
          <p:cNvSpPr/>
          <p:nvPr/>
        </p:nvSpPr>
        <p:spPr>
          <a:xfrm>
            <a:off x="1157273" y="3909879"/>
            <a:ext cx="1263015" cy="148084"/>
          </a:xfrm>
          <a:prstGeom prst="rect">
            <a:avLst/>
          </a:prstGeom>
          <a:noFill/>
          <a:ln/>
        </p:spPr>
        <p:txBody>
          <a:bodyPr wrap="square" lIns="0" tIns="0" rIns="0" bIns="0" rtlCol="0" anchor="t"/>
          <a:lstStyle/>
          <a:p>
            <a:pPr marL="0" indent="0" algn="ctr">
              <a:lnSpc>
                <a:spcPts val="1167"/>
              </a:lnSpc>
              <a:spcBef>
                <a:spcPts val="900"/>
              </a:spcBef>
              <a:spcAft>
                <a:spcPts val="600"/>
              </a:spcAft>
              <a:buNone/>
            </a:pPr>
            <a:r>
              <a:rPr lang="en-US" sz="1050" b="1" dirty="0">
                <a:latin typeface="Arial" pitchFamily="34" charset="0"/>
                <a:ea typeface="Arial" pitchFamily="34" charset="-122"/>
                <a:cs typeface="Arial" pitchFamily="34" charset="-120"/>
              </a:rPr>
              <a:t>Geometric</a:t>
            </a:r>
            <a:endParaRPr lang="en-US" sz="1050" dirty="0"/>
          </a:p>
        </p:txBody>
      </p:sp>
      <p:sp>
        <p:nvSpPr>
          <p:cNvPr id="8" name="Text 4"/>
          <p:cNvSpPr/>
          <p:nvPr/>
        </p:nvSpPr>
        <p:spPr>
          <a:xfrm>
            <a:off x="535481" y="4134163"/>
            <a:ext cx="2506599" cy="154186"/>
          </a:xfrm>
          <a:prstGeom prst="rect">
            <a:avLst/>
          </a:prstGeom>
          <a:noFill/>
          <a:ln/>
        </p:spPr>
        <p:txBody>
          <a:bodyPr wrap="square" lIns="0" tIns="0" rIns="0" bIns="0" rtlCol="0" anchor="t"/>
          <a:lstStyle/>
          <a:p>
            <a:pPr marL="0" indent="0" algn="ctr">
              <a:lnSpc>
                <a:spcPts val="1215"/>
              </a:lnSpc>
              <a:spcBef>
                <a:spcPts val="300"/>
              </a:spcBef>
              <a:spcAft>
                <a:spcPts val="300"/>
              </a:spcAft>
              <a:buNone/>
            </a:pPr>
            <a:r>
              <a:rPr lang="en-US" sz="900" dirty="0">
                <a:latin typeface="Arial" pitchFamily="34" charset="0"/>
                <a:ea typeface="Arial" pitchFamily="34" charset="-122"/>
                <a:cs typeface="Arial" pitchFamily="34" charset="-120"/>
              </a:rPr>
              <a:t>Rotation, Flipping</a:t>
            </a:r>
            <a:endParaRPr lang="en-US" sz="900" dirty="0"/>
          </a:p>
        </p:txBody>
      </p:sp>
      <p:sp>
        <p:nvSpPr>
          <p:cNvPr id="9" name="Text 5"/>
          <p:cNvSpPr/>
          <p:nvPr/>
        </p:nvSpPr>
        <p:spPr>
          <a:xfrm>
            <a:off x="535481" y="4326449"/>
            <a:ext cx="2506599" cy="154186"/>
          </a:xfrm>
          <a:prstGeom prst="rect">
            <a:avLst/>
          </a:prstGeom>
          <a:noFill/>
          <a:ln/>
        </p:spPr>
        <p:txBody>
          <a:bodyPr wrap="square" lIns="0" tIns="0" rIns="0" bIns="0" rtlCol="0" anchor="t"/>
          <a:lstStyle/>
          <a:p>
            <a:pPr marL="0" indent="0" algn="ctr">
              <a:lnSpc>
                <a:spcPts val="1215"/>
              </a:lnSpc>
              <a:spcBef>
                <a:spcPts val="300"/>
              </a:spcBef>
              <a:spcAft>
                <a:spcPts val="300"/>
              </a:spcAft>
              <a:buNone/>
            </a:pPr>
            <a:r>
              <a:rPr lang="en-US" sz="900" dirty="0">
                <a:latin typeface="Arial" pitchFamily="34" charset="0"/>
                <a:ea typeface="Arial" pitchFamily="34" charset="-122"/>
                <a:cs typeface="Arial" pitchFamily="34" charset="-120"/>
              </a:rPr>
              <a:t>Zooming, Shifting</a:t>
            </a:r>
            <a:endParaRPr lang="en-US" sz="900" dirty="0"/>
          </a:p>
        </p:txBody>
      </p:sp>
      <p:sp>
        <p:nvSpPr>
          <p:cNvPr id="10" name="Text 6"/>
          <p:cNvSpPr/>
          <p:nvPr/>
        </p:nvSpPr>
        <p:spPr>
          <a:xfrm>
            <a:off x="3255630" y="3700329"/>
            <a:ext cx="2647950" cy="913656"/>
          </a:xfrm>
          <a:prstGeom prst="roundRect">
            <a:avLst>
              <a:gd name="adj" fmla="val 5213"/>
            </a:avLst>
          </a:prstGeom>
          <a:solidFill>
            <a:srgbClr val="0F172A">
              <a:alpha val="60000"/>
            </a:srgbClr>
          </a:solidFill>
          <a:ln w="19050">
            <a:solidFill>
              <a:srgbClr val="2563EB"/>
            </a:solidFill>
          </a:ln>
        </p:spPr>
        <p:txBody>
          <a:bodyPr wrap="square" rtlCol="0" anchor="ctr"/>
          <a:lstStyle/>
          <a:p>
            <a:pPr marL="0" indent="0">
              <a:buNone/>
            </a:pPr>
            <a:endParaRPr lang="en-US" dirty="0"/>
          </a:p>
        </p:txBody>
      </p:sp>
      <p:sp>
        <p:nvSpPr>
          <p:cNvPr id="11" name="Text 7"/>
          <p:cNvSpPr/>
          <p:nvPr/>
        </p:nvSpPr>
        <p:spPr>
          <a:xfrm>
            <a:off x="3948098" y="3909879"/>
            <a:ext cx="1263015" cy="148084"/>
          </a:xfrm>
          <a:prstGeom prst="rect">
            <a:avLst/>
          </a:prstGeom>
          <a:noFill/>
          <a:ln/>
        </p:spPr>
        <p:txBody>
          <a:bodyPr wrap="square" lIns="0" tIns="0" rIns="0" bIns="0" rtlCol="0" anchor="t"/>
          <a:lstStyle/>
          <a:p>
            <a:pPr marL="0" indent="0" algn="ctr">
              <a:lnSpc>
                <a:spcPts val="1167"/>
              </a:lnSpc>
              <a:spcBef>
                <a:spcPts val="900"/>
              </a:spcBef>
              <a:spcAft>
                <a:spcPts val="600"/>
              </a:spcAft>
              <a:buNone/>
            </a:pPr>
            <a:r>
              <a:rPr lang="en-US" sz="1050" b="1" dirty="0">
                <a:latin typeface="Arial" pitchFamily="34" charset="0"/>
                <a:ea typeface="Arial" pitchFamily="34" charset="-122"/>
                <a:cs typeface="Arial" pitchFamily="34" charset="-120"/>
              </a:rPr>
              <a:t>Photometric</a:t>
            </a:r>
            <a:endParaRPr lang="en-US" sz="1050" dirty="0"/>
          </a:p>
        </p:txBody>
      </p:sp>
      <p:sp>
        <p:nvSpPr>
          <p:cNvPr id="12" name="Text 8"/>
          <p:cNvSpPr/>
          <p:nvPr/>
        </p:nvSpPr>
        <p:spPr>
          <a:xfrm>
            <a:off x="3326306" y="4134163"/>
            <a:ext cx="2506599" cy="154186"/>
          </a:xfrm>
          <a:prstGeom prst="rect">
            <a:avLst/>
          </a:prstGeom>
          <a:noFill/>
          <a:ln/>
        </p:spPr>
        <p:txBody>
          <a:bodyPr wrap="square" lIns="0" tIns="0" rIns="0" bIns="0" rtlCol="0" anchor="t"/>
          <a:lstStyle/>
          <a:p>
            <a:pPr marL="0" indent="0" algn="ctr">
              <a:lnSpc>
                <a:spcPts val="1215"/>
              </a:lnSpc>
              <a:spcBef>
                <a:spcPts val="300"/>
              </a:spcBef>
              <a:spcAft>
                <a:spcPts val="300"/>
              </a:spcAft>
              <a:buNone/>
            </a:pPr>
            <a:r>
              <a:rPr lang="en-US" sz="900" dirty="0">
                <a:latin typeface="Arial" pitchFamily="34" charset="0"/>
                <a:ea typeface="Arial" pitchFamily="34" charset="-122"/>
                <a:cs typeface="Arial" pitchFamily="34" charset="-120"/>
              </a:rPr>
              <a:t>Brightness, Contrast</a:t>
            </a:r>
            <a:endParaRPr lang="en-US" sz="900" dirty="0"/>
          </a:p>
        </p:txBody>
      </p:sp>
      <p:sp>
        <p:nvSpPr>
          <p:cNvPr id="13" name="Text 9"/>
          <p:cNvSpPr/>
          <p:nvPr/>
        </p:nvSpPr>
        <p:spPr>
          <a:xfrm>
            <a:off x="3326306" y="4326449"/>
            <a:ext cx="2506599" cy="154186"/>
          </a:xfrm>
          <a:prstGeom prst="rect">
            <a:avLst/>
          </a:prstGeom>
          <a:noFill/>
          <a:ln/>
        </p:spPr>
        <p:txBody>
          <a:bodyPr wrap="square" lIns="0" tIns="0" rIns="0" bIns="0" rtlCol="0" anchor="t"/>
          <a:lstStyle/>
          <a:p>
            <a:pPr marL="0" indent="0" algn="ctr">
              <a:lnSpc>
                <a:spcPts val="1215"/>
              </a:lnSpc>
              <a:spcBef>
                <a:spcPts val="300"/>
              </a:spcBef>
              <a:spcAft>
                <a:spcPts val="300"/>
              </a:spcAft>
              <a:buNone/>
            </a:pPr>
            <a:r>
              <a:rPr lang="en-US" sz="900" dirty="0">
                <a:latin typeface="Arial" pitchFamily="34" charset="0"/>
                <a:ea typeface="Arial" pitchFamily="34" charset="-122"/>
                <a:cs typeface="Arial" pitchFamily="34" charset="-120"/>
              </a:rPr>
              <a:t>Saturation, Hue</a:t>
            </a:r>
            <a:endParaRPr lang="en-US" sz="900" dirty="0"/>
          </a:p>
        </p:txBody>
      </p:sp>
      <p:sp>
        <p:nvSpPr>
          <p:cNvPr id="14" name="Text 10"/>
          <p:cNvSpPr/>
          <p:nvPr/>
        </p:nvSpPr>
        <p:spPr>
          <a:xfrm>
            <a:off x="6046455" y="3700329"/>
            <a:ext cx="2647950" cy="913656"/>
          </a:xfrm>
          <a:prstGeom prst="roundRect">
            <a:avLst>
              <a:gd name="adj" fmla="val 5213"/>
            </a:avLst>
          </a:prstGeom>
          <a:solidFill>
            <a:srgbClr val="0F172A">
              <a:alpha val="60000"/>
            </a:srgbClr>
          </a:solidFill>
          <a:ln w="19050">
            <a:solidFill>
              <a:srgbClr val="2563EB"/>
            </a:solidFill>
          </a:ln>
        </p:spPr>
        <p:txBody>
          <a:bodyPr wrap="square" rtlCol="0" anchor="ctr"/>
          <a:lstStyle/>
          <a:p>
            <a:pPr marL="0" indent="0">
              <a:buNone/>
            </a:pPr>
            <a:endParaRPr lang="en-US" dirty="0"/>
          </a:p>
        </p:txBody>
      </p:sp>
      <p:sp>
        <p:nvSpPr>
          <p:cNvPr id="15" name="Text 11"/>
          <p:cNvSpPr/>
          <p:nvPr/>
        </p:nvSpPr>
        <p:spPr>
          <a:xfrm>
            <a:off x="6738923" y="3909879"/>
            <a:ext cx="1263015" cy="148084"/>
          </a:xfrm>
          <a:prstGeom prst="rect">
            <a:avLst/>
          </a:prstGeom>
          <a:noFill/>
          <a:ln/>
        </p:spPr>
        <p:txBody>
          <a:bodyPr wrap="square" lIns="0" tIns="0" rIns="0" bIns="0" rtlCol="0" anchor="t"/>
          <a:lstStyle/>
          <a:p>
            <a:pPr marL="0" indent="0" algn="ctr">
              <a:lnSpc>
                <a:spcPts val="1167"/>
              </a:lnSpc>
              <a:spcBef>
                <a:spcPts val="900"/>
              </a:spcBef>
              <a:spcAft>
                <a:spcPts val="600"/>
              </a:spcAft>
              <a:buNone/>
            </a:pPr>
            <a:r>
              <a:rPr lang="en-US" sz="1050" b="1" dirty="0">
                <a:latin typeface="Arial" pitchFamily="34" charset="0"/>
                <a:ea typeface="Arial" pitchFamily="34" charset="-122"/>
                <a:cs typeface="Arial" pitchFamily="34" charset="-120"/>
              </a:rPr>
              <a:t>Advanced</a:t>
            </a:r>
            <a:endParaRPr lang="en-US" sz="1050" dirty="0"/>
          </a:p>
        </p:txBody>
      </p:sp>
      <p:sp>
        <p:nvSpPr>
          <p:cNvPr id="16" name="Text 12"/>
          <p:cNvSpPr/>
          <p:nvPr/>
        </p:nvSpPr>
        <p:spPr>
          <a:xfrm>
            <a:off x="6117130" y="4134163"/>
            <a:ext cx="2506599" cy="154186"/>
          </a:xfrm>
          <a:prstGeom prst="rect">
            <a:avLst/>
          </a:prstGeom>
          <a:noFill/>
          <a:ln/>
        </p:spPr>
        <p:txBody>
          <a:bodyPr wrap="square" lIns="0" tIns="0" rIns="0" bIns="0" rtlCol="0" anchor="t"/>
          <a:lstStyle/>
          <a:p>
            <a:pPr marL="0" indent="0" algn="ctr">
              <a:lnSpc>
                <a:spcPts val="1215"/>
              </a:lnSpc>
              <a:spcBef>
                <a:spcPts val="300"/>
              </a:spcBef>
              <a:spcAft>
                <a:spcPts val="300"/>
              </a:spcAft>
              <a:buNone/>
            </a:pPr>
            <a:r>
              <a:rPr lang="en-US" sz="900" dirty="0">
                <a:latin typeface="Arial" pitchFamily="34" charset="0"/>
                <a:ea typeface="Arial" pitchFamily="34" charset="-122"/>
                <a:cs typeface="Arial" pitchFamily="34" charset="-120"/>
              </a:rPr>
              <a:t>Cutout, Mixup</a:t>
            </a:r>
            <a:endParaRPr lang="en-US" sz="900" dirty="0"/>
          </a:p>
        </p:txBody>
      </p:sp>
      <p:sp>
        <p:nvSpPr>
          <p:cNvPr id="17" name="Text 13"/>
          <p:cNvSpPr/>
          <p:nvPr/>
        </p:nvSpPr>
        <p:spPr>
          <a:xfrm>
            <a:off x="6117130" y="4326449"/>
            <a:ext cx="2506599" cy="154186"/>
          </a:xfrm>
          <a:prstGeom prst="rect">
            <a:avLst/>
          </a:prstGeom>
          <a:noFill/>
          <a:ln/>
        </p:spPr>
        <p:txBody>
          <a:bodyPr wrap="square" lIns="0" tIns="0" rIns="0" bIns="0" rtlCol="0" anchor="t"/>
          <a:lstStyle/>
          <a:p>
            <a:pPr marL="0" indent="0" algn="ctr">
              <a:lnSpc>
                <a:spcPts val="1215"/>
              </a:lnSpc>
              <a:spcBef>
                <a:spcPts val="300"/>
              </a:spcBef>
              <a:spcAft>
                <a:spcPts val="300"/>
              </a:spcAft>
              <a:buNone/>
            </a:pPr>
            <a:r>
              <a:rPr lang="en-US" sz="900" dirty="0">
                <a:latin typeface="Arial" pitchFamily="34" charset="0"/>
                <a:ea typeface="Arial" pitchFamily="34" charset="-122"/>
                <a:cs typeface="Arial" pitchFamily="34" charset="-120"/>
              </a:rPr>
              <a:t>CutMix, AutoAugment</a:t>
            </a:r>
            <a:endParaRPr lang="en-US" sz="900" dirty="0"/>
          </a:p>
        </p:txBody>
      </p:sp>
      <p:sp>
        <p:nvSpPr>
          <p:cNvPr id="18" name="Text 14"/>
          <p:cNvSpPr/>
          <p:nvPr/>
        </p:nvSpPr>
        <p:spPr>
          <a:xfrm>
            <a:off x="464805" y="4823535"/>
            <a:ext cx="8229600" cy="472380"/>
          </a:xfrm>
          <a:prstGeom prst="roundRect">
            <a:avLst>
              <a:gd name="adj" fmla="val 8066"/>
            </a:avLst>
          </a:prstGeom>
          <a:solidFill>
            <a:srgbClr val="0EA5E9">
              <a:alpha val="15000"/>
            </a:srgbClr>
          </a:solidFill>
          <a:ln/>
        </p:spPr>
        <p:txBody>
          <a:bodyPr wrap="square" rtlCol="0" anchor="ctr"/>
          <a:lstStyle/>
          <a:p>
            <a:pPr marL="0" indent="0">
              <a:buNone/>
            </a:pPr>
            <a:endParaRPr lang="en-US" dirty="0"/>
          </a:p>
        </p:txBody>
      </p:sp>
      <p:sp>
        <p:nvSpPr>
          <p:cNvPr id="19" name="Shape 15"/>
          <p:cNvSpPr/>
          <p:nvPr/>
        </p:nvSpPr>
        <p:spPr>
          <a:xfrm>
            <a:off x="483855" y="4823535"/>
            <a:ext cx="0" cy="472380"/>
          </a:xfrm>
          <a:prstGeom prst="line">
            <a:avLst/>
          </a:prstGeom>
          <a:noFill/>
          <a:ln w="38100">
            <a:solidFill>
              <a:srgbClr val="2563EB"/>
            </a:solidFill>
            <a:prstDash val="solid"/>
          </a:ln>
        </p:spPr>
      </p:sp>
      <p:sp>
        <p:nvSpPr>
          <p:cNvPr id="20" name="Text 16"/>
          <p:cNvSpPr/>
          <p:nvPr/>
        </p:nvSpPr>
        <p:spPr>
          <a:xfrm>
            <a:off x="598155" y="4956885"/>
            <a:ext cx="8161020" cy="205680"/>
          </a:xfrm>
          <a:prstGeom prst="rect">
            <a:avLst/>
          </a:prstGeom>
          <a:noFill/>
          <a:ln/>
        </p:spPr>
        <p:txBody>
          <a:bodyPr wrap="square" lIns="0" tIns="0" rIns="0" bIns="0" rtlCol="0" anchor="t"/>
          <a:lstStyle/>
          <a:p>
            <a:pPr marL="0" indent="0" algn="l">
              <a:lnSpc>
                <a:spcPts val="1620"/>
              </a:lnSpc>
              <a:spcBef>
                <a:spcPts val="300"/>
              </a:spcBef>
              <a:spcAft>
                <a:spcPts val="300"/>
              </a:spcAft>
              <a:buNone/>
            </a:pPr>
            <a:r>
              <a:rPr lang="en-US" sz="1200" b="1" dirty="0">
                <a:latin typeface="Arial" pitchFamily="34" charset="0"/>
                <a:ea typeface="Arial" pitchFamily="34" charset="-122"/>
                <a:cs typeface="Arial" pitchFamily="34" charset="-120"/>
              </a:rPr>
              <a:t>Benefit:</a:t>
            </a:r>
            <a:r>
              <a:rPr lang="en-US" sz="1200" dirty="0">
                <a:latin typeface="Arial" pitchFamily="34" charset="0"/>
                <a:ea typeface="Arial" pitchFamily="34" charset="-122"/>
                <a:cs typeface="Arial" pitchFamily="34" charset="-120"/>
              </a:rPr>
              <a:t> More training data without collecting new images!</a:t>
            </a:r>
            <a:endParaRPr lang="en-US" sz="1200" dirty="0"/>
          </a:p>
        </p:txBody>
      </p:sp>
      <p:sp>
        <p:nvSpPr>
          <p:cNvPr id="21" name="Rectangle 20"/>
          <p:cNvSpPr/>
          <p:nvPr/>
        </p:nvSpPr>
        <p:spPr>
          <a:xfrm>
            <a:off x="464805" y="1197755"/>
            <a:ext cx="7525644" cy="1754326"/>
          </a:xfrm>
          <a:prstGeom prst="rect">
            <a:avLst/>
          </a:prstGeom>
        </p:spPr>
        <p:txBody>
          <a:bodyPr wrap="square">
            <a:spAutoFit/>
          </a:bodyPr>
          <a:lstStyle/>
          <a:p>
            <a:r>
              <a:rPr lang="en-US" dirty="0"/>
              <a:t>Data augmentation generates additional training images by applying transformations such as rotation, flipping, scaling, cropping, or color adjustments. This technique increases dataset diversity, reduces overfitting, and improves model generalization. By simulating real-world variations, augmentation helps CNNs become more robust to changes in object orientation, lighting, and background.</a:t>
            </a:r>
          </a:p>
        </p:txBody>
      </p:sp>
    </p:spTree>
    <p:extLst>
      <p:ext uri="{BB962C8B-B14F-4D97-AF65-F5344CB8AC3E}">
        <p14:creationId xmlns:p14="http://schemas.microsoft.com/office/powerpoint/2010/main" val="11937516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p:cNvSpPr/>
          <p:nvPr/>
        </p:nvSpPr>
        <p:spPr>
          <a:xfrm>
            <a:off x="457200" y="778119"/>
            <a:ext cx="4206812" cy="323850"/>
          </a:xfrm>
          <a:prstGeom prst="rect">
            <a:avLst/>
          </a:prstGeom>
          <a:noFill/>
          <a:ln/>
        </p:spPr>
        <p:txBody>
          <a:bodyPr wrap="square" lIns="0" tIns="0" rIns="0" bIns="0" rtlCol="0" anchor="t"/>
          <a:lstStyle/>
          <a:p>
            <a:pPr marL="0" indent="0" algn="l">
              <a:lnSpc>
                <a:spcPts val="2550"/>
              </a:lnSpc>
              <a:spcAft>
                <a:spcPts val="1500"/>
              </a:spcAft>
              <a:buNone/>
            </a:pPr>
            <a:r>
              <a:rPr lang="en-US" sz="2550" b="1" dirty="0">
                <a:latin typeface="Segoe UI" pitchFamily="34" charset="0"/>
                <a:ea typeface="Segoe UI" pitchFamily="34" charset="-122"/>
                <a:cs typeface="Segoe UI" pitchFamily="34" charset="-120"/>
              </a:rPr>
              <a:t>Loading Image Datasets</a:t>
            </a:r>
            <a:endParaRPr lang="en-US" sz="2550" dirty="0"/>
          </a:p>
        </p:txBody>
      </p:sp>
      <p:sp>
        <p:nvSpPr>
          <p:cNvPr id="5" name="Text 1"/>
          <p:cNvSpPr/>
          <p:nvPr/>
        </p:nvSpPr>
        <p:spPr>
          <a:xfrm>
            <a:off x="457200" y="1368669"/>
            <a:ext cx="8229600" cy="1394222"/>
          </a:xfrm>
          <a:prstGeom prst="rect">
            <a:avLst/>
          </a:prstGeom>
          <a:noFill/>
          <a:ln/>
        </p:spPr>
        <p:txBody>
          <a:bodyPr wrap="square" lIns="114300" tIns="0" rIns="0" bIns="0" rtlCol="0" anchor="t"/>
          <a:lstStyle/>
          <a:p>
            <a:pPr marL="114300" indent="-114300" algn="l">
              <a:lnSpc>
                <a:spcPts val="1620"/>
              </a:lnSpc>
              <a:spcAft>
                <a:spcPts val="450"/>
              </a:spcAft>
              <a:buSzPct val="100000"/>
              <a:buChar char="•"/>
            </a:pPr>
            <a:r>
              <a:rPr lang="en-US" sz="1200" b="1" dirty="0">
                <a:latin typeface="Arial" pitchFamily="34" charset="0"/>
                <a:ea typeface="Arial" pitchFamily="34" charset="-122"/>
                <a:cs typeface="Arial" pitchFamily="34" charset="-120"/>
              </a:rPr>
              <a:t>Direct Loading:</a:t>
            </a:r>
            <a:r>
              <a:rPr lang="en-US" sz="1200" dirty="0">
                <a:latin typeface="Arial" pitchFamily="34" charset="0"/>
                <a:ea typeface="Arial" pitchFamily="34" charset="-122"/>
                <a:cs typeface="Arial" pitchFamily="34" charset="-120"/>
              </a:rPr>
              <a:t> For small datasets (all fit in memory)</a:t>
            </a:r>
            <a:endParaRPr lang="en-US" sz="1200" dirty="0"/>
          </a:p>
          <a:p>
            <a:pPr marL="114300" indent="-114300" algn="l">
              <a:lnSpc>
                <a:spcPts val="1620"/>
              </a:lnSpc>
              <a:spcAft>
                <a:spcPts val="450"/>
              </a:spcAft>
              <a:buSzPct val="100000"/>
              <a:buChar char="•"/>
            </a:pPr>
            <a:r>
              <a:rPr lang="en-US" sz="1200" b="1" dirty="0">
                <a:latin typeface="Arial" pitchFamily="34" charset="0"/>
                <a:ea typeface="Arial" pitchFamily="34" charset="-122"/>
                <a:cs typeface="Arial" pitchFamily="34" charset="-120"/>
              </a:rPr>
              <a:t>Data Generators:</a:t>
            </a:r>
            <a:r>
              <a:rPr lang="en-US" sz="1200" dirty="0">
                <a:latin typeface="Arial" pitchFamily="34" charset="0"/>
                <a:ea typeface="Arial" pitchFamily="34" charset="-122"/>
                <a:cs typeface="Arial" pitchFamily="34" charset="-120"/>
              </a:rPr>
              <a:t> Load batches on-the-fly (large datasets)</a:t>
            </a:r>
            <a:endParaRPr lang="en-US" sz="1200" dirty="0"/>
          </a:p>
          <a:p>
            <a:pPr marL="114300" indent="-114300" algn="l">
              <a:lnSpc>
                <a:spcPts val="1620"/>
              </a:lnSpc>
              <a:spcAft>
                <a:spcPts val="450"/>
              </a:spcAft>
              <a:buSzPct val="100000"/>
              <a:buChar char="•"/>
            </a:pPr>
            <a:r>
              <a:rPr lang="en-US" sz="1200" b="1" dirty="0">
                <a:latin typeface="Arial" pitchFamily="34" charset="0"/>
                <a:ea typeface="Arial" pitchFamily="34" charset="-122"/>
                <a:cs typeface="Arial" pitchFamily="34" charset="-120"/>
              </a:rPr>
              <a:t>ImageDataGenerator:</a:t>
            </a:r>
            <a:r>
              <a:rPr lang="en-US" sz="1200" dirty="0">
                <a:latin typeface="Arial" pitchFamily="34" charset="0"/>
                <a:ea typeface="Arial" pitchFamily="34" charset="-122"/>
                <a:cs typeface="Arial" pitchFamily="34" charset="-120"/>
              </a:rPr>
              <a:t> Built-in augmentation capabilities</a:t>
            </a:r>
            <a:endParaRPr lang="en-US" sz="1200" dirty="0"/>
          </a:p>
          <a:p>
            <a:pPr marL="114300" indent="-114300" algn="l">
              <a:lnSpc>
                <a:spcPts val="1620"/>
              </a:lnSpc>
              <a:spcAft>
                <a:spcPts val="450"/>
              </a:spcAft>
              <a:buSzPct val="100000"/>
              <a:buChar char="•"/>
            </a:pPr>
            <a:r>
              <a:rPr lang="en-US" sz="1200" b="1" dirty="0">
                <a:latin typeface="Arial" pitchFamily="34" charset="0"/>
                <a:ea typeface="Arial" pitchFamily="34" charset="-122"/>
                <a:cs typeface="Arial" pitchFamily="34" charset="-120"/>
              </a:rPr>
              <a:t>Custom Datasets:</a:t>
            </a:r>
            <a:r>
              <a:rPr lang="en-US" sz="1200" dirty="0">
                <a:latin typeface="Arial" pitchFamily="34" charset="0"/>
                <a:ea typeface="Arial" pitchFamily="34" charset="-122"/>
                <a:cs typeface="Arial" pitchFamily="34" charset="-120"/>
              </a:rPr>
              <a:t> Full control over loading process</a:t>
            </a:r>
            <a:endParaRPr lang="en-US" sz="1200" dirty="0"/>
          </a:p>
        </p:txBody>
      </p:sp>
      <p:sp>
        <p:nvSpPr>
          <p:cNvPr id="6" name="Text 2"/>
          <p:cNvSpPr/>
          <p:nvPr/>
        </p:nvSpPr>
        <p:spPr>
          <a:xfrm>
            <a:off x="457200" y="2953391"/>
            <a:ext cx="8229600" cy="510480"/>
          </a:xfrm>
          <a:prstGeom prst="roundRect">
            <a:avLst>
              <a:gd name="adj" fmla="val 9329"/>
            </a:avLst>
          </a:prstGeom>
          <a:solidFill>
            <a:srgbClr val="8B5CF6">
              <a:alpha val="15000"/>
            </a:srgbClr>
          </a:solidFill>
          <a:ln w="19050">
            <a:solidFill>
              <a:srgbClr val="7C3AED"/>
            </a:solidFill>
          </a:ln>
        </p:spPr>
        <p:txBody>
          <a:bodyPr wrap="square" rtlCol="0" anchor="ctr"/>
          <a:lstStyle/>
          <a:p>
            <a:pPr marL="0" indent="0">
              <a:buNone/>
            </a:pPr>
            <a:endParaRPr lang="en-US" dirty="0"/>
          </a:p>
        </p:txBody>
      </p:sp>
      <p:sp>
        <p:nvSpPr>
          <p:cNvPr id="7" name="Text 3"/>
          <p:cNvSpPr/>
          <p:nvPr/>
        </p:nvSpPr>
        <p:spPr>
          <a:xfrm>
            <a:off x="571500" y="3105791"/>
            <a:ext cx="8161020" cy="205680"/>
          </a:xfrm>
          <a:prstGeom prst="rect">
            <a:avLst/>
          </a:prstGeom>
          <a:noFill/>
          <a:ln/>
        </p:spPr>
        <p:txBody>
          <a:bodyPr wrap="square" lIns="0" tIns="0" rIns="0" bIns="0" rtlCol="0" anchor="t"/>
          <a:lstStyle/>
          <a:p>
            <a:pPr marL="0" indent="0" algn="l">
              <a:lnSpc>
                <a:spcPts val="1620"/>
              </a:lnSpc>
              <a:spcBef>
                <a:spcPts val="300"/>
              </a:spcBef>
              <a:spcAft>
                <a:spcPts val="300"/>
              </a:spcAft>
              <a:buNone/>
            </a:pPr>
            <a:r>
              <a:rPr lang="en-US" sz="1200" b="1" dirty="0">
                <a:latin typeface="Arial" pitchFamily="34" charset="0"/>
                <a:ea typeface="Arial" pitchFamily="34" charset="-122"/>
                <a:cs typeface="Arial" pitchFamily="34" charset="-120"/>
              </a:rPr>
              <a:t>Best Practice:</a:t>
            </a:r>
            <a:r>
              <a:rPr lang="en-US" sz="1200" dirty="0">
                <a:latin typeface="Arial" pitchFamily="34" charset="0"/>
                <a:ea typeface="Arial" pitchFamily="34" charset="-122"/>
                <a:cs typeface="Arial" pitchFamily="34" charset="-120"/>
              </a:rPr>
              <a:t> Use generators for scalability - load images in batches during training</a:t>
            </a:r>
            <a:endParaRPr lang="en-US" sz="1200" dirty="0"/>
          </a:p>
        </p:txBody>
      </p:sp>
    </p:spTree>
    <p:extLst>
      <p:ext uri="{BB962C8B-B14F-4D97-AF65-F5344CB8AC3E}">
        <p14:creationId xmlns:p14="http://schemas.microsoft.com/office/powerpoint/2010/main" val="4155533203"/>
      </p:ext>
    </p:extLst>
  </p:cSld>
  <p:clrMapOvr>
    <a:masterClrMapping/>
  </p:clrMapOvr>
</p:sld>
</file>

<file path=ppt/theme/theme1.xml><?xml version="1.0" encoding="utf-8"?>
<a:theme xmlns:a="http://schemas.openxmlformats.org/drawingml/2006/main" name="PunchcardVTI">
  <a:themeElements>
    <a:clrScheme name="Punchcard">
      <a:dk1>
        <a:srgbClr val="000000"/>
      </a:dk1>
      <a:lt1>
        <a:srgbClr val="FFFFFF"/>
      </a:lt1>
      <a:dk2>
        <a:srgbClr val="00224B"/>
      </a:dk2>
      <a:lt2>
        <a:srgbClr val="EFF0EF"/>
      </a:lt2>
      <a:accent1>
        <a:srgbClr val="00B2F3"/>
      </a:accent1>
      <a:accent2>
        <a:srgbClr val="0471CC"/>
      </a:accent2>
      <a:accent3>
        <a:srgbClr val="14BBA9"/>
      </a:accent3>
      <a:accent4>
        <a:srgbClr val="8BB93B"/>
      </a:accent4>
      <a:accent5>
        <a:srgbClr val="EC970C"/>
      </a:accent5>
      <a:accent6>
        <a:srgbClr val="F55822"/>
      </a:accent6>
      <a:hlink>
        <a:srgbClr val="008EE6"/>
      </a:hlink>
      <a:folHlink>
        <a:srgbClr val="808C8E"/>
      </a:folHlink>
    </a:clrScheme>
    <a:fontScheme name="Punchcard">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13183</TotalTime>
  <Words>2376</Words>
  <Application>Microsoft Office PowerPoint</Application>
  <PresentationFormat>Widescreen</PresentationFormat>
  <Paragraphs>216</Paragraphs>
  <Slides>35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35</vt:i4>
      </vt:variant>
    </vt:vector>
  </HeadingPairs>
  <TitlesOfParts>
    <vt:vector size="39" baseType="lpstr">
      <vt:lpstr>Arial</vt:lpstr>
      <vt:lpstr>Neue Haas Grotesk Text Pro</vt:lpstr>
      <vt:lpstr>Segoe UI</vt:lpstr>
      <vt:lpstr>PunchcardVTI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Liberty</dc:creator>
  <cp:lastModifiedBy>USER</cp:lastModifiedBy>
  <cp:revision>18</cp:revision>
  <dcterms:created xsi:type="dcterms:W3CDTF">2025-11-05T12:47:00Z</dcterms:created>
  <dcterms:modified xsi:type="dcterms:W3CDTF">2026-03-25T10:43:00Z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448BF34DDA5D4604A6E5E58B330A1B12_12</vt:lpwstr>
  </property>
  <property fmtid="{D5CDD505-2E9C-101B-9397-08002B2CF9AE}" pid="3" name="KSOProductBuildVer">
    <vt:lpwstr>1033-12.9.0.21549</vt:lpwstr>
  </property>
</Properties>
</file>